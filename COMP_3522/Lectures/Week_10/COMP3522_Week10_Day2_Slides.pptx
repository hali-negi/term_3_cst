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1565" r:id="rId2"/>
    <p:sldId id="1566" r:id="rId3"/>
    <p:sldId id="1567" r:id="rId4"/>
    <p:sldId id="1568" r:id="rId5"/>
    <p:sldId id="1569" r:id="rId6"/>
    <p:sldId id="1571" r:id="rId7"/>
    <p:sldId id="1650" r:id="rId8"/>
    <p:sldId id="1573" r:id="rId9"/>
    <p:sldId id="1574" r:id="rId10"/>
    <p:sldId id="1598" r:id="rId11"/>
    <p:sldId id="1636" r:id="rId12"/>
    <p:sldId id="1635" r:id="rId13"/>
    <p:sldId id="1593" r:id="rId14"/>
    <p:sldId id="1594" r:id="rId15"/>
    <p:sldId id="1596" r:id="rId16"/>
    <p:sldId id="1634" r:id="rId17"/>
    <p:sldId id="1648" r:id="rId18"/>
    <p:sldId id="1649" r:id="rId19"/>
    <p:sldId id="1514" r:id="rId20"/>
    <p:sldId id="1515" r:id="rId21"/>
    <p:sldId id="1591" r:id="rId22"/>
    <p:sldId id="159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C52B1B-8552-4EA8-9F30-F71A1F646BFC}">
          <p14:sldIdLst>
            <p14:sldId id="1565"/>
            <p14:sldId id="1566"/>
            <p14:sldId id="1567"/>
            <p14:sldId id="1568"/>
            <p14:sldId id="1569"/>
            <p14:sldId id="1571"/>
            <p14:sldId id="1650"/>
            <p14:sldId id="1573"/>
            <p14:sldId id="1574"/>
            <p14:sldId id="1598"/>
            <p14:sldId id="1636"/>
            <p14:sldId id="1635"/>
            <p14:sldId id="1593"/>
            <p14:sldId id="1594"/>
            <p14:sldId id="1596"/>
            <p14:sldId id="1634"/>
            <p14:sldId id="1648"/>
            <p14:sldId id="1649"/>
            <p14:sldId id="1514"/>
            <p14:sldId id="1515"/>
            <p14:sldId id="1591"/>
            <p14:sldId id="15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D34817"/>
    <a:srgbClr val="9933FF"/>
    <a:srgbClr val="99FF99"/>
    <a:srgbClr val="007434"/>
    <a:srgbClr val="FF66CC"/>
    <a:srgbClr val="66FF99"/>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3" autoAdjust="0"/>
    <p:restoredTop sz="95310" autoAdjust="0"/>
  </p:normalViewPr>
  <p:slideViewPr>
    <p:cSldViewPr snapToGrid="0">
      <p:cViewPr varScale="1">
        <p:scale>
          <a:sx n="96" d="100"/>
          <a:sy n="96" d="100"/>
        </p:scale>
        <p:origin x="51"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commons.wikimedia.org/wiki/File:Golden_Retriever_Hund_Dog.JPG" TargetMode="External"/><Relationship Id="rId1" Type="http://schemas.openxmlformats.org/officeDocument/2006/relationships/image" Target="../media/image4.JPG"/><Relationship Id="rId4" Type="http://schemas.openxmlformats.org/officeDocument/2006/relationships/hyperlink" Target="https://openclipart.org/detail/173754/phone-icon-button-by-cko09-173754" TargetMode="External"/></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commons.wikimedia.org/wiki/File:Golden_Retriever_Hund_Dog.JPG" TargetMode="External"/><Relationship Id="rId1" Type="http://schemas.openxmlformats.org/officeDocument/2006/relationships/image" Target="../media/image4.JPG"/><Relationship Id="rId4" Type="http://schemas.openxmlformats.org/officeDocument/2006/relationships/hyperlink" Target="https://openclipart.org/detail/173754/phone-icon-button-by-cko09-173754"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0218C9-FD53-4812-BD0C-D5B9A60EEA0F}"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CA"/>
        </a:p>
      </dgm:t>
    </dgm:pt>
    <dgm:pt modelId="{03846FB0-1136-4581-8F13-AC71D5411F2F}">
      <dgm:prSet/>
      <dgm:spPr/>
      <dgm:t>
        <a:bodyPr/>
        <a:lstStyle/>
        <a:p>
          <a:r>
            <a:rPr lang="en-CA"/>
            <a:t>Dog</a:t>
          </a:r>
        </a:p>
      </dgm:t>
    </dgm:pt>
    <dgm:pt modelId="{26621748-D6DD-4B81-9F27-4A96001FBE91}" type="parTrans" cxnId="{98B25F2B-AEB0-4930-ABFF-344BDE0A61E8}">
      <dgm:prSet/>
      <dgm:spPr/>
      <dgm:t>
        <a:bodyPr/>
        <a:lstStyle/>
        <a:p>
          <a:endParaRPr lang="en-CA"/>
        </a:p>
      </dgm:t>
    </dgm:pt>
    <dgm:pt modelId="{7FF5CF94-17F1-42C8-BCAB-230B64AD0FEB}" type="sibTrans" cxnId="{98B25F2B-AEB0-4930-ABFF-344BDE0A61E8}">
      <dgm:prSet/>
      <dgm:spPr/>
      <dgm:t>
        <a:bodyPr/>
        <a:lstStyle/>
        <a:p>
          <a:endParaRPr lang="en-CA"/>
        </a:p>
      </dgm:t>
    </dgm:pt>
    <dgm:pt modelId="{1468C9D5-1B6A-4D3C-8BAA-C381F8A390E9}">
      <dgm:prSet/>
      <dgm:spPr/>
      <dgm:t>
        <a:bodyPr/>
        <a:lstStyle/>
        <a:p>
          <a:r>
            <a:rPr lang="en-CA" b="1" dirty="0">
              <a:solidFill>
                <a:schemeClr val="accent2"/>
              </a:solidFill>
            </a:rPr>
            <a:t>Happy State:</a:t>
          </a:r>
          <a:r>
            <a:rPr lang="en-CA" dirty="0"/>
            <a:t> It wags its tail, sticks out its tongue and is playful</a:t>
          </a:r>
        </a:p>
      </dgm:t>
    </dgm:pt>
    <dgm:pt modelId="{3BE378CC-474B-4556-8074-0951750F4F09}" type="parTrans" cxnId="{0CBC2F36-79E9-4071-993D-F316A1BF8C6C}">
      <dgm:prSet/>
      <dgm:spPr/>
      <dgm:t>
        <a:bodyPr/>
        <a:lstStyle/>
        <a:p>
          <a:endParaRPr lang="en-CA"/>
        </a:p>
      </dgm:t>
    </dgm:pt>
    <dgm:pt modelId="{92A6B01C-08BF-4510-9F00-85F7A98626BE}" type="sibTrans" cxnId="{0CBC2F36-79E9-4071-993D-F316A1BF8C6C}">
      <dgm:prSet/>
      <dgm:spPr/>
      <dgm:t>
        <a:bodyPr/>
        <a:lstStyle/>
        <a:p>
          <a:endParaRPr lang="en-CA"/>
        </a:p>
      </dgm:t>
    </dgm:pt>
    <dgm:pt modelId="{C99A944F-E72F-4722-996A-2C108C023B85}">
      <dgm:prSet/>
      <dgm:spPr/>
      <dgm:t>
        <a:bodyPr/>
        <a:lstStyle/>
        <a:p>
          <a:r>
            <a:rPr lang="en-CA" b="1" dirty="0">
              <a:solidFill>
                <a:schemeClr val="accent2"/>
              </a:solidFill>
            </a:rPr>
            <a:t>Scared State: </a:t>
          </a:r>
          <a:r>
            <a:rPr lang="en-CA" dirty="0"/>
            <a:t>Tail between its legs, tongue inside its mouth, whimpering</a:t>
          </a:r>
        </a:p>
      </dgm:t>
    </dgm:pt>
    <dgm:pt modelId="{6FF9BEA6-5A1E-4AF3-9EFF-B88A6EDD4F49}" type="parTrans" cxnId="{DB084EAF-4DDE-4C22-9AC2-C9E6CCE83B86}">
      <dgm:prSet/>
      <dgm:spPr/>
      <dgm:t>
        <a:bodyPr/>
        <a:lstStyle/>
        <a:p>
          <a:endParaRPr lang="en-CA"/>
        </a:p>
      </dgm:t>
    </dgm:pt>
    <dgm:pt modelId="{FD8C9C90-DDE1-40F0-A667-9FFDD66EB385}" type="sibTrans" cxnId="{DB084EAF-4DDE-4C22-9AC2-C9E6CCE83B86}">
      <dgm:prSet/>
      <dgm:spPr/>
      <dgm:t>
        <a:bodyPr/>
        <a:lstStyle/>
        <a:p>
          <a:endParaRPr lang="en-CA"/>
        </a:p>
      </dgm:t>
    </dgm:pt>
    <dgm:pt modelId="{8FDCEE0A-A4CB-4D90-AE7C-F13744B749E4}">
      <dgm:prSet/>
      <dgm:spPr/>
      <dgm:t>
        <a:bodyPr/>
        <a:lstStyle/>
        <a:p>
          <a:r>
            <a:rPr lang="en-CA" b="1" dirty="0">
              <a:solidFill>
                <a:schemeClr val="accent2"/>
              </a:solidFill>
            </a:rPr>
            <a:t>Aggressive State</a:t>
          </a:r>
          <a:r>
            <a:rPr lang="en-CA" dirty="0"/>
            <a:t>: Tail is not wagging, growling, tail is raised high, bared teeth</a:t>
          </a:r>
        </a:p>
      </dgm:t>
    </dgm:pt>
    <dgm:pt modelId="{0CC8BC05-8318-4C43-A5D9-E8F0F9F5D8AA}" type="parTrans" cxnId="{69FF5321-226B-4F91-B0C5-860C8A052DCD}">
      <dgm:prSet/>
      <dgm:spPr/>
      <dgm:t>
        <a:bodyPr/>
        <a:lstStyle/>
        <a:p>
          <a:endParaRPr lang="en-CA"/>
        </a:p>
      </dgm:t>
    </dgm:pt>
    <dgm:pt modelId="{E1D2B003-340F-43D8-B6BF-018F4FB8F0AC}" type="sibTrans" cxnId="{69FF5321-226B-4F91-B0C5-860C8A052DCD}">
      <dgm:prSet/>
      <dgm:spPr/>
      <dgm:t>
        <a:bodyPr/>
        <a:lstStyle/>
        <a:p>
          <a:endParaRPr lang="en-CA"/>
        </a:p>
      </dgm:t>
    </dgm:pt>
    <dgm:pt modelId="{C4973AA5-7427-4612-AD1F-30A913368DA5}">
      <dgm:prSet/>
      <dgm:spPr/>
      <dgm:t>
        <a:bodyPr/>
        <a:lstStyle/>
        <a:p>
          <a:r>
            <a:rPr lang="en-CA"/>
            <a:t>A UI Button:</a:t>
          </a:r>
        </a:p>
      </dgm:t>
    </dgm:pt>
    <dgm:pt modelId="{EB55605D-34C2-4052-8604-84691D24D995}" type="parTrans" cxnId="{EC62DF8B-5A87-4D88-9630-535D6628F530}">
      <dgm:prSet/>
      <dgm:spPr/>
      <dgm:t>
        <a:bodyPr/>
        <a:lstStyle/>
        <a:p>
          <a:endParaRPr lang="en-CA"/>
        </a:p>
      </dgm:t>
    </dgm:pt>
    <dgm:pt modelId="{B112847C-6D0A-4020-9BEF-44B62AA7D37B}" type="sibTrans" cxnId="{EC62DF8B-5A87-4D88-9630-535D6628F530}">
      <dgm:prSet/>
      <dgm:spPr/>
      <dgm:t>
        <a:bodyPr/>
        <a:lstStyle/>
        <a:p>
          <a:endParaRPr lang="en-CA"/>
        </a:p>
      </dgm:t>
    </dgm:pt>
    <dgm:pt modelId="{FBA1BEA3-50EA-4489-9EB6-49CA89301ECF}">
      <dgm:prSet/>
      <dgm:spPr/>
      <dgm:t>
        <a:bodyPr/>
        <a:lstStyle/>
        <a:p>
          <a:r>
            <a:rPr lang="en-CA" b="1" dirty="0">
              <a:solidFill>
                <a:schemeClr val="accent2"/>
              </a:solidFill>
            </a:rPr>
            <a:t>Hover State: </a:t>
          </a:r>
          <a:r>
            <a:rPr lang="en-CA" dirty="0"/>
            <a:t>might change color</a:t>
          </a:r>
        </a:p>
      </dgm:t>
    </dgm:pt>
    <dgm:pt modelId="{51F992ED-648F-4059-A593-7698D0753AFE}" type="parTrans" cxnId="{A5150D2C-FFEA-4138-B4A6-B32D6346AB18}">
      <dgm:prSet/>
      <dgm:spPr/>
      <dgm:t>
        <a:bodyPr/>
        <a:lstStyle/>
        <a:p>
          <a:endParaRPr lang="en-CA"/>
        </a:p>
      </dgm:t>
    </dgm:pt>
    <dgm:pt modelId="{EE91B006-3FDF-4E43-9208-CF282F2FAB5F}" type="sibTrans" cxnId="{A5150D2C-FFEA-4138-B4A6-B32D6346AB18}">
      <dgm:prSet/>
      <dgm:spPr/>
      <dgm:t>
        <a:bodyPr/>
        <a:lstStyle/>
        <a:p>
          <a:endParaRPr lang="en-CA"/>
        </a:p>
      </dgm:t>
    </dgm:pt>
    <dgm:pt modelId="{37ADDDCB-B477-447B-8581-5DB5410AC877}">
      <dgm:prSet/>
      <dgm:spPr/>
      <dgm:t>
        <a:bodyPr/>
        <a:lstStyle/>
        <a:p>
          <a:r>
            <a:rPr lang="en-CA" b="1" dirty="0">
              <a:solidFill>
                <a:schemeClr val="accent2"/>
              </a:solidFill>
            </a:rPr>
            <a:t>Pressed: </a:t>
          </a:r>
          <a:r>
            <a:rPr lang="en-CA" dirty="0"/>
            <a:t>Might change image and how its rendered</a:t>
          </a:r>
        </a:p>
      </dgm:t>
    </dgm:pt>
    <dgm:pt modelId="{A42F7ADF-2003-435B-A29B-D13D06928CF1}" type="parTrans" cxnId="{66DA6BC9-0EFB-42E1-B0C8-A193F084B183}">
      <dgm:prSet/>
      <dgm:spPr/>
      <dgm:t>
        <a:bodyPr/>
        <a:lstStyle/>
        <a:p>
          <a:endParaRPr lang="en-CA"/>
        </a:p>
      </dgm:t>
    </dgm:pt>
    <dgm:pt modelId="{1262E1B4-3F12-4DE8-A2DC-55E449EBA209}" type="sibTrans" cxnId="{66DA6BC9-0EFB-42E1-B0C8-A193F084B183}">
      <dgm:prSet/>
      <dgm:spPr/>
      <dgm:t>
        <a:bodyPr/>
        <a:lstStyle/>
        <a:p>
          <a:endParaRPr lang="en-CA"/>
        </a:p>
      </dgm:t>
    </dgm:pt>
    <dgm:pt modelId="{D6174CB2-B187-4872-806A-87817B560890}">
      <dgm:prSet/>
      <dgm:spPr/>
      <dgm:t>
        <a:bodyPr/>
        <a:lstStyle/>
        <a:p>
          <a:r>
            <a:rPr lang="en-CA" b="1" dirty="0">
              <a:solidFill>
                <a:schemeClr val="accent2"/>
              </a:solidFill>
            </a:rPr>
            <a:t>Idle: </a:t>
          </a:r>
          <a:r>
            <a:rPr lang="en-CA" dirty="0"/>
            <a:t>Render default image</a:t>
          </a:r>
        </a:p>
      </dgm:t>
    </dgm:pt>
    <dgm:pt modelId="{41E73D57-54ED-44E7-810B-1B5B3310E8E6}" type="parTrans" cxnId="{83A62598-A193-459D-8C9F-FE116664D4A4}">
      <dgm:prSet/>
      <dgm:spPr/>
      <dgm:t>
        <a:bodyPr/>
        <a:lstStyle/>
        <a:p>
          <a:endParaRPr lang="en-CA"/>
        </a:p>
      </dgm:t>
    </dgm:pt>
    <dgm:pt modelId="{4C29AAC4-CEEB-4A60-B7E9-FDD0DD429599}" type="sibTrans" cxnId="{83A62598-A193-459D-8C9F-FE116664D4A4}">
      <dgm:prSet/>
      <dgm:spPr/>
      <dgm:t>
        <a:bodyPr/>
        <a:lstStyle/>
        <a:p>
          <a:endParaRPr lang="en-CA"/>
        </a:p>
      </dgm:t>
    </dgm:pt>
    <dgm:pt modelId="{B1832500-8804-47EE-B239-229D49B4ED09}">
      <dgm:prSet/>
      <dgm:spPr/>
      <dgm:t>
        <a:bodyPr/>
        <a:lstStyle/>
        <a:p>
          <a:r>
            <a:rPr lang="en-CA" b="1" dirty="0">
              <a:solidFill>
                <a:schemeClr val="accent2"/>
              </a:solidFill>
            </a:rPr>
            <a:t>Disabled: </a:t>
          </a:r>
          <a:r>
            <a:rPr lang="en-CA" dirty="0"/>
            <a:t>Button is not rendered</a:t>
          </a:r>
        </a:p>
      </dgm:t>
    </dgm:pt>
    <dgm:pt modelId="{D9F43E26-7409-4549-9985-72D2ABCA67E6}" type="parTrans" cxnId="{0BC66270-94F1-4B62-83B7-172734CD7601}">
      <dgm:prSet/>
      <dgm:spPr/>
      <dgm:t>
        <a:bodyPr/>
        <a:lstStyle/>
        <a:p>
          <a:endParaRPr lang="en-US"/>
        </a:p>
      </dgm:t>
    </dgm:pt>
    <dgm:pt modelId="{EA2CC322-F885-4B0E-9E7A-C20BBAFC16FA}" type="sibTrans" cxnId="{0BC66270-94F1-4B62-83B7-172734CD7601}">
      <dgm:prSet/>
      <dgm:spPr/>
      <dgm:t>
        <a:bodyPr/>
        <a:lstStyle/>
        <a:p>
          <a:endParaRPr lang="en-US"/>
        </a:p>
      </dgm:t>
    </dgm:pt>
    <dgm:pt modelId="{8E09D931-CBAF-4B48-AB50-008C1F71179E}" type="pres">
      <dgm:prSet presAssocID="{B20218C9-FD53-4812-BD0C-D5B9A60EEA0F}" presName="diagram" presStyleCnt="0">
        <dgm:presLayoutVars>
          <dgm:dir/>
          <dgm:animLvl val="lvl"/>
          <dgm:resizeHandles val="exact"/>
        </dgm:presLayoutVars>
      </dgm:prSet>
      <dgm:spPr/>
    </dgm:pt>
    <dgm:pt modelId="{6A90E057-3072-4234-A71C-50C027EE0957}" type="pres">
      <dgm:prSet presAssocID="{03846FB0-1136-4581-8F13-AC71D5411F2F}" presName="compNode" presStyleCnt="0"/>
      <dgm:spPr/>
    </dgm:pt>
    <dgm:pt modelId="{DA16F8F1-356F-4AAB-9953-222FAFE11949}" type="pres">
      <dgm:prSet presAssocID="{03846FB0-1136-4581-8F13-AC71D5411F2F}" presName="childRect" presStyleLbl="bgAcc1" presStyleIdx="0" presStyleCnt="2">
        <dgm:presLayoutVars>
          <dgm:bulletEnabled val="1"/>
        </dgm:presLayoutVars>
      </dgm:prSet>
      <dgm:spPr/>
    </dgm:pt>
    <dgm:pt modelId="{86865D34-737A-41D8-B242-03B782744C52}" type="pres">
      <dgm:prSet presAssocID="{03846FB0-1136-4581-8F13-AC71D5411F2F}" presName="parentText" presStyleLbl="node1" presStyleIdx="0" presStyleCnt="0">
        <dgm:presLayoutVars>
          <dgm:chMax val="0"/>
          <dgm:bulletEnabled val="1"/>
        </dgm:presLayoutVars>
      </dgm:prSet>
      <dgm:spPr/>
    </dgm:pt>
    <dgm:pt modelId="{5518B31E-4B28-449A-9C84-DC788AEC779C}" type="pres">
      <dgm:prSet presAssocID="{03846FB0-1136-4581-8F13-AC71D5411F2F}" presName="parentRect" presStyleLbl="alignNode1" presStyleIdx="0" presStyleCnt="2"/>
      <dgm:spPr/>
    </dgm:pt>
    <dgm:pt modelId="{E9BDEC17-092B-404D-A507-F98E375D3A17}" type="pres">
      <dgm:prSet presAssocID="{03846FB0-1136-4581-8F13-AC71D5411F2F}" presName="adorn" presStyleLbl="fgAccFollowNode1" presStyleIdx="0" presStyleCnt="2"/>
      <dgm:spPr>
        <a:blipFill>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5000" r="-25000"/>
          </a:stretch>
        </a:blipFill>
      </dgm:spPr>
    </dgm:pt>
    <dgm:pt modelId="{75A24DDF-2084-492D-8586-04FD65A04F8E}" type="pres">
      <dgm:prSet presAssocID="{7FF5CF94-17F1-42C8-BCAB-230B64AD0FEB}" presName="sibTrans" presStyleLbl="sibTrans2D1" presStyleIdx="0" presStyleCnt="0"/>
      <dgm:spPr/>
    </dgm:pt>
    <dgm:pt modelId="{A62C4275-5DFD-4DE7-943F-239BF92F0106}" type="pres">
      <dgm:prSet presAssocID="{C4973AA5-7427-4612-AD1F-30A913368DA5}" presName="compNode" presStyleCnt="0"/>
      <dgm:spPr/>
    </dgm:pt>
    <dgm:pt modelId="{0BCA82C5-8474-48D8-AFF3-370BD884A5BF}" type="pres">
      <dgm:prSet presAssocID="{C4973AA5-7427-4612-AD1F-30A913368DA5}" presName="childRect" presStyleLbl="bgAcc1" presStyleIdx="1" presStyleCnt="2">
        <dgm:presLayoutVars>
          <dgm:bulletEnabled val="1"/>
        </dgm:presLayoutVars>
      </dgm:prSet>
      <dgm:spPr/>
    </dgm:pt>
    <dgm:pt modelId="{C203C933-63B4-4339-A5C6-4E400C78F184}" type="pres">
      <dgm:prSet presAssocID="{C4973AA5-7427-4612-AD1F-30A913368DA5}" presName="parentText" presStyleLbl="node1" presStyleIdx="0" presStyleCnt="0">
        <dgm:presLayoutVars>
          <dgm:chMax val="0"/>
          <dgm:bulletEnabled val="1"/>
        </dgm:presLayoutVars>
      </dgm:prSet>
      <dgm:spPr/>
    </dgm:pt>
    <dgm:pt modelId="{9C61F265-A41B-4850-BC61-F5C2A6F8C423}" type="pres">
      <dgm:prSet presAssocID="{C4973AA5-7427-4612-AD1F-30A913368DA5}" presName="parentRect" presStyleLbl="alignNode1" presStyleIdx="1" presStyleCnt="2"/>
      <dgm:spPr/>
    </dgm:pt>
    <dgm:pt modelId="{C0571094-1FF0-4E44-A713-4A579A56A154}" type="pres">
      <dgm:prSet presAssocID="{C4973AA5-7427-4612-AD1F-30A913368DA5}" presName="adorn" presStyleLbl="fgAccFollowNode1" presStyleIdx="1" presStyleCnt="2"/>
      <dgm:spPr>
        <a:blipFill>
          <a:blip xmlns:r="http://schemas.openxmlformats.org/officeDocument/2006/relationships"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t="-1000" b="-1000"/>
          </a:stretch>
        </a:blipFill>
      </dgm:spPr>
    </dgm:pt>
  </dgm:ptLst>
  <dgm:cxnLst>
    <dgm:cxn modelId="{8779021D-8152-4570-9C22-DA0B9C6E1D5B}" type="presOf" srcId="{03846FB0-1136-4581-8F13-AC71D5411F2F}" destId="{86865D34-737A-41D8-B242-03B782744C52}" srcOrd="0" destOrd="0" presId="urn:microsoft.com/office/officeart/2005/8/layout/bList2"/>
    <dgm:cxn modelId="{69FF5321-226B-4F91-B0C5-860C8A052DCD}" srcId="{03846FB0-1136-4581-8F13-AC71D5411F2F}" destId="{8FDCEE0A-A4CB-4D90-AE7C-F13744B749E4}" srcOrd="2" destOrd="0" parTransId="{0CC8BC05-8318-4C43-A5D9-E8F0F9F5D8AA}" sibTransId="{E1D2B003-340F-43D8-B6BF-018F4FB8F0AC}"/>
    <dgm:cxn modelId="{1A25DC23-57BA-46B5-B288-B95EEC417E9C}" type="presOf" srcId="{C4973AA5-7427-4612-AD1F-30A913368DA5}" destId="{C203C933-63B4-4339-A5C6-4E400C78F184}" srcOrd="0" destOrd="0" presId="urn:microsoft.com/office/officeart/2005/8/layout/bList2"/>
    <dgm:cxn modelId="{98B25F2B-AEB0-4930-ABFF-344BDE0A61E8}" srcId="{B20218C9-FD53-4812-BD0C-D5B9A60EEA0F}" destId="{03846FB0-1136-4581-8F13-AC71D5411F2F}" srcOrd="0" destOrd="0" parTransId="{26621748-D6DD-4B81-9F27-4A96001FBE91}" sibTransId="{7FF5CF94-17F1-42C8-BCAB-230B64AD0FEB}"/>
    <dgm:cxn modelId="{A5150D2C-FFEA-4138-B4A6-B32D6346AB18}" srcId="{C4973AA5-7427-4612-AD1F-30A913368DA5}" destId="{FBA1BEA3-50EA-4489-9EB6-49CA89301ECF}" srcOrd="0" destOrd="0" parTransId="{51F992ED-648F-4059-A593-7698D0753AFE}" sibTransId="{EE91B006-3FDF-4E43-9208-CF282F2FAB5F}"/>
    <dgm:cxn modelId="{1A92892D-C166-4622-A9F6-A03CC238F7DD}" type="presOf" srcId="{37ADDDCB-B477-447B-8581-5DB5410AC877}" destId="{0BCA82C5-8474-48D8-AFF3-370BD884A5BF}" srcOrd="0" destOrd="1" presId="urn:microsoft.com/office/officeart/2005/8/layout/bList2"/>
    <dgm:cxn modelId="{B83ACE2D-5B77-4242-B49B-7421FD6F0098}" type="presOf" srcId="{03846FB0-1136-4581-8F13-AC71D5411F2F}" destId="{5518B31E-4B28-449A-9C84-DC788AEC779C}" srcOrd="1" destOrd="0" presId="urn:microsoft.com/office/officeart/2005/8/layout/bList2"/>
    <dgm:cxn modelId="{0CBC2F36-79E9-4071-993D-F316A1BF8C6C}" srcId="{03846FB0-1136-4581-8F13-AC71D5411F2F}" destId="{1468C9D5-1B6A-4D3C-8BAA-C381F8A390E9}" srcOrd="0" destOrd="0" parTransId="{3BE378CC-474B-4556-8074-0951750F4F09}" sibTransId="{92A6B01C-08BF-4510-9F00-85F7A98626BE}"/>
    <dgm:cxn modelId="{6E91AA3E-C0EC-452A-8FB8-2D583A8395A1}" type="presOf" srcId="{FBA1BEA3-50EA-4489-9EB6-49CA89301ECF}" destId="{0BCA82C5-8474-48D8-AFF3-370BD884A5BF}" srcOrd="0" destOrd="0" presId="urn:microsoft.com/office/officeart/2005/8/layout/bList2"/>
    <dgm:cxn modelId="{0BC66270-94F1-4B62-83B7-172734CD7601}" srcId="{C4973AA5-7427-4612-AD1F-30A913368DA5}" destId="{B1832500-8804-47EE-B239-229D49B4ED09}" srcOrd="3" destOrd="0" parTransId="{D9F43E26-7409-4549-9985-72D2ABCA67E6}" sibTransId="{EA2CC322-F885-4B0E-9E7A-C20BBAFC16FA}"/>
    <dgm:cxn modelId="{CE23AA53-AE57-4354-B7C0-E73F611A608B}" type="presOf" srcId="{7FF5CF94-17F1-42C8-BCAB-230B64AD0FEB}" destId="{75A24DDF-2084-492D-8586-04FD65A04F8E}" srcOrd="0" destOrd="0" presId="urn:microsoft.com/office/officeart/2005/8/layout/bList2"/>
    <dgm:cxn modelId="{EC62DF8B-5A87-4D88-9630-535D6628F530}" srcId="{B20218C9-FD53-4812-BD0C-D5B9A60EEA0F}" destId="{C4973AA5-7427-4612-AD1F-30A913368DA5}" srcOrd="1" destOrd="0" parTransId="{EB55605D-34C2-4052-8604-84691D24D995}" sibTransId="{B112847C-6D0A-4020-9BEF-44B62AA7D37B}"/>
    <dgm:cxn modelId="{4C8E4E8F-E121-4450-BB90-46F07F0C5625}" type="presOf" srcId="{B20218C9-FD53-4812-BD0C-D5B9A60EEA0F}" destId="{8E09D931-CBAF-4B48-AB50-008C1F71179E}" srcOrd="0" destOrd="0" presId="urn:microsoft.com/office/officeart/2005/8/layout/bList2"/>
    <dgm:cxn modelId="{30E7D691-EB05-4475-B2AE-12D2D23DB0DD}" type="presOf" srcId="{C4973AA5-7427-4612-AD1F-30A913368DA5}" destId="{9C61F265-A41B-4850-BC61-F5C2A6F8C423}" srcOrd="1" destOrd="0" presId="urn:microsoft.com/office/officeart/2005/8/layout/bList2"/>
    <dgm:cxn modelId="{83A62598-A193-459D-8C9F-FE116664D4A4}" srcId="{C4973AA5-7427-4612-AD1F-30A913368DA5}" destId="{D6174CB2-B187-4872-806A-87817B560890}" srcOrd="2" destOrd="0" parTransId="{41E73D57-54ED-44E7-810B-1B5B3310E8E6}" sibTransId="{4C29AAC4-CEEB-4A60-B7E9-FDD0DD429599}"/>
    <dgm:cxn modelId="{5EA4C1A9-8EB2-4DCC-8D17-D39896D5E7D8}" type="presOf" srcId="{8FDCEE0A-A4CB-4D90-AE7C-F13744B749E4}" destId="{DA16F8F1-356F-4AAB-9953-222FAFE11949}" srcOrd="0" destOrd="2" presId="urn:microsoft.com/office/officeart/2005/8/layout/bList2"/>
    <dgm:cxn modelId="{DB084EAF-4DDE-4C22-9AC2-C9E6CCE83B86}" srcId="{03846FB0-1136-4581-8F13-AC71D5411F2F}" destId="{C99A944F-E72F-4722-996A-2C108C023B85}" srcOrd="1" destOrd="0" parTransId="{6FF9BEA6-5A1E-4AF3-9EFF-B88A6EDD4F49}" sibTransId="{FD8C9C90-DDE1-40F0-A667-9FFDD66EB385}"/>
    <dgm:cxn modelId="{AB58F8B2-1D50-4976-BD78-9A5FB1DBF8FD}" type="presOf" srcId="{B1832500-8804-47EE-B239-229D49B4ED09}" destId="{0BCA82C5-8474-48D8-AFF3-370BD884A5BF}" srcOrd="0" destOrd="3" presId="urn:microsoft.com/office/officeart/2005/8/layout/bList2"/>
    <dgm:cxn modelId="{66DA6BC9-0EFB-42E1-B0C8-A193F084B183}" srcId="{C4973AA5-7427-4612-AD1F-30A913368DA5}" destId="{37ADDDCB-B477-447B-8581-5DB5410AC877}" srcOrd="1" destOrd="0" parTransId="{A42F7ADF-2003-435B-A29B-D13D06928CF1}" sibTransId="{1262E1B4-3F12-4DE8-A2DC-55E449EBA209}"/>
    <dgm:cxn modelId="{C0A146CA-1892-4416-8BD6-06D68EFEC264}" type="presOf" srcId="{1468C9D5-1B6A-4D3C-8BAA-C381F8A390E9}" destId="{DA16F8F1-356F-4AAB-9953-222FAFE11949}" srcOrd="0" destOrd="0" presId="urn:microsoft.com/office/officeart/2005/8/layout/bList2"/>
    <dgm:cxn modelId="{3C6C80E3-EF20-4123-9EA8-88405EC5832B}" type="presOf" srcId="{D6174CB2-B187-4872-806A-87817B560890}" destId="{0BCA82C5-8474-48D8-AFF3-370BD884A5BF}" srcOrd="0" destOrd="2" presId="urn:microsoft.com/office/officeart/2005/8/layout/bList2"/>
    <dgm:cxn modelId="{EF2307F2-CFC8-408B-857C-CD4FA762329D}" type="presOf" srcId="{C99A944F-E72F-4722-996A-2C108C023B85}" destId="{DA16F8F1-356F-4AAB-9953-222FAFE11949}" srcOrd="0" destOrd="1" presId="urn:microsoft.com/office/officeart/2005/8/layout/bList2"/>
    <dgm:cxn modelId="{761D00E6-2A7B-402F-A7E7-1E22DD524E32}" type="presParOf" srcId="{8E09D931-CBAF-4B48-AB50-008C1F71179E}" destId="{6A90E057-3072-4234-A71C-50C027EE0957}" srcOrd="0" destOrd="0" presId="urn:microsoft.com/office/officeart/2005/8/layout/bList2"/>
    <dgm:cxn modelId="{B48C8E88-16E0-4329-8DD0-82F290AC76A1}" type="presParOf" srcId="{6A90E057-3072-4234-A71C-50C027EE0957}" destId="{DA16F8F1-356F-4AAB-9953-222FAFE11949}" srcOrd="0" destOrd="0" presId="urn:microsoft.com/office/officeart/2005/8/layout/bList2"/>
    <dgm:cxn modelId="{AD960AB1-C11B-43B7-A130-1FE7B7431262}" type="presParOf" srcId="{6A90E057-3072-4234-A71C-50C027EE0957}" destId="{86865D34-737A-41D8-B242-03B782744C52}" srcOrd="1" destOrd="0" presId="urn:microsoft.com/office/officeart/2005/8/layout/bList2"/>
    <dgm:cxn modelId="{BA3E970C-A924-4CC7-AD25-44100A733104}" type="presParOf" srcId="{6A90E057-3072-4234-A71C-50C027EE0957}" destId="{5518B31E-4B28-449A-9C84-DC788AEC779C}" srcOrd="2" destOrd="0" presId="urn:microsoft.com/office/officeart/2005/8/layout/bList2"/>
    <dgm:cxn modelId="{8189D5EC-E95C-42AC-A6CC-38D4AB26C3AE}" type="presParOf" srcId="{6A90E057-3072-4234-A71C-50C027EE0957}" destId="{E9BDEC17-092B-404D-A507-F98E375D3A17}" srcOrd="3" destOrd="0" presId="urn:microsoft.com/office/officeart/2005/8/layout/bList2"/>
    <dgm:cxn modelId="{65FA2B74-74BB-4CEA-9034-ECB782AF1FF0}" type="presParOf" srcId="{8E09D931-CBAF-4B48-AB50-008C1F71179E}" destId="{75A24DDF-2084-492D-8586-04FD65A04F8E}" srcOrd="1" destOrd="0" presId="urn:microsoft.com/office/officeart/2005/8/layout/bList2"/>
    <dgm:cxn modelId="{5C405DA1-32A8-446C-965D-30584DA9F1C0}" type="presParOf" srcId="{8E09D931-CBAF-4B48-AB50-008C1F71179E}" destId="{A62C4275-5DFD-4DE7-943F-239BF92F0106}" srcOrd="2" destOrd="0" presId="urn:microsoft.com/office/officeart/2005/8/layout/bList2"/>
    <dgm:cxn modelId="{8B53938D-FC26-4D23-95B1-911F725A2AAD}" type="presParOf" srcId="{A62C4275-5DFD-4DE7-943F-239BF92F0106}" destId="{0BCA82C5-8474-48D8-AFF3-370BD884A5BF}" srcOrd="0" destOrd="0" presId="urn:microsoft.com/office/officeart/2005/8/layout/bList2"/>
    <dgm:cxn modelId="{DD0017D4-49DE-46EF-A3F7-7F7941508968}" type="presParOf" srcId="{A62C4275-5DFD-4DE7-943F-239BF92F0106}" destId="{C203C933-63B4-4339-A5C6-4E400C78F184}" srcOrd="1" destOrd="0" presId="urn:microsoft.com/office/officeart/2005/8/layout/bList2"/>
    <dgm:cxn modelId="{409688F8-29DF-460C-BA00-003B28BDF631}" type="presParOf" srcId="{A62C4275-5DFD-4DE7-943F-239BF92F0106}" destId="{9C61F265-A41B-4850-BC61-F5C2A6F8C423}" srcOrd="2" destOrd="0" presId="urn:microsoft.com/office/officeart/2005/8/layout/bList2"/>
    <dgm:cxn modelId="{7FEDB21B-9CB4-4D03-9C78-EFEAA290ECC6}" type="presParOf" srcId="{A62C4275-5DFD-4DE7-943F-239BF92F0106}" destId="{C0571094-1FF0-4E44-A713-4A579A56A154}"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C08F4E-E8FF-4845-B4BB-71CB877BB14A}"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CA"/>
        </a:p>
      </dgm:t>
    </dgm:pt>
    <dgm:pt modelId="{AE3BC04E-47A9-4369-91B1-6D705093DE36}">
      <dgm:prSet/>
      <dgm:spPr/>
      <dgm:t>
        <a:bodyPr/>
        <a:lstStyle/>
        <a:p>
          <a:r>
            <a:rPr lang="en-CA" dirty="0"/>
            <a:t>When you need to switch behaviours at runtime (sounds a lot like State)</a:t>
          </a:r>
        </a:p>
      </dgm:t>
    </dgm:pt>
    <dgm:pt modelId="{B9EAB1DA-F3B1-465D-B3A5-8F3B5ABE3DE3}" type="parTrans" cxnId="{591E9176-0AF6-447C-A5F0-45576364A82B}">
      <dgm:prSet/>
      <dgm:spPr/>
      <dgm:t>
        <a:bodyPr/>
        <a:lstStyle/>
        <a:p>
          <a:endParaRPr lang="en-CA"/>
        </a:p>
      </dgm:t>
    </dgm:pt>
    <dgm:pt modelId="{AE0030A5-2623-4417-A51D-5DDEDE3BA303}" type="sibTrans" cxnId="{591E9176-0AF6-447C-A5F0-45576364A82B}">
      <dgm:prSet/>
      <dgm:spPr/>
      <dgm:t>
        <a:bodyPr/>
        <a:lstStyle/>
        <a:p>
          <a:endParaRPr lang="en-CA"/>
        </a:p>
      </dgm:t>
    </dgm:pt>
    <dgm:pt modelId="{C520BA9A-AA7A-4AD5-8FEF-93E4C6B633F4}">
      <dgm:prSet/>
      <dgm:spPr/>
      <dgm:t>
        <a:bodyPr/>
        <a:lstStyle/>
        <a:p>
          <a:r>
            <a:rPr lang="en-CA" dirty="0"/>
            <a:t>State</a:t>
          </a:r>
        </a:p>
      </dgm:t>
    </dgm:pt>
    <dgm:pt modelId="{DD548081-1294-4EE6-BBA2-65F8D6B43E00}" type="parTrans" cxnId="{EC2CAD81-0504-4451-BDDE-DC54F05D0ACA}">
      <dgm:prSet/>
      <dgm:spPr/>
      <dgm:t>
        <a:bodyPr/>
        <a:lstStyle/>
        <a:p>
          <a:endParaRPr lang="en-CA"/>
        </a:p>
      </dgm:t>
    </dgm:pt>
    <dgm:pt modelId="{864E4729-7B5F-4BAB-BD6B-B01CE6B639DC}" type="sibTrans" cxnId="{EC2CAD81-0504-4451-BDDE-DC54F05D0ACA}">
      <dgm:prSet/>
      <dgm:spPr/>
      <dgm:t>
        <a:bodyPr/>
        <a:lstStyle/>
        <a:p>
          <a:endParaRPr lang="en-CA"/>
        </a:p>
      </dgm:t>
    </dgm:pt>
    <dgm:pt modelId="{123BAC00-0224-475F-BCA6-60B7F289E378}">
      <dgm:prSet/>
      <dgm:spPr/>
      <dgm:t>
        <a:bodyPr/>
        <a:lstStyle/>
        <a:p>
          <a:r>
            <a:rPr lang="en-CA" dirty="0"/>
            <a:t>Allows a single object to have multiple behaviours. </a:t>
          </a:r>
        </a:p>
      </dgm:t>
    </dgm:pt>
    <dgm:pt modelId="{A58881DB-B806-4685-9D5A-DBF09F1BBE47}" type="parTrans" cxnId="{65DA8A9C-40C4-4437-9547-1853C58A8489}">
      <dgm:prSet/>
      <dgm:spPr/>
      <dgm:t>
        <a:bodyPr/>
        <a:lstStyle/>
        <a:p>
          <a:endParaRPr lang="en-CA"/>
        </a:p>
      </dgm:t>
    </dgm:pt>
    <dgm:pt modelId="{240551CC-D46B-4876-A76A-41E62C37D06A}" type="sibTrans" cxnId="{65DA8A9C-40C4-4437-9547-1853C58A8489}">
      <dgm:prSet/>
      <dgm:spPr/>
      <dgm:t>
        <a:bodyPr/>
        <a:lstStyle/>
        <a:p>
          <a:endParaRPr lang="en-CA"/>
        </a:p>
      </dgm:t>
    </dgm:pt>
    <dgm:pt modelId="{24AC080E-46F8-41D7-B585-802156CA8107}">
      <dgm:prSet/>
      <dgm:spPr/>
      <dgm:t>
        <a:bodyPr/>
        <a:lstStyle/>
        <a:p>
          <a:r>
            <a:rPr lang="en-CA" dirty="0"/>
            <a:t>These may be completely different behaviours as if the object belonged to another class.</a:t>
          </a:r>
        </a:p>
      </dgm:t>
    </dgm:pt>
    <dgm:pt modelId="{A93ED836-722E-4EC4-9C01-0D6259A7BDC9}" type="parTrans" cxnId="{1E9DF75C-0537-4DB4-8BD9-C9989D5BE559}">
      <dgm:prSet/>
      <dgm:spPr/>
      <dgm:t>
        <a:bodyPr/>
        <a:lstStyle/>
        <a:p>
          <a:endParaRPr lang="en-CA"/>
        </a:p>
      </dgm:t>
    </dgm:pt>
    <dgm:pt modelId="{A0D2E020-B93C-4F7D-85AB-4FAE97AEF854}" type="sibTrans" cxnId="{1E9DF75C-0537-4DB4-8BD9-C9989D5BE559}">
      <dgm:prSet/>
      <dgm:spPr/>
      <dgm:t>
        <a:bodyPr/>
        <a:lstStyle/>
        <a:p>
          <a:endParaRPr lang="en-CA"/>
        </a:p>
      </dgm:t>
    </dgm:pt>
    <dgm:pt modelId="{BF426AD4-DDF0-4804-928A-3FBCFF65DB13}">
      <dgm:prSet/>
      <dgm:spPr/>
      <dgm:t>
        <a:bodyPr/>
        <a:lstStyle/>
        <a:p>
          <a:r>
            <a:rPr lang="en-CA" dirty="0"/>
            <a:t>The object is decoupled from its state.</a:t>
          </a:r>
        </a:p>
      </dgm:t>
    </dgm:pt>
    <dgm:pt modelId="{7C435EAB-FF8B-4393-9A60-41420681561F}" type="parTrans" cxnId="{F0F2622C-4D4F-4CB2-9F38-E492AD616B76}">
      <dgm:prSet/>
      <dgm:spPr/>
      <dgm:t>
        <a:bodyPr/>
        <a:lstStyle/>
        <a:p>
          <a:endParaRPr lang="en-CA"/>
        </a:p>
      </dgm:t>
    </dgm:pt>
    <dgm:pt modelId="{F768700C-53F3-4A3C-8B21-D220C2C1085D}" type="sibTrans" cxnId="{F0F2622C-4D4F-4CB2-9F38-E492AD616B76}">
      <dgm:prSet/>
      <dgm:spPr/>
      <dgm:t>
        <a:bodyPr/>
        <a:lstStyle/>
        <a:p>
          <a:endParaRPr lang="en-CA"/>
        </a:p>
      </dgm:t>
    </dgm:pt>
    <dgm:pt modelId="{8DF6DCC9-4F38-42C0-8503-08EE79324571}">
      <dgm:prSet/>
      <dgm:spPr/>
      <dgm:t>
        <a:bodyPr/>
        <a:lstStyle/>
        <a:p>
          <a:r>
            <a:rPr lang="en-CA" dirty="0"/>
            <a:t>Another way of phrasing this is that it let’s you swap algorithms at run-time.</a:t>
          </a:r>
        </a:p>
      </dgm:t>
    </dgm:pt>
    <dgm:pt modelId="{B9170B3E-8382-4E4F-9A3D-F62B957FB777}" type="parTrans" cxnId="{6334AB1D-7178-4E76-BE83-D8E11866D744}">
      <dgm:prSet/>
      <dgm:spPr/>
      <dgm:t>
        <a:bodyPr/>
        <a:lstStyle/>
        <a:p>
          <a:endParaRPr lang="en-CA"/>
        </a:p>
      </dgm:t>
    </dgm:pt>
    <dgm:pt modelId="{E0FB339B-A850-4A19-B7D0-42EA90716511}" type="sibTrans" cxnId="{6334AB1D-7178-4E76-BE83-D8E11866D744}">
      <dgm:prSet/>
      <dgm:spPr/>
      <dgm:t>
        <a:bodyPr/>
        <a:lstStyle/>
        <a:p>
          <a:endParaRPr lang="en-CA"/>
        </a:p>
      </dgm:t>
    </dgm:pt>
    <dgm:pt modelId="{B9B4E7D5-4AC6-4408-90B1-092B9291AF86}">
      <dgm:prSet/>
      <dgm:spPr/>
      <dgm:t>
        <a:bodyPr/>
        <a:lstStyle/>
        <a:p>
          <a:r>
            <a:rPr lang="en-CA" dirty="0"/>
            <a:t>Strategy</a:t>
          </a:r>
        </a:p>
      </dgm:t>
    </dgm:pt>
    <dgm:pt modelId="{E3831EA2-AE51-414B-9F3C-E18CC525398E}" type="sibTrans" cxnId="{754807BE-8405-4C3C-9CF6-D43D0768CFE1}">
      <dgm:prSet/>
      <dgm:spPr/>
      <dgm:t>
        <a:bodyPr/>
        <a:lstStyle/>
        <a:p>
          <a:endParaRPr lang="en-CA"/>
        </a:p>
      </dgm:t>
    </dgm:pt>
    <dgm:pt modelId="{AD37A8EA-139C-482D-BDE2-64137CF2E32D}" type="parTrans" cxnId="{754807BE-8405-4C3C-9CF6-D43D0768CFE1}">
      <dgm:prSet/>
      <dgm:spPr/>
      <dgm:t>
        <a:bodyPr/>
        <a:lstStyle/>
        <a:p>
          <a:endParaRPr lang="en-CA"/>
        </a:p>
      </dgm:t>
    </dgm:pt>
    <dgm:pt modelId="{B62C9AC6-C4B0-4A9E-8316-AC206E90005A}" type="pres">
      <dgm:prSet presAssocID="{06C08F4E-E8FF-4845-B4BB-71CB877BB14A}" presName="linear" presStyleCnt="0">
        <dgm:presLayoutVars>
          <dgm:animLvl val="lvl"/>
          <dgm:resizeHandles val="exact"/>
        </dgm:presLayoutVars>
      </dgm:prSet>
      <dgm:spPr/>
    </dgm:pt>
    <dgm:pt modelId="{6F42681B-42AF-40FC-9C90-224D034701F2}" type="pres">
      <dgm:prSet presAssocID="{B9B4E7D5-4AC6-4408-90B1-092B9291AF86}" presName="parentText" presStyleLbl="node1" presStyleIdx="0" presStyleCnt="2">
        <dgm:presLayoutVars>
          <dgm:chMax val="0"/>
          <dgm:bulletEnabled val="1"/>
        </dgm:presLayoutVars>
      </dgm:prSet>
      <dgm:spPr/>
    </dgm:pt>
    <dgm:pt modelId="{3726A87D-758E-4269-BD09-5133F2C7ED63}" type="pres">
      <dgm:prSet presAssocID="{B9B4E7D5-4AC6-4408-90B1-092B9291AF86}" presName="childText" presStyleLbl="revTx" presStyleIdx="0" presStyleCnt="2">
        <dgm:presLayoutVars>
          <dgm:bulletEnabled val="1"/>
        </dgm:presLayoutVars>
      </dgm:prSet>
      <dgm:spPr/>
    </dgm:pt>
    <dgm:pt modelId="{8F87EE7B-3D2D-468C-8631-22206C4AC68B}" type="pres">
      <dgm:prSet presAssocID="{C520BA9A-AA7A-4AD5-8FEF-93E4C6B633F4}" presName="parentText" presStyleLbl="node1" presStyleIdx="1" presStyleCnt="2">
        <dgm:presLayoutVars>
          <dgm:chMax val="0"/>
          <dgm:bulletEnabled val="1"/>
        </dgm:presLayoutVars>
      </dgm:prSet>
      <dgm:spPr/>
    </dgm:pt>
    <dgm:pt modelId="{8ACC086D-78D3-448E-A298-4DB718723E3F}" type="pres">
      <dgm:prSet presAssocID="{C520BA9A-AA7A-4AD5-8FEF-93E4C6B633F4}" presName="childText" presStyleLbl="revTx" presStyleIdx="1" presStyleCnt="2">
        <dgm:presLayoutVars>
          <dgm:bulletEnabled val="1"/>
        </dgm:presLayoutVars>
      </dgm:prSet>
      <dgm:spPr/>
    </dgm:pt>
  </dgm:ptLst>
  <dgm:cxnLst>
    <dgm:cxn modelId="{693B8012-84C5-4822-8D10-534E46ACBE39}" type="presOf" srcId="{123BAC00-0224-475F-BCA6-60B7F289E378}" destId="{8ACC086D-78D3-448E-A298-4DB718723E3F}" srcOrd="0" destOrd="0" presId="urn:microsoft.com/office/officeart/2005/8/layout/vList2"/>
    <dgm:cxn modelId="{6334AB1D-7178-4E76-BE83-D8E11866D744}" srcId="{B9B4E7D5-4AC6-4408-90B1-092B9291AF86}" destId="{8DF6DCC9-4F38-42C0-8503-08EE79324571}" srcOrd="1" destOrd="0" parTransId="{B9170B3E-8382-4E4F-9A3D-F62B957FB777}" sibTransId="{E0FB339B-A850-4A19-B7D0-42EA90716511}"/>
    <dgm:cxn modelId="{F0F2622C-4D4F-4CB2-9F38-E492AD616B76}" srcId="{C520BA9A-AA7A-4AD5-8FEF-93E4C6B633F4}" destId="{BF426AD4-DDF0-4804-928A-3FBCFF65DB13}" srcOrd="2" destOrd="0" parTransId="{7C435EAB-FF8B-4393-9A60-41420681561F}" sibTransId="{F768700C-53F3-4A3C-8B21-D220C2C1085D}"/>
    <dgm:cxn modelId="{98C6ED2C-B036-4391-8FDF-8D347A208E02}" type="presOf" srcId="{AE3BC04E-47A9-4369-91B1-6D705093DE36}" destId="{3726A87D-758E-4269-BD09-5133F2C7ED63}" srcOrd="0" destOrd="0" presId="urn:microsoft.com/office/officeart/2005/8/layout/vList2"/>
    <dgm:cxn modelId="{1E9DF75C-0537-4DB4-8BD9-C9989D5BE559}" srcId="{C520BA9A-AA7A-4AD5-8FEF-93E4C6B633F4}" destId="{24AC080E-46F8-41D7-B585-802156CA8107}" srcOrd="1" destOrd="0" parTransId="{A93ED836-722E-4EC4-9C01-0D6259A7BDC9}" sibTransId="{A0D2E020-B93C-4F7D-85AB-4FAE97AEF854}"/>
    <dgm:cxn modelId="{ACDCF04E-77BB-47F7-9EAD-BFDF526D36C7}" type="presOf" srcId="{8DF6DCC9-4F38-42C0-8503-08EE79324571}" destId="{3726A87D-758E-4269-BD09-5133F2C7ED63}" srcOrd="0" destOrd="1" presId="urn:microsoft.com/office/officeart/2005/8/layout/vList2"/>
    <dgm:cxn modelId="{591E9176-0AF6-447C-A5F0-45576364A82B}" srcId="{B9B4E7D5-4AC6-4408-90B1-092B9291AF86}" destId="{AE3BC04E-47A9-4369-91B1-6D705093DE36}" srcOrd="0" destOrd="0" parTransId="{B9EAB1DA-F3B1-465D-B3A5-8F3B5ABE3DE3}" sibTransId="{AE0030A5-2623-4417-A51D-5DDEDE3BA303}"/>
    <dgm:cxn modelId="{EC2CAD81-0504-4451-BDDE-DC54F05D0ACA}" srcId="{06C08F4E-E8FF-4845-B4BB-71CB877BB14A}" destId="{C520BA9A-AA7A-4AD5-8FEF-93E4C6B633F4}" srcOrd="1" destOrd="0" parTransId="{DD548081-1294-4EE6-BBA2-65F8D6B43E00}" sibTransId="{864E4729-7B5F-4BAB-BD6B-B01CE6B639DC}"/>
    <dgm:cxn modelId="{65DA8A9C-40C4-4437-9547-1853C58A8489}" srcId="{C520BA9A-AA7A-4AD5-8FEF-93E4C6B633F4}" destId="{123BAC00-0224-475F-BCA6-60B7F289E378}" srcOrd="0" destOrd="0" parTransId="{A58881DB-B806-4685-9D5A-DBF09F1BBE47}" sibTransId="{240551CC-D46B-4876-A76A-41E62C37D06A}"/>
    <dgm:cxn modelId="{7B983CB4-E679-4CB1-B579-70D912029204}" type="presOf" srcId="{B9B4E7D5-4AC6-4408-90B1-092B9291AF86}" destId="{6F42681B-42AF-40FC-9C90-224D034701F2}" srcOrd="0" destOrd="0" presId="urn:microsoft.com/office/officeart/2005/8/layout/vList2"/>
    <dgm:cxn modelId="{754807BE-8405-4C3C-9CF6-D43D0768CFE1}" srcId="{06C08F4E-E8FF-4845-B4BB-71CB877BB14A}" destId="{B9B4E7D5-4AC6-4408-90B1-092B9291AF86}" srcOrd="0" destOrd="0" parTransId="{AD37A8EA-139C-482D-BDE2-64137CF2E32D}" sibTransId="{E3831EA2-AE51-414B-9F3C-E18CC525398E}"/>
    <dgm:cxn modelId="{69F668C7-4AAC-4D32-8C24-18E28932F2EF}" type="presOf" srcId="{BF426AD4-DDF0-4804-928A-3FBCFF65DB13}" destId="{8ACC086D-78D3-448E-A298-4DB718723E3F}" srcOrd="0" destOrd="2" presId="urn:microsoft.com/office/officeart/2005/8/layout/vList2"/>
    <dgm:cxn modelId="{2C7610E6-D40C-4E98-B576-820BDB4146CD}" type="presOf" srcId="{06C08F4E-E8FF-4845-B4BB-71CB877BB14A}" destId="{B62C9AC6-C4B0-4A9E-8316-AC206E90005A}" srcOrd="0" destOrd="0" presId="urn:microsoft.com/office/officeart/2005/8/layout/vList2"/>
    <dgm:cxn modelId="{9EE062F4-86F0-437E-9249-F896BD2E027D}" type="presOf" srcId="{24AC080E-46F8-41D7-B585-802156CA8107}" destId="{8ACC086D-78D3-448E-A298-4DB718723E3F}" srcOrd="0" destOrd="1" presId="urn:microsoft.com/office/officeart/2005/8/layout/vList2"/>
    <dgm:cxn modelId="{E13516FD-2811-4FB5-93EB-EE086B02B43E}" type="presOf" srcId="{C520BA9A-AA7A-4AD5-8FEF-93E4C6B633F4}" destId="{8F87EE7B-3D2D-468C-8631-22206C4AC68B}" srcOrd="0" destOrd="0" presId="urn:microsoft.com/office/officeart/2005/8/layout/vList2"/>
    <dgm:cxn modelId="{2575C45E-BBC3-4F99-8A02-5ABB8EAB264C}" type="presParOf" srcId="{B62C9AC6-C4B0-4A9E-8316-AC206E90005A}" destId="{6F42681B-42AF-40FC-9C90-224D034701F2}" srcOrd="0" destOrd="0" presId="urn:microsoft.com/office/officeart/2005/8/layout/vList2"/>
    <dgm:cxn modelId="{1EC545AA-942A-49CA-AD67-C9D23C026D83}" type="presParOf" srcId="{B62C9AC6-C4B0-4A9E-8316-AC206E90005A}" destId="{3726A87D-758E-4269-BD09-5133F2C7ED63}" srcOrd="1" destOrd="0" presId="urn:microsoft.com/office/officeart/2005/8/layout/vList2"/>
    <dgm:cxn modelId="{59FAE143-E216-4435-8903-CD1DFC07E14F}" type="presParOf" srcId="{B62C9AC6-C4B0-4A9E-8316-AC206E90005A}" destId="{8F87EE7B-3D2D-468C-8631-22206C4AC68B}" srcOrd="2" destOrd="0" presId="urn:microsoft.com/office/officeart/2005/8/layout/vList2"/>
    <dgm:cxn modelId="{F5C78A86-03FB-4069-ABEC-8703B8A57A7A}" type="presParOf" srcId="{B62C9AC6-C4B0-4A9E-8316-AC206E90005A}" destId="{8ACC086D-78D3-448E-A298-4DB718723E3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16F8F1-356F-4AAB-9953-222FAFE11949}">
      <dsp:nvSpPr>
        <dsp:cNvPr id="0" name=""/>
        <dsp:cNvSpPr/>
      </dsp:nvSpPr>
      <dsp:spPr>
        <a:xfrm>
          <a:off x="1051398" y="2026"/>
          <a:ext cx="3392100" cy="2532131"/>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l" defTabSz="800100">
            <a:lnSpc>
              <a:spcPct val="90000"/>
            </a:lnSpc>
            <a:spcBef>
              <a:spcPct val="0"/>
            </a:spcBef>
            <a:spcAft>
              <a:spcPct val="15000"/>
            </a:spcAft>
            <a:buChar char="•"/>
          </a:pPr>
          <a:r>
            <a:rPr lang="en-CA" sz="1800" b="1" kern="1200" dirty="0">
              <a:solidFill>
                <a:schemeClr val="accent2"/>
              </a:solidFill>
            </a:rPr>
            <a:t>Happy State:</a:t>
          </a:r>
          <a:r>
            <a:rPr lang="en-CA" sz="1800" kern="1200" dirty="0"/>
            <a:t> It wags its tail, sticks out its tongue and is playful</a:t>
          </a:r>
        </a:p>
        <a:p>
          <a:pPr marL="171450" lvl="1" indent="-171450" algn="l" defTabSz="800100">
            <a:lnSpc>
              <a:spcPct val="90000"/>
            </a:lnSpc>
            <a:spcBef>
              <a:spcPct val="0"/>
            </a:spcBef>
            <a:spcAft>
              <a:spcPct val="15000"/>
            </a:spcAft>
            <a:buChar char="•"/>
          </a:pPr>
          <a:r>
            <a:rPr lang="en-CA" sz="1800" b="1" kern="1200" dirty="0">
              <a:solidFill>
                <a:schemeClr val="accent2"/>
              </a:solidFill>
            </a:rPr>
            <a:t>Scared State: </a:t>
          </a:r>
          <a:r>
            <a:rPr lang="en-CA" sz="1800" kern="1200" dirty="0"/>
            <a:t>Tail between its legs, tongue inside its mouth, whimpering</a:t>
          </a:r>
        </a:p>
        <a:p>
          <a:pPr marL="171450" lvl="1" indent="-171450" algn="l" defTabSz="800100">
            <a:lnSpc>
              <a:spcPct val="90000"/>
            </a:lnSpc>
            <a:spcBef>
              <a:spcPct val="0"/>
            </a:spcBef>
            <a:spcAft>
              <a:spcPct val="15000"/>
            </a:spcAft>
            <a:buChar char="•"/>
          </a:pPr>
          <a:r>
            <a:rPr lang="en-CA" sz="1800" b="1" kern="1200" dirty="0">
              <a:solidFill>
                <a:schemeClr val="accent2"/>
              </a:solidFill>
            </a:rPr>
            <a:t>Aggressive State</a:t>
          </a:r>
          <a:r>
            <a:rPr lang="en-CA" sz="1800" kern="1200" dirty="0"/>
            <a:t>: Tail is not wagging, growling, tail is raised high, bared teeth</a:t>
          </a:r>
        </a:p>
      </dsp:txBody>
      <dsp:txXfrm>
        <a:off x="1110729" y="61357"/>
        <a:ext cx="3273438" cy="2472800"/>
      </dsp:txXfrm>
    </dsp:sp>
    <dsp:sp modelId="{5518B31E-4B28-449A-9C84-DC788AEC779C}">
      <dsp:nvSpPr>
        <dsp:cNvPr id="0" name=""/>
        <dsp:cNvSpPr/>
      </dsp:nvSpPr>
      <dsp:spPr>
        <a:xfrm>
          <a:off x="1051398" y="2534157"/>
          <a:ext cx="3392100" cy="1088816"/>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0" rIns="49530" bIns="0" numCol="1" spcCol="1270" anchor="ctr" anchorCtr="0">
          <a:noAutofit/>
        </a:bodyPr>
        <a:lstStyle/>
        <a:p>
          <a:pPr marL="0" lvl="0" indent="0" algn="l" defTabSz="1733550">
            <a:lnSpc>
              <a:spcPct val="90000"/>
            </a:lnSpc>
            <a:spcBef>
              <a:spcPct val="0"/>
            </a:spcBef>
            <a:spcAft>
              <a:spcPct val="35000"/>
            </a:spcAft>
            <a:buNone/>
          </a:pPr>
          <a:r>
            <a:rPr lang="en-CA" sz="3900" kern="1200"/>
            <a:t>Dog</a:t>
          </a:r>
        </a:p>
      </dsp:txBody>
      <dsp:txXfrm>
        <a:off x="1051398" y="2534157"/>
        <a:ext cx="2388803" cy="1088816"/>
      </dsp:txXfrm>
    </dsp:sp>
    <dsp:sp modelId="{E9BDEC17-092B-404D-A507-F98E375D3A17}">
      <dsp:nvSpPr>
        <dsp:cNvPr id="0" name=""/>
        <dsp:cNvSpPr/>
      </dsp:nvSpPr>
      <dsp:spPr>
        <a:xfrm>
          <a:off x="3536158" y="2707106"/>
          <a:ext cx="1187235" cy="1187235"/>
        </a:xfrm>
        <a:prstGeom prst="ellipse">
          <a:avLst/>
        </a:prstGeom>
        <a:blipFill>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5000" r="-25000"/>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CA82C5-8474-48D8-AFF3-370BD884A5BF}">
      <dsp:nvSpPr>
        <dsp:cNvPr id="0" name=""/>
        <dsp:cNvSpPr/>
      </dsp:nvSpPr>
      <dsp:spPr>
        <a:xfrm>
          <a:off x="5017524" y="2026"/>
          <a:ext cx="3392100" cy="2532131"/>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l" defTabSz="800100">
            <a:lnSpc>
              <a:spcPct val="90000"/>
            </a:lnSpc>
            <a:spcBef>
              <a:spcPct val="0"/>
            </a:spcBef>
            <a:spcAft>
              <a:spcPct val="15000"/>
            </a:spcAft>
            <a:buChar char="•"/>
          </a:pPr>
          <a:r>
            <a:rPr lang="en-CA" sz="1800" b="1" kern="1200" dirty="0">
              <a:solidFill>
                <a:schemeClr val="accent2"/>
              </a:solidFill>
            </a:rPr>
            <a:t>Hover State: </a:t>
          </a:r>
          <a:r>
            <a:rPr lang="en-CA" sz="1800" kern="1200" dirty="0"/>
            <a:t>might change color</a:t>
          </a:r>
        </a:p>
        <a:p>
          <a:pPr marL="171450" lvl="1" indent="-171450" algn="l" defTabSz="800100">
            <a:lnSpc>
              <a:spcPct val="90000"/>
            </a:lnSpc>
            <a:spcBef>
              <a:spcPct val="0"/>
            </a:spcBef>
            <a:spcAft>
              <a:spcPct val="15000"/>
            </a:spcAft>
            <a:buChar char="•"/>
          </a:pPr>
          <a:r>
            <a:rPr lang="en-CA" sz="1800" b="1" kern="1200" dirty="0">
              <a:solidFill>
                <a:schemeClr val="accent2"/>
              </a:solidFill>
            </a:rPr>
            <a:t>Pressed: </a:t>
          </a:r>
          <a:r>
            <a:rPr lang="en-CA" sz="1800" kern="1200" dirty="0"/>
            <a:t>Might change image and how its rendered</a:t>
          </a:r>
        </a:p>
        <a:p>
          <a:pPr marL="171450" lvl="1" indent="-171450" algn="l" defTabSz="800100">
            <a:lnSpc>
              <a:spcPct val="90000"/>
            </a:lnSpc>
            <a:spcBef>
              <a:spcPct val="0"/>
            </a:spcBef>
            <a:spcAft>
              <a:spcPct val="15000"/>
            </a:spcAft>
            <a:buChar char="•"/>
          </a:pPr>
          <a:r>
            <a:rPr lang="en-CA" sz="1800" b="1" kern="1200" dirty="0">
              <a:solidFill>
                <a:schemeClr val="accent2"/>
              </a:solidFill>
            </a:rPr>
            <a:t>Idle: </a:t>
          </a:r>
          <a:r>
            <a:rPr lang="en-CA" sz="1800" kern="1200" dirty="0"/>
            <a:t>Render default image</a:t>
          </a:r>
        </a:p>
        <a:p>
          <a:pPr marL="171450" lvl="1" indent="-171450" algn="l" defTabSz="800100">
            <a:lnSpc>
              <a:spcPct val="90000"/>
            </a:lnSpc>
            <a:spcBef>
              <a:spcPct val="0"/>
            </a:spcBef>
            <a:spcAft>
              <a:spcPct val="15000"/>
            </a:spcAft>
            <a:buChar char="•"/>
          </a:pPr>
          <a:r>
            <a:rPr lang="en-CA" sz="1800" b="1" kern="1200" dirty="0">
              <a:solidFill>
                <a:schemeClr val="accent2"/>
              </a:solidFill>
            </a:rPr>
            <a:t>Disabled: </a:t>
          </a:r>
          <a:r>
            <a:rPr lang="en-CA" sz="1800" kern="1200" dirty="0"/>
            <a:t>Button is not rendered</a:t>
          </a:r>
        </a:p>
      </dsp:txBody>
      <dsp:txXfrm>
        <a:off x="5076855" y="61357"/>
        <a:ext cx="3273438" cy="2472800"/>
      </dsp:txXfrm>
    </dsp:sp>
    <dsp:sp modelId="{9C61F265-A41B-4850-BC61-F5C2A6F8C423}">
      <dsp:nvSpPr>
        <dsp:cNvPr id="0" name=""/>
        <dsp:cNvSpPr/>
      </dsp:nvSpPr>
      <dsp:spPr>
        <a:xfrm>
          <a:off x="5017524" y="2534157"/>
          <a:ext cx="3392100" cy="1088816"/>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0" rIns="49530" bIns="0" numCol="1" spcCol="1270" anchor="ctr" anchorCtr="0">
          <a:noAutofit/>
        </a:bodyPr>
        <a:lstStyle/>
        <a:p>
          <a:pPr marL="0" lvl="0" indent="0" algn="l" defTabSz="1733550">
            <a:lnSpc>
              <a:spcPct val="90000"/>
            </a:lnSpc>
            <a:spcBef>
              <a:spcPct val="0"/>
            </a:spcBef>
            <a:spcAft>
              <a:spcPct val="35000"/>
            </a:spcAft>
            <a:buNone/>
          </a:pPr>
          <a:r>
            <a:rPr lang="en-CA" sz="3900" kern="1200"/>
            <a:t>A UI Button:</a:t>
          </a:r>
        </a:p>
      </dsp:txBody>
      <dsp:txXfrm>
        <a:off x="5017524" y="2534157"/>
        <a:ext cx="2388803" cy="1088816"/>
      </dsp:txXfrm>
    </dsp:sp>
    <dsp:sp modelId="{C0571094-1FF0-4E44-A713-4A579A56A154}">
      <dsp:nvSpPr>
        <dsp:cNvPr id="0" name=""/>
        <dsp:cNvSpPr/>
      </dsp:nvSpPr>
      <dsp:spPr>
        <a:xfrm>
          <a:off x="7502284" y="2707106"/>
          <a:ext cx="1187235" cy="1187235"/>
        </a:xfrm>
        <a:prstGeom prst="ellipse">
          <a:avLst/>
        </a:prstGeom>
        <a:blipFill>
          <a:blip xmlns:r="http://schemas.openxmlformats.org/officeDocument/2006/relationships"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t="-1000" b="-1000"/>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42681B-42AF-40FC-9C90-224D034701F2}">
      <dsp:nvSpPr>
        <dsp:cNvPr id="0" name=""/>
        <dsp:cNvSpPr/>
      </dsp:nvSpPr>
      <dsp:spPr>
        <a:xfrm>
          <a:off x="0" y="135200"/>
          <a:ext cx="10058399" cy="719549"/>
        </a:xfrm>
        <a:prstGeom prst="roundRect">
          <a:avLst/>
        </a:prstGeom>
        <a:gradFill rotWithShape="0">
          <a:gsLst>
            <a:gs pos="0">
              <a:schemeClr val="accent1">
                <a:hueOff val="0"/>
                <a:satOff val="0"/>
                <a:lumOff val="0"/>
                <a:alphaOff val="0"/>
                <a:tint val="65000"/>
                <a:shade val="92000"/>
                <a:satMod val="130000"/>
              </a:schemeClr>
            </a:gs>
            <a:gs pos="45000">
              <a:schemeClr val="accent1">
                <a:hueOff val="0"/>
                <a:satOff val="0"/>
                <a:lumOff val="0"/>
                <a:alphaOff val="0"/>
                <a:tint val="60000"/>
                <a:shade val="99000"/>
                <a:satMod val="120000"/>
              </a:schemeClr>
            </a:gs>
            <a:gs pos="100000">
              <a:schemeClr val="accent1">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CA" sz="3000" kern="1200" dirty="0"/>
            <a:t>Strategy</a:t>
          </a:r>
        </a:p>
      </dsp:txBody>
      <dsp:txXfrm>
        <a:off x="35125" y="170325"/>
        <a:ext cx="9988149" cy="649299"/>
      </dsp:txXfrm>
    </dsp:sp>
    <dsp:sp modelId="{3726A87D-758E-4269-BD09-5133F2C7ED63}">
      <dsp:nvSpPr>
        <dsp:cNvPr id="0" name=""/>
        <dsp:cNvSpPr/>
      </dsp:nvSpPr>
      <dsp:spPr>
        <a:xfrm>
          <a:off x="0" y="854750"/>
          <a:ext cx="10058399" cy="7917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CA" sz="2300" kern="1200" dirty="0"/>
            <a:t>When you need to switch behaviours at runtime (sounds a lot like State)</a:t>
          </a:r>
        </a:p>
        <a:p>
          <a:pPr marL="228600" lvl="1" indent="-228600" algn="l" defTabSz="1022350">
            <a:lnSpc>
              <a:spcPct val="90000"/>
            </a:lnSpc>
            <a:spcBef>
              <a:spcPct val="0"/>
            </a:spcBef>
            <a:spcAft>
              <a:spcPct val="20000"/>
            </a:spcAft>
            <a:buChar char="•"/>
          </a:pPr>
          <a:r>
            <a:rPr lang="en-CA" sz="2300" kern="1200" dirty="0"/>
            <a:t>Another way of phrasing this is that it let’s you swap algorithms at run-time.</a:t>
          </a:r>
        </a:p>
      </dsp:txBody>
      <dsp:txXfrm>
        <a:off x="0" y="854750"/>
        <a:ext cx="10058399" cy="791774"/>
      </dsp:txXfrm>
    </dsp:sp>
    <dsp:sp modelId="{8F87EE7B-3D2D-468C-8631-22206C4AC68B}">
      <dsp:nvSpPr>
        <dsp:cNvPr id="0" name=""/>
        <dsp:cNvSpPr/>
      </dsp:nvSpPr>
      <dsp:spPr>
        <a:xfrm>
          <a:off x="0" y="1646525"/>
          <a:ext cx="10058399" cy="719549"/>
        </a:xfrm>
        <a:prstGeom prst="roundRect">
          <a:avLst/>
        </a:prstGeom>
        <a:gradFill rotWithShape="0">
          <a:gsLst>
            <a:gs pos="0">
              <a:schemeClr val="accent1">
                <a:hueOff val="0"/>
                <a:satOff val="0"/>
                <a:lumOff val="0"/>
                <a:alphaOff val="0"/>
                <a:tint val="65000"/>
                <a:shade val="92000"/>
                <a:satMod val="130000"/>
              </a:schemeClr>
            </a:gs>
            <a:gs pos="45000">
              <a:schemeClr val="accent1">
                <a:hueOff val="0"/>
                <a:satOff val="0"/>
                <a:lumOff val="0"/>
                <a:alphaOff val="0"/>
                <a:tint val="60000"/>
                <a:shade val="99000"/>
                <a:satMod val="120000"/>
              </a:schemeClr>
            </a:gs>
            <a:gs pos="100000">
              <a:schemeClr val="accent1">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CA" sz="3000" kern="1200" dirty="0"/>
            <a:t>State</a:t>
          </a:r>
        </a:p>
      </dsp:txBody>
      <dsp:txXfrm>
        <a:off x="35125" y="1681650"/>
        <a:ext cx="9988149" cy="649299"/>
      </dsp:txXfrm>
    </dsp:sp>
    <dsp:sp modelId="{8ACC086D-78D3-448E-A298-4DB718723E3F}">
      <dsp:nvSpPr>
        <dsp:cNvPr id="0" name=""/>
        <dsp:cNvSpPr/>
      </dsp:nvSpPr>
      <dsp:spPr>
        <a:xfrm>
          <a:off x="0" y="2366075"/>
          <a:ext cx="10058399" cy="152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CA" sz="2300" kern="1200" dirty="0"/>
            <a:t>Allows a single object to have multiple behaviours. </a:t>
          </a:r>
        </a:p>
        <a:p>
          <a:pPr marL="228600" lvl="1" indent="-228600" algn="l" defTabSz="1022350">
            <a:lnSpc>
              <a:spcPct val="90000"/>
            </a:lnSpc>
            <a:spcBef>
              <a:spcPct val="0"/>
            </a:spcBef>
            <a:spcAft>
              <a:spcPct val="20000"/>
            </a:spcAft>
            <a:buChar char="•"/>
          </a:pPr>
          <a:r>
            <a:rPr lang="en-CA" sz="2300" kern="1200" dirty="0"/>
            <a:t>These may be completely different behaviours as if the object belonged to another class.</a:t>
          </a:r>
        </a:p>
        <a:p>
          <a:pPr marL="228600" lvl="1" indent="-228600" algn="l" defTabSz="1022350">
            <a:lnSpc>
              <a:spcPct val="90000"/>
            </a:lnSpc>
            <a:spcBef>
              <a:spcPct val="0"/>
            </a:spcBef>
            <a:spcAft>
              <a:spcPct val="20000"/>
            </a:spcAft>
            <a:buChar char="•"/>
          </a:pPr>
          <a:r>
            <a:rPr lang="en-CA" sz="2300" kern="1200" dirty="0"/>
            <a:t>The object is decoupled from its state.</a:t>
          </a:r>
        </a:p>
      </dsp:txBody>
      <dsp:txXfrm>
        <a:off x="0" y="2366075"/>
        <a:ext cx="10058399" cy="1521450"/>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97FE11-279C-4A31-AF18-49445EF40DF0}" type="datetimeFigureOut">
              <a:rPr lang="en-CA" smtClean="0"/>
              <a:t>2024-11-07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969246-A70B-4C9F-A67E-C2E21AFF715D}" type="slidenum">
              <a:rPr lang="en-CA" smtClean="0"/>
              <a:t>‹#›</a:t>
            </a:fld>
            <a:endParaRPr lang="en-CA"/>
          </a:p>
        </p:txBody>
      </p:sp>
    </p:spTree>
    <p:extLst>
      <p:ext uri="{BB962C8B-B14F-4D97-AF65-F5344CB8AC3E}">
        <p14:creationId xmlns:p14="http://schemas.microsoft.com/office/powerpoint/2010/main" val="1132055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03E980-16BC-4644-BEFC-E1F1E32D46E4}" type="datetime1">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2800">
                <a:solidFill>
                  <a:schemeClr val="tx1"/>
                </a:solidFill>
              </a:defRPr>
            </a:lvl1pPr>
          </a:lstStyle>
          <a:p>
            <a:fld id="{4FAB73BC-B049-4115-A692-8D63A059BFB8}"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B61C4D-C11F-42A5-9385-8E3CDA59C6F3}" type="datetime1">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862943-8485-41C8-96A1-321D9F672C6E}" type="datetime1">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E79639-DE4C-42CE-9324-06D8D1EFA4A9}" type="datetime1">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D15DEF-612C-478A-AC87-55C7AFB1BA68}" type="datetime1">
              <a:rPr lang="en-US" smtClean="0"/>
              <a:t>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21AE28-9126-4DA4-9862-0D89A7B1F0D3}" type="datetime1">
              <a:rPr lang="en-US" smtClean="0"/>
              <a:t>11/7/2024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239ED7-4828-424F-9C93-8AB632496B54}" type="datetime1">
              <a:rPr lang="en-US" smtClean="0"/>
              <a:t>11/7/2024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97D65A3-FF3A-4E0A-83C0-83015C4214D5}" type="datetime1">
              <a:rPr lang="en-US" smtClean="0"/>
              <a:t>11/7/2024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A915D56-D6DA-410F-B395-1EDE68165CC8}" type="datetime1">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8F394-87B7-4503-9EE9-D78BA22E6395}" type="datetime1">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DE2686-2051-4A33-B8FC-36EC6D603659}" type="datetime1">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A8C22CE-FB72-4EFA-B6BE-AD7ACB670FB9}" type="datetime1">
              <a:rPr lang="en-US" smtClean="0"/>
              <a:t>11/7/2024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2800">
                <a:solidFill>
                  <a:schemeClr val="tx1"/>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en.wikipedia.org/wiki/Finite-state_machine" TargetMode="Externa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8BF25D-AC9F-4795-8198-C156105BAED8}"/>
              </a:ext>
            </a:extLst>
          </p:cNvPr>
          <p:cNvSpPr>
            <a:spLocks noGrp="1"/>
          </p:cNvSpPr>
          <p:nvPr>
            <p:ph type="ctrTitle"/>
          </p:nvPr>
        </p:nvSpPr>
        <p:spPr/>
        <p:txBody>
          <a:bodyPr/>
          <a:lstStyle/>
          <a:p>
            <a:r>
              <a:rPr lang="en-CA" dirty="0"/>
              <a:t>State</a:t>
            </a:r>
          </a:p>
        </p:txBody>
      </p:sp>
      <p:sp>
        <p:nvSpPr>
          <p:cNvPr id="6" name="Subtitle 5">
            <a:extLst>
              <a:ext uri="{FF2B5EF4-FFF2-40B4-BE49-F238E27FC236}">
                <a16:creationId xmlns:a16="http://schemas.microsoft.com/office/drawing/2014/main" id="{A4EE644B-BB43-444C-B762-55FFFAAC41F0}"/>
              </a:ext>
            </a:extLst>
          </p:cNvPr>
          <p:cNvSpPr>
            <a:spLocks noGrp="1"/>
          </p:cNvSpPr>
          <p:nvPr>
            <p:ph type="subTitle" idx="1"/>
          </p:nvPr>
        </p:nvSpPr>
        <p:spPr/>
        <p:txBody>
          <a:bodyPr/>
          <a:lstStyle/>
          <a:p>
            <a:r>
              <a:rPr lang="en-CA" dirty="0"/>
              <a:t>When A Class Is ambitious and wants to be many things</a:t>
            </a:r>
          </a:p>
        </p:txBody>
      </p:sp>
      <p:sp>
        <p:nvSpPr>
          <p:cNvPr id="4" name="Slide Number Placeholder 3">
            <a:extLst>
              <a:ext uri="{FF2B5EF4-FFF2-40B4-BE49-F238E27FC236}">
                <a16:creationId xmlns:a16="http://schemas.microsoft.com/office/drawing/2014/main" id="{9B30B936-39AE-4252-B07F-6977BA975E78}"/>
              </a:ext>
            </a:extLst>
          </p:cNvPr>
          <p:cNvSpPr>
            <a:spLocks noGrp="1"/>
          </p:cNvSpPr>
          <p:nvPr>
            <p:ph type="sldNum" sz="quarter" idx="12"/>
          </p:nvPr>
        </p:nvSpPr>
        <p:spPr/>
        <p:txBody>
          <a:bodyPr/>
          <a:lstStyle/>
          <a:p>
            <a:fld id="{629637A9-119A-49DA-BD12-AAC58B377D80}" type="slidenum">
              <a:rPr lang="en-US" smtClean="0"/>
              <a:t>1</a:t>
            </a:fld>
            <a:endParaRPr lang="en-US" dirty="0"/>
          </a:p>
        </p:txBody>
      </p:sp>
      <p:sp>
        <p:nvSpPr>
          <p:cNvPr id="2" name="Rectangle 1"/>
          <p:cNvSpPr/>
          <p:nvPr/>
        </p:nvSpPr>
        <p:spPr>
          <a:xfrm>
            <a:off x="119221" y="6455578"/>
            <a:ext cx="4527521" cy="369332"/>
          </a:xfrm>
          <a:prstGeom prst="rect">
            <a:avLst/>
          </a:prstGeom>
        </p:spPr>
        <p:txBody>
          <a:bodyPr wrap="none">
            <a:spAutoFit/>
          </a:bodyPr>
          <a:lstStyle/>
          <a:p>
            <a:r>
              <a:rPr lang="en-CA" dirty="0">
                <a:solidFill>
                  <a:schemeClr val="bg1"/>
                </a:solidFill>
              </a:rPr>
              <a:t>https://refactoring.guru/design-patterns/state</a:t>
            </a:r>
          </a:p>
        </p:txBody>
      </p:sp>
    </p:spTree>
    <p:extLst>
      <p:ext uri="{BB962C8B-B14F-4D97-AF65-F5344CB8AC3E}">
        <p14:creationId xmlns:p14="http://schemas.microsoft.com/office/powerpoint/2010/main" val="376424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F24D5-917B-43BF-AA62-416B773ECABB}"/>
              </a:ext>
            </a:extLst>
          </p:cNvPr>
          <p:cNvSpPr>
            <a:spLocks noGrp="1"/>
          </p:cNvSpPr>
          <p:nvPr>
            <p:ph type="title"/>
          </p:nvPr>
        </p:nvSpPr>
        <p:spPr/>
        <p:txBody>
          <a:bodyPr/>
          <a:lstStyle/>
          <a:p>
            <a:r>
              <a:rPr lang="en-CA" dirty="0"/>
              <a:t>State</a:t>
            </a:r>
          </a:p>
        </p:txBody>
      </p:sp>
      <p:sp>
        <p:nvSpPr>
          <p:cNvPr id="3" name="Content Placeholder 2">
            <a:extLst>
              <a:ext uri="{FF2B5EF4-FFF2-40B4-BE49-F238E27FC236}">
                <a16:creationId xmlns:a16="http://schemas.microsoft.com/office/drawing/2014/main" id="{ED44D7C5-511D-4DA1-A738-1DEF147C964C}"/>
              </a:ext>
            </a:extLst>
          </p:cNvPr>
          <p:cNvSpPr>
            <a:spLocks noGrp="1"/>
          </p:cNvSpPr>
          <p:nvPr>
            <p:ph idx="1"/>
          </p:nvPr>
        </p:nvSpPr>
        <p:spPr>
          <a:xfrm>
            <a:off x="1097280" y="1845734"/>
            <a:ext cx="4610049" cy="4023360"/>
          </a:xfrm>
        </p:spPr>
        <p:txBody>
          <a:bodyPr>
            <a:normAutofit/>
          </a:bodyPr>
          <a:lstStyle/>
          <a:p>
            <a:pPr>
              <a:buFont typeface="Wingdings" panose="05000000000000000000" pitchFamily="2" charset="2"/>
              <a:buChar char="§"/>
            </a:pPr>
            <a:r>
              <a:rPr lang="en-CA" dirty="0"/>
              <a:t> A quick recap: A </a:t>
            </a:r>
            <a:r>
              <a:rPr lang="en-CA" b="1" dirty="0"/>
              <a:t>state</a:t>
            </a:r>
            <a:r>
              <a:rPr lang="en-CA" dirty="0"/>
              <a:t> of an </a:t>
            </a:r>
            <a:r>
              <a:rPr lang="en-CA" b="1" dirty="0"/>
              <a:t>object</a:t>
            </a:r>
            <a:r>
              <a:rPr lang="en-CA" dirty="0"/>
              <a:t> is defined as the </a:t>
            </a:r>
            <a:r>
              <a:rPr lang="en-CA" b="1" dirty="0"/>
              <a:t>value and behaviours </a:t>
            </a:r>
            <a:r>
              <a:rPr lang="en-CA" dirty="0"/>
              <a:t>of the object at any given time during program execution. </a:t>
            </a:r>
          </a:p>
          <a:p>
            <a:pPr>
              <a:buFont typeface="Wingdings" panose="05000000000000000000" pitchFamily="2" charset="2"/>
              <a:buChar char="§"/>
            </a:pPr>
            <a:r>
              <a:rPr lang="en-CA" dirty="0"/>
              <a:t>A pattern implemented when an object wants to alter its behaviour. It might behave like a different class.</a:t>
            </a:r>
          </a:p>
          <a:p>
            <a:pPr>
              <a:buFont typeface="Wingdings" panose="05000000000000000000" pitchFamily="2" charset="2"/>
              <a:buChar char="§"/>
            </a:pPr>
            <a:r>
              <a:rPr lang="en-CA" dirty="0"/>
              <a:t>Depending on its internal state, an object may react differently to different scenarios. </a:t>
            </a:r>
          </a:p>
          <a:p>
            <a:pPr>
              <a:buFont typeface="Wingdings" panose="05000000000000000000" pitchFamily="2" charset="2"/>
              <a:buChar char="§"/>
            </a:pPr>
            <a:r>
              <a:rPr lang="en-CA" dirty="0"/>
              <a:t> The </a:t>
            </a:r>
            <a:r>
              <a:rPr lang="en-CA" b="1" dirty="0"/>
              <a:t>state pattern </a:t>
            </a:r>
            <a:r>
              <a:rPr lang="en-CA" dirty="0"/>
              <a:t>enables a </a:t>
            </a:r>
            <a:r>
              <a:rPr lang="en-CA" b="1" dirty="0"/>
              <a:t>modular</a:t>
            </a:r>
            <a:r>
              <a:rPr lang="en-CA" dirty="0"/>
              <a:t> way to </a:t>
            </a:r>
            <a:r>
              <a:rPr lang="en-CA" b="1" dirty="0"/>
              <a:t>add states </a:t>
            </a:r>
            <a:r>
              <a:rPr lang="en-CA" dirty="0"/>
              <a:t>and </a:t>
            </a:r>
            <a:r>
              <a:rPr lang="en-CA" b="1" dirty="0"/>
              <a:t>control transitions</a:t>
            </a:r>
            <a:r>
              <a:rPr lang="en-CA" dirty="0"/>
              <a:t>. We decouple the state from the object.</a:t>
            </a:r>
          </a:p>
        </p:txBody>
      </p:sp>
      <p:sp>
        <p:nvSpPr>
          <p:cNvPr id="4" name="Slide Number Placeholder 3">
            <a:extLst>
              <a:ext uri="{FF2B5EF4-FFF2-40B4-BE49-F238E27FC236}">
                <a16:creationId xmlns:a16="http://schemas.microsoft.com/office/drawing/2014/main" id="{79C15629-93E9-4C29-B9A6-432534B8767D}"/>
              </a:ext>
            </a:extLst>
          </p:cNvPr>
          <p:cNvSpPr>
            <a:spLocks noGrp="1"/>
          </p:cNvSpPr>
          <p:nvPr>
            <p:ph type="sldNum" sz="quarter" idx="12"/>
          </p:nvPr>
        </p:nvSpPr>
        <p:spPr/>
        <p:txBody>
          <a:bodyPr/>
          <a:lstStyle/>
          <a:p>
            <a:fld id="{629637A9-119A-49DA-BD12-AAC58B377D80}" type="slidenum">
              <a:rPr lang="en-US" smtClean="0"/>
              <a:t>2</a:t>
            </a:fld>
            <a:endParaRPr lang="en-US" dirty="0"/>
          </a:p>
        </p:txBody>
      </p:sp>
      <p:pic>
        <p:nvPicPr>
          <p:cNvPr id="11266" name="Picture 2" descr="State Design Pattern">
            <a:extLst>
              <a:ext uri="{FF2B5EF4-FFF2-40B4-BE49-F238E27FC236}">
                <a16:creationId xmlns:a16="http://schemas.microsoft.com/office/drawing/2014/main" id="{670C7534-F7B3-4DDC-A2D9-F4ED5752F0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1885" y="2119281"/>
            <a:ext cx="6096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426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A20AB-821E-4406-BDEF-17C5A1999C17}"/>
              </a:ext>
            </a:extLst>
          </p:cNvPr>
          <p:cNvSpPr>
            <a:spLocks noGrp="1"/>
          </p:cNvSpPr>
          <p:nvPr>
            <p:ph type="title"/>
          </p:nvPr>
        </p:nvSpPr>
        <p:spPr/>
        <p:txBody>
          <a:bodyPr/>
          <a:lstStyle/>
          <a:p>
            <a:r>
              <a:rPr lang="en-CA" dirty="0"/>
              <a:t>A Finite State Machine</a:t>
            </a:r>
          </a:p>
        </p:txBody>
      </p:sp>
      <p:sp>
        <p:nvSpPr>
          <p:cNvPr id="3" name="Content Placeholder 2">
            <a:extLst>
              <a:ext uri="{FF2B5EF4-FFF2-40B4-BE49-F238E27FC236}">
                <a16:creationId xmlns:a16="http://schemas.microsoft.com/office/drawing/2014/main" id="{9BF7DC6B-FF20-4329-9147-033B98B9A09D}"/>
              </a:ext>
            </a:extLst>
          </p:cNvPr>
          <p:cNvSpPr>
            <a:spLocks noGrp="1"/>
          </p:cNvSpPr>
          <p:nvPr>
            <p:ph idx="1"/>
          </p:nvPr>
        </p:nvSpPr>
        <p:spPr>
          <a:xfrm>
            <a:off x="1097280" y="1845734"/>
            <a:ext cx="5782491" cy="4023360"/>
          </a:xfrm>
        </p:spPr>
        <p:txBody>
          <a:bodyPr/>
          <a:lstStyle/>
          <a:p>
            <a:r>
              <a:rPr lang="en-CA" dirty="0"/>
              <a:t>A program can be divided into a finite number of states across which its execution is tracked.</a:t>
            </a:r>
          </a:p>
          <a:p>
            <a:r>
              <a:rPr lang="en-CA" dirty="0"/>
              <a:t>Within a state, the program behaves differently</a:t>
            </a:r>
          </a:p>
          <a:p>
            <a:r>
              <a:rPr lang="en-CA" dirty="0"/>
              <a:t>We can change the state of a program instantly.</a:t>
            </a:r>
          </a:p>
          <a:p>
            <a:r>
              <a:rPr lang="en-CA" dirty="0"/>
              <a:t>Moving from one state to another state is bound by rules. These “Transitions” are also finite and predetermined.</a:t>
            </a:r>
          </a:p>
          <a:p>
            <a:r>
              <a:rPr lang="en-CA" dirty="0"/>
              <a:t>The </a:t>
            </a:r>
            <a:r>
              <a:rPr lang="en-CA" b="1" dirty="0"/>
              <a:t>circles</a:t>
            </a:r>
            <a:r>
              <a:rPr lang="en-CA" dirty="0"/>
              <a:t> are our </a:t>
            </a:r>
            <a:r>
              <a:rPr lang="en-CA" b="1" dirty="0"/>
              <a:t>states</a:t>
            </a:r>
          </a:p>
          <a:p>
            <a:r>
              <a:rPr lang="en-CA" dirty="0"/>
              <a:t>The </a:t>
            </a:r>
            <a:r>
              <a:rPr lang="en-CA" b="1" dirty="0"/>
              <a:t>arrows</a:t>
            </a:r>
            <a:r>
              <a:rPr lang="en-CA" dirty="0"/>
              <a:t> between them are </a:t>
            </a:r>
            <a:r>
              <a:rPr lang="en-CA" b="1" dirty="0"/>
              <a:t>transitions</a:t>
            </a:r>
            <a:r>
              <a:rPr lang="en-CA" dirty="0"/>
              <a:t> that encapsulate rules for state switching</a:t>
            </a:r>
          </a:p>
        </p:txBody>
      </p:sp>
      <p:sp>
        <p:nvSpPr>
          <p:cNvPr id="4" name="Slide Number Placeholder 3">
            <a:extLst>
              <a:ext uri="{FF2B5EF4-FFF2-40B4-BE49-F238E27FC236}">
                <a16:creationId xmlns:a16="http://schemas.microsoft.com/office/drawing/2014/main" id="{B811C6DE-E11C-484A-B110-949AE02C43BC}"/>
              </a:ext>
            </a:extLst>
          </p:cNvPr>
          <p:cNvSpPr>
            <a:spLocks noGrp="1"/>
          </p:cNvSpPr>
          <p:nvPr>
            <p:ph type="sldNum" sz="quarter" idx="12"/>
          </p:nvPr>
        </p:nvSpPr>
        <p:spPr/>
        <p:txBody>
          <a:bodyPr/>
          <a:lstStyle/>
          <a:p>
            <a:fld id="{629637A9-119A-49DA-BD12-AAC58B377D80}" type="slidenum">
              <a:rPr lang="en-US" smtClean="0"/>
              <a:t>3</a:t>
            </a:fld>
            <a:endParaRPr lang="en-US" dirty="0"/>
          </a:p>
        </p:txBody>
      </p:sp>
      <p:sp>
        <p:nvSpPr>
          <p:cNvPr id="5" name="Rectangle 4">
            <a:extLst>
              <a:ext uri="{FF2B5EF4-FFF2-40B4-BE49-F238E27FC236}">
                <a16:creationId xmlns:a16="http://schemas.microsoft.com/office/drawing/2014/main" id="{38E70865-59C1-4BB9-BDE9-A86F6A7DCDF1}"/>
              </a:ext>
            </a:extLst>
          </p:cNvPr>
          <p:cNvSpPr/>
          <p:nvPr/>
        </p:nvSpPr>
        <p:spPr>
          <a:xfrm>
            <a:off x="1329374" y="5919945"/>
            <a:ext cx="9533251" cy="369332"/>
          </a:xfrm>
          <a:prstGeom prst="rect">
            <a:avLst/>
          </a:prstGeom>
        </p:spPr>
        <p:txBody>
          <a:bodyPr wrap="none">
            <a:spAutoFit/>
          </a:bodyPr>
          <a:lstStyle/>
          <a:p>
            <a:r>
              <a:rPr lang="en-CA" dirty="0"/>
              <a:t>If you are in the mood for some </a:t>
            </a:r>
            <a:r>
              <a:rPr lang="en-CA" i="1" dirty="0"/>
              <a:t>‘light’ </a:t>
            </a:r>
            <a:r>
              <a:rPr lang="en-CA" dirty="0"/>
              <a:t>reading: </a:t>
            </a:r>
            <a:r>
              <a:rPr lang="en-CA" dirty="0">
                <a:hlinkClick r:id="rId2"/>
              </a:rPr>
              <a:t>https://en.wikipedia.org/wiki/Finite-state_machine</a:t>
            </a:r>
            <a:endParaRPr lang="en-CA" dirty="0"/>
          </a:p>
        </p:txBody>
      </p:sp>
      <p:pic>
        <p:nvPicPr>
          <p:cNvPr id="12290" name="Picture 2" descr="Image result for finite state machine">
            <a:extLst>
              <a:ext uri="{FF2B5EF4-FFF2-40B4-BE49-F238E27FC236}">
                <a16:creationId xmlns:a16="http://schemas.microsoft.com/office/drawing/2014/main" id="{0078CD25-3719-4F1D-AADC-2347A7E8D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210" y="0"/>
            <a:ext cx="4591050" cy="310515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Image result for finite state machine">
            <a:extLst>
              <a:ext uri="{FF2B5EF4-FFF2-40B4-BE49-F238E27FC236}">
                <a16:creationId xmlns:a16="http://schemas.microsoft.com/office/drawing/2014/main" id="{9703D840-5372-4175-84A0-F3F415AF12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8945" y="3511515"/>
            <a:ext cx="4763332" cy="242223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p:cNvCxnSpPr/>
          <p:nvPr/>
        </p:nvCxnSpPr>
        <p:spPr>
          <a:xfrm>
            <a:off x="7010400" y="3223491"/>
            <a:ext cx="5181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474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AFE5A-6F4E-42A5-8CAA-727316F5D821}"/>
              </a:ext>
            </a:extLst>
          </p:cNvPr>
          <p:cNvSpPr>
            <a:spLocks noGrp="1"/>
          </p:cNvSpPr>
          <p:nvPr>
            <p:ph type="title"/>
          </p:nvPr>
        </p:nvSpPr>
        <p:spPr/>
        <p:txBody>
          <a:bodyPr/>
          <a:lstStyle/>
          <a:p>
            <a:r>
              <a:rPr lang="en-CA" dirty="0"/>
              <a:t>Apply this concept to objects</a:t>
            </a:r>
          </a:p>
        </p:txBody>
      </p:sp>
      <p:sp>
        <p:nvSpPr>
          <p:cNvPr id="3" name="Content Placeholder 2">
            <a:extLst>
              <a:ext uri="{FF2B5EF4-FFF2-40B4-BE49-F238E27FC236}">
                <a16:creationId xmlns:a16="http://schemas.microsoft.com/office/drawing/2014/main" id="{4AE73ED8-6646-4FCC-9A93-9798C8A5B6DE}"/>
              </a:ext>
            </a:extLst>
          </p:cNvPr>
          <p:cNvSpPr>
            <a:spLocks noGrp="1"/>
          </p:cNvSpPr>
          <p:nvPr>
            <p:ph idx="1"/>
          </p:nvPr>
        </p:nvSpPr>
        <p:spPr>
          <a:xfrm>
            <a:off x="1097280" y="1845734"/>
            <a:ext cx="10058400" cy="564161"/>
          </a:xfrm>
        </p:spPr>
        <p:txBody>
          <a:bodyPr/>
          <a:lstStyle/>
          <a:p>
            <a:r>
              <a:rPr lang="en-CA" dirty="0"/>
              <a:t>An object can be in multiple states. It’s behaviour is usually determined by its state:</a:t>
            </a:r>
          </a:p>
        </p:txBody>
      </p:sp>
      <p:sp>
        <p:nvSpPr>
          <p:cNvPr id="4" name="Slide Number Placeholder 3">
            <a:extLst>
              <a:ext uri="{FF2B5EF4-FFF2-40B4-BE49-F238E27FC236}">
                <a16:creationId xmlns:a16="http://schemas.microsoft.com/office/drawing/2014/main" id="{78888F32-642E-496D-8797-D9C482BBD7DC}"/>
              </a:ext>
            </a:extLst>
          </p:cNvPr>
          <p:cNvSpPr>
            <a:spLocks noGrp="1"/>
          </p:cNvSpPr>
          <p:nvPr>
            <p:ph type="sldNum" sz="quarter" idx="12"/>
          </p:nvPr>
        </p:nvSpPr>
        <p:spPr/>
        <p:txBody>
          <a:bodyPr/>
          <a:lstStyle/>
          <a:p>
            <a:fld id="{629637A9-119A-49DA-BD12-AAC58B377D80}" type="slidenum">
              <a:rPr lang="en-US" smtClean="0"/>
              <a:t>4</a:t>
            </a:fld>
            <a:endParaRPr lang="en-US" dirty="0"/>
          </a:p>
        </p:txBody>
      </p:sp>
      <p:graphicFrame>
        <p:nvGraphicFramePr>
          <p:cNvPr id="8" name="Diagram 7">
            <a:extLst>
              <a:ext uri="{FF2B5EF4-FFF2-40B4-BE49-F238E27FC236}">
                <a16:creationId xmlns:a16="http://schemas.microsoft.com/office/drawing/2014/main" id="{D18A9B0C-2D3E-445B-B5E0-FA84051A8A23}"/>
              </a:ext>
            </a:extLst>
          </p:cNvPr>
          <p:cNvGraphicFramePr/>
          <p:nvPr>
            <p:extLst>
              <p:ext uri="{D42A27DB-BD31-4B8C-83A1-F6EECF244321}">
                <p14:modId xmlns:p14="http://schemas.microsoft.com/office/powerpoint/2010/main" val="2385134045"/>
              </p:ext>
            </p:extLst>
          </p:nvPr>
        </p:nvGraphicFramePr>
        <p:xfrm>
          <a:off x="1195061" y="2344947"/>
          <a:ext cx="9740918" cy="3896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426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15CC-C17C-4310-94AC-3C6A59D4C945}"/>
              </a:ext>
            </a:extLst>
          </p:cNvPr>
          <p:cNvSpPr>
            <a:spLocks noGrp="1"/>
          </p:cNvSpPr>
          <p:nvPr>
            <p:ph type="title"/>
          </p:nvPr>
        </p:nvSpPr>
        <p:spPr>
          <a:xfrm>
            <a:off x="1097280" y="286603"/>
            <a:ext cx="4663440" cy="1450757"/>
          </a:xfrm>
        </p:spPr>
        <p:txBody>
          <a:bodyPr/>
          <a:lstStyle/>
          <a:p>
            <a:r>
              <a:rPr lang="en-CA" dirty="0"/>
              <a:t>State – Naïve Implementation</a:t>
            </a:r>
          </a:p>
        </p:txBody>
      </p:sp>
      <p:sp>
        <p:nvSpPr>
          <p:cNvPr id="3" name="Content Placeholder 2">
            <a:extLst>
              <a:ext uri="{FF2B5EF4-FFF2-40B4-BE49-F238E27FC236}">
                <a16:creationId xmlns:a16="http://schemas.microsoft.com/office/drawing/2014/main" id="{B067225F-FF9F-4357-A7B7-919DB9618C15}"/>
              </a:ext>
            </a:extLst>
          </p:cNvPr>
          <p:cNvSpPr>
            <a:spLocks noGrp="1"/>
          </p:cNvSpPr>
          <p:nvPr>
            <p:ph idx="1"/>
          </p:nvPr>
        </p:nvSpPr>
        <p:spPr>
          <a:xfrm>
            <a:off x="1097280" y="1854318"/>
            <a:ext cx="4457700" cy="4401701"/>
          </a:xfrm>
        </p:spPr>
        <p:txBody>
          <a:bodyPr>
            <a:normAutofit/>
          </a:bodyPr>
          <a:lstStyle/>
          <a:p>
            <a:r>
              <a:rPr lang="en-CA" dirty="0"/>
              <a:t>A </a:t>
            </a:r>
            <a:r>
              <a:rPr lang="en-CA" dirty="0" err="1"/>
              <a:t>ButtonEnum</a:t>
            </a:r>
            <a:r>
              <a:rPr lang="en-CA" dirty="0"/>
              <a:t> defines the different states a button can take.</a:t>
            </a:r>
          </a:p>
          <a:p>
            <a:r>
              <a:rPr lang="en-CA" dirty="0"/>
              <a:t>A button stores its current state as an attribute</a:t>
            </a:r>
          </a:p>
          <a:p>
            <a:r>
              <a:rPr lang="en-CA" dirty="0"/>
              <a:t>We use a series of if-else statements to change behaviour.</a:t>
            </a:r>
          </a:p>
          <a:p>
            <a:r>
              <a:rPr lang="en-CA" dirty="0"/>
              <a:t>While this may be acceptable for simple scenarios, it isn’t maintainable in larger systems.</a:t>
            </a:r>
          </a:p>
        </p:txBody>
      </p:sp>
      <p:sp>
        <p:nvSpPr>
          <p:cNvPr id="4" name="Slide Number Placeholder 3">
            <a:extLst>
              <a:ext uri="{FF2B5EF4-FFF2-40B4-BE49-F238E27FC236}">
                <a16:creationId xmlns:a16="http://schemas.microsoft.com/office/drawing/2014/main" id="{156BB6BC-3BE7-43C7-A856-5A86B099C556}"/>
              </a:ext>
            </a:extLst>
          </p:cNvPr>
          <p:cNvSpPr>
            <a:spLocks noGrp="1"/>
          </p:cNvSpPr>
          <p:nvPr>
            <p:ph type="sldNum" sz="quarter" idx="12"/>
          </p:nvPr>
        </p:nvSpPr>
        <p:spPr>
          <a:xfrm>
            <a:off x="-386542" y="6388834"/>
            <a:ext cx="1312025" cy="365125"/>
          </a:xfrm>
        </p:spPr>
        <p:txBody>
          <a:bodyPr/>
          <a:lstStyle/>
          <a:p>
            <a:fld id="{629637A9-119A-49DA-BD12-AAC58B377D80}" type="slidenum">
              <a:rPr lang="en-US" smtClean="0"/>
              <a:t>5</a:t>
            </a:fld>
            <a:endParaRPr lang="en-US" dirty="0"/>
          </a:p>
        </p:txBody>
      </p:sp>
      <p:sp>
        <p:nvSpPr>
          <p:cNvPr id="6" name="Rectangle 1">
            <a:extLst>
              <a:ext uri="{FF2B5EF4-FFF2-40B4-BE49-F238E27FC236}">
                <a16:creationId xmlns:a16="http://schemas.microsoft.com/office/drawing/2014/main" id="{67DDB51E-C19B-4520-933E-42615BBCAA0B}"/>
              </a:ext>
            </a:extLst>
          </p:cNvPr>
          <p:cNvSpPr>
            <a:spLocks noChangeArrowheads="1"/>
          </p:cNvSpPr>
          <p:nvPr/>
        </p:nvSpPr>
        <p:spPr bwMode="auto">
          <a:xfrm>
            <a:off x="5936209" y="104697"/>
            <a:ext cx="6263640" cy="681725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150" b="1" dirty="0">
                <a:solidFill>
                  <a:srgbClr val="000080"/>
                </a:solidFill>
                <a:latin typeface="JetBrains Mono"/>
              </a:rPr>
              <a:t>import </a:t>
            </a:r>
            <a:r>
              <a:rPr lang="en-US" altLang="en-US" sz="1150" dirty="0" err="1">
                <a:solidFill>
                  <a:srgbClr val="000000"/>
                </a:solidFill>
                <a:latin typeface="JetBrains Mono"/>
              </a:rPr>
              <a:t>enum</a:t>
            </a:r>
            <a:br>
              <a:rPr lang="en-US" altLang="en-US" sz="1150" dirty="0">
                <a:solidFill>
                  <a:srgbClr val="000000"/>
                </a:solidFill>
                <a:latin typeface="JetBrains Mono"/>
              </a:rPr>
            </a:br>
            <a:br>
              <a:rPr lang="en-US" altLang="en-US" sz="1150" dirty="0">
                <a:solidFill>
                  <a:srgbClr val="000000"/>
                </a:solidFill>
                <a:latin typeface="JetBrains Mono"/>
              </a:rPr>
            </a:br>
            <a:br>
              <a:rPr lang="en-US" altLang="en-US" sz="1150" dirty="0">
                <a:solidFill>
                  <a:srgbClr val="000000"/>
                </a:solidFill>
                <a:latin typeface="JetBrains Mono"/>
              </a:rPr>
            </a:br>
            <a:r>
              <a:rPr lang="en-US" altLang="en-US" sz="1150" b="1" dirty="0">
                <a:solidFill>
                  <a:srgbClr val="000080"/>
                </a:solidFill>
                <a:latin typeface="JetBrains Mono"/>
              </a:rPr>
              <a:t>class </a:t>
            </a:r>
            <a:r>
              <a:rPr lang="en-US" altLang="en-US" sz="1150" dirty="0" err="1">
                <a:solidFill>
                  <a:srgbClr val="000000"/>
                </a:solidFill>
                <a:latin typeface="JetBrains Mono"/>
              </a:rPr>
              <a:t>ButtonEnum</a:t>
            </a:r>
            <a:r>
              <a:rPr lang="en-US" altLang="en-US" sz="1150" dirty="0">
                <a:solidFill>
                  <a:srgbClr val="000000"/>
                </a:solidFill>
                <a:latin typeface="JetBrains Mono"/>
              </a:rPr>
              <a:t>(</a:t>
            </a:r>
            <a:r>
              <a:rPr lang="en-US" altLang="en-US" sz="1150" dirty="0" err="1">
                <a:solidFill>
                  <a:srgbClr val="000000"/>
                </a:solidFill>
                <a:latin typeface="JetBrains Mono"/>
              </a:rPr>
              <a:t>enum.Enum</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IDLE = </a:t>
            </a:r>
            <a:r>
              <a:rPr lang="en-US" altLang="en-US" sz="1150" dirty="0">
                <a:solidFill>
                  <a:srgbClr val="0000FF"/>
                </a:solidFill>
                <a:latin typeface="JetBrains Mono"/>
              </a:rPr>
              <a:t>0</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HOVER = </a:t>
            </a:r>
            <a:r>
              <a:rPr lang="en-US" altLang="en-US" sz="1150" dirty="0">
                <a:solidFill>
                  <a:srgbClr val="0000FF"/>
                </a:solidFill>
                <a:latin typeface="JetBrains Mono"/>
              </a:rPr>
              <a:t>1</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PRESSED = </a:t>
            </a:r>
            <a:r>
              <a:rPr lang="en-US" altLang="en-US" sz="1150" dirty="0">
                <a:solidFill>
                  <a:srgbClr val="0000FF"/>
                </a:solidFill>
                <a:latin typeface="JetBrains Mono"/>
              </a:rPr>
              <a:t>2</a:t>
            </a:r>
            <a:br>
              <a:rPr lang="en-US" altLang="en-US" sz="1150" dirty="0">
                <a:solidFill>
                  <a:srgbClr val="0000FF"/>
                </a:solidFill>
                <a:latin typeface="JetBrains Mono"/>
              </a:rPr>
            </a:br>
            <a:r>
              <a:rPr lang="en-US" altLang="en-US" sz="1150" dirty="0">
                <a:solidFill>
                  <a:srgbClr val="0000FF"/>
                </a:solidFill>
                <a:latin typeface="JetBrains Mono"/>
              </a:rPr>
              <a:t>    </a:t>
            </a:r>
            <a:r>
              <a:rPr lang="en-US" altLang="en-US" sz="1150" dirty="0" err="1">
                <a:solidFill>
                  <a:srgbClr val="000000"/>
                </a:solidFill>
                <a:latin typeface="JetBrains Mono"/>
              </a:rPr>
              <a:t>DISABLEd</a:t>
            </a:r>
            <a:r>
              <a:rPr lang="en-US" altLang="en-US" sz="1150" dirty="0">
                <a:solidFill>
                  <a:srgbClr val="000000"/>
                </a:solidFill>
                <a:latin typeface="JetBrains Mono"/>
              </a:rPr>
              <a:t> = </a:t>
            </a:r>
            <a:r>
              <a:rPr lang="en-US" altLang="en-US" sz="1150" dirty="0">
                <a:solidFill>
                  <a:srgbClr val="0000FF"/>
                </a:solidFill>
                <a:latin typeface="JetBrains Mono"/>
              </a:rPr>
              <a:t>3</a:t>
            </a:r>
            <a:br>
              <a:rPr lang="en-US" altLang="en-US" sz="1150" dirty="0">
                <a:solidFill>
                  <a:srgbClr val="0000FF"/>
                </a:solidFill>
                <a:latin typeface="JetBrains Mono"/>
              </a:rPr>
            </a:br>
            <a:br>
              <a:rPr lang="en-US" altLang="en-US" sz="1150" dirty="0">
                <a:solidFill>
                  <a:srgbClr val="0000FF"/>
                </a:solidFill>
                <a:latin typeface="JetBrains Mono"/>
              </a:rPr>
            </a:br>
            <a:r>
              <a:rPr lang="en-US" altLang="en-US" sz="1150" b="1" dirty="0">
                <a:solidFill>
                  <a:srgbClr val="000080"/>
                </a:solidFill>
                <a:latin typeface="JetBrains Mono"/>
              </a:rPr>
              <a:t>class </a:t>
            </a:r>
            <a:r>
              <a:rPr lang="en-US" altLang="en-US" sz="1150" dirty="0">
                <a:solidFill>
                  <a:srgbClr val="000000"/>
                </a:solidFill>
                <a:latin typeface="JetBrains Mono"/>
              </a:rPr>
              <a:t>Button:</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def </a:t>
            </a:r>
            <a:r>
              <a:rPr lang="en-US" altLang="en-US" sz="1150" dirty="0">
                <a:solidFill>
                  <a:srgbClr val="B200B2"/>
                </a:solidFill>
                <a:latin typeface="JetBrains Mono"/>
              </a:rPr>
              <a:t>__</a:t>
            </a:r>
            <a:r>
              <a:rPr lang="en-US" altLang="en-US" sz="1150" dirty="0" err="1">
                <a:solidFill>
                  <a:srgbClr val="B200B2"/>
                </a:solidFill>
                <a:latin typeface="JetBrains Mono"/>
              </a:rPr>
              <a:t>init</a:t>
            </a:r>
            <a:r>
              <a:rPr lang="en-US" altLang="en-US" sz="1150" dirty="0">
                <a:solidFill>
                  <a:srgbClr val="B200B2"/>
                </a:solidFill>
                <a:latin typeface="JetBrains Mono"/>
              </a:rPr>
              <a:t>__</a:t>
            </a:r>
            <a:r>
              <a:rPr lang="en-US" altLang="en-US" sz="1150" dirty="0">
                <a:solidFill>
                  <a:srgbClr val="000000"/>
                </a:solidFill>
                <a:latin typeface="JetBrains Mono"/>
              </a:rPr>
              <a:t>(</a:t>
            </a:r>
            <a:r>
              <a:rPr lang="en-US" altLang="en-US" sz="1150" dirty="0">
                <a:solidFill>
                  <a:srgbClr val="94558D"/>
                </a:solidFill>
                <a:latin typeface="JetBrains Mono"/>
              </a:rPr>
              <a:t>self</a:t>
            </a:r>
            <a:r>
              <a:rPr lang="en-US" altLang="en-US" sz="1150" dirty="0">
                <a:solidFill>
                  <a:srgbClr val="000000"/>
                </a:solidFill>
                <a:latin typeface="JetBrains Mono"/>
              </a:rPr>
              <a:t>, </a:t>
            </a:r>
            <a:r>
              <a:rPr lang="en-US" altLang="en-US" sz="1150" dirty="0" err="1">
                <a:solidFill>
                  <a:srgbClr val="000000"/>
                </a:solidFill>
                <a:latin typeface="JetBrains Mono"/>
              </a:rPr>
              <a:t>idle_img</a:t>
            </a:r>
            <a:r>
              <a:rPr lang="en-US" altLang="en-US" sz="1150" dirty="0">
                <a:solidFill>
                  <a:srgbClr val="000000"/>
                </a:solidFill>
                <a:latin typeface="JetBrains Mono"/>
              </a:rPr>
              <a:t>, </a:t>
            </a:r>
            <a:r>
              <a:rPr lang="en-US" altLang="en-US" sz="1150" dirty="0" err="1">
                <a:solidFill>
                  <a:srgbClr val="000000"/>
                </a:solidFill>
                <a:latin typeface="JetBrains Mono"/>
              </a:rPr>
              <a:t>hover_img</a:t>
            </a:r>
            <a:r>
              <a:rPr lang="en-US" altLang="en-US" sz="1150" dirty="0">
                <a:solidFill>
                  <a:srgbClr val="000000"/>
                </a:solidFill>
                <a:latin typeface="JetBrains Mono"/>
              </a:rPr>
              <a:t>, </a:t>
            </a:r>
            <a:r>
              <a:rPr lang="en-US" altLang="en-US" sz="1150" dirty="0" err="1">
                <a:solidFill>
                  <a:srgbClr val="000000"/>
                </a:solidFill>
                <a:latin typeface="JetBrains Mono"/>
              </a:rPr>
              <a:t>pressed_img</a:t>
            </a:r>
            <a:r>
              <a:rPr lang="en-US" altLang="en-US" sz="1150" dirty="0">
                <a:solidFill>
                  <a:srgbClr val="000000"/>
                </a:solidFill>
                <a:latin typeface="JetBrains Mono"/>
              </a:rPr>
              <a:t>, callback):</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ButtonEnum.IDLE</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.btn_on_click_callback</a:t>
            </a:r>
            <a:r>
              <a:rPr lang="en-US" altLang="en-US" sz="1150" dirty="0">
                <a:solidFill>
                  <a:srgbClr val="000000"/>
                </a:solidFill>
                <a:latin typeface="JetBrains Mono"/>
              </a:rPr>
              <a:t> = callback</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.idle_img</a:t>
            </a:r>
            <a:r>
              <a:rPr lang="en-US" altLang="en-US" sz="1150" dirty="0">
                <a:solidFill>
                  <a:srgbClr val="000000"/>
                </a:solidFill>
                <a:latin typeface="JetBrains Mono"/>
              </a:rPr>
              <a:t> = </a:t>
            </a:r>
            <a:r>
              <a:rPr lang="en-US" altLang="en-US" sz="1150" dirty="0" err="1">
                <a:solidFill>
                  <a:srgbClr val="000000"/>
                </a:solidFill>
                <a:latin typeface="JetBrains Mono"/>
              </a:rPr>
              <a:t>idle_img</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.hover_img</a:t>
            </a:r>
            <a:r>
              <a:rPr lang="en-US" altLang="en-US" sz="1150" dirty="0">
                <a:solidFill>
                  <a:srgbClr val="000000"/>
                </a:solidFill>
                <a:latin typeface="JetBrains Mono"/>
              </a:rPr>
              <a:t> = </a:t>
            </a:r>
            <a:r>
              <a:rPr lang="en-US" altLang="en-US" sz="1150" dirty="0" err="1">
                <a:solidFill>
                  <a:srgbClr val="000000"/>
                </a:solidFill>
                <a:latin typeface="JetBrains Mono"/>
              </a:rPr>
              <a:t>hover_img</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.pressed_img</a:t>
            </a:r>
            <a:r>
              <a:rPr lang="en-US" altLang="en-US" sz="1150" dirty="0">
                <a:solidFill>
                  <a:srgbClr val="000000"/>
                </a:solidFill>
                <a:latin typeface="JetBrains Mono"/>
              </a:rPr>
              <a:t> = </a:t>
            </a:r>
            <a:r>
              <a:rPr lang="en-US" altLang="en-US" sz="1150" dirty="0" err="1">
                <a:solidFill>
                  <a:srgbClr val="000000"/>
                </a:solidFill>
                <a:latin typeface="JetBrains Mono"/>
              </a:rPr>
              <a:t>pressed_img</a:t>
            </a:r>
            <a:br>
              <a:rPr lang="en-US" altLang="en-US" sz="1150" dirty="0">
                <a:solidFill>
                  <a:srgbClr val="000000"/>
                </a:solidFill>
                <a:latin typeface="JetBrains Mono"/>
              </a:rPr>
            </a:b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def </a:t>
            </a:r>
            <a:r>
              <a:rPr lang="en-US" altLang="en-US" sz="1150" dirty="0">
                <a:solidFill>
                  <a:srgbClr val="000000"/>
                </a:solidFill>
                <a:latin typeface="JetBrains Mono"/>
              </a:rPr>
              <a:t>render(</a:t>
            </a:r>
            <a:r>
              <a:rPr lang="en-US" altLang="en-US" sz="1150" dirty="0">
                <a:solidFill>
                  <a:srgbClr val="94558D"/>
                </a:solidFill>
                <a:latin typeface="JetBrains Mono"/>
              </a:rPr>
              <a:t>self</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if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ButtonEnum.IDLE</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err="1">
                <a:solidFill>
                  <a:srgbClr val="008000"/>
                </a:solidFill>
                <a:latin typeface="JetBrains Mono"/>
              </a:rPr>
              <a:t>f"Displaying</a:t>
            </a:r>
            <a:r>
              <a:rPr lang="en-US" altLang="en-US" sz="1150" b="1" dirty="0">
                <a:solidFill>
                  <a:srgbClr val="008000"/>
                </a:solidFill>
                <a:latin typeface="JetBrains Mono"/>
              </a:rPr>
              <a:t> </a:t>
            </a:r>
            <a:r>
              <a:rPr lang="en-US" altLang="en-US" sz="1150" b="1" dirty="0">
                <a:solidFill>
                  <a:srgbClr val="000080"/>
                </a:solidFill>
                <a:latin typeface="JetBrains Mono"/>
              </a:rPr>
              <a:t>{</a:t>
            </a:r>
            <a:r>
              <a:rPr lang="en-US" altLang="en-US" sz="1150" dirty="0" err="1">
                <a:solidFill>
                  <a:srgbClr val="94558D"/>
                </a:solidFill>
                <a:latin typeface="JetBrains Mono"/>
              </a:rPr>
              <a:t>self</a:t>
            </a:r>
            <a:r>
              <a:rPr lang="en-US" altLang="en-US" sz="1150" dirty="0" err="1">
                <a:solidFill>
                  <a:srgbClr val="000000"/>
                </a:solidFill>
                <a:latin typeface="JetBrains Mono"/>
              </a:rPr>
              <a:t>.idle_img</a:t>
            </a:r>
            <a:r>
              <a:rPr lang="en-US" altLang="en-US" sz="1150" b="1" dirty="0">
                <a:solidFill>
                  <a:srgbClr val="000080"/>
                </a:solidFill>
                <a:latin typeface="JetBrains Mono"/>
              </a:rPr>
              <a:t>}</a:t>
            </a:r>
            <a:r>
              <a:rPr lang="en-US" altLang="en-US" sz="1150" b="1" dirty="0">
                <a:solidFill>
                  <a:srgbClr val="008000"/>
                </a:solidFill>
                <a:latin typeface="JetBrains Mono"/>
              </a:rPr>
              <a:t>"</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err="1">
                <a:solidFill>
                  <a:srgbClr val="000080"/>
                </a:solidFill>
                <a:latin typeface="JetBrains Mono"/>
              </a:rPr>
              <a:t>elif</a:t>
            </a:r>
            <a:r>
              <a:rPr lang="en-US" altLang="en-US" sz="1150" b="1" dirty="0">
                <a:solidFill>
                  <a:srgbClr val="00008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ButtonEnum.HOVER</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err="1">
                <a:solidFill>
                  <a:srgbClr val="008000"/>
                </a:solidFill>
                <a:latin typeface="JetBrains Mono"/>
              </a:rPr>
              <a:t>f"Displaying</a:t>
            </a:r>
            <a:r>
              <a:rPr lang="en-US" altLang="en-US" sz="1150" b="1" dirty="0">
                <a:solidFill>
                  <a:srgbClr val="008000"/>
                </a:solidFill>
                <a:latin typeface="JetBrains Mono"/>
              </a:rPr>
              <a:t> </a:t>
            </a:r>
            <a:r>
              <a:rPr lang="en-US" altLang="en-US" sz="1150" b="1" dirty="0">
                <a:solidFill>
                  <a:srgbClr val="000080"/>
                </a:solidFill>
                <a:latin typeface="JetBrains Mono"/>
              </a:rPr>
              <a:t>{</a:t>
            </a:r>
            <a:r>
              <a:rPr lang="en-US" altLang="en-US" sz="1150" dirty="0" err="1">
                <a:solidFill>
                  <a:srgbClr val="94558D"/>
                </a:solidFill>
                <a:latin typeface="JetBrains Mono"/>
              </a:rPr>
              <a:t>self</a:t>
            </a:r>
            <a:r>
              <a:rPr lang="en-US" altLang="en-US" sz="1150" dirty="0" err="1">
                <a:solidFill>
                  <a:srgbClr val="000000"/>
                </a:solidFill>
                <a:latin typeface="JetBrains Mono"/>
              </a:rPr>
              <a:t>.hover_img</a:t>
            </a:r>
            <a:r>
              <a:rPr lang="en-US" altLang="en-US" sz="1150" b="1" dirty="0">
                <a:solidFill>
                  <a:srgbClr val="000080"/>
                </a:solidFill>
                <a:latin typeface="JetBrains Mono"/>
              </a:rPr>
              <a:t>}</a:t>
            </a:r>
            <a:r>
              <a:rPr lang="en-US" altLang="en-US" sz="1150" b="1" dirty="0">
                <a:solidFill>
                  <a:srgbClr val="008000"/>
                </a:solidFill>
                <a:latin typeface="JetBrains Mono"/>
              </a:rPr>
              <a:t>"</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err="1">
                <a:solidFill>
                  <a:srgbClr val="000080"/>
                </a:solidFill>
                <a:latin typeface="JetBrains Mono"/>
              </a:rPr>
              <a:t>elif</a:t>
            </a:r>
            <a:r>
              <a:rPr lang="en-US" altLang="en-US" sz="1150" b="1" dirty="0">
                <a:solidFill>
                  <a:srgbClr val="00008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ButtonEnum.PRESSED</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err="1">
                <a:solidFill>
                  <a:srgbClr val="008000"/>
                </a:solidFill>
                <a:latin typeface="JetBrains Mono"/>
              </a:rPr>
              <a:t>f"Displaying</a:t>
            </a:r>
            <a:r>
              <a:rPr lang="en-US" altLang="en-US" sz="1150" b="1" dirty="0">
                <a:solidFill>
                  <a:srgbClr val="008000"/>
                </a:solidFill>
                <a:latin typeface="JetBrains Mono"/>
              </a:rPr>
              <a:t> </a:t>
            </a:r>
            <a:r>
              <a:rPr lang="en-US" altLang="en-US" sz="1150" b="1" dirty="0">
                <a:solidFill>
                  <a:srgbClr val="000080"/>
                </a:solidFill>
                <a:latin typeface="JetBrains Mono"/>
              </a:rPr>
              <a:t>{</a:t>
            </a:r>
            <a:r>
              <a:rPr lang="en-US" altLang="en-US" sz="1150" dirty="0" err="1">
                <a:solidFill>
                  <a:srgbClr val="94558D"/>
                </a:solidFill>
                <a:latin typeface="JetBrains Mono"/>
              </a:rPr>
              <a:t>self</a:t>
            </a:r>
            <a:r>
              <a:rPr lang="en-US" altLang="en-US" sz="1150" dirty="0" err="1">
                <a:solidFill>
                  <a:srgbClr val="000000"/>
                </a:solidFill>
                <a:latin typeface="JetBrains Mono"/>
              </a:rPr>
              <a:t>.pressed_img</a:t>
            </a:r>
            <a:r>
              <a:rPr lang="en-US" altLang="en-US" sz="1150" b="1" dirty="0">
                <a:solidFill>
                  <a:srgbClr val="000080"/>
                </a:solidFill>
                <a:latin typeface="JetBrains Mono"/>
              </a:rPr>
              <a:t>}</a:t>
            </a:r>
            <a:r>
              <a:rPr lang="en-US" altLang="en-US" sz="1150" b="1" dirty="0">
                <a:solidFill>
                  <a:srgbClr val="008000"/>
                </a:solidFill>
                <a:latin typeface="JetBrains Mono"/>
              </a:rPr>
              <a:t>"</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else</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a:solidFill>
                  <a:srgbClr val="008000"/>
                </a:solidFill>
                <a:latin typeface="JetBrains Mono"/>
              </a:rPr>
              <a:t>"Button disabled"</a:t>
            </a:r>
            <a:r>
              <a:rPr lang="en-US" altLang="en-US" sz="1150" dirty="0">
                <a:solidFill>
                  <a:srgbClr val="000000"/>
                </a:solidFill>
                <a:latin typeface="JetBrains Mono"/>
              </a:rPr>
              <a:t>)</a:t>
            </a:r>
            <a:br>
              <a:rPr lang="en-US" altLang="en-US" sz="1150" dirty="0">
                <a:solidFill>
                  <a:srgbClr val="000000"/>
                </a:solidFill>
                <a:latin typeface="JetBrains Mono"/>
              </a:rPr>
            </a:br>
            <a:br>
              <a:rPr lang="en-US" altLang="en-US" sz="1150" dirty="0">
                <a:solidFill>
                  <a:srgbClr val="000000"/>
                </a:solidFill>
                <a:latin typeface="JetBrains Mono"/>
              </a:rPr>
            </a:br>
            <a:r>
              <a:rPr lang="en-US" altLang="en-US" sz="1150" b="1" dirty="0">
                <a:solidFill>
                  <a:srgbClr val="000080"/>
                </a:solidFill>
                <a:latin typeface="JetBrains Mono"/>
              </a:rPr>
              <a:t>def </a:t>
            </a:r>
            <a:r>
              <a:rPr lang="en-US" altLang="en-US" sz="1150" dirty="0" err="1">
                <a:solidFill>
                  <a:srgbClr val="000000"/>
                </a:solidFill>
                <a:latin typeface="JetBrains Mono"/>
              </a:rPr>
              <a:t>on_button_press_callback</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pass</a:t>
            </a:r>
            <a:br>
              <a:rPr lang="en-US" altLang="en-US" sz="1150" b="1" dirty="0">
                <a:solidFill>
                  <a:srgbClr val="000080"/>
                </a:solidFill>
                <a:latin typeface="JetBrains Mono"/>
              </a:rPr>
            </a:br>
            <a:br>
              <a:rPr lang="en-US" altLang="en-US" sz="1150" b="1" dirty="0">
                <a:solidFill>
                  <a:srgbClr val="000080"/>
                </a:solidFill>
                <a:latin typeface="JetBrains Mono"/>
              </a:rPr>
            </a:br>
            <a:r>
              <a:rPr lang="en-US" altLang="en-US" sz="1150" b="1" dirty="0">
                <a:solidFill>
                  <a:srgbClr val="000080"/>
                </a:solidFill>
                <a:latin typeface="JetBrains Mono"/>
              </a:rPr>
              <a:t>def </a:t>
            </a:r>
            <a:r>
              <a:rPr lang="en-US" altLang="en-US" sz="1150" dirty="0">
                <a:solidFill>
                  <a:srgbClr val="000000"/>
                </a:solidFill>
                <a:latin typeface="JetBrains Mono"/>
              </a:rPr>
              <a:t>main():</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000000"/>
                </a:solidFill>
                <a:latin typeface="JetBrains Mono"/>
              </a:rPr>
              <a:t>idle_img</a:t>
            </a:r>
            <a:r>
              <a:rPr lang="en-US" altLang="en-US" sz="1150" dirty="0">
                <a:solidFill>
                  <a:srgbClr val="000000"/>
                </a:solidFill>
                <a:latin typeface="JetBrains Mono"/>
              </a:rPr>
              <a:t> = </a:t>
            </a:r>
            <a:r>
              <a:rPr lang="en-US" altLang="en-US" sz="1150" b="1" dirty="0">
                <a:solidFill>
                  <a:srgbClr val="008000"/>
                </a:solidFill>
                <a:latin typeface="JetBrains Mono"/>
              </a:rPr>
              <a:t>"btn_save_idle_sprite.png"</a:t>
            </a:r>
            <a:br>
              <a:rPr lang="en-US" altLang="en-US" sz="1150" b="1" dirty="0">
                <a:solidFill>
                  <a:srgbClr val="008000"/>
                </a:solidFill>
                <a:latin typeface="JetBrains Mono"/>
              </a:rPr>
            </a:br>
            <a:r>
              <a:rPr lang="en-US" altLang="en-US" sz="1150" b="1" dirty="0">
                <a:solidFill>
                  <a:srgbClr val="008000"/>
                </a:solidFill>
                <a:latin typeface="JetBrains Mono"/>
              </a:rPr>
              <a:t>    </a:t>
            </a:r>
            <a:r>
              <a:rPr lang="en-US" altLang="en-US" sz="1150" dirty="0" err="1">
                <a:solidFill>
                  <a:srgbClr val="000000"/>
                </a:solidFill>
                <a:latin typeface="JetBrains Mono"/>
              </a:rPr>
              <a:t>hover_img</a:t>
            </a:r>
            <a:r>
              <a:rPr lang="en-US" altLang="en-US" sz="1150" dirty="0">
                <a:solidFill>
                  <a:srgbClr val="000000"/>
                </a:solidFill>
                <a:latin typeface="JetBrains Mono"/>
              </a:rPr>
              <a:t> = </a:t>
            </a:r>
            <a:r>
              <a:rPr lang="en-US" altLang="en-US" sz="1150" b="1" dirty="0">
                <a:solidFill>
                  <a:srgbClr val="008000"/>
                </a:solidFill>
                <a:latin typeface="JetBrains Mono"/>
              </a:rPr>
              <a:t>"btn_save_hover_sprite.png"</a:t>
            </a:r>
            <a:br>
              <a:rPr lang="en-US" altLang="en-US" sz="1150" b="1" dirty="0">
                <a:solidFill>
                  <a:srgbClr val="008000"/>
                </a:solidFill>
                <a:latin typeface="JetBrains Mono"/>
              </a:rPr>
            </a:br>
            <a:r>
              <a:rPr lang="en-US" altLang="en-US" sz="1150" b="1" dirty="0">
                <a:solidFill>
                  <a:srgbClr val="008000"/>
                </a:solidFill>
                <a:latin typeface="JetBrains Mono"/>
              </a:rPr>
              <a:t>    </a:t>
            </a:r>
            <a:r>
              <a:rPr lang="en-US" altLang="en-US" sz="1150" dirty="0">
                <a:solidFill>
                  <a:srgbClr val="000000"/>
                </a:solidFill>
                <a:latin typeface="JetBrains Mono"/>
              </a:rPr>
              <a:t>pressed = </a:t>
            </a:r>
            <a:r>
              <a:rPr lang="en-US" altLang="en-US" sz="1150" b="1" dirty="0">
                <a:solidFill>
                  <a:srgbClr val="008000"/>
                </a:solidFill>
                <a:latin typeface="JetBrains Mono"/>
              </a:rPr>
              <a:t>"btn_save_pressed_sprite.png"</a:t>
            </a:r>
            <a:br>
              <a:rPr lang="en-US" altLang="en-US" sz="1150" b="1" dirty="0">
                <a:solidFill>
                  <a:srgbClr val="008000"/>
                </a:solidFill>
                <a:latin typeface="JetBrains Mono"/>
              </a:rPr>
            </a:br>
            <a:r>
              <a:rPr lang="en-US" altLang="en-US" sz="1150" b="1" dirty="0">
                <a:solidFill>
                  <a:srgbClr val="008000"/>
                </a:solidFill>
                <a:latin typeface="JetBrains Mono"/>
              </a:rPr>
              <a:t>    </a:t>
            </a:r>
            <a:r>
              <a:rPr lang="en-US" altLang="en-US" sz="1150" dirty="0">
                <a:solidFill>
                  <a:srgbClr val="000000"/>
                </a:solidFill>
                <a:latin typeface="JetBrains Mono"/>
              </a:rPr>
              <a:t>button = Button(</a:t>
            </a:r>
            <a:r>
              <a:rPr lang="en-US" altLang="en-US" sz="1150" dirty="0" err="1">
                <a:solidFill>
                  <a:srgbClr val="000000"/>
                </a:solidFill>
                <a:latin typeface="JetBrains Mono"/>
              </a:rPr>
              <a:t>idle_img</a:t>
            </a:r>
            <a:r>
              <a:rPr lang="en-US" altLang="en-US" sz="1150" dirty="0">
                <a:solidFill>
                  <a:srgbClr val="000000"/>
                </a:solidFill>
                <a:latin typeface="JetBrains Mono"/>
              </a:rPr>
              <a:t>, </a:t>
            </a:r>
            <a:r>
              <a:rPr lang="en-US" altLang="en-US" sz="1150" dirty="0" err="1">
                <a:solidFill>
                  <a:srgbClr val="000000"/>
                </a:solidFill>
                <a:latin typeface="JetBrains Mono"/>
              </a:rPr>
              <a:t>hover_img</a:t>
            </a:r>
            <a:r>
              <a:rPr lang="en-US" altLang="en-US" sz="1150" dirty="0">
                <a:solidFill>
                  <a:srgbClr val="000000"/>
                </a:solidFill>
                <a:latin typeface="JetBrains Mono"/>
              </a:rPr>
              <a:t>, pressed, </a:t>
            </a:r>
            <a:r>
              <a:rPr lang="en-US" altLang="en-US" sz="1150" dirty="0" err="1">
                <a:solidFill>
                  <a:srgbClr val="000000"/>
                </a:solidFill>
                <a:latin typeface="JetBrains Mono"/>
              </a:rPr>
              <a:t>on_button_press_callback</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chemeClr val="bg1"/>
                </a:solidFill>
                <a:latin typeface="JetBrains Mono"/>
              </a:rPr>
              <a:t>    </a:t>
            </a:r>
            <a:r>
              <a:rPr lang="en-US" altLang="en-US" sz="1150" dirty="0" err="1">
                <a:solidFill>
                  <a:schemeClr val="bg1"/>
                </a:solidFill>
                <a:latin typeface="JetBrains Mono"/>
              </a:rPr>
              <a:t>button.render</a:t>
            </a:r>
            <a:r>
              <a:rPr lang="en-US" altLang="en-US" sz="1150" dirty="0">
                <a:solidFill>
                  <a:schemeClr val="bg1"/>
                </a:solidFill>
                <a:latin typeface="JetBrains Mono"/>
              </a:rPr>
              <a:t>()</a:t>
            </a:r>
            <a:br>
              <a:rPr lang="en-US" altLang="en-US" sz="1150" dirty="0">
                <a:solidFill>
                  <a:schemeClr val="bg1"/>
                </a:solidFill>
                <a:latin typeface="JetBrains Mono"/>
              </a:rPr>
            </a:br>
            <a:r>
              <a:rPr lang="en-US" altLang="en-US" sz="1150" dirty="0">
                <a:solidFill>
                  <a:schemeClr val="bg1"/>
                </a:solidFill>
                <a:latin typeface="JetBrains Mono"/>
              </a:rPr>
              <a:t>    </a:t>
            </a:r>
            <a:r>
              <a:rPr lang="en-US" altLang="en-US" sz="1150" dirty="0" err="1">
                <a:solidFill>
                  <a:schemeClr val="bg1"/>
                </a:solidFill>
                <a:latin typeface="JetBrains Mono"/>
              </a:rPr>
              <a:t>button.btn_state</a:t>
            </a:r>
            <a:r>
              <a:rPr lang="en-US" altLang="en-US" sz="1150" dirty="0">
                <a:solidFill>
                  <a:schemeClr val="bg1"/>
                </a:solidFill>
                <a:latin typeface="JetBrains Mono"/>
              </a:rPr>
              <a:t> = </a:t>
            </a:r>
            <a:r>
              <a:rPr lang="en-US" altLang="en-US" sz="1150" dirty="0" err="1">
                <a:solidFill>
                  <a:schemeClr val="bg1"/>
                </a:solidFill>
                <a:latin typeface="JetBrains Mono"/>
              </a:rPr>
              <a:t>ButtonEnum.PRESSED</a:t>
            </a:r>
            <a:br>
              <a:rPr lang="en-US" altLang="en-US" sz="1150" dirty="0">
                <a:solidFill>
                  <a:schemeClr val="bg1"/>
                </a:solidFill>
                <a:latin typeface="JetBrains Mono"/>
              </a:rPr>
            </a:br>
            <a:r>
              <a:rPr lang="en-US" altLang="en-US" sz="1150" dirty="0">
                <a:solidFill>
                  <a:schemeClr val="bg1"/>
                </a:solidFill>
                <a:latin typeface="JetBrains Mono"/>
              </a:rPr>
              <a:t>    </a:t>
            </a:r>
            <a:r>
              <a:rPr lang="en-US" altLang="en-US" sz="1150" dirty="0" err="1">
                <a:solidFill>
                  <a:schemeClr val="bg1"/>
                </a:solidFill>
                <a:latin typeface="JetBrains Mono"/>
              </a:rPr>
              <a:t>button.render</a:t>
            </a:r>
            <a:r>
              <a:rPr lang="en-US" altLang="en-US" sz="1150" dirty="0">
                <a:solidFill>
                  <a:schemeClr val="bg1"/>
                </a:solidFill>
                <a:latin typeface="JetBrains Mono"/>
              </a:rPr>
              <a:t>()</a:t>
            </a:r>
            <a:endParaRPr lang="en-US" altLang="en-US" sz="1150" dirty="0">
              <a:latin typeface="Arial" panose="020B0604020202020204" pitchFamily="34" charset="0"/>
            </a:endParaRPr>
          </a:p>
        </p:txBody>
      </p:sp>
      <p:sp>
        <p:nvSpPr>
          <p:cNvPr id="8"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8952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15CC-C17C-4310-94AC-3C6A59D4C945}"/>
              </a:ext>
            </a:extLst>
          </p:cNvPr>
          <p:cNvSpPr>
            <a:spLocks noGrp="1"/>
          </p:cNvSpPr>
          <p:nvPr>
            <p:ph type="title"/>
          </p:nvPr>
        </p:nvSpPr>
        <p:spPr>
          <a:xfrm>
            <a:off x="1097280" y="286603"/>
            <a:ext cx="4663440" cy="1450757"/>
          </a:xfrm>
        </p:spPr>
        <p:txBody>
          <a:bodyPr/>
          <a:lstStyle/>
          <a:p>
            <a:r>
              <a:rPr lang="en-CA" dirty="0"/>
              <a:t>State – Naïve Implementation</a:t>
            </a:r>
          </a:p>
        </p:txBody>
      </p:sp>
      <p:sp>
        <p:nvSpPr>
          <p:cNvPr id="3" name="Content Placeholder 2">
            <a:extLst>
              <a:ext uri="{FF2B5EF4-FFF2-40B4-BE49-F238E27FC236}">
                <a16:creationId xmlns:a16="http://schemas.microsoft.com/office/drawing/2014/main" id="{B067225F-FF9F-4357-A7B7-919DB9618C15}"/>
              </a:ext>
            </a:extLst>
          </p:cNvPr>
          <p:cNvSpPr>
            <a:spLocks noGrp="1"/>
          </p:cNvSpPr>
          <p:nvPr>
            <p:ph idx="1"/>
          </p:nvPr>
        </p:nvSpPr>
        <p:spPr>
          <a:xfrm>
            <a:off x="1097280" y="1854318"/>
            <a:ext cx="4457700" cy="4401701"/>
          </a:xfrm>
        </p:spPr>
        <p:txBody>
          <a:bodyPr>
            <a:normAutofit/>
          </a:bodyPr>
          <a:lstStyle/>
          <a:p>
            <a:r>
              <a:rPr lang="en-CA" dirty="0"/>
              <a:t>We want to be able to add and remove states without re-compiling the button class.</a:t>
            </a:r>
          </a:p>
          <a:p>
            <a:r>
              <a:rPr lang="en-CA" dirty="0"/>
              <a:t>We want to be able to implement state-dependent behaviours easily as well.</a:t>
            </a:r>
          </a:p>
          <a:p>
            <a:r>
              <a:rPr lang="en-CA" dirty="0"/>
              <a:t>In other words…</a:t>
            </a:r>
          </a:p>
          <a:p>
            <a:r>
              <a:rPr lang="en-CA" dirty="0">
                <a:solidFill>
                  <a:schemeClr val="tx2">
                    <a:lumMod val="50000"/>
                  </a:schemeClr>
                </a:solidFill>
              </a:rPr>
              <a:t>Making any changes to the states will affect the button class. </a:t>
            </a:r>
            <a:br>
              <a:rPr lang="en-CA" dirty="0">
                <a:solidFill>
                  <a:schemeClr val="tx2">
                    <a:lumMod val="50000"/>
                  </a:schemeClr>
                </a:solidFill>
              </a:rPr>
            </a:br>
            <a:br>
              <a:rPr lang="en-CA" dirty="0">
                <a:solidFill>
                  <a:schemeClr val="tx2">
                    <a:lumMod val="50000"/>
                  </a:schemeClr>
                </a:solidFill>
              </a:rPr>
            </a:br>
            <a:r>
              <a:rPr lang="en-CA" b="1" dirty="0">
                <a:solidFill>
                  <a:schemeClr val="accent2"/>
                </a:solidFill>
              </a:rPr>
              <a:t>Button is coupled to its state.</a:t>
            </a:r>
          </a:p>
          <a:p>
            <a:r>
              <a:rPr lang="en-CA" b="1" dirty="0">
                <a:solidFill>
                  <a:schemeClr val="accent2"/>
                </a:solidFill>
              </a:rPr>
              <a:t>We want the button to be decoupled from its state.</a:t>
            </a:r>
          </a:p>
          <a:p>
            <a:endParaRPr lang="en-CA" sz="2600" b="1" dirty="0">
              <a:solidFill>
                <a:schemeClr val="accent2"/>
              </a:solidFill>
            </a:endParaRPr>
          </a:p>
        </p:txBody>
      </p:sp>
      <p:sp>
        <p:nvSpPr>
          <p:cNvPr id="4" name="Slide Number Placeholder 3">
            <a:extLst>
              <a:ext uri="{FF2B5EF4-FFF2-40B4-BE49-F238E27FC236}">
                <a16:creationId xmlns:a16="http://schemas.microsoft.com/office/drawing/2014/main" id="{156BB6BC-3BE7-43C7-A856-5A86B099C556}"/>
              </a:ext>
            </a:extLst>
          </p:cNvPr>
          <p:cNvSpPr>
            <a:spLocks noGrp="1"/>
          </p:cNvSpPr>
          <p:nvPr>
            <p:ph type="sldNum" sz="quarter" idx="12"/>
          </p:nvPr>
        </p:nvSpPr>
        <p:spPr>
          <a:xfrm>
            <a:off x="-386542" y="6388834"/>
            <a:ext cx="1312025" cy="365125"/>
          </a:xfrm>
        </p:spPr>
        <p:txBody>
          <a:bodyPr/>
          <a:lstStyle/>
          <a:p>
            <a:fld id="{629637A9-119A-49DA-BD12-AAC58B377D80}" type="slidenum">
              <a:rPr lang="en-US" smtClean="0"/>
              <a:t>6</a:t>
            </a:fld>
            <a:endParaRPr lang="en-US" dirty="0"/>
          </a:p>
        </p:txBody>
      </p:sp>
      <p:sp>
        <p:nvSpPr>
          <p:cNvPr id="6" name="Rectangle 1">
            <a:extLst>
              <a:ext uri="{FF2B5EF4-FFF2-40B4-BE49-F238E27FC236}">
                <a16:creationId xmlns:a16="http://schemas.microsoft.com/office/drawing/2014/main" id="{67DDB51E-C19B-4520-933E-42615BBCAA0B}"/>
              </a:ext>
            </a:extLst>
          </p:cNvPr>
          <p:cNvSpPr>
            <a:spLocks noChangeArrowheads="1"/>
          </p:cNvSpPr>
          <p:nvPr/>
        </p:nvSpPr>
        <p:spPr bwMode="auto">
          <a:xfrm>
            <a:off x="5936209" y="104697"/>
            <a:ext cx="6263640" cy="681725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150" b="1" dirty="0">
                <a:solidFill>
                  <a:srgbClr val="000080"/>
                </a:solidFill>
                <a:latin typeface="JetBrains Mono"/>
              </a:rPr>
              <a:t>import </a:t>
            </a:r>
            <a:r>
              <a:rPr lang="en-US" altLang="en-US" sz="1150" dirty="0" err="1">
                <a:solidFill>
                  <a:srgbClr val="000000"/>
                </a:solidFill>
                <a:latin typeface="JetBrains Mono"/>
              </a:rPr>
              <a:t>enum</a:t>
            </a:r>
            <a:br>
              <a:rPr lang="en-US" altLang="en-US" sz="1150" dirty="0">
                <a:solidFill>
                  <a:srgbClr val="000000"/>
                </a:solidFill>
                <a:latin typeface="JetBrains Mono"/>
              </a:rPr>
            </a:br>
            <a:br>
              <a:rPr lang="en-US" altLang="en-US" sz="1150" dirty="0">
                <a:solidFill>
                  <a:srgbClr val="000000"/>
                </a:solidFill>
                <a:latin typeface="JetBrains Mono"/>
              </a:rPr>
            </a:br>
            <a:br>
              <a:rPr lang="en-US" altLang="en-US" sz="1150" dirty="0">
                <a:solidFill>
                  <a:srgbClr val="000000"/>
                </a:solidFill>
                <a:latin typeface="JetBrains Mono"/>
              </a:rPr>
            </a:br>
            <a:r>
              <a:rPr lang="en-US" altLang="en-US" sz="1150" b="1" dirty="0">
                <a:solidFill>
                  <a:srgbClr val="000080"/>
                </a:solidFill>
                <a:latin typeface="JetBrains Mono"/>
              </a:rPr>
              <a:t>class </a:t>
            </a:r>
            <a:r>
              <a:rPr lang="en-US" altLang="en-US" sz="1150" dirty="0" err="1">
                <a:solidFill>
                  <a:srgbClr val="000000"/>
                </a:solidFill>
                <a:latin typeface="JetBrains Mono"/>
              </a:rPr>
              <a:t>ButtonEnum</a:t>
            </a:r>
            <a:r>
              <a:rPr lang="en-US" altLang="en-US" sz="1150" dirty="0">
                <a:solidFill>
                  <a:srgbClr val="000000"/>
                </a:solidFill>
                <a:latin typeface="JetBrains Mono"/>
              </a:rPr>
              <a:t>(</a:t>
            </a:r>
            <a:r>
              <a:rPr lang="en-US" altLang="en-US" sz="1150" dirty="0" err="1">
                <a:solidFill>
                  <a:srgbClr val="000000"/>
                </a:solidFill>
                <a:latin typeface="JetBrains Mono"/>
              </a:rPr>
              <a:t>enum.Enum</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IDLE = </a:t>
            </a:r>
            <a:r>
              <a:rPr lang="en-US" altLang="en-US" sz="1150" dirty="0">
                <a:solidFill>
                  <a:srgbClr val="0000FF"/>
                </a:solidFill>
                <a:latin typeface="JetBrains Mono"/>
              </a:rPr>
              <a:t>0</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HOVER = </a:t>
            </a:r>
            <a:r>
              <a:rPr lang="en-US" altLang="en-US" sz="1150" dirty="0">
                <a:solidFill>
                  <a:srgbClr val="0000FF"/>
                </a:solidFill>
                <a:latin typeface="JetBrains Mono"/>
              </a:rPr>
              <a:t>1</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PRESSED = </a:t>
            </a:r>
            <a:r>
              <a:rPr lang="en-US" altLang="en-US" sz="1150" dirty="0">
                <a:solidFill>
                  <a:srgbClr val="0000FF"/>
                </a:solidFill>
                <a:latin typeface="JetBrains Mono"/>
              </a:rPr>
              <a:t>2</a:t>
            </a:r>
            <a:br>
              <a:rPr lang="en-US" altLang="en-US" sz="1150" dirty="0">
                <a:solidFill>
                  <a:srgbClr val="0000FF"/>
                </a:solidFill>
                <a:latin typeface="JetBrains Mono"/>
              </a:rPr>
            </a:br>
            <a:r>
              <a:rPr lang="en-US" altLang="en-US" sz="1150" dirty="0">
                <a:solidFill>
                  <a:srgbClr val="0000FF"/>
                </a:solidFill>
                <a:latin typeface="JetBrains Mono"/>
              </a:rPr>
              <a:t>    </a:t>
            </a:r>
            <a:r>
              <a:rPr lang="en-US" altLang="en-US" sz="1150" dirty="0" err="1">
                <a:solidFill>
                  <a:srgbClr val="000000"/>
                </a:solidFill>
                <a:latin typeface="JetBrains Mono"/>
              </a:rPr>
              <a:t>DISABLEd</a:t>
            </a:r>
            <a:r>
              <a:rPr lang="en-US" altLang="en-US" sz="1150" dirty="0">
                <a:solidFill>
                  <a:srgbClr val="000000"/>
                </a:solidFill>
                <a:latin typeface="JetBrains Mono"/>
              </a:rPr>
              <a:t> = </a:t>
            </a:r>
            <a:r>
              <a:rPr lang="en-US" altLang="en-US" sz="1150" dirty="0">
                <a:solidFill>
                  <a:srgbClr val="0000FF"/>
                </a:solidFill>
                <a:latin typeface="JetBrains Mono"/>
              </a:rPr>
              <a:t>3</a:t>
            </a:r>
            <a:br>
              <a:rPr lang="en-US" altLang="en-US" sz="1150" dirty="0">
                <a:solidFill>
                  <a:srgbClr val="0000FF"/>
                </a:solidFill>
                <a:latin typeface="JetBrains Mono"/>
              </a:rPr>
            </a:br>
            <a:br>
              <a:rPr lang="en-US" altLang="en-US" sz="1150" dirty="0">
                <a:solidFill>
                  <a:srgbClr val="0000FF"/>
                </a:solidFill>
                <a:latin typeface="JetBrains Mono"/>
              </a:rPr>
            </a:br>
            <a:r>
              <a:rPr lang="en-US" altLang="en-US" sz="1150" b="1" dirty="0">
                <a:solidFill>
                  <a:srgbClr val="000080"/>
                </a:solidFill>
                <a:latin typeface="JetBrains Mono"/>
              </a:rPr>
              <a:t>class </a:t>
            </a:r>
            <a:r>
              <a:rPr lang="en-US" altLang="en-US" sz="1150" dirty="0">
                <a:solidFill>
                  <a:srgbClr val="000000"/>
                </a:solidFill>
                <a:latin typeface="JetBrains Mono"/>
              </a:rPr>
              <a:t>Button:</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err="1">
                <a:solidFill>
                  <a:srgbClr val="000080"/>
                </a:solidFill>
                <a:latin typeface="JetBrains Mono"/>
              </a:rPr>
              <a:t>def</a:t>
            </a:r>
            <a:r>
              <a:rPr lang="en-US" altLang="en-US" sz="1150" b="1" dirty="0">
                <a:solidFill>
                  <a:srgbClr val="000080"/>
                </a:solidFill>
                <a:latin typeface="JetBrains Mono"/>
              </a:rPr>
              <a:t> </a:t>
            </a:r>
            <a:r>
              <a:rPr lang="en-US" altLang="en-US" sz="1150" dirty="0">
                <a:solidFill>
                  <a:srgbClr val="B200B2"/>
                </a:solidFill>
                <a:latin typeface="JetBrains Mono"/>
              </a:rPr>
              <a:t>__</a:t>
            </a:r>
            <a:r>
              <a:rPr lang="en-US" altLang="en-US" sz="1150" dirty="0" err="1">
                <a:solidFill>
                  <a:srgbClr val="B200B2"/>
                </a:solidFill>
                <a:latin typeface="JetBrains Mono"/>
              </a:rPr>
              <a:t>init</a:t>
            </a:r>
            <a:r>
              <a:rPr lang="en-US" altLang="en-US" sz="1150" dirty="0">
                <a:solidFill>
                  <a:srgbClr val="B200B2"/>
                </a:solidFill>
                <a:latin typeface="JetBrains Mono"/>
              </a:rPr>
              <a:t>__</a:t>
            </a:r>
            <a:r>
              <a:rPr lang="en-US" altLang="en-US" sz="1150" dirty="0">
                <a:solidFill>
                  <a:srgbClr val="000000"/>
                </a:solidFill>
                <a:latin typeface="JetBrains Mono"/>
              </a:rPr>
              <a:t>(</a:t>
            </a:r>
            <a:r>
              <a:rPr lang="en-US" altLang="en-US" sz="1150" dirty="0">
                <a:solidFill>
                  <a:srgbClr val="94558D"/>
                </a:solidFill>
                <a:latin typeface="JetBrains Mono"/>
              </a:rPr>
              <a:t>self</a:t>
            </a:r>
            <a:r>
              <a:rPr lang="en-US" altLang="en-US" sz="1150" dirty="0">
                <a:solidFill>
                  <a:srgbClr val="000000"/>
                </a:solidFill>
                <a:latin typeface="JetBrains Mono"/>
              </a:rPr>
              <a:t>, </a:t>
            </a:r>
            <a:r>
              <a:rPr lang="en-US" altLang="en-US" sz="1150" dirty="0" err="1">
                <a:solidFill>
                  <a:srgbClr val="000000"/>
                </a:solidFill>
                <a:latin typeface="JetBrains Mono"/>
              </a:rPr>
              <a:t>idle_img</a:t>
            </a:r>
            <a:r>
              <a:rPr lang="en-US" altLang="en-US" sz="1150" dirty="0">
                <a:solidFill>
                  <a:srgbClr val="000000"/>
                </a:solidFill>
                <a:latin typeface="JetBrains Mono"/>
              </a:rPr>
              <a:t>, </a:t>
            </a:r>
            <a:r>
              <a:rPr lang="en-US" altLang="en-US" sz="1150" dirty="0" err="1">
                <a:solidFill>
                  <a:srgbClr val="000000"/>
                </a:solidFill>
                <a:latin typeface="JetBrains Mono"/>
              </a:rPr>
              <a:t>hover_img</a:t>
            </a:r>
            <a:r>
              <a:rPr lang="en-US" altLang="en-US" sz="1150" dirty="0">
                <a:solidFill>
                  <a:srgbClr val="000000"/>
                </a:solidFill>
                <a:latin typeface="JetBrains Mono"/>
              </a:rPr>
              <a:t>, </a:t>
            </a:r>
            <a:r>
              <a:rPr lang="en-US" altLang="en-US" sz="1150" dirty="0" err="1">
                <a:solidFill>
                  <a:srgbClr val="000000"/>
                </a:solidFill>
                <a:latin typeface="JetBrains Mono"/>
              </a:rPr>
              <a:t>pressed_img</a:t>
            </a:r>
            <a:r>
              <a:rPr lang="en-US" altLang="en-US" sz="1150" dirty="0">
                <a:solidFill>
                  <a:srgbClr val="000000"/>
                </a:solidFill>
                <a:latin typeface="JetBrains Mono"/>
              </a:rPr>
              <a:t>, callback):</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ButtonEnum.IDLE</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.btn_on_click_callback</a:t>
            </a:r>
            <a:r>
              <a:rPr lang="en-US" altLang="en-US" sz="1150" dirty="0">
                <a:solidFill>
                  <a:srgbClr val="000000"/>
                </a:solidFill>
                <a:latin typeface="JetBrains Mono"/>
              </a:rPr>
              <a:t> = callback</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.idle_img</a:t>
            </a:r>
            <a:r>
              <a:rPr lang="en-US" altLang="en-US" sz="1150" dirty="0">
                <a:solidFill>
                  <a:srgbClr val="000000"/>
                </a:solidFill>
                <a:latin typeface="JetBrains Mono"/>
              </a:rPr>
              <a:t> = </a:t>
            </a:r>
            <a:r>
              <a:rPr lang="en-US" altLang="en-US" sz="1150" dirty="0" err="1">
                <a:solidFill>
                  <a:srgbClr val="000000"/>
                </a:solidFill>
                <a:latin typeface="JetBrains Mono"/>
              </a:rPr>
              <a:t>idle_img</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.hover_img</a:t>
            </a:r>
            <a:r>
              <a:rPr lang="en-US" altLang="en-US" sz="1150" dirty="0">
                <a:solidFill>
                  <a:srgbClr val="000000"/>
                </a:solidFill>
                <a:latin typeface="JetBrains Mono"/>
              </a:rPr>
              <a:t> = </a:t>
            </a:r>
            <a:r>
              <a:rPr lang="en-US" altLang="en-US" sz="1150" dirty="0" err="1">
                <a:solidFill>
                  <a:srgbClr val="000000"/>
                </a:solidFill>
                <a:latin typeface="JetBrains Mono"/>
              </a:rPr>
              <a:t>hover_img</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.pressed_img</a:t>
            </a:r>
            <a:r>
              <a:rPr lang="en-US" altLang="en-US" sz="1150" dirty="0">
                <a:solidFill>
                  <a:srgbClr val="000000"/>
                </a:solidFill>
                <a:latin typeface="JetBrains Mono"/>
              </a:rPr>
              <a:t> = </a:t>
            </a:r>
            <a:r>
              <a:rPr lang="en-US" altLang="en-US" sz="1150" dirty="0" err="1">
                <a:solidFill>
                  <a:srgbClr val="000000"/>
                </a:solidFill>
                <a:latin typeface="JetBrains Mono"/>
              </a:rPr>
              <a:t>pressed_img</a:t>
            </a:r>
            <a:br>
              <a:rPr lang="en-US" altLang="en-US" sz="1150" dirty="0">
                <a:solidFill>
                  <a:srgbClr val="000000"/>
                </a:solidFill>
                <a:latin typeface="JetBrains Mono"/>
              </a:rPr>
            </a:b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err="1">
                <a:solidFill>
                  <a:srgbClr val="000080"/>
                </a:solidFill>
                <a:latin typeface="JetBrains Mono"/>
              </a:rPr>
              <a:t>def</a:t>
            </a:r>
            <a:r>
              <a:rPr lang="en-US" altLang="en-US" sz="1150" b="1" dirty="0">
                <a:solidFill>
                  <a:srgbClr val="000080"/>
                </a:solidFill>
                <a:latin typeface="JetBrains Mono"/>
              </a:rPr>
              <a:t> </a:t>
            </a:r>
            <a:r>
              <a:rPr lang="en-US" altLang="en-US" sz="1150" dirty="0">
                <a:solidFill>
                  <a:srgbClr val="000000"/>
                </a:solidFill>
                <a:latin typeface="JetBrains Mono"/>
              </a:rPr>
              <a:t>render(</a:t>
            </a:r>
            <a:r>
              <a:rPr lang="en-US" altLang="en-US" sz="1150" dirty="0">
                <a:solidFill>
                  <a:srgbClr val="94558D"/>
                </a:solidFill>
                <a:latin typeface="JetBrains Mono"/>
              </a:rPr>
              <a:t>self</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if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ButtonEnum.IDLE</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err="1">
                <a:solidFill>
                  <a:srgbClr val="008000"/>
                </a:solidFill>
                <a:latin typeface="JetBrains Mono"/>
              </a:rPr>
              <a:t>f"Displaying</a:t>
            </a:r>
            <a:r>
              <a:rPr lang="en-US" altLang="en-US" sz="1150" b="1" dirty="0">
                <a:solidFill>
                  <a:srgbClr val="008000"/>
                </a:solidFill>
                <a:latin typeface="JetBrains Mono"/>
              </a:rPr>
              <a:t> </a:t>
            </a:r>
            <a:r>
              <a:rPr lang="en-US" altLang="en-US" sz="1150" b="1" dirty="0">
                <a:solidFill>
                  <a:srgbClr val="000080"/>
                </a:solidFill>
                <a:latin typeface="JetBrains Mono"/>
              </a:rPr>
              <a:t>{</a:t>
            </a:r>
            <a:r>
              <a:rPr lang="en-US" altLang="en-US" sz="1150" dirty="0" err="1">
                <a:solidFill>
                  <a:srgbClr val="94558D"/>
                </a:solidFill>
                <a:latin typeface="JetBrains Mono"/>
              </a:rPr>
              <a:t>self</a:t>
            </a:r>
            <a:r>
              <a:rPr lang="en-US" altLang="en-US" sz="1150" dirty="0" err="1">
                <a:solidFill>
                  <a:srgbClr val="000000"/>
                </a:solidFill>
                <a:latin typeface="JetBrains Mono"/>
              </a:rPr>
              <a:t>.idle_img</a:t>
            </a:r>
            <a:r>
              <a:rPr lang="en-US" altLang="en-US" sz="1150" b="1" dirty="0">
                <a:solidFill>
                  <a:srgbClr val="000080"/>
                </a:solidFill>
                <a:latin typeface="JetBrains Mono"/>
              </a:rPr>
              <a:t>}</a:t>
            </a:r>
            <a:r>
              <a:rPr lang="en-US" altLang="en-US" sz="1150" b="1" dirty="0">
                <a:solidFill>
                  <a:srgbClr val="008000"/>
                </a:solidFill>
                <a:latin typeface="JetBrains Mono"/>
              </a:rPr>
              <a:t>"</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err="1">
                <a:solidFill>
                  <a:srgbClr val="000080"/>
                </a:solidFill>
                <a:latin typeface="JetBrains Mono"/>
              </a:rPr>
              <a:t>elif</a:t>
            </a:r>
            <a:r>
              <a:rPr lang="en-US" altLang="en-US" sz="1150" b="1" dirty="0">
                <a:solidFill>
                  <a:srgbClr val="00008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ButtonEnum.HOVER</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err="1">
                <a:solidFill>
                  <a:srgbClr val="008000"/>
                </a:solidFill>
                <a:latin typeface="JetBrains Mono"/>
              </a:rPr>
              <a:t>f"Displaying</a:t>
            </a:r>
            <a:r>
              <a:rPr lang="en-US" altLang="en-US" sz="1150" b="1" dirty="0">
                <a:solidFill>
                  <a:srgbClr val="008000"/>
                </a:solidFill>
                <a:latin typeface="JetBrains Mono"/>
              </a:rPr>
              <a:t> </a:t>
            </a:r>
            <a:r>
              <a:rPr lang="en-US" altLang="en-US" sz="1150" b="1" dirty="0">
                <a:solidFill>
                  <a:srgbClr val="000080"/>
                </a:solidFill>
                <a:latin typeface="JetBrains Mono"/>
              </a:rPr>
              <a:t>{</a:t>
            </a:r>
            <a:r>
              <a:rPr lang="en-US" altLang="en-US" sz="1150" dirty="0" err="1">
                <a:solidFill>
                  <a:srgbClr val="94558D"/>
                </a:solidFill>
                <a:latin typeface="JetBrains Mono"/>
              </a:rPr>
              <a:t>self</a:t>
            </a:r>
            <a:r>
              <a:rPr lang="en-US" altLang="en-US" sz="1150" dirty="0" err="1">
                <a:solidFill>
                  <a:srgbClr val="000000"/>
                </a:solidFill>
                <a:latin typeface="JetBrains Mono"/>
              </a:rPr>
              <a:t>.hover_img</a:t>
            </a:r>
            <a:r>
              <a:rPr lang="en-US" altLang="en-US" sz="1150" b="1" dirty="0">
                <a:solidFill>
                  <a:srgbClr val="000080"/>
                </a:solidFill>
                <a:latin typeface="JetBrains Mono"/>
              </a:rPr>
              <a:t>}</a:t>
            </a:r>
            <a:r>
              <a:rPr lang="en-US" altLang="en-US" sz="1150" b="1" dirty="0">
                <a:solidFill>
                  <a:srgbClr val="008000"/>
                </a:solidFill>
                <a:latin typeface="JetBrains Mono"/>
              </a:rPr>
              <a:t>"</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err="1">
                <a:solidFill>
                  <a:srgbClr val="000080"/>
                </a:solidFill>
                <a:latin typeface="JetBrains Mono"/>
              </a:rPr>
              <a:t>elif</a:t>
            </a:r>
            <a:r>
              <a:rPr lang="en-US" altLang="en-US" sz="1150" b="1" dirty="0">
                <a:solidFill>
                  <a:srgbClr val="000080"/>
                </a:solidFill>
                <a:latin typeface="JetBrains Mono"/>
              </a:rPr>
              <a:t> </a:t>
            </a:r>
            <a:r>
              <a:rPr lang="en-US" altLang="en-US" sz="1150" dirty="0" err="1">
                <a:solidFill>
                  <a:srgbClr val="94558D"/>
                </a:solidFill>
                <a:latin typeface="JetBrains Mono"/>
              </a:rPr>
              <a:t>self</a:t>
            </a:r>
            <a:r>
              <a:rPr lang="en-US" altLang="en-US" sz="1150" dirty="0" err="1">
                <a:solidFill>
                  <a:srgbClr val="000000"/>
                </a:solidFill>
                <a:latin typeface="JetBrains Mono"/>
              </a:rPr>
              <a:t>.btn_state</a:t>
            </a:r>
            <a:r>
              <a:rPr lang="en-US" altLang="en-US" sz="1150" dirty="0">
                <a:solidFill>
                  <a:srgbClr val="000000"/>
                </a:solidFill>
                <a:latin typeface="JetBrains Mono"/>
              </a:rPr>
              <a:t> == </a:t>
            </a:r>
            <a:r>
              <a:rPr lang="en-US" altLang="en-US" sz="1150" dirty="0" err="1">
                <a:solidFill>
                  <a:srgbClr val="000000"/>
                </a:solidFill>
                <a:latin typeface="JetBrains Mono"/>
              </a:rPr>
              <a:t>ButtonEnum.PRESSED</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err="1">
                <a:solidFill>
                  <a:srgbClr val="008000"/>
                </a:solidFill>
                <a:latin typeface="JetBrains Mono"/>
              </a:rPr>
              <a:t>f"Displaying</a:t>
            </a:r>
            <a:r>
              <a:rPr lang="en-US" altLang="en-US" sz="1150" b="1" dirty="0">
                <a:solidFill>
                  <a:srgbClr val="008000"/>
                </a:solidFill>
                <a:latin typeface="JetBrains Mono"/>
              </a:rPr>
              <a:t> </a:t>
            </a:r>
            <a:r>
              <a:rPr lang="en-US" altLang="en-US" sz="1150" b="1" dirty="0">
                <a:solidFill>
                  <a:srgbClr val="000080"/>
                </a:solidFill>
                <a:latin typeface="JetBrains Mono"/>
              </a:rPr>
              <a:t>{</a:t>
            </a:r>
            <a:r>
              <a:rPr lang="en-US" altLang="en-US" sz="1150" dirty="0" err="1">
                <a:solidFill>
                  <a:srgbClr val="94558D"/>
                </a:solidFill>
                <a:latin typeface="JetBrains Mono"/>
              </a:rPr>
              <a:t>self</a:t>
            </a:r>
            <a:r>
              <a:rPr lang="en-US" altLang="en-US" sz="1150" dirty="0" err="1">
                <a:solidFill>
                  <a:srgbClr val="000000"/>
                </a:solidFill>
                <a:latin typeface="JetBrains Mono"/>
              </a:rPr>
              <a:t>.pressed_img</a:t>
            </a:r>
            <a:r>
              <a:rPr lang="en-US" altLang="en-US" sz="1150" b="1" dirty="0">
                <a:solidFill>
                  <a:srgbClr val="000080"/>
                </a:solidFill>
                <a:latin typeface="JetBrains Mono"/>
              </a:rPr>
              <a:t>}</a:t>
            </a:r>
            <a:r>
              <a:rPr lang="en-US" altLang="en-US" sz="1150" b="1" dirty="0">
                <a:solidFill>
                  <a:srgbClr val="008000"/>
                </a:solidFill>
                <a:latin typeface="JetBrains Mono"/>
              </a:rPr>
              <a:t>"</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else</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a:solidFill>
                  <a:srgbClr val="000080"/>
                </a:solidFill>
                <a:latin typeface="JetBrains Mono"/>
              </a:rPr>
              <a:t>print</a:t>
            </a:r>
            <a:r>
              <a:rPr lang="en-US" altLang="en-US" sz="1150" dirty="0">
                <a:solidFill>
                  <a:srgbClr val="000000"/>
                </a:solidFill>
                <a:latin typeface="JetBrains Mono"/>
              </a:rPr>
              <a:t>(</a:t>
            </a:r>
            <a:r>
              <a:rPr lang="en-US" altLang="en-US" sz="1150" b="1" dirty="0">
                <a:solidFill>
                  <a:srgbClr val="008000"/>
                </a:solidFill>
                <a:latin typeface="JetBrains Mono"/>
              </a:rPr>
              <a:t>"Button disabled"</a:t>
            </a:r>
            <a:r>
              <a:rPr lang="en-US" altLang="en-US" sz="1150" dirty="0">
                <a:solidFill>
                  <a:srgbClr val="000000"/>
                </a:solidFill>
                <a:latin typeface="JetBrains Mono"/>
              </a:rPr>
              <a:t>)</a:t>
            </a:r>
            <a:br>
              <a:rPr lang="en-US" altLang="en-US" sz="1150" dirty="0">
                <a:solidFill>
                  <a:srgbClr val="000000"/>
                </a:solidFill>
                <a:latin typeface="JetBrains Mono"/>
              </a:rPr>
            </a:br>
            <a:br>
              <a:rPr lang="en-US" altLang="en-US" sz="1150" dirty="0">
                <a:solidFill>
                  <a:srgbClr val="000000"/>
                </a:solidFill>
                <a:latin typeface="JetBrains Mono"/>
              </a:rPr>
            </a:br>
            <a:r>
              <a:rPr lang="en-US" altLang="en-US" sz="1150" b="1" dirty="0" err="1">
                <a:solidFill>
                  <a:srgbClr val="000080"/>
                </a:solidFill>
                <a:latin typeface="JetBrains Mono"/>
              </a:rPr>
              <a:t>def</a:t>
            </a:r>
            <a:r>
              <a:rPr lang="en-US" altLang="en-US" sz="1150" b="1" dirty="0">
                <a:solidFill>
                  <a:srgbClr val="000080"/>
                </a:solidFill>
                <a:latin typeface="JetBrains Mono"/>
              </a:rPr>
              <a:t> </a:t>
            </a:r>
            <a:r>
              <a:rPr lang="en-US" altLang="en-US" sz="1150" dirty="0" err="1">
                <a:solidFill>
                  <a:srgbClr val="000000"/>
                </a:solidFill>
                <a:latin typeface="JetBrains Mono"/>
              </a:rPr>
              <a:t>on_button_press_callback</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b="1" dirty="0">
                <a:solidFill>
                  <a:srgbClr val="000080"/>
                </a:solidFill>
                <a:latin typeface="JetBrains Mono"/>
              </a:rPr>
              <a:t>pass</a:t>
            </a:r>
            <a:br>
              <a:rPr lang="en-US" altLang="en-US" sz="1150" b="1" dirty="0">
                <a:solidFill>
                  <a:srgbClr val="000080"/>
                </a:solidFill>
                <a:latin typeface="JetBrains Mono"/>
              </a:rPr>
            </a:br>
            <a:br>
              <a:rPr lang="en-US" altLang="en-US" sz="1150" b="1" dirty="0">
                <a:solidFill>
                  <a:srgbClr val="000080"/>
                </a:solidFill>
                <a:latin typeface="JetBrains Mono"/>
              </a:rPr>
            </a:br>
            <a:r>
              <a:rPr lang="en-US" altLang="en-US" sz="1150" b="1" dirty="0" err="1">
                <a:solidFill>
                  <a:srgbClr val="000080"/>
                </a:solidFill>
                <a:latin typeface="JetBrains Mono"/>
              </a:rPr>
              <a:t>def</a:t>
            </a:r>
            <a:r>
              <a:rPr lang="en-US" altLang="en-US" sz="1150" b="1" dirty="0">
                <a:solidFill>
                  <a:srgbClr val="000080"/>
                </a:solidFill>
                <a:latin typeface="JetBrains Mono"/>
              </a:rPr>
              <a:t> </a:t>
            </a:r>
            <a:r>
              <a:rPr lang="en-US" altLang="en-US" sz="1150" dirty="0">
                <a:solidFill>
                  <a:srgbClr val="000000"/>
                </a:solidFill>
                <a:latin typeface="JetBrains Mono"/>
              </a:rPr>
              <a:t>main():</a:t>
            </a:r>
            <a:br>
              <a:rPr lang="en-US" altLang="en-US" sz="1150" dirty="0">
                <a:solidFill>
                  <a:srgbClr val="000000"/>
                </a:solidFill>
                <a:latin typeface="JetBrains Mono"/>
              </a:rPr>
            </a:br>
            <a:r>
              <a:rPr lang="en-US" altLang="en-US" sz="1150" dirty="0">
                <a:solidFill>
                  <a:srgbClr val="000000"/>
                </a:solidFill>
                <a:latin typeface="JetBrains Mono"/>
              </a:rPr>
              <a:t>    </a:t>
            </a:r>
            <a:r>
              <a:rPr lang="en-US" altLang="en-US" sz="1150" dirty="0" err="1">
                <a:solidFill>
                  <a:srgbClr val="000000"/>
                </a:solidFill>
                <a:latin typeface="JetBrains Mono"/>
              </a:rPr>
              <a:t>idle_img</a:t>
            </a:r>
            <a:r>
              <a:rPr lang="en-US" altLang="en-US" sz="1150" dirty="0">
                <a:solidFill>
                  <a:srgbClr val="000000"/>
                </a:solidFill>
                <a:latin typeface="JetBrains Mono"/>
              </a:rPr>
              <a:t> = </a:t>
            </a:r>
            <a:r>
              <a:rPr lang="en-US" altLang="en-US" sz="1150" b="1" dirty="0">
                <a:solidFill>
                  <a:srgbClr val="008000"/>
                </a:solidFill>
                <a:latin typeface="JetBrains Mono"/>
              </a:rPr>
              <a:t>"btn_save_idle_sprite.png"</a:t>
            </a:r>
            <a:br>
              <a:rPr lang="en-US" altLang="en-US" sz="1150" b="1" dirty="0">
                <a:solidFill>
                  <a:srgbClr val="008000"/>
                </a:solidFill>
                <a:latin typeface="JetBrains Mono"/>
              </a:rPr>
            </a:br>
            <a:r>
              <a:rPr lang="en-US" altLang="en-US" sz="1150" b="1" dirty="0">
                <a:solidFill>
                  <a:srgbClr val="008000"/>
                </a:solidFill>
                <a:latin typeface="JetBrains Mono"/>
              </a:rPr>
              <a:t>    </a:t>
            </a:r>
            <a:r>
              <a:rPr lang="en-US" altLang="en-US" sz="1150" dirty="0" err="1">
                <a:solidFill>
                  <a:srgbClr val="000000"/>
                </a:solidFill>
                <a:latin typeface="JetBrains Mono"/>
              </a:rPr>
              <a:t>hover_img</a:t>
            </a:r>
            <a:r>
              <a:rPr lang="en-US" altLang="en-US" sz="1150" dirty="0">
                <a:solidFill>
                  <a:srgbClr val="000000"/>
                </a:solidFill>
                <a:latin typeface="JetBrains Mono"/>
              </a:rPr>
              <a:t> = </a:t>
            </a:r>
            <a:r>
              <a:rPr lang="en-US" altLang="en-US" sz="1150" b="1" dirty="0">
                <a:solidFill>
                  <a:srgbClr val="008000"/>
                </a:solidFill>
                <a:latin typeface="JetBrains Mono"/>
              </a:rPr>
              <a:t>"btn_save_hover_sprite.png"</a:t>
            </a:r>
            <a:br>
              <a:rPr lang="en-US" altLang="en-US" sz="1150" b="1" dirty="0">
                <a:solidFill>
                  <a:srgbClr val="008000"/>
                </a:solidFill>
                <a:latin typeface="JetBrains Mono"/>
              </a:rPr>
            </a:br>
            <a:r>
              <a:rPr lang="en-US" altLang="en-US" sz="1150" b="1" dirty="0">
                <a:solidFill>
                  <a:srgbClr val="008000"/>
                </a:solidFill>
                <a:latin typeface="JetBrains Mono"/>
              </a:rPr>
              <a:t>    </a:t>
            </a:r>
            <a:r>
              <a:rPr lang="en-US" altLang="en-US" sz="1150" dirty="0">
                <a:solidFill>
                  <a:srgbClr val="000000"/>
                </a:solidFill>
                <a:latin typeface="JetBrains Mono"/>
              </a:rPr>
              <a:t>pressed = </a:t>
            </a:r>
            <a:r>
              <a:rPr lang="en-US" altLang="en-US" sz="1150" b="1" dirty="0">
                <a:solidFill>
                  <a:srgbClr val="008000"/>
                </a:solidFill>
                <a:latin typeface="JetBrains Mono"/>
              </a:rPr>
              <a:t>"btn_save_pressed_sprite.png"</a:t>
            </a:r>
            <a:br>
              <a:rPr lang="en-US" altLang="en-US" sz="1150" b="1" dirty="0">
                <a:solidFill>
                  <a:srgbClr val="008000"/>
                </a:solidFill>
                <a:latin typeface="JetBrains Mono"/>
              </a:rPr>
            </a:br>
            <a:r>
              <a:rPr lang="en-US" altLang="en-US" sz="1150" b="1" dirty="0">
                <a:solidFill>
                  <a:srgbClr val="008000"/>
                </a:solidFill>
                <a:latin typeface="JetBrains Mono"/>
              </a:rPr>
              <a:t>    </a:t>
            </a:r>
            <a:r>
              <a:rPr lang="en-US" altLang="en-US" sz="1150" dirty="0">
                <a:solidFill>
                  <a:srgbClr val="000000"/>
                </a:solidFill>
                <a:latin typeface="JetBrains Mono"/>
              </a:rPr>
              <a:t>button = Button(</a:t>
            </a:r>
            <a:r>
              <a:rPr lang="en-US" altLang="en-US" sz="1150" dirty="0" err="1">
                <a:solidFill>
                  <a:srgbClr val="000000"/>
                </a:solidFill>
                <a:latin typeface="JetBrains Mono"/>
              </a:rPr>
              <a:t>idle_img</a:t>
            </a:r>
            <a:r>
              <a:rPr lang="en-US" altLang="en-US" sz="1150" dirty="0">
                <a:solidFill>
                  <a:srgbClr val="000000"/>
                </a:solidFill>
                <a:latin typeface="JetBrains Mono"/>
              </a:rPr>
              <a:t>, </a:t>
            </a:r>
            <a:r>
              <a:rPr lang="en-US" altLang="en-US" sz="1150" dirty="0" err="1">
                <a:solidFill>
                  <a:srgbClr val="000000"/>
                </a:solidFill>
                <a:latin typeface="JetBrains Mono"/>
              </a:rPr>
              <a:t>hover_img</a:t>
            </a:r>
            <a:r>
              <a:rPr lang="en-US" altLang="en-US" sz="1150" dirty="0">
                <a:solidFill>
                  <a:srgbClr val="000000"/>
                </a:solidFill>
                <a:latin typeface="JetBrains Mono"/>
              </a:rPr>
              <a:t>, pressed, </a:t>
            </a:r>
            <a:r>
              <a:rPr lang="en-US" altLang="en-US" sz="1150" dirty="0" err="1">
                <a:solidFill>
                  <a:srgbClr val="000000"/>
                </a:solidFill>
                <a:latin typeface="JetBrains Mono"/>
              </a:rPr>
              <a:t>on_button_press_callback</a:t>
            </a:r>
            <a:r>
              <a:rPr lang="en-US" altLang="en-US" sz="1150" dirty="0">
                <a:solidFill>
                  <a:srgbClr val="000000"/>
                </a:solidFill>
                <a:latin typeface="JetBrains Mono"/>
              </a:rPr>
              <a:t>)</a:t>
            </a:r>
            <a:br>
              <a:rPr lang="en-US" altLang="en-US" sz="1150" dirty="0">
                <a:solidFill>
                  <a:srgbClr val="000000"/>
                </a:solidFill>
                <a:latin typeface="JetBrains Mono"/>
              </a:rPr>
            </a:br>
            <a:r>
              <a:rPr lang="en-US" altLang="en-US" sz="1150" dirty="0">
                <a:solidFill>
                  <a:schemeClr val="bg1"/>
                </a:solidFill>
                <a:latin typeface="JetBrains Mono"/>
              </a:rPr>
              <a:t>    </a:t>
            </a:r>
            <a:r>
              <a:rPr lang="en-US" altLang="en-US" sz="1150" dirty="0" err="1">
                <a:solidFill>
                  <a:schemeClr val="bg1"/>
                </a:solidFill>
                <a:latin typeface="JetBrains Mono"/>
              </a:rPr>
              <a:t>button.render</a:t>
            </a:r>
            <a:r>
              <a:rPr lang="en-US" altLang="en-US" sz="1150" dirty="0">
                <a:solidFill>
                  <a:schemeClr val="bg1"/>
                </a:solidFill>
                <a:latin typeface="JetBrains Mono"/>
              </a:rPr>
              <a:t>()</a:t>
            </a:r>
            <a:br>
              <a:rPr lang="en-US" altLang="en-US" sz="1150" dirty="0">
                <a:solidFill>
                  <a:schemeClr val="bg1"/>
                </a:solidFill>
                <a:latin typeface="JetBrains Mono"/>
              </a:rPr>
            </a:br>
            <a:r>
              <a:rPr lang="en-US" altLang="en-US" sz="1150" dirty="0">
                <a:solidFill>
                  <a:schemeClr val="bg1"/>
                </a:solidFill>
                <a:latin typeface="JetBrains Mono"/>
              </a:rPr>
              <a:t>    </a:t>
            </a:r>
            <a:r>
              <a:rPr lang="en-US" altLang="en-US" sz="1150" dirty="0" err="1">
                <a:solidFill>
                  <a:schemeClr val="bg1"/>
                </a:solidFill>
                <a:latin typeface="JetBrains Mono"/>
              </a:rPr>
              <a:t>button.btn_state</a:t>
            </a:r>
            <a:r>
              <a:rPr lang="en-US" altLang="en-US" sz="1150" dirty="0">
                <a:solidFill>
                  <a:schemeClr val="bg1"/>
                </a:solidFill>
                <a:latin typeface="JetBrains Mono"/>
              </a:rPr>
              <a:t> = </a:t>
            </a:r>
            <a:r>
              <a:rPr lang="en-US" altLang="en-US" sz="1150" dirty="0" err="1">
                <a:solidFill>
                  <a:schemeClr val="bg1"/>
                </a:solidFill>
                <a:latin typeface="JetBrains Mono"/>
              </a:rPr>
              <a:t>ButtonEnum.PRESSED</a:t>
            </a:r>
            <a:br>
              <a:rPr lang="en-US" altLang="en-US" sz="1150" dirty="0">
                <a:solidFill>
                  <a:schemeClr val="bg1"/>
                </a:solidFill>
                <a:latin typeface="JetBrains Mono"/>
              </a:rPr>
            </a:br>
            <a:r>
              <a:rPr lang="en-US" altLang="en-US" sz="1150" dirty="0">
                <a:solidFill>
                  <a:schemeClr val="bg1"/>
                </a:solidFill>
                <a:latin typeface="JetBrains Mono"/>
              </a:rPr>
              <a:t>    </a:t>
            </a:r>
            <a:r>
              <a:rPr lang="en-US" altLang="en-US" sz="1150" dirty="0" err="1">
                <a:solidFill>
                  <a:schemeClr val="bg1"/>
                </a:solidFill>
                <a:latin typeface="JetBrains Mono"/>
              </a:rPr>
              <a:t>button.render</a:t>
            </a:r>
            <a:r>
              <a:rPr lang="en-US" altLang="en-US" sz="1150" dirty="0">
                <a:solidFill>
                  <a:schemeClr val="bg1"/>
                </a:solidFill>
                <a:latin typeface="JetBrains Mono"/>
              </a:rPr>
              <a:t>()</a:t>
            </a:r>
            <a:endParaRPr lang="en-US" altLang="en-US" sz="1150" dirty="0">
              <a:latin typeface="Arial" panose="020B0604020202020204" pitchFamily="34" charset="0"/>
            </a:endParaRPr>
          </a:p>
        </p:txBody>
      </p:sp>
    </p:spTree>
    <p:extLst>
      <p:ext uri="{BB962C8B-B14F-4D97-AF65-F5344CB8AC3E}">
        <p14:creationId xmlns:p14="http://schemas.microsoft.com/office/powerpoint/2010/main" val="3495482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703044" y="1923813"/>
            <a:ext cx="4990432" cy="3867387"/>
          </a:xfrm>
          <a:prstGeom prst="rect">
            <a:avLst/>
          </a:prstGeom>
        </p:spPr>
      </p:pic>
      <p:sp>
        <p:nvSpPr>
          <p:cNvPr id="2" name="Title 1">
            <a:extLst>
              <a:ext uri="{FF2B5EF4-FFF2-40B4-BE49-F238E27FC236}">
                <a16:creationId xmlns:a16="http://schemas.microsoft.com/office/drawing/2014/main" id="{D335734B-109F-4833-884F-341E42D46D1A}"/>
              </a:ext>
            </a:extLst>
          </p:cNvPr>
          <p:cNvSpPr>
            <a:spLocks noGrp="1"/>
          </p:cNvSpPr>
          <p:nvPr>
            <p:ph type="title"/>
          </p:nvPr>
        </p:nvSpPr>
        <p:spPr/>
        <p:txBody>
          <a:bodyPr/>
          <a:lstStyle/>
          <a:p>
            <a:r>
              <a:rPr lang="en-CA" dirty="0"/>
              <a:t>State Pattern</a:t>
            </a:r>
          </a:p>
        </p:txBody>
      </p:sp>
      <p:sp>
        <p:nvSpPr>
          <p:cNvPr id="3" name="Content Placeholder 2">
            <a:extLst>
              <a:ext uri="{FF2B5EF4-FFF2-40B4-BE49-F238E27FC236}">
                <a16:creationId xmlns:a16="http://schemas.microsoft.com/office/drawing/2014/main" id="{2BA8875B-2882-4A04-AC23-1821F440C33E}"/>
              </a:ext>
            </a:extLst>
          </p:cNvPr>
          <p:cNvSpPr>
            <a:spLocks noGrp="1"/>
          </p:cNvSpPr>
          <p:nvPr>
            <p:ph idx="1"/>
          </p:nvPr>
        </p:nvSpPr>
        <p:spPr>
          <a:xfrm>
            <a:off x="885892" y="1845826"/>
            <a:ext cx="5530586" cy="4023360"/>
          </a:xfrm>
        </p:spPr>
        <p:txBody>
          <a:bodyPr/>
          <a:lstStyle/>
          <a:p>
            <a:r>
              <a:rPr lang="en-CA" dirty="0"/>
              <a:t>We separate the </a:t>
            </a:r>
            <a:r>
              <a:rPr lang="en-CA" dirty="0">
                <a:solidFill>
                  <a:srgbClr val="0070C0"/>
                </a:solidFill>
              </a:rPr>
              <a:t>State</a:t>
            </a:r>
            <a:r>
              <a:rPr lang="en-CA" dirty="0"/>
              <a:t> out into its own hierarchy.</a:t>
            </a:r>
          </a:p>
          <a:p>
            <a:r>
              <a:rPr lang="en-CA" dirty="0"/>
              <a:t>The </a:t>
            </a:r>
            <a:r>
              <a:rPr lang="en-CA" dirty="0">
                <a:solidFill>
                  <a:srgbClr val="C00000"/>
                </a:solidFill>
              </a:rPr>
              <a:t>Button</a:t>
            </a:r>
            <a:r>
              <a:rPr lang="en-CA" dirty="0"/>
              <a:t> should be dependent on a </a:t>
            </a:r>
            <a:r>
              <a:rPr lang="en-CA" dirty="0">
                <a:solidFill>
                  <a:srgbClr val="0070C0"/>
                </a:solidFill>
              </a:rPr>
              <a:t>State</a:t>
            </a:r>
            <a:r>
              <a:rPr lang="en-CA" dirty="0"/>
              <a:t> interface, not the concrete states (Idle, Hover, Pressed, Disabled). </a:t>
            </a:r>
          </a:p>
          <a:p>
            <a:r>
              <a:rPr lang="en-CA" dirty="0"/>
              <a:t>Now we can add and remove states easily.</a:t>
            </a:r>
          </a:p>
          <a:p>
            <a:r>
              <a:rPr lang="en-CA" dirty="0"/>
              <a:t>The State Interface consists of all the state-defined behaviours in the Button class. This allows the Button class to communicate with it.</a:t>
            </a:r>
          </a:p>
          <a:p>
            <a:r>
              <a:rPr lang="en-CA" dirty="0"/>
              <a:t>(In a way the Button wraps around its state)</a:t>
            </a:r>
          </a:p>
          <a:p>
            <a:r>
              <a:rPr lang="en-CA" b="1" dirty="0">
                <a:solidFill>
                  <a:schemeClr val="accent2"/>
                </a:solidFill>
              </a:rPr>
              <a:t>Optionally</a:t>
            </a:r>
            <a:r>
              <a:rPr lang="en-CA" dirty="0"/>
              <a:t>, the state can keep a reference to the Button.</a:t>
            </a:r>
          </a:p>
        </p:txBody>
      </p:sp>
      <p:sp>
        <p:nvSpPr>
          <p:cNvPr id="4" name="Slide Number Placeholder 3">
            <a:extLst>
              <a:ext uri="{FF2B5EF4-FFF2-40B4-BE49-F238E27FC236}">
                <a16:creationId xmlns:a16="http://schemas.microsoft.com/office/drawing/2014/main" id="{36766964-867E-4DCC-86AA-0D125A4FE86E}"/>
              </a:ext>
            </a:extLst>
          </p:cNvPr>
          <p:cNvSpPr>
            <a:spLocks noGrp="1"/>
          </p:cNvSpPr>
          <p:nvPr>
            <p:ph type="sldNum" sz="quarter" idx="12"/>
          </p:nvPr>
        </p:nvSpPr>
        <p:spPr/>
        <p:txBody>
          <a:bodyPr/>
          <a:lstStyle/>
          <a:p>
            <a:fld id="{629637A9-119A-49DA-BD12-AAC58B377D80}" type="slidenum">
              <a:rPr lang="en-US" smtClean="0"/>
              <a:t>7</a:t>
            </a:fld>
            <a:endParaRPr lang="en-US" dirty="0"/>
          </a:p>
        </p:txBody>
      </p:sp>
      <p:sp>
        <p:nvSpPr>
          <p:cNvPr id="8" name="Rectangle 7"/>
          <p:cNvSpPr/>
          <p:nvPr/>
        </p:nvSpPr>
        <p:spPr>
          <a:xfrm>
            <a:off x="9781309" y="1958108"/>
            <a:ext cx="1911927" cy="1403927"/>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p:cNvSpPr/>
          <p:nvPr/>
        </p:nvSpPr>
        <p:spPr>
          <a:xfrm>
            <a:off x="10039928" y="3888509"/>
            <a:ext cx="1366982" cy="1542473"/>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p:cNvSpPr/>
          <p:nvPr/>
        </p:nvSpPr>
        <p:spPr>
          <a:xfrm>
            <a:off x="6746240" y="1958107"/>
            <a:ext cx="2185325" cy="1847275"/>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p:cNvSpPr/>
          <p:nvPr/>
        </p:nvSpPr>
        <p:spPr>
          <a:xfrm>
            <a:off x="7469664" y="4080099"/>
            <a:ext cx="1693092" cy="323165"/>
          </a:xfrm>
          <a:prstGeom prst="rect">
            <a:avLst/>
          </a:prstGeom>
          <a:solidFill>
            <a:schemeClr val="bg1">
              <a:lumMod val="95000"/>
            </a:schemeClr>
          </a:solidFill>
          <a:ln w="19050">
            <a:solidFill>
              <a:schemeClr val="bg1">
                <a:lumMod val="75000"/>
              </a:schemeClr>
            </a:solidFill>
            <a:prstDash val="solid"/>
          </a:ln>
        </p:spPr>
        <p:txBody>
          <a:bodyPr wrap="none">
            <a:spAutoFit/>
          </a:bodyPr>
          <a:lstStyle/>
          <a:p>
            <a:r>
              <a:rPr lang="en-US" altLang="en-US" sz="1500" dirty="0" err="1">
                <a:solidFill>
                  <a:srgbClr val="94558D"/>
                </a:solidFill>
                <a:latin typeface="JetBrains Mono"/>
              </a:rPr>
              <a:t>self</a:t>
            </a:r>
            <a:r>
              <a:rPr lang="en-US" altLang="en-US" sz="1500" dirty="0" err="1">
                <a:solidFill>
                  <a:srgbClr val="000000"/>
                </a:solidFill>
                <a:latin typeface="JetBrains Mono"/>
              </a:rPr>
              <a:t>.state.render</a:t>
            </a:r>
            <a:r>
              <a:rPr lang="en-US" altLang="en-US" sz="1500" dirty="0">
                <a:solidFill>
                  <a:srgbClr val="000000"/>
                </a:solidFill>
                <a:latin typeface="JetBrains Mono"/>
              </a:rPr>
              <a:t>()</a:t>
            </a:r>
            <a:endParaRPr lang="en-CA" sz="1500" dirty="0"/>
          </a:p>
        </p:txBody>
      </p:sp>
      <p:sp>
        <p:nvSpPr>
          <p:cNvPr id="12" name="Rectangle 11"/>
          <p:cNvSpPr/>
          <p:nvPr/>
        </p:nvSpPr>
        <p:spPr>
          <a:xfrm>
            <a:off x="8021319" y="5906093"/>
            <a:ext cx="3191164" cy="323165"/>
          </a:xfrm>
          <a:prstGeom prst="rect">
            <a:avLst/>
          </a:prstGeom>
          <a:solidFill>
            <a:schemeClr val="bg1">
              <a:lumMod val="95000"/>
            </a:schemeClr>
          </a:solidFill>
          <a:ln w="19050">
            <a:solidFill>
              <a:schemeClr val="bg1">
                <a:lumMod val="75000"/>
              </a:schemeClr>
            </a:solidFill>
            <a:prstDash val="solid"/>
          </a:ln>
        </p:spPr>
        <p:txBody>
          <a:bodyPr wrap="square">
            <a:spAutoFit/>
          </a:bodyPr>
          <a:lstStyle/>
          <a:p>
            <a:r>
              <a:rPr lang="en-US" altLang="en-US" sz="1500" dirty="0">
                <a:solidFill>
                  <a:srgbClr val="000080"/>
                </a:solidFill>
                <a:latin typeface="JetBrains Mono"/>
              </a:rPr>
              <a:t>print</a:t>
            </a:r>
            <a:r>
              <a:rPr lang="en-US" altLang="en-US" sz="1500" dirty="0">
                <a:solidFill>
                  <a:srgbClr val="000000"/>
                </a:solidFill>
                <a:latin typeface="JetBrains Mono"/>
              </a:rPr>
              <a:t>(</a:t>
            </a:r>
            <a:r>
              <a:rPr lang="en-US" altLang="en-US" sz="1500" b="1" dirty="0" err="1">
                <a:solidFill>
                  <a:srgbClr val="008000"/>
                </a:solidFill>
                <a:latin typeface="JetBrains Mono"/>
              </a:rPr>
              <a:t>f"Displaying</a:t>
            </a:r>
            <a:r>
              <a:rPr lang="en-US" altLang="en-US" sz="1500" b="1" dirty="0">
                <a:solidFill>
                  <a:srgbClr val="008000"/>
                </a:solidFill>
                <a:latin typeface="JetBrains Mono"/>
              </a:rPr>
              <a:t> </a:t>
            </a:r>
            <a:r>
              <a:rPr lang="en-US" altLang="en-US" sz="1500" b="1" dirty="0">
                <a:solidFill>
                  <a:srgbClr val="000080"/>
                </a:solidFill>
                <a:latin typeface="JetBrains Mono"/>
              </a:rPr>
              <a:t>{</a:t>
            </a:r>
            <a:r>
              <a:rPr lang="en-US" altLang="en-US" sz="1500" dirty="0" err="1">
                <a:solidFill>
                  <a:srgbClr val="94558D"/>
                </a:solidFill>
                <a:latin typeface="JetBrains Mono"/>
              </a:rPr>
              <a:t>self</a:t>
            </a:r>
            <a:r>
              <a:rPr lang="en-US" altLang="en-US" sz="1500" dirty="0" err="1">
                <a:solidFill>
                  <a:srgbClr val="000000"/>
                </a:solidFill>
                <a:latin typeface="JetBrains Mono"/>
              </a:rPr>
              <a:t>.idle_img</a:t>
            </a:r>
            <a:r>
              <a:rPr lang="en-US" altLang="en-US" sz="1500" b="1" dirty="0">
                <a:solidFill>
                  <a:srgbClr val="000080"/>
                </a:solidFill>
                <a:latin typeface="JetBrains Mono"/>
              </a:rPr>
              <a:t>}</a:t>
            </a:r>
            <a:r>
              <a:rPr lang="en-US" altLang="en-US" sz="1500" b="1" dirty="0">
                <a:solidFill>
                  <a:srgbClr val="008000"/>
                </a:solidFill>
                <a:latin typeface="JetBrains Mono"/>
              </a:rPr>
              <a:t>"</a:t>
            </a:r>
            <a:r>
              <a:rPr lang="en-US" altLang="en-US" sz="1500" dirty="0">
                <a:solidFill>
                  <a:srgbClr val="000000"/>
                </a:solidFill>
                <a:latin typeface="JetBrains Mono"/>
              </a:rPr>
              <a:t>)</a:t>
            </a:r>
            <a:endParaRPr lang="en-CA" sz="1500" dirty="0"/>
          </a:p>
        </p:txBody>
      </p:sp>
      <p:cxnSp>
        <p:nvCxnSpPr>
          <p:cNvPr id="18" name="Elbow Connector 17"/>
          <p:cNvCxnSpPr>
            <a:endCxn id="11" idx="0"/>
          </p:cNvCxnSpPr>
          <p:nvPr/>
        </p:nvCxnSpPr>
        <p:spPr>
          <a:xfrm rot="16200000" flipH="1">
            <a:off x="7675942" y="3439830"/>
            <a:ext cx="718065" cy="562471"/>
          </a:xfrm>
          <a:prstGeom prst="bentConnector3">
            <a:avLst>
              <a:gd name="adj1" fmla="val 623"/>
            </a:avLst>
          </a:prstGeom>
          <a:ln w="19050">
            <a:solidFill>
              <a:schemeClr val="bg1">
                <a:lumMod val="7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rot="5400000">
            <a:off x="9358862" y="5225027"/>
            <a:ext cx="923546" cy="438586"/>
          </a:xfrm>
          <a:prstGeom prst="bentConnector3">
            <a:avLst>
              <a:gd name="adj1" fmla="val -515"/>
            </a:avLst>
          </a:prstGeom>
          <a:ln w="19050">
            <a:solidFill>
              <a:schemeClr val="bg1">
                <a:lumMod val="75000"/>
              </a:schemeClr>
            </a:solidFill>
            <a:prstDash val="sysDas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117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5D127-C8E4-442A-9192-C9A25D8976EF}"/>
              </a:ext>
            </a:extLst>
          </p:cNvPr>
          <p:cNvSpPr>
            <a:spLocks noGrp="1"/>
          </p:cNvSpPr>
          <p:nvPr>
            <p:ph type="title"/>
          </p:nvPr>
        </p:nvSpPr>
        <p:spPr/>
        <p:txBody>
          <a:bodyPr/>
          <a:lstStyle/>
          <a:p>
            <a:r>
              <a:rPr lang="en-CA" dirty="0"/>
              <a:t>The generalized pattern</a:t>
            </a:r>
          </a:p>
        </p:txBody>
      </p:sp>
      <p:sp>
        <p:nvSpPr>
          <p:cNvPr id="3" name="Content Placeholder 2">
            <a:extLst>
              <a:ext uri="{FF2B5EF4-FFF2-40B4-BE49-F238E27FC236}">
                <a16:creationId xmlns:a16="http://schemas.microsoft.com/office/drawing/2014/main" id="{D56010E7-4E23-49E1-A42F-AA58BA1D8DDB}"/>
              </a:ext>
            </a:extLst>
          </p:cNvPr>
          <p:cNvSpPr>
            <a:spLocks noGrp="1"/>
          </p:cNvSpPr>
          <p:nvPr>
            <p:ph idx="1"/>
          </p:nvPr>
        </p:nvSpPr>
        <p:spPr>
          <a:xfrm>
            <a:off x="1097280" y="1845734"/>
            <a:ext cx="4998720" cy="4023360"/>
          </a:xfrm>
        </p:spPr>
        <p:txBody>
          <a:bodyPr/>
          <a:lstStyle/>
          <a:p>
            <a:r>
              <a:rPr lang="en-CA" dirty="0"/>
              <a:t>The object that has multiple </a:t>
            </a:r>
            <a:r>
              <a:rPr lang="en-CA" dirty="0">
                <a:solidFill>
                  <a:srgbClr val="0070C0"/>
                </a:solidFill>
              </a:rPr>
              <a:t>States</a:t>
            </a:r>
            <a:r>
              <a:rPr lang="en-CA" dirty="0"/>
              <a:t> is called the </a:t>
            </a:r>
            <a:r>
              <a:rPr lang="en-CA" b="1" dirty="0">
                <a:solidFill>
                  <a:schemeClr val="accent2"/>
                </a:solidFill>
              </a:rPr>
              <a:t>Context</a:t>
            </a:r>
          </a:p>
          <a:p>
            <a:r>
              <a:rPr lang="en-CA" dirty="0"/>
              <a:t>The context has a method to change its state.</a:t>
            </a:r>
          </a:p>
          <a:p>
            <a:r>
              <a:rPr lang="en-CA" dirty="0"/>
              <a:t>The context delegates part or all of its behaviour to the State.</a:t>
            </a:r>
          </a:p>
          <a:p>
            <a:r>
              <a:rPr lang="en-CA" dirty="0"/>
              <a:t>The concrete state may or may not have access to the context. If the state is responsible for changing the state of the context then this may be required.</a:t>
            </a:r>
          </a:p>
          <a:p>
            <a:r>
              <a:rPr lang="en-CA" dirty="0"/>
              <a:t>The client instantiates the new state and assigns it to the context.</a:t>
            </a:r>
          </a:p>
        </p:txBody>
      </p:sp>
      <p:sp>
        <p:nvSpPr>
          <p:cNvPr id="4" name="Slide Number Placeholder 3">
            <a:extLst>
              <a:ext uri="{FF2B5EF4-FFF2-40B4-BE49-F238E27FC236}">
                <a16:creationId xmlns:a16="http://schemas.microsoft.com/office/drawing/2014/main" id="{1E5B222D-299A-4839-A2DF-9355672ED222}"/>
              </a:ext>
            </a:extLst>
          </p:cNvPr>
          <p:cNvSpPr>
            <a:spLocks noGrp="1"/>
          </p:cNvSpPr>
          <p:nvPr>
            <p:ph type="sldNum" sz="quarter" idx="12"/>
          </p:nvPr>
        </p:nvSpPr>
        <p:spPr/>
        <p:txBody>
          <a:bodyPr/>
          <a:lstStyle/>
          <a:p>
            <a:fld id="{629637A9-119A-49DA-BD12-AAC58B377D80}" type="slidenum">
              <a:rPr lang="en-US" smtClean="0"/>
              <a:t>8</a:t>
            </a:fld>
            <a:endParaRPr lang="en-US" dirty="0"/>
          </a:p>
        </p:txBody>
      </p:sp>
      <p:grpSp>
        <p:nvGrpSpPr>
          <p:cNvPr id="6" name="Group 5"/>
          <p:cNvGrpSpPr/>
          <p:nvPr/>
        </p:nvGrpSpPr>
        <p:grpSpPr>
          <a:xfrm>
            <a:off x="6096000" y="1584722"/>
            <a:ext cx="5868693" cy="4455860"/>
            <a:chOff x="6517551" y="1904789"/>
            <a:chExt cx="5143500" cy="3905250"/>
          </a:xfrm>
        </p:grpSpPr>
        <p:pic>
          <p:nvPicPr>
            <p:cNvPr id="18434" name="Picture 2" descr="Structure of the State design pattern">
              <a:extLst>
                <a:ext uri="{FF2B5EF4-FFF2-40B4-BE49-F238E27FC236}">
                  <a16:creationId xmlns:a16="http://schemas.microsoft.com/office/drawing/2014/main" id="{C4124BC7-1076-4CA5-BBE1-1CF980056F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7551" y="1904789"/>
              <a:ext cx="5143500" cy="39052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380515" y="2004291"/>
              <a:ext cx="1514104" cy="1431636"/>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6"/>
            <p:cNvSpPr/>
            <p:nvPr/>
          </p:nvSpPr>
          <p:spPr>
            <a:xfrm>
              <a:off x="10128443" y="2004290"/>
              <a:ext cx="946994" cy="958885"/>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p:cNvSpPr/>
            <p:nvPr/>
          </p:nvSpPr>
          <p:spPr>
            <a:xfrm>
              <a:off x="9654946" y="3331316"/>
              <a:ext cx="1803046" cy="1333990"/>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Tree>
    <p:extLst>
      <p:ext uri="{BB962C8B-B14F-4D97-AF65-F5344CB8AC3E}">
        <p14:creationId xmlns:p14="http://schemas.microsoft.com/office/powerpoint/2010/main" val="84416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4849590" y="2174031"/>
            <a:ext cx="7342410" cy="2977162"/>
          </a:xfrm>
          <a:prstGeom prst="rect">
            <a:avLst/>
          </a:prstGeom>
        </p:spPr>
      </p:pic>
      <p:sp>
        <p:nvSpPr>
          <p:cNvPr id="2" name="Title 1">
            <a:extLst>
              <a:ext uri="{FF2B5EF4-FFF2-40B4-BE49-F238E27FC236}">
                <a16:creationId xmlns:a16="http://schemas.microsoft.com/office/drawing/2014/main" id="{73A6CB5A-6134-415F-802F-3C34F7652767}"/>
              </a:ext>
            </a:extLst>
          </p:cNvPr>
          <p:cNvSpPr>
            <a:spLocks noGrp="1"/>
          </p:cNvSpPr>
          <p:nvPr>
            <p:ph type="title"/>
          </p:nvPr>
        </p:nvSpPr>
        <p:spPr/>
        <p:txBody>
          <a:bodyPr/>
          <a:lstStyle/>
          <a:p>
            <a:r>
              <a:rPr lang="en-CA" dirty="0"/>
              <a:t>State example</a:t>
            </a:r>
          </a:p>
        </p:txBody>
      </p:sp>
      <p:sp>
        <p:nvSpPr>
          <p:cNvPr id="3" name="Content Placeholder 2">
            <a:extLst>
              <a:ext uri="{FF2B5EF4-FFF2-40B4-BE49-F238E27FC236}">
                <a16:creationId xmlns:a16="http://schemas.microsoft.com/office/drawing/2014/main" id="{D8F1391F-9D22-4704-972B-79E5EE93BB09}"/>
              </a:ext>
            </a:extLst>
          </p:cNvPr>
          <p:cNvSpPr>
            <a:spLocks noGrp="1"/>
          </p:cNvSpPr>
          <p:nvPr>
            <p:ph idx="1"/>
          </p:nvPr>
        </p:nvSpPr>
        <p:spPr>
          <a:xfrm>
            <a:off x="1097280" y="2013685"/>
            <a:ext cx="4342467" cy="4023360"/>
          </a:xfrm>
        </p:spPr>
        <p:txBody>
          <a:bodyPr>
            <a:normAutofit/>
          </a:bodyPr>
          <a:lstStyle/>
          <a:p>
            <a:r>
              <a:rPr lang="en-CA" dirty="0"/>
              <a:t>We are working on a game where there are multiple game states controlled by a finite state machine (FSM)</a:t>
            </a:r>
          </a:p>
          <a:p>
            <a:r>
              <a:rPr lang="en-CA" dirty="0"/>
              <a:t>Depending on user input, the FSM can change to one of the following states:</a:t>
            </a:r>
          </a:p>
          <a:p>
            <a:pPr lvl="1">
              <a:buFont typeface="Wingdings" panose="05000000000000000000" pitchFamily="2" charset="2"/>
              <a:buChar char="§"/>
            </a:pPr>
            <a:r>
              <a:rPr lang="en-CA" dirty="0">
                <a:solidFill>
                  <a:srgbClr val="D34817"/>
                </a:solidFill>
              </a:rPr>
              <a:t>Main Menu</a:t>
            </a:r>
          </a:p>
          <a:p>
            <a:pPr lvl="1">
              <a:buFont typeface="Wingdings" panose="05000000000000000000" pitchFamily="2" charset="2"/>
              <a:buChar char="§"/>
            </a:pPr>
            <a:r>
              <a:rPr lang="en-CA" dirty="0">
                <a:solidFill>
                  <a:srgbClr val="00B0F0"/>
                </a:solidFill>
              </a:rPr>
              <a:t>Gameplay</a:t>
            </a:r>
          </a:p>
          <a:p>
            <a:pPr lvl="1">
              <a:buFont typeface="Wingdings" panose="05000000000000000000" pitchFamily="2" charset="2"/>
              <a:buChar char="§"/>
            </a:pPr>
            <a:r>
              <a:rPr lang="en-CA" dirty="0">
                <a:solidFill>
                  <a:srgbClr val="00B050"/>
                </a:solidFill>
              </a:rPr>
              <a:t>Game Over</a:t>
            </a:r>
          </a:p>
          <a:p>
            <a:pPr>
              <a:buFont typeface="Wingdings" panose="05000000000000000000" pitchFamily="2" charset="2"/>
              <a:buChar char="§"/>
            </a:pPr>
            <a:r>
              <a:rPr lang="en-CA" dirty="0"/>
              <a:t> The FSM’s representation of the game changes based on its state. The game starts off in the Main Menu state</a:t>
            </a:r>
          </a:p>
        </p:txBody>
      </p:sp>
      <p:sp>
        <p:nvSpPr>
          <p:cNvPr id="4" name="Slide Number Placeholder 3">
            <a:extLst>
              <a:ext uri="{FF2B5EF4-FFF2-40B4-BE49-F238E27FC236}">
                <a16:creationId xmlns:a16="http://schemas.microsoft.com/office/drawing/2014/main" id="{8F5312EA-C987-44D0-92D7-A63276AB3159}"/>
              </a:ext>
            </a:extLst>
          </p:cNvPr>
          <p:cNvSpPr>
            <a:spLocks noGrp="1"/>
          </p:cNvSpPr>
          <p:nvPr>
            <p:ph type="sldNum" sz="quarter" idx="12"/>
          </p:nvPr>
        </p:nvSpPr>
        <p:spPr/>
        <p:txBody>
          <a:bodyPr/>
          <a:lstStyle/>
          <a:p>
            <a:fld id="{629637A9-119A-49DA-BD12-AAC58B377D80}" type="slidenum">
              <a:rPr lang="en-US" smtClean="0"/>
              <a:t>9</a:t>
            </a:fld>
            <a:endParaRPr lang="en-US" dirty="0"/>
          </a:p>
        </p:txBody>
      </p:sp>
    </p:spTree>
    <p:extLst>
      <p:ext uri="{BB962C8B-B14F-4D97-AF65-F5344CB8AC3E}">
        <p14:creationId xmlns:p14="http://schemas.microsoft.com/office/powerpoint/2010/main" val="392043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p:cNvPicPr>
            <a:picLocks noChangeAspect="1"/>
          </p:cNvPicPr>
          <p:nvPr/>
        </p:nvPicPr>
        <p:blipFill>
          <a:blip r:embed="rId2"/>
          <a:stretch>
            <a:fillRect/>
          </a:stretch>
        </p:blipFill>
        <p:spPr>
          <a:xfrm>
            <a:off x="4849590" y="2174031"/>
            <a:ext cx="7342410" cy="2977162"/>
          </a:xfrm>
          <a:prstGeom prst="rect">
            <a:avLst/>
          </a:prstGeom>
        </p:spPr>
      </p:pic>
      <p:sp>
        <p:nvSpPr>
          <p:cNvPr id="2" name="Title 1">
            <a:extLst>
              <a:ext uri="{FF2B5EF4-FFF2-40B4-BE49-F238E27FC236}">
                <a16:creationId xmlns:a16="http://schemas.microsoft.com/office/drawing/2014/main" id="{73A6CB5A-6134-415F-802F-3C34F7652767}"/>
              </a:ext>
            </a:extLst>
          </p:cNvPr>
          <p:cNvSpPr>
            <a:spLocks noGrp="1"/>
          </p:cNvSpPr>
          <p:nvPr>
            <p:ph type="title"/>
          </p:nvPr>
        </p:nvSpPr>
        <p:spPr/>
        <p:txBody>
          <a:bodyPr/>
          <a:lstStyle/>
          <a:p>
            <a:r>
              <a:rPr lang="en-CA" dirty="0"/>
              <a:t>State example</a:t>
            </a:r>
          </a:p>
        </p:txBody>
      </p:sp>
      <p:sp>
        <p:nvSpPr>
          <p:cNvPr id="3" name="Content Placeholder 2">
            <a:extLst>
              <a:ext uri="{FF2B5EF4-FFF2-40B4-BE49-F238E27FC236}">
                <a16:creationId xmlns:a16="http://schemas.microsoft.com/office/drawing/2014/main" id="{D8F1391F-9D22-4704-972B-79E5EE93BB09}"/>
              </a:ext>
            </a:extLst>
          </p:cNvPr>
          <p:cNvSpPr>
            <a:spLocks noGrp="1"/>
          </p:cNvSpPr>
          <p:nvPr>
            <p:ph idx="1"/>
          </p:nvPr>
        </p:nvSpPr>
        <p:spPr>
          <a:xfrm>
            <a:off x="1097280" y="1845734"/>
            <a:ext cx="5229629" cy="4023360"/>
          </a:xfrm>
        </p:spPr>
        <p:txBody>
          <a:bodyPr>
            <a:normAutofit fontScale="92500" lnSpcReduction="20000"/>
          </a:bodyPr>
          <a:lstStyle/>
          <a:p>
            <a:pPr>
              <a:buFont typeface="Wingdings" panose="05000000000000000000" pitchFamily="2" charset="2"/>
              <a:buChar char="§"/>
            </a:pPr>
            <a:r>
              <a:rPr lang="en-CA" dirty="0"/>
              <a:t> Different game events and transitions can occur depending on the state the game is in</a:t>
            </a:r>
          </a:p>
          <a:p>
            <a:pPr>
              <a:buFont typeface="Wingdings" panose="05000000000000000000" pitchFamily="2" charset="2"/>
              <a:buChar char="§"/>
            </a:pPr>
            <a:r>
              <a:rPr lang="en-CA" dirty="0"/>
              <a:t> </a:t>
            </a:r>
            <a:r>
              <a:rPr lang="en-CA" dirty="0">
                <a:solidFill>
                  <a:srgbClr val="C00000"/>
                </a:solidFill>
              </a:rPr>
              <a:t>Main Menu </a:t>
            </a:r>
            <a:r>
              <a:rPr lang="en-CA" dirty="0"/>
              <a:t>state</a:t>
            </a:r>
          </a:p>
          <a:p>
            <a:pPr lvl="1">
              <a:buFont typeface="Wingdings" panose="05000000000000000000" pitchFamily="2" charset="2"/>
              <a:buChar char="§"/>
            </a:pPr>
            <a:r>
              <a:rPr lang="en-CA" dirty="0"/>
              <a:t>Transition to gameplay state</a:t>
            </a:r>
          </a:p>
          <a:p>
            <a:pPr lvl="1">
              <a:buFont typeface="Wingdings" panose="05000000000000000000" pitchFamily="2" charset="2"/>
              <a:buChar char="§"/>
            </a:pPr>
            <a:r>
              <a:rPr lang="en-CA" dirty="0"/>
              <a:t>Exit program</a:t>
            </a:r>
          </a:p>
          <a:p>
            <a:pPr>
              <a:buFont typeface="Wingdings" panose="05000000000000000000" pitchFamily="2" charset="2"/>
              <a:buChar char="§"/>
            </a:pPr>
            <a:r>
              <a:rPr lang="en-CA" dirty="0"/>
              <a:t> </a:t>
            </a:r>
            <a:r>
              <a:rPr lang="en-CA" dirty="0">
                <a:solidFill>
                  <a:srgbClr val="00B0F0"/>
                </a:solidFill>
              </a:rPr>
              <a:t>Gameplay</a:t>
            </a:r>
            <a:r>
              <a:rPr lang="en-CA" dirty="0"/>
              <a:t> state</a:t>
            </a:r>
          </a:p>
          <a:p>
            <a:pPr lvl="1">
              <a:buFont typeface="Wingdings" panose="05000000000000000000" pitchFamily="2" charset="2"/>
              <a:buChar char="§"/>
            </a:pPr>
            <a:r>
              <a:rPr lang="en-CA" dirty="0"/>
              <a:t>Keep playing the game</a:t>
            </a:r>
          </a:p>
          <a:p>
            <a:pPr lvl="1">
              <a:buFont typeface="Wingdings" panose="05000000000000000000" pitchFamily="2" charset="2"/>
              <a:buChar char="§"/>
            </a:pPr>
            <a:r>
              <a:rPr lang="en-CA" dirty="0"/>
              <a:t>Character dies, go to the Game Over state</a:t>
            </a:r>
          </a:p>
          <a:p>
            <a:pPr>
              <a:buFont typeface="Wingdings" panose="05000000000000000000" pitchFamily="2" charset="2"/>
              <a:buChar char="§"/>
            </a:pPr>
            <a:r>
              <a:rPr lang="en-CA" dirty="0">
                <a:solidFill>
                  <a:srgbClr val="00B050"/>
                </a:solidFill>
              </a:rPr>
              <a:t> Game Over </a:t>
            </a:r>
            <a:r>
              <a:rPr lang="en-CA" dirty="0"/>
              <a:t>state</a:t>
            </a:r>
          </a:p>
          <a:p>
            <a:pPr lvl="1">
              <a:buFont typeface="Wingdings" panose="05000000000000000000" pitchFamily="2" charset="2"/>
              <a:buChar char="§"/>
            </a:pPr>
            <a:r>
              <a:rPr lang="en-CA" dirty="0"/>
              <a:t>Return to main menu state</a:t>
            </a:r>
          </a:p>
          <a:p>
            <a:pPr lvl="1">
              <a:buFont typeface="Wingdings" panose="05000000000000000000" pitchFamily="2" charset="2"/>
              <a:buChar char="§"/>
            </a:pPr>
            <a:r>
              <a:rPr lang="en-CA" dirty="0"/>
              <a:t>Exit program</a:t>
            </a:r>
          </a:p>
          <a:p>
            <a:pPr marL="0" indent="0">
              <a:buNone/>
            </a:pPr>
            <a:r>
              <a:rPr lang="en-CA" dirty="0"/>
              <a:t>Draw a UML diagram depicting how you would use the state pattern to solve this.</a:t>
            </a:r>
          </a:p>
        </p:txBody>
      </p:sp>
      <p:sp>
        <p:nvSpPr>
          <p:cNvPr id="4" name="Slide Number Placeholder 3">
            <a:extLst>
              <a:ext uri="{FF2B5EF4-FFF2-40B4-BE49-F238E27FC236}">
                <a16:creationId xmlns:a16="http://schemas.microsoft.com/office/drawing/2014/main" id="{8F5312EA-C987-44D0-92D7-A63276AB3159}"/>
              </a:ext>
            </a:extLst>
          </p:cNvPr>
          <p:cNvSpPr>
            <a:spLocks noGrp="1"/>
          </p:cNvSpPr>
          <p:nvPr>
            <p:ph type="sldNum" sz="quarter" idx="12"/>
          </p:nvPr>
        </p:nvSpPr>
        <p:spPr/>
        <p:txBody>
          <a:bodyPr/>
          <a:lstStyle/>
          <a:p>
            <a:fld id="{629637A9-119A-49DA-BD12-AAC58B377D80}" type="slidenum">
              <a:rPr lang="en-US" smtClean="0"/>
              <a:t>10</a:t>
            </a:fld>
            <a:endParaRPr lang="en-US" dirty="0"/>
          </a:p>
        </p:txBody>
      </p:sp>
    </p:spTree>
    <p:extLst>
      <p:ext uri="{BB962C8B-B14F-4D97-AF65-F5344CB8AC3E}">
        <p14:creationId xmlns:p14="http://schemas.microsoft.com/office/powerpoint/2010/main" val="1871249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State transition diagram</a:t>
            </a:r>
          </a:p>
        </p:txBody>
      </p:sp>
      <p:sp>
        <p:nvSpPr>
          <p:cNvPr id="4" name="Slide Number Placeholder 3"/>
          <p:cNvSpPr>
            <a:spLocks noGrp="1"/>
          </p:cNvSpPr>
          <p:nvPr>
            <p:ph type="sldNum" sz="quarter" idx="12"/>
          </p:nvPr>
        </p:nvSpPr>
        <p:spPr/>
        <p:txBody>
          <a:bodyPr/>
          <a:lstStyle/>
          <a:p>
            <a:fld id="{629637A9-119A-49DA-BD12-AAC58B377D80}" type="slidenum">
              <a:rPr lang="en-US" smtClean="0"/>
              <a:t>11</a:t>
            </a:fld>
            <a:endParaRPr lang="en-US" dirty="0"/>
          </a:p>
        </p:txBody>
      </p:sp>
      <p:grpSp>
        <p:nvGrpSpPr>
          <p:cNvPr id="9" name="Group 8"/>
          <p:cNvGrpSpPr/>
          <p:nvPr/>
        </p:nvGrpSpPr>
        <p:grpSpPr>
          <a:xfrm>
            <a:off x="1097280" y="1749429"/>
            <a:ext cx="11016076" cy="4510160"/>
            <a:chOff x="1097280" y="1744459"/>
            <a:chExt cx="11016076" cy="4510160"/>
          </a:xfrm>
        </p:grpSpPr>
        <p:sp>
          <p:nvSpPr>
            <p:cNvPr id="5" name="Oval 4"/>
            <p:cNvSpPr/>
            <p:nvPr/>
          </p:nvSpPr>
          <p:spPr>
            <a:xfrm>
              <a:off x="3264835" y="1744459"/>
              <a:ext cx="1987421" cy="1987421"/>
            </a:xfrm>
            <a:prstGeom prst="ellipse">
              <a:avLst/>
            </a:prstGeom>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Main Menu</a:t>
              </a:r>
            </a:p>
          </p:txBody>
        </p:sp>
        <p:sp>
          <p:nvSpPr>
            <p:cNvPr id="6" name="Oval 5"/>
            <p:cNvSpPr/>
            <p:nvPr/>
          </p:nvSpPr>
          <p:spPr>
            <a:xfrm>
              <a:off x="7717094" y="1744459"/>
              <a:ext cx="1987421" cy="1987421"/>
            </a:xfrm>
            <a:prstGeom prst="ellipse">
              <a:avLst/>
            </a:prstGeom>
            <a:solidFill>
              <a:srgbClr val="00B0F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Gameplay</a:t>
              </a:r>
            </a:p>
          </p:txBody>
        </p:sp>
        <p:sp>
          <p:nvSpPr>
            <p:cNvPr id="7" name="Oval 6"/>
            <p:cNvSpPr/>
            <p:nvPr/>
          </p:nvSpPr>
          <p:spPr>
            <a:xfrm>
              <a:off x="7717094" y="4261020"/>
              <a:ext cx="1987421" cy="1987421"/>
            </a:xfrm>
            <a:prstGeom prst="ellipse">
              <a:avLst/>
            </a:prstGeom>
            <a:solidFill>
              <a:srgbClr val="00B050"/>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Game Over</a:t>
              </a:r>
            </a:p>
          </p:txBody>
        </p:sp>
        <p:cxnSp>
          <p:nvCxnSpPr>
            <p:cNvPr id="8" name="Straight Arrow Connector 7"/>
            <p:cNvCxnSpPr>
              <a:stCxn id="5" idx="6"/>
              <a:endCxn id="6" idx="2"/>
            </p:cNvCxnSpPr>
            <p:nvPr/>
          </p:nvCxnSpPr>
          <p:spPr>
            <a:xfrm>
              <a:off x="5252256" y="2738170"/>
              <a:ext cx="246483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3264835" y="4267198"/>
              <a:ext cx="1987421" cy="1987421"/>
            </a:xfrm>
            <a:prstGeom prst="ellipse">
              <a:avLst/>
            </a:prstGeom>
            <a:solidFill>
              <a:srgbClr val="9933FF"/>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Terminate program</a:t>
              </a:r>
            </a:p>
          </p:txBody>
        </p:sp>
        <p:cxnSp>
          <p:nvCxnSpPr>
            <p:cNvPr id="18" name="Straight Arrow Connector 17"/>
            <p:cNvCxnSpPr/>
            <p:nvPr/>
          </p:nvCxnSpPr>
          <p:spPr>
            <a:xfrm>
              <a:off x="1097280" y="2784750"/>
              <a:ext cx="2167555" cy="0"/>
            </a:xfrm>
            <a:prstGeom prst="straightConnector1">
              <a:avLst/>
            </a:prstGeom>
            <a:ln w="381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864912" y="2415418"/>
              <a:ext cx="632289" cy="369332"/>
            </a:xfrm>
            <a:prstGeom prst="rect">
              <a:avLst/>
            </a:prstGeom>
            <a:noFill/>
          </p:spPr>
          <p:txBody>
            <a:bodyPr wrap="none" rtlCol="0">
              <a:spAutoFit/>
            </a:bodyPr>
            <a:lstStyle/>
            <a:p>
              <a:r>
                <a:rPr lang="en-CA" dirty="0"/>
                <a:t>Start</a:t>
              </a:r>
            </a:p>
          </p:txBody>
        </p:sp>
        <p:sp>
          <p:nvSpPr>
            <p:cNvPr id="20" name="TextBox 19"/>
            <p:cNvSpPr txBox="1"/>
            <p:nvPr/>
          </p:nvSpPr>
          <p:spPr>
            <a:xfrm>
              <a:off x="5664771" y="2330286"/>
              <a:ext cx="1566904" cy="369332"/>
            </a:xfrm>
            <a:prstGeom prst="rect">
              <a:avLst/>
            </a:prstGeom>
            <a:noFill/>
          </p:spPr>
          <p:txBody>
            <a:bodyPr wrap="none" rtlCol="0">
              <a:spAutoFit/>
            </a:bodyPr>
            <a:lstStyle/>
            <a:p>
              <a:r>
                <a:rPr lang="en-CA" dirty="0"/>
                <a:t>start gameplay</a:t>
              </a:r>
            </a:p>
          </p:txBody>
        </p:sp>
        <p:cxnSp>
          <p:nvCxnSpPr>
            <p:cNvPr id="21" name="Straight Arrow Connector 20"/>
            <p:cNvCxnSpPr/>
            <p:nvPr/>
          </p:nvCxnSpPr>
          <p:spPr>
            <a:xfrm>
              <a:off x="9704515" y="2514952"/>
              <a:ext cx="648147" cy="0"/>
            </a:xfrm>
            <a:prstGeom prst="straightConnector1">
              <a:avLst/>
            </a:prstGeom>
            <a:ln w="3810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9704515" y="2996273"/>
              <a:ext cx="648147" cy="5834"/>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10343331" y="2514952"/>
              <a:ext cx="0" cy="481321"/>
            </a:xfrm>
            <a:prstGeom prst="straightConnector1">
              <a:avLst/>
            </a:prstGeom>
            <a:ln w="38100">
              <a:solidFill>
                <a:srgbClr val="00B0F0"/>
              </a:solidFill>
              <a:tailEnd type="non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0354861" y="2553503"/>
              <a:ext cx="1758495" cy="369332"/>
            </a:xfrm>
            <a:prstGeom prst="rect">
              <a:avLst/>
            </a:prstGeom>
            <a:noFill/>
          </p:spPr>
          <p:txBody>
            <a:bodyPr wrap="none" rtlCol="0">
              <a:spAutoFit/>
            </a:bodyPr>
            <a:lstStyle/>
            <a:p>
              <a:r>
                <a:rPr lang="en-CA" dirty="0"/>
                <a:t>Player stays alive</a:t>
              </a:r>
            </a:p>
          </p:txBody>
        </p:sp>
        <p:sp>
          <p:nvSpPr>
            <p:cNvPr id="25" name="TextBox 24"/>
            <p:cNvSpPr txBox="1"/>
            <p:nvPr/>
          </p:nvSpPr>
          <p:spPr>
            <a:xfrm>
              <a:off x="8708209" y="3759317"/>
              <a:ext cx="1192249" cy="369332"/>
            </a:xfrm>
            <a:prstGeom prst="rect">
              <a:avLst/>
            </a:prstGeom>
            <a:noFill/>
          </p:spPr>
          <p:txBody>
            <a:bodyPr wrap="none" rtlCol="0">
              <a:spAutoFit/>
            </a:bodyPr>
            <a:lstStyle/>
            <a:p>
              <a:r>
                <a:rPr lang="en-CA" dirty="0"/>
                <a:t>Player dies</a:t>
              </a:r>
            </a:p>
          </p:txBody>
        </p:sp>
        <p:cxnSp>
          <p:nvCxnSpPr>
            <p:cNvPr id="26" name="Straight Arrow Connector 25"/>
            <p:cNvCxnSpPr>
              <a:stCxn id="6" idx="4"/>
              <a:endCxn id="7" idx="0"/>
            </p:cNvCxnSpPr>
            <p:nvPr/>
          </p:nvCxnSpPr>
          <p:spPr>
            <a:xfrm>
              <a:off x="8710805" y="3731880"/>
              <a:ext cx="0" cy="5291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7" idx="2"/>
              <a:endCxn id="11" idx="6"/>
            </p:cNvCxnSpPr>
            <p:nvPr/>
          </p:nvCxnSpPr>
          <p:spPr>
            <a:xfrm flipH="1">
              <a:off x="5252256" y="5254731"/>
              <a:ext cx="2464838" cy="61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26480" y="4885398"/>
              <a:ext cx="526106" cy="369332"/>
            </a:xfrm>
            <a:prstGeom prst="rect">
              <a:avLst/>
            </a:prstGeom>
            <a:noFill/>
          </p:spPr>
          <p:txBody>
            <a:bodyPr wrap="none" rtlCol="0">
              <a:spAutoFit/>
            </a:bodyPr>
            <a:lstStyle/>
            <a:p>
              <a:r>
                <a:rPr lang="en-CA" dirty="0"/>
                <a:t>Exit</a:t>
              </a:r>
            </a:p>
          </p:txBody>
        </p:sp>
        <p:sp>
          <p:nvSpPr>
            <p:cNvPr id="35" name="TextBox 34"/>
            <p:cNvSpPr txBox="1"/>
            <p:nvPr/>
          </p:nvSpPr>
          <p:spPr>
            <a:xfrm>
              <a:off x="3731142" y="3811784"/>
              <a:ext cx="526106" cy="369332"/>
            </a:xfrm>
            <a:prstGeom prst="rect">
              <a:avLst/>
            </a:prstGeom>
            <a:noFill/>
          </p:spPr>
          <p:txBody>
            <a:bodyPr wrap="none" rtlCol="0">
              <a:spAutoFit/>
            </a:bodyPr>
            <a:lstStyle/>
            <a:p>
              <a:r>
                <a:rPr lang="en-CA" dirty="0"/>
                <a:t>Exit</a:t>
              </a:r>
            </a:p>
          </p:txBody>
        </p:sp>
        <p:cxnSp>
          <p:nvCxnSpPr>
            <p:cNvPr id="36" name="Straight Arrow Connector 35"/>
            <p:cNvCxnSpPr>
              <a:stCxn id="5" idx="4"/>
              <a:endCxn id="11" idx="0"/>
            </p:cNvCxnSpPr>
            <p:nvPr/>
          </p:nvCxnSpPr>
          <p:spPr>
            <a:xfrm>
              <a:off x="4258546" y="3731880"/>
              <a:ext cx="0" cy="5353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7" idx="1"/>
              <a:endCxn id="5" idx="5"/>
            </p:cNvCxnSpPr>
            <p:nvPr/>
          </p:nvCxnSpPr>
          <p:spPr>
            <a:xfrm flipH="1" flipV="1">
              <a:off x="4961205" y="3440829"/>
              <a:ext cx="3046940" cy="11112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rot="1190234">
              <a:off x="6223493" y="3677392"/>
              <a:ext cx="850105" cy="369332"/>
            </a:xfrm>
            <a:prstGeom prst="rect">
              <a:avLst/>
            </a:prstGeom>
            <a:noFill/>
          </p:spPr>
          <p:txBody>
            <a:bodyPr wrap="none" rtlCol="0">
              <a:spAutoFit/>
            </a:bodyPr>
            <a:lstStyle/>
            <a:p>
              <a:r>
                <a:rPr lang="en-CA" dirty="0"/>
                <a:t>Restart</a:t>
              </a:r>
            </a:p>
          </p:txBody>
        </p:sp>
      </p:grpSp>
    </p:spTree>
    <p:extLst>
      <p:ext uri="{BB962C8B-B14F-4D97-AF65-F5344CB8AC3E}">
        <p14:creationId xmlns:p14="http://schemas.microsoft.com/office/powerpoint/2010/main" val="332643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CB5A-6134-415F-802F-3C34F7652767}"/>
              </a:ext>
            </a:extLst>
          </p:cNvPr>
          <p:cNvSpPr>
            <a:spLocks noGrp="1"/>
          </p:cNvSpPr>
          <p:nvPr>
            <p:ph type="title"/>
          </p:nvPr>
        </p:nvSpPr>
        <p:spPr/>
        <p:txBody>
          <a:bodyPr/>
          <a:lstStyle/>
          <a:p>
            <a:r>
              <a:rPr lang="en-CA" dirty="0"/>
              <a:t>State example</a:t>
            </a:r>
          </a:p>
        </p:txBody>
      </p:sp>
      <p:sp>
        <p:nvSpPr>
          <p:cNvPr id="3" name="Content Placeholder 2">
            <a:extLst>
              <a:ext uri="{FF2B5EF4-FFF2-40B4-BE49-F238E27FC236}">
                <a16:creationId xmlns:a16="http://schemas.microsoft.com/office/drawing/2014/main" id="{D8F1391F-9D22-4704-972B-79E5EE93BB09}"/>
              </a:ext>
            </a:extLst>
          </p:cNvPr>
          <p:cNvSpPr>
            <a:spLocks noGrp="1"/>
          </p:cNvSpPr>
          <p:nvPr>
            <p:ph idx="1"/>
          </p:nvPr>
        </p:nvSpPr>
        <p:spPr>
          <a:xfrm>
            <a:off x="1097280" y="1845734"/>
            <a:ext cx="4942413" cy="4023360"/>
          </a:xfrm>
        </p:spPr>
        <p:txBody>
          <a:bodyPr>
            <a:normAutofit/>
          </a:bodyPr>
          <a:lstStyle/>
          <a:p>
            <a:r>
              <a:rPr lang="en-CA" dirty="0"/>
              <a:t>Let’s examine what happens in each state:</a:t>
            </a:r>
          </a:p>
          <a:p>
            <a:r>
              <a:rPr lang="en-CA" dirty="0"/>
              <a:t>Game states generally contain </a:t>
            </a:r>
            <a:r>
              <a:rPr lang="en-CA" b="1" dirty="0">
                <a:solidFill>
                  <a:srgbClr val="FF0000"/>
                </a:solidFill>
              </a:rPr>
              <a:t>Begin</a:t>
            </a:r>
            <a:r>
              <a:rPr lang="en-CA" dirty="0"/>
              <a:t>, </a:t>
            </a:r>
            <a:r>
              <a:rPr lang="en-CA" b="1" dirty="0">
                <a:solidFill>
                  <a:srgbClr val="FFC000"/>
                </a:solidFill>
              </a:rPr>
              <a:t>Update</a:t>
            </a:r>
            <a:r>
              <a:rPr lang="en-CA" dirty="0"/>
              <a:t>, and </a:t>
            </a:r>
            <a:r>
              <a:rPr lang="en-CA" b="1" dirty="0">
                <a:solidFill>
                  <a:srgbClr val="007434"/>
                </a:solidFill>
              </a:rPr>
              <a:t>End</a:t>
            </a:r>
            <a:r>
              <a:rPr lang="en-CA" dirty="0"/>
              <a:t> methods</a:t>
            </a:r>
          </a:p>
          <a:p>
            <a:r>
              <a:rPr lang="en-CA" b="1" dirty="0">
                <a:solidFill>
                  <a:srgbClr val="FF0000"/>
                </a:solidFill>
              </a:rPr>
              <a:t>Begin</a:t>
            </a:r>
            <a:r>
              <a:rPr lang="en-CA" dirty="0"/>
              <a:t> method – initialization executed once when entering the state</a:t>
            </a:r>
          </a:p>
          <a:p>
            <a:r>
              <a:rPr lang="en-CA" b="1" dirty="0">
                <a:solidFill>
                  <a:srgbClr val="FFC000"/>
                </a:solidFill>
              </a:rPr>
              <a:t>Update</a:t>
            </a:r>
            <a:r>
              <a:rPr lang="en-CA" dirty="0"/>
              <a:t> method – code executed every frame</a:t>
            </a:r>
          </a:p>
          <a:p>
            <a:r>
              <a:rPr lang="en-CA" b="1" dirty="0">
                <a:solidFill>
                  <a:srgbClr val="007434"/>
                </a:solidFill>
              </a:rPr>
              <a:t>End</a:t>
            </a:r>
            <a:r>
              <a:rPr lang="en-CA" dirty="0"/>
              <a:t> method – clean up executed once when exiting the state</a:t>
            </a:r>
          </a:p>
          <a:p>
            <a:r>
              <a:rPr lang="en-CA" dirty="0"/>
              <a:t>Each type of state (Main Menu, Gameplay, Game Over) has different code in each of the methods</a:t>
            </a:r>
          </a:p>
        </p:txBody>
      </p:sp>
      <p:sp>
        <p:nvSpPr>
          <p:cNvPr id="4" name="Slide Number Placeholder 3">
            <a:extLst>
              <a:ext uri="{FF2B5EF4-FFF2-40B4-BE49-F238E27FC236}">
                <a16:creationId xmlns:a16="http://schemas.microsoft.com/office/drawing/2014/main" id="{8F5312EA-C987-44D0-92D7-A63276AB3159}"/>
              </a:ext>
            </a:extLst>
          </p:cNvPr>
          <p:cNvSpPr>
            <a:spLocks noGrp="1"/>
          </p:cNvSpPr>
          <p:nvPr>
            <p:ph type="sldNum" sz="quarter" idx="12"/>
          </p:nvPr>
        </p:nvSpPr>
        <p:spPr/>
        <p:txBody>
          <a:bodyPr/>
          <a:lstStyle/>
          <a:p>
            <a:fld id="{629637A9-119A-49DA-BD12-AAC58B377D80}" type="slidenum">
              <a:rPr lang="en-US" smtClean="0"/>
              <a:t>12</a:t>
            </a:fld>
            <a:endParaRPr lang="en-US" dirty="0"/>
          </a:p>
        </p:txBody>
      </p:sp>
      <p:cxnSp>
        <p:nvCxnSpPr>
          <p:cNvPr id="10" name="Straight Arrow Connector 9"/>
          <p:cNvCxnSpPr>
            <a:endCxn id="7" idx="1"/>
          </p:cNvCxnSpPr>
          <p:nvPr/>
        </p:nvCxnSpPr>
        <p:spPr>
          <a:xfrm>
            <a:off x="6326495" y="3820618"/>
            <a:ext cx="23523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8" idx="1"/>
          </p:cNvCxnSpPr>
          <p:nvPr/>
        </p:nvCxnSpPr>
        <p:spPr>
          <a:xfrm>
            <a:off x="6326495" y="5071843"/>
            <a:ext cx="23523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326495" y="2804744"/>
            <a:ext cx="235239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326495" y="2404321"/>
            <a:ext cx="2433871" cy="369332"/>
          </a:xfrm>
          <a:prstGeom prst="rect">
            <a:avLst/>
          </a:prstGeom>
          <a:noFill/>
        </p:spPr>
        <p:txBody>
          <a:bodyPr wrap="none" rtlCol="0">
            <a:spAutoFit/>
          </a:bodyPr>
          <a:lstStyle/>
          <a:p>
            <a:r>
              <a:rPr lang="en-CA" dirty="0"/>
              <a:t>FSM calls state to begin </a:t>
            </a:r>
          </a:p>
        </p:txBody>
      </p:sp>
      <p:sp>
        <p:nvSpPr>
          <p:cNvPr id="40" name="TextBox 39"/>
          <p:cNvSpPr txBox="1"/>
          <p:nvPr/>
        </p:nvSpPr>
        <p:spPr>
          <a:xfrm>
            <a:off x="6236534" y="3420648"/>
            <a:ext cx="2523832" cy="369332"/>
          </a:xfrm>
          <a:prstGeom prst="rect">
            <a:avLst/>
          </a:prstGeom>
          <a:noFill/>
        </p:spPr>
        <p:txBody>
          <a:bodyPr wrap="none" rtlCol="0">
            <a:spAutoFit/>
          </a:bodyPr>
          <a:lstStyle/>
          <a:p>
            <a:r>
              <a:rPr lang="en-CA" dirty="0"/>
              <a:t>FSM calls state to update</a:t>
            </a:r>
          </a:p>
        </p:txBody>
      </p:sp>
      <p:sp>
        <p:nvSpPr>
          <p:cNvPr id="41" name="TextBox 40"/>
          <p:cNvSpPr txBox="1"/>
          <p:nvPr/>
        </p:nvSpPr>
        <p:spPr>
          <a:xfrm>
            <a:off x="6388915" y="4671872"/>
            <a:ext cx="2219069" cy="369332"/>
          </a:xfrm>
          <a:prstGeom prst="rect">
            <a:avLst/>
          </a:prstGeom>
          <a:noFill/>
        </p:spPr>
        <p:txBody>
          <a:bodyPr wrap="none" rtlCol="0">
            <a:spAutoFit/>
          </a:bodyPr>
          <a:lstStyle/>
          <a:p>
            <a:r>
              <a:rPr lang="en-CA" dirty="0"/>
              <a:t>FSM calls state to end</a:t>
            </a:r>
          </a:p>
        </p:txBody>
      </p:sp>
      <p:grpSp>
        <p:nvGrpSpPr>
          <p:cNvPr id="16" name="Group 15"/>
          <p:cNvGrpSpPr/>
          <p:nvPr/>
        </p:nvGrpSpPr>
        <p:grpSpPr>
          <a:xfrm>
            <a:off x="6949856" y="1095736"/>
            <a:ext cx="5121451" cy="5121451"/>
            <a:chOff x="6949856" y="1095736"/>
            <a:chExt cx="5121451" cy="5121451"/>
          </a:xfrm>
        </p:grpSpPr>
        <p:sp>
          <p:nvSpPr>
            <p:cNvPr id="17" name="Oval 16"/>
            <p:cNvSpPr/>
            <p:nvPr/>
          </p:nvSpPr>
          <p:spPr>
            <a:xfrm>
              <a:off x="6949856" y="1095736"/>
              <a:ext cx="5121451" cy="5121451"/>
            </a:xfrm>
            <a:prstGeom prst="ellipse">
              <a:avLst/>
            </a:prstGeom>
            <a:solidFill>
              <a:srgbClr val="00B0F0">
                <a:alpha val="20000"/>
              </a:srgbClr>
            </a:solid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Rectangle 5"/>
            <p:cNvSpPr/>
            <p:nvPr/>
          </p:nvSpPr>
          <p:spPr>
            <a:xfrm>
              <a:off x="8678892" y="2098711"/>
              <a:ext cx="1764146" cy="101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Begin</a:t>
              </a:r>
            </a:p>
          </p:txBody>
        </p:sp>
        <p:sp>
          <p:nvSpPr>
            <p:cNvPr id="7" name="Rectangle 6"/>
            <p:cNvSpPr/>
            <p:nvPr/>
          </p:nvSpPr>
          <p:spPr>
            <a:xfrm>
              <a:off x="8678892" y="3312618"/>
              <a:ext cx="1764146" cy="1016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Update</a:t>
              </a:r>
            </a:p>
          </p:txBody>
        </p:sp>
        <p:sp>
          <p:nvSpPr>
            <p:cNvPr id="8" name="Rectangle 7"/>
            <p:cNvSpPr/>
            <p:nvPr/>
          </p:nvSpPr>
          <p:spPr>
            <a:xfrm>
              <a:off x="8678892" y="4563843"/>
              <a:ext cx="1764146" cy="1016000"/>
            </a:xfrm>
            <a:prstGeom prst="rect">
              <a:avLst/>
            </a:prstGeom>
            <a:solidFill>
              <a:srgbClr val="0074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End</a:t>
              </a:r>
            </a:p>
          </p:txBody>
        </p:sp>
        <p:cxnSp>
          <p:nvCxnSpPr>
            <p:cNvPr id="12" name="Straight Arrow Connector 11"/>
            <p:cNvCxnSpPr/>
            <p:nvPr/>
          </p:nvCxnSpPr>
          <p:spPr>
            <a:xfrm>
              <a:off x="10443038" y="3579460"/>
              <a:ext cx="648147" cy="0"/>
            </a:xfrm>
            <a:prstGeom prst="straightConnector1">
              <a:avLst/>
            </a:prstGeom>
            <a:ln w="3810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10443038" y="4060781"/>
              <a:ext cx="648147" cy="583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11081854" y="3579460"/>
              <a:ext cx="0" cy="481321"/>
            </a:xfrm>
            <a:prstGeom prst="straightConnector1">
              <a:avLst/>
            </a:prstGeom>
            <a:ln w="38100">
              <a:solidFill>
                <a:srgbClr val="FFC000"/>
              </a:solidFill>
              <a:tailEnd type="non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690331" y="1314801"/>
              <a:ext cx="1640500" cy="630942"/>
            </a:xfrm>
            <a:prstGeom prst="rect">
              <a:avLst/>
            </a:prstGeom>
          </p:spPr>
          <p:txBody>
            <a:bodyPr wrap="square">
              <a:spAutoFit/>
            </a:bodyPr>
            <a:lstStyle/>
            <a:p>
              <a:pPr algn="ctr"/>
              <a:r>
                <a:rPr lang="en-CA" sz="3500" b="1" dirty="0">
                  <a:solidFill>
                    <a:srgbClr val="0070C0"/>
                  </a:solidFill>
                </a:rPr>
                <a:t>State</a:t>
              </a:r>
            </a:p>
          </p:txBody>
        </p:sp>
      </p:grpSp>
    </p:spTree>
    <p:extLst>
      <p:ext uri="{BB962C8B-B14F-4D97-AF65-F5344CB8AC3E}">
        <p14:creationId xmlns:p14="http://schemas.microsoft.com/office/powerpoint/2010/main" val="514367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5795039" y="104509"/>
            <a:ext cx="6174433" cy="2503577"/>
          </a:xfrm>
          <a:prstGeom prst="rect">
            <a:avLst/>
          </a:prstGeom>
        </p:spPr>
      </p:pic>
      <p:sp>
        <p:nvSpPr>
          <p:cNvPr id="2" name="Title 1">
            <a:extLst>
              <a:ext uri="{FF2B5EF4-FFF2-40B4-BE49-F238E27FC236}">
                <a16:creationId xmlns:a16="http://schemas.microsoft.com/office/drawing/2014/main" id="{73A6CB5A-6134-415F-802F-3C34F7652767}"/>
              </a:ext>
            </a:extLst>
          </p:cNvPr>
          <p:cNvSpPr>
            <a:spLocks noGrp="1"/>
          </p:cNvSpPr>
          <p:nvPr>
            <p:ph type="title"/>
          </p:nvPr>
        </p:nvSpPr>
        <p:spPr/>
        <p:txBody>
          <a:bodyPr/>
          <a:lstStyle/>
          <a:p>
            <a:r>
              <a:rPr lang="en-CA" dirty="0"/>
              <a:t>State example</a:t>
            </a:r>
          </a:p>
        </p:txBody>
      </p:sp>
      <p:sp>
        <p:nvSpPr>
          <p:cNvPr id="3" name="Content Placeholder 2">
            <a:extLst>
              <a:ext uri="{FF2B5EF4-FFF2-40B4-BE49-F238E27FC236}">
                <a16:creationId xmlns:a16="http://schemas.microsoft.com/office/drawing/2014/main" id="{D8F1391F-9D22-4704-972B-79E5EE93BB09}"/>
              </a:ext>
            </a:extLst>
          </p:cNvPr>
          <p:cNvSpPr>
            <a:spLocks noGrp="1"/>
          </p:cNvSpPr>
          <p:nvPr>
            <p:ph idx="1"/>
          </p:nvPr>
        </p:nvSpPr>
        <p:spPr>
          <a:xfrm>
            <a:off x="597160" y="1845734"/>
            <a:ext cx="5122506" cy="4023360"/>
          </a:xfrm>
        </p:spPr>
        <p:txBody>
          <a:bodyPr>
            <a:normAutofit/>
          </a:bodyPr>
          <a:lstStyle/>
          <a:p>
            <a:r>
              <a:rPr lang="en-CA" dirty="0"/>
              <a:t>1. Let’s start with modelling the </a:t>
            </a:r>
            <a:r>
              <a:rPr lang="en-CA" b="1" dirty="0"/>
              <a:t>FSM</a:t>
            </a:r>
            <a:r>
              <a:rPr lang="en-CA" dirty="0"/>
              <a:t>. </a:t>
            </a:r>
          </a:p>
          <a:p>
            <a:pPr lvl="1"/>
            <a:r>
              <a:rPr lang="en-CA" dirty="0"/>
              <a:t>This is the </a:t>
            </a:r>
            <a:r>
              <a:rPr lang="en-CA" b="1" dirty="0">
                <a:solidFill>
                  <a:srgbClr val="C00000"/>
                </a:solidFill>
              </a:rPr>
              <a:t>context</a:t>
            </a:r>
            <a:r>
              <a:rPr lang="en-CA" dirty="0"/>
              <a:t> that will keep changing states  </a:t>
            </a:r>
          </a:p>
          <a:p>
            <a:r>
              <a:rPr lang="en-CA" dirty="0"/>
              <a:t>Properties</a:t>
            </a:r>
          </a:p>
          <a:p>
            <a:pPr lvl="1"/>
            <a:r>
              <a:rPr lang="en-CA" b="1" dirty="0"/>
              <a:t>state</a:t>
            </a:r>
          </a:p>
          <a:p>
            <a:pPr lvl="1"/>
            <a:r>
              <a:rPr lang="en-CA" dirty="0"/>
              <a:t>running</a:t>
            </a:r>
          </a:p>
          <a:p>
            <a:r>
              <a:rPr lang="en-CA" dirty="0"/>
              <a:t>Methods</a:t>
            </a:r>
          </a:p>
          <a:p>
            <a:pPr lvl="1"/>
            <a:r>
              <a:rPr lang="en-CA" dirty="0" err="1"/>
              <a:t>init</a:t>
            </a:r>
            <a:r>
              <a:rPr lang="en-CA" dirty="0"/>
              <a:t>()</a:t>
            </a:r>
          </a:p>
          <a:p>
            <a:pPr lvl="1"/>
            <a:r>
              <a:rPr lang="en-CA" b="1" dirty="0" err="1"/>
              <a:t>change_state</a:t>
            </a:r>
            <a:r>
              <a:rPr lang="en-CA" b="1" dirty="0"/>
              <a:t>(state)</a:t>
            </a:r>
          </a:p>
          <a:p>
            <a:pPr lvl="1"/>
            <a:r>
              <a:rPr lang="en-CA" b="1" dirty="0"/>
              <a:t>update()</a:t>
            </a:r>
          </a:p>
          <a:p>
            <a:pPr lvl="1"/>
            <a:r>
              <a:rPr lang="en-CA" dirty="0" err="1"/>
              <a:t>is_running</a:t>
            </a:r>
            <a:r>
              <a:rPr lang="en-CA" dirty="0"/>
              <a:t>() -&gt; Bool</a:t>
            </a:r>
          </a:p>
          <a:p>
            <a:pPr lvl="1"/>
            <a:r>
              <a:rPr lang="en-CA" dirty="0" err="1"/>
              <a:t>set_running</a:t>
            </a:r>
            <a:r>
              <a:rPr lang="en-CA" dirty="0"/>
              <a:t>(running)</a:t>
            </a:r>
          </a:p>
        </p:txBody>
      </p:sp>
      <p:sp>
        <p:nvSpPr>
          <p:cNvPr id="4" name="Slide Number Placeholder 3">
            <a:extLst>
              <a:ext uri="{FF2B5EF4-FFF2-40B4-BE49-F238E27FC236}">
                <a16:creationId xmlns:a16="http://schemas.microsoft.com/office/drawing/2014/main" id="{8F5312EA-C987-44D0-92D7-A63276AB3159}"/>
              </a:ext>
            </a:extLst>
          </p:cNvPr>
          <p:cNvSpPr>
            <a:spLocks noGrp="1"/>
          </p:cNvSpPr>
          <p:nvPr>
            <p:ph type="sldNum" sz="quarter" idx="12"/>
          </p:nvPr>
        </p:nvSpPr>
        <p:spPr/>
        <p:txBody>
          <a:bodyPr/>
          <a:lstStyle/>
          <a:p>
            <a:fld id="{629637A9-119A-49DA-BD12-AAC58B377D80}" type="slidenum">
              <a:rPr lang="en-US" smtClean="0"/>
              <a:t>13</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5271" y="2604068"/>
            <a:ext cx="2200080" cy="3675909"/>
          </a:xfrm>
          <a:prstGeom prst="rect">
            <a:avLst/>
          </a:prstGeom>
          <a:ln w="63500">
            <a:solidFill>
              <a:srgbClr val="C00000"/>
            </a:solidFill>
            <a:prstDash val="dash"/>
          </a:ln>
        </p:spPr>
      </p:pic>
      <p:sp>
        <p:nvSpPr>
          <p:cNvPr id="6" name="Rectangle 5"/>
          <p:cNvSpPr/>
          <p:nvPr/>
        </p:nvSpPr>
        <p:spPr>
          <a:xfrm>
            <a:off x="597159" y="6005461"/>
            <a:ext cx="3549305" cy="323165"/>
          </a:xfrm>
          <a:prstGeom prst="rect">
            <a:avLst/>
          </a:prstGeom>
        </p:spPr>
        <p:txBody>
          <a:bodyPr wrap="none">
            <a:spAutoFit/>
          </a:bodyPr>
          <a:lstStyle/>
          <a:p>
            <a:r>
              <a:rPr lang="en-CA" sz="1500" b="1" dirty="0">
                <a:solidFill>
                  <a:schemeClr val="tx1">
                    <a:lumMod val="75000"/>
                    <a:lumOff val="25000"/>
                  </a:schemeClr>
                </a:solidFill>
              </a:rPr>
              <a:t>*BOLD </a:t>
            </a:r>
            <a:r>
              <a:rPr lang="en-CA" sz="1500" dirty="0">
                <a:solidFill>
                  <a:schemeClr val="tx1">
                    <a:lumMod val="75000"/>
                    <a:lumOff val="25000"/>
                  </a:schemeClr>
                </a:solidFill>
              </a:rPr>
              <a:t>items are pattern specific attributes</a:t>
            </a:r>
          </a:p>
        </p:txBody>
      </p:sp>
      <p:sp>
        <p:nvSpPr>
          <p:cNvPr id="8" name="Oval 7"/>
          <p:cNvSpPr/>
          <p:nvPr/>
        </p:nvSpPr>
        <p:spPr>
          <a:xfrm>
            <a:off x="6947960" y="36944"/>
            <a:ext cx="1253765" cy="1253765"/>
          </a:xfrm>
          <a:prstGeom prst="ellipse">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p:cNvSpPr/>
          <p:nvPr/>
        </p:nvSpPr>
        <p:spPr>
          <a:xfrm>
            <a:off x="9421772" y="21210"/>
            <a:ext cx="1253765" cy="1253765"/>
          </a:xfrm>
          <a:prstGeom prst="ellipse">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p:cNvSpPr/>
          <p:nvPr/>
        </p:nvSpPr>
        <p:spPr>
          <a:xfrm>
            <a:off x="9421772" y="1421886"/>
            <a:ext cx="1253765" cy="1253765"/>
          </a:xfrm>
          <a:prstGeom prst="ellipse">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4697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3.95833E-6 7.40741E-7 L 0.20222 -0.00255 " pathEditMode="relative" rAng="0" ptsTypes="AA">
                                      <p:cBhvr>
                                        <p:cTn id="10" dur="2000" fill="hold"/>
                                        <p:tgtEl>
                                          <p:spTgt spid="8"/>
                                        </p:tgtEl>
                                        <p:attrNameLst>
                                          <p:attrName>ppt_x</p:attrName>
                                          <p:attrName>ppt_y</p:attrName>
                                        </p:attrNameLst>
                                      </p:cBhvr>
                                      <p:rCtr x="10104" y="-139"/>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2"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1" nodeType="clickEffect">
                                  <p:stCondLst>
                                    <p:cond delay="0"/>
                                  </p:stCondLst>
                                  <p:childTnLst>
                                    <p:animMotion origin="layout" path="M 1.25E-6 -4.44444E-6 L -0.00078 0.20579 " pathEditMode="relative" rAng="0" ptsTypes="AA">
                                      <p:cBhvr>
                                        <p:cTn id="22" dur="2000" fill="hold"/>
                                        <p:tgtEl>
                                          <p:spTgt spid="13"/>
                                        </p:tgtEl>
                                        <p:attrNameLst>
                                          <p:attrName>ppt_x</p:attrName>
                                          <p:attrName>ppt_y</p:attrName>
                                        </p:attrNameLst>
                                      </p:cBhvr>
                                      <p:rCtr x="-39" y="10278"/>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2" nodeType="clickEffect">
                                  <p:stCondLst>
                                    <p:cond delay="0"/>
                                  </p:stCondLst>
                                  <p:childTnLst>
                                    <p:set>
                                      <p:cBhvr>
                                        <p:cTn id="26" dur="1" fill="hold">
                                          <p:stCondLst>
                                            <p:cond delay="0"/>
                                          </p:stCondLst>
                                        </p:cTn>
                                        <p:tgtEl>
                                          <p:spTgt spid="1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grpId="1" nodeType="clickEffect">
                                  <p:stCondLst>
                                    <p:cond delay="0"/>
                                  </p:stCondLst>
                                  <p:childTnLst>
                                    <p:animMotion origin="layout" path="M 1.25E-6 -1.11111E-6 L -0.203 0.00162 " pathEditMode="relative" rAng="0" ptsTypes="AA">
                                      <p:cBhvr>
                                        <p:cTn id="34" dur="2000" fill="hold"/>
                                        <p:tgtEl>
                                          <p:spTgt spid="14"/>
                                        </p:tgtEl>
                                        <p:attrNameLst>
                                          <p:attrName>ppt_x</p:attrName>
                                          <p:attrName>ppt_y</p:attrName>
                                        </p:attrNameLst>
                                      </p:cBhvr>
                                      <p:rCtr x="-10156" y="69"/>
                                    </p:animMotion>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2"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13" grpId="0" animBg="1"/>
      <p:bldP spid="13" grpId="1" animBg="1"/>
      <p:bldP spid="13" grpId="2" animBg="1"/>
      <p:bldP spid="14" grpId="0" animBg="1"/>
      <p:bldP spid="14" grpId="1" animBg="1"/>
      <p:bldP spid="14" grpId="2"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CB5A-6134-415F-802F-3C34F7652767}"/>
              </a:ext>
            </a:extLst>
          </p:cNvPr>
          <p:cNvSpPr>
            <a:spLocks noGrp="1"/>
          </p:cNvSpPr>
          <p:nvPr>
            <p:ph type="title"/>
          </p:nvPr>
        </p:nvSpPr>
        <p:spPr/>
        <p:txBody>
          <a:bodyPr/>
          <a:lstStyle/>
          <a:p>
            <a:r>
              <a:rPr lang="en-CA" dirty="0"/>
              <a:t>State example</a:t>
            </a:r>
          </a:p>
        </p:txBody>
      </p:sp>
      <p:sp>
        <p:nvSpPr>
          <p:cNvPr id="3" name="Content Placeholder 2">
            <a:extLst>
              <a:ext uri="{FF2B5EF4-FFF2-40B4-BE49-F238E27FC236}">
                <a16:creationId xmlns:a16="http://schemas.microsoft.com/office/drawing/2014/main" id="{D8F1391F-9D22-4704-972B-79E5EE93BB09}"/>
              </a:ext>
            </a:extLst>
          </p:cNvPr>
          <p:cNvSpPr>
            <a:spLocks noGrp="1"/>
          </p:cNvSpPr>
          <p:nvPr>
            <p:ph idx="1"/>
          </p:nvPr>
        </p:nvSpPr>
        <p:spPr>
          <a:xfrm>
            <a:off x="503853" y="1845734"/>
            <a:ext cx="5536729" cy="4393998"/>
          </a:xfrm>
        </p:spPr>
        <p:txBody>
          <a:bodyPr>
            <a:normAutofit/>
          </a:bodyPr>
          <a:lstStyle/>
          <a:p>
            <a:r>
              <a:rPr lang="en-CA" dirty="0"/>
              <a:t>2. Model the </a:t>
            </a:r>
            <a:r>
              <a:rPr lang="en-CA" b="1" dirty="0"/>
              <a:t>States</a:t>
            </a:r>
          </a:p>
          <a:p>
            <a:r>
              <a:rPr lang="en-CA" dirty="0"/>
              <a:t>1 abstract base class</a:t>
            </a:r>
          </a:p>
          <a:p>
            <a:r>
              <a:rPr lang="en-CA" dirty="0"/>
              <a:t>3 sub class states: </a:t>
            </a:r>
            <a:r>
              <a:rPr lang="en-CA" dirty="0" err="1"/>
              <a:t>MainMenu</a:t>
            </a:r>
            <a:r>
              <a:rPr lang="en-CA" dirty="0"/>
              <a:t>, Gameplay, </a:t>
            </a:r>
            <a:r>
              <a:rPr lang="en-CA" dirty="0" err="1"/>
              <a:t>GameOver</a:t>
            </a:r>
            <a:endParaRPr lang="en-CA" dirty="0"/>
          </a:p>
          <a:p>
            <a:r>
              <a:rPr lang="en-CA" dirty="0"/>
              <a:t>Properties</a:t>
            </a:r>
          </a:p>
          <a:p>
            <a:pPr lvl="1"/>
            <a:r>
              <a:rPr lang="en-CA" b="1" dirty="0"/>
              <a:t>context</a:t>
            </a:r>
            <a:r>
              <a:rPr lang="en-CA" dirty="0"/>
              <a:t> – reference back to FSM context</a:t>
            </a:r>
          </a:p>
          <a:p>
            <a:r>
              <a:rPr lang="en-CA" dirty="0"/>
              <a:t>Methods</a:t>
            </a:r>
          </a:p>
          <a:p>
            <a:pPr lvl="1"/>
            <a:r>
              <a:rPr lang="en-CA" dirty="0" err="1"/>
              <a:t>init</a:t>
            </a:r>
            <a:r>
              <a:rPr lang="en-CA" dirty="0"/>
              <a:t>()</a:t>
            </a:r>
          </a:p>
          <a:p>
            <a:pPr lvl="1"/>
            <a:r>
              <a:rPr lang="en-CA" b="1" dirty="0" err="1"/>
              <a:t>set_context</a:t>
            </a:r>
            <a:r>
              <a:rPr lang="en-CA" b="1" dirty="0"/>
              <a:t>() </a:t>
            </a:r>
            <a:r>
              <a:rPr lang="en-CA" dirty="0"/>
              <a:t>– set reference back to context</a:t>
            </a:r>
          </a:p>
          <a:p>
            <a:pPr lvl="1"/>
            <a:r>
              <a:rPr lang="en-CA" dirty="0"/>
              <a:t>begin()</a:t>
            </a:r>
          </a:p>
          <a:p>
            <a:pPr lvl="1"/>
            <a:r>
              <a:rPr lang="en-CA" b="1" dirty="0"/>
              <a:t>update()</a:t>
            </a:r>
          </a:p>
          <a:p>
            <a:pPr lvl="1"/>
            <a:r>
              <a:rPr lang="en-CA" dirty="0"/>
              <a:t>end()</a:t>
            </a:r>
          </a:p>
        </p:txBody>
      </p:sp>
      <p:sp>
        <p:nvSpPr>
          <p:cNvPr id="4" name="Slide Number Placeholder 3">
            <a:extLst>
              <a:ext uri="{FF2B5EF4-FFF2-40B4-BE49-F238E27FC236}">
                <a16:creationId xmlns:a16="http://schemas.microsoft.com/office/drawing/2014/main" id="{8F5312EA-C987-44D0-92D7-A63276AB3159}"/>
              </a:ext>
            </a:extLst>
          </p:cNvPr>
          <p:cNvSpPr>
            <a:spLocks noGrp="1"/>
          </p:cNvSpPr>
          <p:nvPr>
            <p:ph type="sldNum" sz="quarter" idx="12"/>
          </p:nvPr>
        </p:nvSpPr>
        <p:spPr/>
        <p:txBody>
          <a:bodyPr/>
          <a:lstStyle/>
          <a:p>
            <a:fld id="{629637A9-119A-49DA-BD12-AAC58B377D80}" type="slidenum">
              <a:rPr lang="en-US" smtClean="0"/>
              <a:t>14</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4900" y="977638"/>
            <a:ext cx="3651340" cy="5066066"/>
          </a:xfrm>
          <a:prstGeom prst="rect">
            <a:avLst/>
          </a:prstGeom>
        </p:spPr>
      </p:pic>
      <p:grpSp>
        <p:nvGrpSpPr>
          <p:cNvPr id="6" name="Group 5"/>
          <p:cNvGrpSpPr/>
          <p:nvPr/>
        </p:nvGrpSpPr>
        <p:grpSpPr>
          <a:xfrm>
            <a:off x="9347780" y="126714"/>
            <a:ext cx="2731098" cy="2731098"/>
            <a:chOff x="6949856" y="1095736"/>
            <a:chExt cx="5121451" cy="5121451"/>
          </a:xfrm>
        </p:grpSpPr>
        <p:sp>
          <p:nvSpPr>
            <p:cNvPr id="7" name="Oval 6"/>
            <p:cNvSpPr/>
            <p:nvPr/>
          </p:nvSpPr>
          <p:spPr>
            <a:xfrm>
              <a:off x="6949856" y="1095736"/>
              <a:ext cx="5121451" cy="5121451"/>
            </a:xfrm>
            <a:prstGeom prst="ellipse">
              <a:avLst/>
            </a:prstGeom>
            <a:solidFill>
              <a:srgbClr val="00B0F0">
                <a:alpha val="20000"/>
              </a:srgbClr>
            </a:solidFill>
            <a:ln w="3810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Rectangle 7"/>
            <p:cNvSpPr/>
            <p:nvPr/>
          </p:nvSpPr>
          <p:spPr>
            <a:xfrm>
              <a:off x="8678892" y="2098711"/>
              <a:ext cx="1764146" cy="101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Begin</a:t>
              </a:r>
            </a:p>
          </p:txBody>
        </p:sp>
        <p:sp>
          <p:nvSpPr>
            <p:cNvPr id="9" name="Rectangle 8"/>
            <p:cNvSpPr/>
            <p:nvPr/>
          </p:nvSpPr>
          <p:spPr>
            <a:xfrm>
              <a:off x="8678892" y="3312618"/>
              <a:ext cx="1764146" cy="1016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Update</a:t>
              </a:r>
            </a:p>
          </p:txBody>
        </p:sp>
        <p:sp>
          <p:nvSpPr>
            <p:cNvPr id="10" name="Rectangle 9"/>
            <p:cNvSpPr/>
            <p:nvPr/>
          </p:nvSpPr>
          <p:spPr>
            <a:xfrm>
              <a:off x="8678892" y="4563843"/>
              <a:ext cx="1764146" cy="1016000"/>
            </a:xfrm>
            <a:prstGeom prst="rect">
              <a:avLst/>
            </a:prstGeom>
            <a:solidFill>
              <a:srgbClr val="0074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End</a:t>
              </a:r>
            </a:p>
          </p:txBody>
        </p:sp>
        <p:cxnSp>
          <p:nvCxnSpPr>
            <p:cNvPr id="11" name="Straight Arrow Connector 10"/>
            <p:cNvCxnSpPr/>
            <p:nvPr/>
          </p:nvCxnSpPr>
          <p:spPr>
            <a:xfrm>
              <a:off x="10443038" y="3579460"/>
              <a:ext cx="648147" cy="0"/>
            </a:xfrm>
            <a:prstGeom prst="straightConnector1">
              <a:avLst/>
            </a:prstGeom>
            <a:ln w="3810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10443038" y="4060781"/>
              <a:ext cx="648147" cy="583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11081854" y="3579460"/>
              <a:ext cx="0" cy="481321"/>
            </a:xfrm>
            <a:prstGeom prst="straightConnector1">
              <a:avLst/>
            </a:prstGeom>
            <a:ln w="38100">
              <a:solidFill>
                <a:srgbClr val="FFC000"/>
              </a:solidFill>
              <a:tailEnd type="non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690331" y="1314800"/>
              <a:ext cx="1640500" cy="535227"/>
            </a:xfrm>
            <a:prstGeom prst="rect">
              <a:avLst/>
            </a:prstGeom>
          </p:spPr>
          <p:txBody>
            <a:bodyPr wrap="square">
              <a:spAutoFit/>
            </a:bodyPr>
            <a:lstStyle/>
            <a:p>
              <a:pPr algn="ctr"/>
              <a:r>
                <a:rPr lang="en-CA" sz="2000" b="1" dirty="0">
                  <a:solidFill>
                    <a:srgbClr val="0070C0"/>
                  </a:solidFill>
                </a:rPr>
                <a:t>State</a:t>
              </a:r>
            </a:p>
          </p:txBody>
        </p:sp>
      </p:grpSp>
      <p:sp>
        <p:nvSpPr>
          <p:cNvPr id="15" name="Rectangle 14"/>
          <p:cNvSpPr/>
          <p:nvPr/>
        </p:nvSpPr>
        <p:spPr>
          <a:xfrm>
            <a:off x="503853" y="6003847"/>
            <a:ext cx="3549305" cy="323165"/>
          </a:xfrm>
          <a:prstGeom prst="rect">
            <a:avLst/>
          </a:prstGeom>
        </p:spPr>
        <p:txBody>
          <a:bodyPr wrap="none">
            <a:spAutoFit/>
          </a:bodyPr>
          <a:lstStyle/>
          <a:p>
            <a:r>
              <a:rPr lang="en-CA" sz="1500" b="1" dirty="0">
                <a:solidFill>
                  <a:schemeClr val="tx1">
                    <a:lumMod val="75000"/>
                    <a:lumOff val="25000"/>
                  </a:schemeClr>
                </a:solidFill>
              </a:rPr>
              <a:t>*BOLD </a:t>
            </a:r>
            <a:r>
              <a:rPr lang="en-CA" sz="1500" dirty="0">
                <a:solidFill>
                  <a:schemeClr val="tx1">
                    <a:lumMod val="75000"/>
                    <a:lumOff val="25000"/>
                  </a:schemeClr>
                </a:solidFill>
              </a:rPr>
              <a:t>items are pattern specific attributes</a:t>
            </a:r>
          </a:p>
        </p:txBody>
      </p:sp>
    </p:spTree>
    <p:extLst>
      <p:ext uri="{BB962C8B-B14F-4D97-AF65-F5344CB8AC3E}">
        <p14:creationId xmlns:p14="http://schemas.microsoft.com/office/powerpoint/2010/main" val="692013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CB5A-6134-415F-802F-3C34F7652767}"/>
              </a:ext>
            </a:extLst>
          </p:cNvPr>
          <p:cNvSpPr>
            <a:spLocks noGrp="1"/>
          </p:cNvSpPr>
          <p:nvPr>
            <p:ph type="title"/>
          </p:nvPr>
        </p:nvSpPr>
        <p:spPr/>
        <p:txBody>
          <a:bodyPr/>
          <a:lstStyle/>
          <a:p>
            <a:r>
              <a:rPr lang="en-CA" dirty="0"/>
              <a:t>State example</a:t>
            </a:r>
          </a:p>
        </p:txBody>
      </p:sp>
      <p:sp>
        <p:nvSpPr>
          <p:cNvPr id="3" name="Content Placeholder 2">
            <a:extLst>
              <a:ext uri="{FF2B5EF4-FFF2-40B4-BE49-F238E27FC236}">
                <a16:creationId xmlns:a16="http://schemas.microsoft.com/office/drawing/2014/main" id="{D8F1391F-9D22-4704-972B-79E5EE93BB09}"/>
              </a:ext>
            </a:extLst>
          </p:cNvPr>
          <p:cNvSpPr>
            <a:spLocks noGrp="1"/>
          </p:cNvSpPr>
          <p:nvPr>
            <p:ph idx="1"/>
          </p:nvPr>
        </p:nvSpPr>
        <p:spPr>
          <a:xfrm>
            <a:off x="434110" y="1845734"/>
            <a:ext cx="3768435" cy="4393998"/>
          </a:xfrm>
        </p:spPr>
        <p:txBody>
          <a:bodyPr>
            <a:normAutofit/>
          </a:bodyPr>
          <a:lstStyle/>
          <a:p>
            <a:r>
              <a:rPr lang="en-CA" dirty="0"/>
              <a:t>Put it all together</a:t>
            </a:r>
          </a:p>
          <a:p>
            <a:r>
              <a:rPr lang="en-CA" dirty="0"/>
              <a:t>main() is the client</a:t>
            </a:r>
          </a:p>
          <a:p>
            <a:r>
              <a:rPr lang="en-CA" dirty="0"/>
              <a:t>Instantiate FSM and first state</a:t>
            </a:r>
          </a:p>
          <a:p>
            <a:r>
              <a:rPr lang="en-CA" dirty="0"/>
              <a:t>Have a loop that will keep calling FSM update until FSM stops running</a:t>
            </a:r>
          </a:p>
        </p:txBody>
      </p:sp>
      <p:sp>
        <p:nvSpPr>
          <p:cNvPr id="4" name="Slide Number Placeholder 3">
            <a:extLst>
              <a:ext uri="{FF2B5EF4-FFF2-40B4-BE49-F238E27FC236}">
                <a16:creationId xmlns:a16="http://schemas.microsoft.com/office/drawing/2014/main" id="{8F5312EA-C987-44D0-92D7-A63276AB3159}"/>
              </a:ext>
            </a:extLst>
          </p:cNvPr>
          <p:cNvSpPr>
            <a:spLocks noGrp="1"/>
          </p:cNvSpPr>
          <p:nvPr>
            <p:ph type="sldNum" sz="quarter" idx="12"/>
          </p:nvPr>
        </p:nvSpPr>
        <p:spPr/>
        <p:txBody>
          <a:bodyPr/>
          <a:lstStyle/>
          <a:p>
            <a:fld id="{629637A9-119A-49DA-BD12-AAC58B377D80}" type="slidenum">
              <a:rPr lang="en-US" smtClean="0"/>
              <a:t>15</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732" y="616501"/>
            <a:ext cx="5600268" cy="5454952"/>
          </a:xfrm>
          <a:prstGeom prst="rect">
            <a:avLst/>
          </a:prstGeom>
        </p:spPr>
      </p:pic>
    </p:spTree>
    <p:extLst>
      <p:ext uri="{BB962C8B-B14F-4D97-AF65-F5344CB8AC3E}">
        <p14:creationId xmlns:p14="http://schemas.microsoft.com/office/powerpoint/2010/main" val="1263689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732" y="616501"/>
            <a:ext cx="5600268" cy="5454952"/>
          </a:xfrm>
          <a:prstGeom prst="rect">
            <a:avLst/>
          </a:prstGeom>
        </p:spPr>
      </p:pic>
      <p:sp>
        <p:nvSpPr>
          <p:cNvPr id="2" name="Title 1">
            <a:extLst>
              <a:ext uri="{FF2B5EF4-FFF2-40B4-BE49-F238E27FC236}">
                <a16:creationId xmlns:a16="http://schemas.microsoft.com/office/drawing/2014/main" id="{73A6CB5A-6134-415F-802F-3C34F7652767}"/>
              </a:ext>
            </a:extLst>
          </p:cNvPr>
          <p:cNvSpPr>
            <a:spLocks noGrp="1"/>
          </p:cNvSpPr>
          <p:nvPr>
            <p:ph type="title"/>
          </p:nvPr>
        </p:nvSpPr>
        <p:spPr/>
        <p:txBody>
          <a:bodyPr/>
          <a:lstStyle/>
          <a:p>
            <a:r>
              <a:rPr lang="en-CA" dirty="0"/>
              <a:t>State example</a:t>
            </a:r>
          </a:p>
        </p:txBody>
      </p:sp>
      <p:sp>
        <p:nvSpPr>
          <p:cNvPr id="3" name="Content Placeholder 2">
            <a:extLst>
              <a:ext uri="{FF2B5EF4-FFF2-40B4-BE49-F238E27FC236}">
                <a16:creationId xmlns:a16="http://schemas.microsoft.com/office/drawing/2014/main" id="{D8F1391F-9D22-4704-972B-79E5EE93BB09}"/>
              </a:ext>
            </a:extLst>
          </p:cNvPr>
          <p:cNvSpPr>
            <a:spLocks noGrp="1"/>
          </p:cNvSpPr>
          <p:nvPr>
            <p:ph idx="1"/>
          </p:nvPr>
        </p:nvSpPr>
        <p:spPr>
          <a:xfrm>
            <a:off x="434110" y="1845734"/>
            <a:ext cx="3768435" cy="4393998"/>
          </a:xfrm>
        </p:spPr>
        <p:txBody>
          <a:bodyPr>
            <a:normAutofit/>
          </a:bodyPr>
          <a:lstStyle/>
          <a:p>
            <a:r>
              <a:rPr lang="en-CA" dirty="0"/>
              <a:t>Put it all together</a:t>
            </a:r>
          </a:p>
          <a:p>
            <a:r>
              <a:rPr lang="en-CA" dirty="0"/>
              <a:t>main() is the client</a:t>
            </a:r>
          </a:p>
          <a:p>
            <a:r>
              <a:rPr lang="en-CA" dirty="0"/>
              <a:t>Instantiate FSM and first state</a:t>
            </a:r>
          </a:p>
          <a:p>
            <a:r>
              <a:rPr lang="en-CA" dirty="0"/>
              <a:t>Have a loop that will keep calling FSM update until FSM stops running</a:t>
            </a:r>
          </a:p>
        </p:txBody>
      </p:sp>
      <p:sp>
        <p:nvSpPr>
          <p:cNvPr id="4" name="Slide Number Placeholder 3">
            <a:extLst>
              <a:ext uri="{FF2B5EF4-FFF2-40B4-BE49-F238E27FC236}">
                <a16:creationId xmlns:a16="http://schemas.microsoft.com/office/drawing/2014/main" id="{8F5312EA-C987-44D0-92D7-A63276AB3159}"/>
              </a:ext>
            </a:extLst>
          </p:cNvPr>
          <p:cNvSpPr>
            <a:spLocks noGrp="1"/>
          </p:cNvSpPr>
          <p:nvPr>
            <p:ph type="sldNum" sz="quarter" idx="12"/>
          </p:nvPr>
        </p:nvSpPr>
        <p:spPr/>
        <p:txBody>
          <a:bodyPr/>
          <a:lstStyle/>
          <a:p>
            <a:fld id="{629637A9-119A-49DA-BD12-AAC58B377D80}" type="slidenum">
              <a:rPr lang="en-US" smtClean="0"/>
              <a:t>16</a:t>
            </a:fld>
            <a:endParaRPr lang="en-US" dirty="0"/>
          </a:p>
        </p:txBody>
      </p:sp>
      <p:sp>
        <p:nvSpPr>
          <p:cNvPr id="7" name="Rectangle 6"/>
          <p:cNvSpPr/>
          <p:nvPr/>
        </p:nvSpPr>
        <p:spPr>
          <a:xfrm>
            <a:off x="434110" y="5870400"/>
            <a:ext cx="2368662" cy="369332"/>
          </a:xfrm>
          <a:prstGeom prst="rect">
            <a:avLst/>
          </a:prstGeom>
        </p:spPr>
        <p:txBody>
          <a:bodyPr wrap="none">
            <a:spAutoFit/>
          </a:bodyPr>
          <a:lstStyle/>
          <a:p>
            <a:r>
              <a:rPr lang="en-CA" dirty="0">
                <a:solidFill>
                  <a:srgbClr val="0070C0"/>
                </a:solidFill>
              </a:rPr>
              <a:t>game_state_pattern.py</a:t>
            </a:r>
          </a:p>
        </p:txBody>
      </p:sp>
    </p:spTree>
    <p:extLst>
      <p:ext uri="{BB962C8B-B14F-4D97-AF65-F5344CB8AC3E}">
        <p14:creationId xmlns:p14="http://schemas.microsoft.com/office/powerpoint/2010/main" val="3261261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4C12D-BE3F-4F0B-A513-C599ED2BB2CE}"/>
              </a:ext>
            </a:extLst>
          </p:cNvPr>
          <p:cNvSpPr>
            <a:spLocks noGrp="1"/>
          </p:cNvSpPr>
          <p:nvPr>
            <p:ph type="title"/>
          </p:nvPr>
        </p:nvSpPr>
        <p:spPr>
          <a:xfrm>
            <a:off x="382556" y="286603"/>
            <a:ext cx="5309118" cy="1450757"/>
          </a:xfrm>
        </p:spPr>
        <p:txBody>
          <a:bodyPr>
            <a:normAutofit/>
          </a:bodyPr>
          <a:lstStyle/>
          <a:p>
            <a:r>
              <a:rPr lang="en-CA" dirty="0"/>
              <a:t>Another example – </a:t>
            </a:r>
            <a:br>
              <a:rPr lang="en-CA" dirty="0"/>
            </a:br>
            <a:r>
              <a:rPr lang="en-CA" dirty="0"/>
              <a:t>Document publishing </a:t>
            </a:r>
          </a:p>
        </p:txBody>
      </p:sp>
      <p:sp>
        <p:nvSpPr>
          <p:cNvPr id="4" name="Slide Number Placeholder 3">
            <a:extLst>
              <a:ext uri="{FF2B5EF4-FFF2-40B4-BE49-F238E27FC236}">
                <a16:creationId xmlns:a16="http://schemas.microsoft.com/office/drawing/2014/main" id="{C7C593DA-9E98-48BF-AF3E-72FE0CD5778E}"/>
              </a:ext>
            </a:extLst>
          </p:cNvPr>
          <p:cNvSpPr>
            <a:spLocks noGrp="1"/>
          </p:cNvSpPr>
          <p:nvPr>
            <p:ph type="sldNum" sz="quarter" idx="12"/>
          </p:nvPr>
        </p:nvSpPr>
        <p:spPr/>
        <p:txBody>
          <a:bodyPr/>
          <a:lstStyle/>
          <a:p>
            <a:fld id="{629637A9-119A-49DA-BD12-AAC58B377D80}" type="slidenum">
              <a:rPr lang="en-US" smtClean="0"/>
              <a:t>17</a:t>
            </a:fld>
            <a:endParaRPr lang="en-US" dirty="0"/>
          </a:p>
        </p:txBody>
      </p:sp>
      <p:pic>
        <p:nvPicPr>
          <p:cNvPr id="15363" name="Picture 3" descr="Possible states of a document object">
            <a:extLst>
              <a:ext uri="{FF2B5EF4-FFF2-40B4-BE49-F238E27FC236}">
                <a16:creationId xmlns:a16="http://schemas.microsoft.com/office/drawing/2014/main" id="{7AE15E72-9714-4FAD-AC1F-2C07B8809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635" y="1882556"/>
            <a:ext cx="5334000" cy="4191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D109DC7E-BAFF-47D0-AAB6-BFADBE931B16}"/>
              </a:ext>
            </a:extLst>
          </p:cNvPr>
          <p:cNvSpPr>
            <a:spLocks noChangeArrowheads="1"/>
          </p:cNvSpPr>
          <p:nvPr/>
        </p:nvSpPr>
        <p:spPr bwMode="auto">
          <a:xfrm>
            <a:off x="6008914" y="43934"/>
            <a:ext cx="6379029" cy="655564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400" b="1" dirty="0">
                <a:solidFill>
                  <a:srgbClr val="000080"/>
                </a:solidFill>
                <a:latin typeface="JetBrains Mono"/>
              </a:rPr>
              <a:t>class </a:t>
            </a:r>
            <a:r>
              <a:rPr lang="en-US" altLang="en-US" sz="1400" dirty="0" err="1">
                <a:solidFill>
                  <a:srgbClr val="000000"/>
                </a:solidFill>
                <a:latin typeface="JetBrains Mono"/>
              </a:rPr>
              <a:t>DocumentState</a:t>
            </a:r>
            <a:r>
              <a:rPr lang="en-US" altLang="en-US" sz="1400" dirty="0">
                <a:solidFill>
                  <a:srgbClr val="000000"/>
                </a:solidFill>
                <a:latin typeface="JetBrains Mono"/>
              </a:rPr>
              <a:t>(</a:t>
            </a:r>
            <a:r>
              <a:rPr lang="en-US" altLang="en-US" sz="1400" dirty="0" err="1">
                <a:solidFill>
                  <a:srgbClr val="000000"/>
                </a:solidFill>
                <a:latin typeface="JetBrains Mono"/>
              </a:rPr>
              <a:t>enum.Enum</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DRAFT = </a:t>
            </a:r>
            <a:r>
              <a:rPr lang="en-US" altLang="en-US" sz="1400" dirty="0">
                <a:solidFill>
                  <a:srgbClr val="0000FF"/>
                </a:solidFill>
                <a:latin typeface="JetBrains Mono"/>
              </a:rPr>
              <a:t>0</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MODERATION = </a:t>
            </a:r>
            <a:r>
              <a:rPr lang="en-US" altLang="en-US" sz="1400" dirty="0">
                <a:solidFill>
                  <a:srgbClr val="0000FF"/>
                </a:solidFill>
                <a:latin typeface="JetBrains Mono"/>
              </a:rPr>
              <a:t>1</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PUBLISHED = </a:t>
            </a:r>
            <a:r>
              <a:rPr lang="en-US" altLang="en-US" sz="1400" dirty="0">
                <a:solidFill>
                  <a:srgbClr val="0000FF"/>
                </a:solidFill>
                <a:latin typeface="JetBrains Mono"/>
              </a:rPr>
              <a:t>2</a:t>
            </a:r>
            <a:br>
              <a:rPr lang="en-US" altLang="en-US" sz="1400" dirty="0">
                <a:solidFill>
                  <a:srgbClr val="0000FF"/>
                </a:solidFill>
                <a:latin typeface="JetBrains Mono"/>
              </a:rPr>
            </a:br>
            <a:br>
              <a:rPr lang="en-US" altLang="en-US" sz="1400" dirty="0">
                <a:solidFill>
                  <a:srgbClr val="0000FF"/>
                </a:solidFill>
                <a:latin typeface="JetBrains Mono"/>
              </a:rPr>
            </a:br>
            <a:br>
              <a:rPr lang="en-US" altLang="en-US" sz="1400" dirty="0">
                <a:solidFill>
                  <a:srgbClr val="0000FF"/>
                </a:solidFill>
                <a:latin typeface="JetBrains Mono"/>
              </a:rPr>
            </a:br>
            <a:r>
              <a:rPr lang="en-US" altLang="en-US" sz="1400" b="1" dirty="0">
                <a:solidFill>
                  <a:srgbClr val="000080"/>
                </a:solidFill>
                <a:latin typeface="JetBrains Mono"/>
              </a:rPr>
              <a:t>class </a:t>
            </a:r>
            <a:r>
              <a:rPr lang="en-US" altLang="en-US" sz="1400" dirty="0">
                <a:solidFill>
                  <a:srgbClr val="000000"/>
                </a:solidFill>
                <a:latin typeface="JetBrains Mono"/>
              </a:rPr>
              <a:t>Document:</a:t>
            </a:r>
            <a:br>
              <a:rPr lang="en-US" altLang="en-US" sz="1400" dirty="0">
                <a:solidFill>
                  <a:srgbClr val="000000"/>
                </a:solidFill>
                <a:latin typeface="JetBrains Mono"/>
              </a:rPr>
            </a:b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b="1" dirty="0" err="1">
                <a:solidFill>
                  <a:srgbClr val="000080"/>
                </a:solidFill>
                <a:latin typeface="JetBrains Mono"/>
              </a:rPr>
              <a:t>def</a:t>
            </a:r>
            <a:r>
              <a:rPr lang="en-US" altLang="en-US" sz="1400" b="1" dirty="0">
                <a:solidFill>
                  <a:srgbClr val="000080"/>
                </a:solidFill>
                <a:latin typeface="JetBrains Mono"/>
              </a:rPr>
              <a:t> </a:t>
            </a:r>
            <a:r>
              <a:rPr lang="en-US" altLang="en-US" sz="1400" dirty="0">
                <a:solidFill>
                  <a:srgbClr val="B200B2"/>
                </a:solidFill>
                <a:latin typeface="JetBrains Mono"/>
              </a:rPr>
              <a:t>__</a:t>
            </a:r>
            <a:r>
              <a:rPr lang="en-US" altLang="en-US" sz="1400" dirty="0" err="1">
                <a:solidFill>
                  <a:srgbClr val="B200B2"/>
                </a:solidFill>
                <a:latin typeface="JetBrains Mono"/>
              </a:rPr>
              <a:t>init</a:t>
            </a:r>
            <a:r>
              <a:rPr lang="en-US" altLang="en-US" sz="1400" dirty="0">
                <a:solidFill>
                  <a:srgbClr val="B200B2"/>
                </a:solidFill>
                <a:latin typeface="JetBrains Mono"/>
              </a:rPr>
              <a:t>__</a:t>
            </a:r>
            <a:r>
              <a:rPr lang="en-US" altLang="en-US" sz="1400" dirty="0">
                <a:solidFill>
                  <a:srgbClr val="000000"/>
                </a:solidFill>
                <a:latin typeface="JetBrains Mono"/>
              </a:rPr>
              <a:t>(</a:t>
            </a:r>
            <a:r>
              <a:rPr lang="en-US" altLang="en-US" sz="1400" dirty="0">
                <a:solidFill>
                  <a:srgbClr val="94558D"/>
                </a:solidFill>
                <a:latin typeface="JetBrains Mono"/>
              </a:rPr>
              <a:t>self</a:t>
            </a:r>
            <a:r>
              <a:rPr lang="en-US" altLang="en-US" sz="1400" dirty="0">
                <a:solidFill>
                  <a:srgbClr val="000000"/>
                </a:solidFill>
                <a:latin typeface="JetBrains Mono"/>
              </a:rPr>
              <a:t>, </a:t>
            </a:r>
            <a:r>
              <a:rPr lang="en-US" altLang="en-US" sz="1400" dirty="0">
                <a:solidFill>
                  <a:srgbClr val="808080"/>
                </a:solidFill>
                <a:latin typeface="JetBrains Mono"/>
              </a:rPr>
              <a:t>state</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dirty="0" err="1">
                <a:solidFill>
                  <a:srgbClr val="94558D"/>
                </a:solidFill>
                <a:latin typeface="JetBrains Mono"/>
              </a:rPr>
              <a:t>self</a:t>
            </a:r>
            <a:r>
              <a:rPr lang="en-US" altLang="en-US" sz="1400" dirty="0" err="1">
                <a:solidFill>
                  <a:srgbClr val="000000"/>
                </a:solidFill>
                <a:latin typeface="JetBrains Mono"/>
              </a:rPr>
              <a:t>.state</a:t>
            </a:r>
            <a:r>
              <a:rPr lang="en-US" altLang="en-US" sz="1400" dirty="0">
                <a:solidFill>
                  <a:srgbClr val="000000"/>
                </a:solidFill>
                <a:latin typeface="JetBrains Mono"/>
              </a:rPr>
              <a:t> = </a:t>
            </a:r>
            <a:r>
              <a:rPr lang="en-US" altLang="en-US" sz="1400" dirty="0" err="1">
                <a:solidFill>
                  <a:srgbClr val="000000"/>
                </a:solidFill>
                <a:latin typeface="JetBrains Mono"/>
              </a:rPr>
              <a:t>DocumentState.DRAFT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i="1" dirty="0">
                <a:solidFill>
                  <a:srgbClr val="808080"/>
                </a:solidFill>
                <a:latin typeface="JetBrains Mono"/>
              </a:rPr>
              <a:t># ..</a:t>
            </a:r>
            <a:br>
              <a:rPr lang="en-US" altLang="en-US" sz="1400" i="1" dirty="0">
                <a:solidFill>
                  <a:srgbClr val="808080"/>
                </a:solidFill>
                <a:latin typeface="JetBrains Mono"/>
              </a:rPr>
            </a:br>
            <a:r>
              <a:rPr lang="en-US" altLang="en-US" sz="1400" i="1" dirty="0">
                <a:solidFill>
                  <a:srgbClr val="808080"/>
                </a:solidFill>
                <a:latin typeface="JetBrains Mono"/>
              </a:rPr>
              <a:t>        # ..</a:t>
            </a:r>
            <a:br>
              <a:rPr lang="en-US" altLang="en-US" sz="1400" i="1" dirty="0">
                <a:solidFill>
                  <a:srgbClr val="808080"/>
                </a:solidFill>
                <a:latin typeface="JetBrains Mono"/>
              </a:rPr>
            </a:br>
            <a:br>
              <a:rPr lang="en-US" altLang="en-US" sz="1400" i="1" dirty="0">
                <a:solidFill>
                  <a:srgbClr val="808080"/>
                </a:solidFill>
                <a:latin typeface="JetBrains Mono"/>
              </a:rPr>
            </a:br>
            <a:r>
              <a:rPr lang="en-US" altLang="en-US" sz="1400" i="1" dirty="0">
                <a:solidFill>
                  <a:srgbClr val="808080"/>
                </a:solidFill>
                <a:latin typeface="JetBrains Mono"/>
              </a:rPr>
              <a:t>    </a:t>
            </a:r>
            <a:r>
              <a:rPr lang="en-US" altLang="en-US" sz="1400" b="1" dirty="0">
                <a:solidFill>
                  <a:srgbClr val="000080"/>
                </a:solidFill>
                <a:latin typeface="JetBrains Mono"/>
              </a:rPr>
              <a:t>def </a:t>
            </a:r>
            <a:r>
              <a:rPr lang="en-US" altLang="en-US" sz="1400" dirty="0">
                <a:solidFill>
                  <a:srgbClr val="000000"/>
                </a:solidFill>
                <a:latin typeface="JetBrains Mono"/>
              </a:rPr>
              <a:t>publish(</a:t>
            </a:r>
            <a:r>
              <a:rPr lang="en-US" altLang="en-US" sz="1400" dirty="0">
                <a:solidFill>
                  <a:srgbClr val="94558D"/>
                </a:solidFill>
                <a:latin typeface="JetBrains Mono"/>
              </a:rPr>
              <a:t>self</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b="1" dirty="0">
                <a:solidFill>
                  <a:srgbClr val="000080"/>
                </a:solidFill>
                <a:latin typeface="JetBrains Mono"/>
              </a:rPr>
              <a:t>if </a:t>
            </a:r>
            <a:r>
              <a:rPr lang="en-US" altLang="en-US" sz="1400" dirty="0" err="1">
                <a:solidFill>
                  <a:srgbClr val="94558D"/>
                </a:solidFill>
                <a:latin typeface="JetBrains Mono"/>
              </a:rPr>
              <a:t>self</a:t>
            </a:r>
            <a:r>
              <a:rPr lang="en-US" altLang="en-US" sz="1400" dirty="0" err="1">
                <a:solidFill>
                  <a:srgbClr val="000000"/>
                </a:solidFill>
                <a:latin typeface="JetBrains Mono"/>
              </a:rPr>
              <a:t>.state</a:t>
            </a:r>
            <a:r>
              <a:rPr lang="en-US" altLang="en-US" sz="1400" dirty="0">
                <a:solidFill>
                  <a:srgbClr val="000000"/>
                </a:solidFill>
                <a:latin typeface="JetBrains Mono"/>
              </a:rPr>
              <a:t> == </a:t>
            </a:r>
            <a:r>
              <a:rPr lang="en-US" altLang="en-US" sz="1400" dirty="0" err="1">
                <a:solidFill>
                  <a:srgbClr val="000000"/>
                </a:solidFill>
                <a:latin typeface="JetBrains Mono"/>
              </a:rPr>
              <a:t>DocumentState.DRAFT</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dirty="0" err="1">
                <a:solidFill>
                  <a:srgbClr val="94558D"/>
                </a:solidFill>
                <a:latin typeface="JetBrains Mono"/>
              </a:rPr>
              <a:t>self</a:t>
            </a:r>
            <a:r>
              <a:rPr lang="en-US" altLang="en-US" sz="1400" dirty="0" err="1">
                <a:solidFill>
                  <a:srgbClr val="000000"/>
                </a:solidFill>
                <a:latin typeface="JetBrains Mono"/>
              </a:rPr>
              <a:t>.state</a:t>
            </a:r>
            <a:r>
              <a:rPr lang="en-US" altLang="en-US" sz="1400" dirty="0">
                <a:solidFill>
                  <a:srgbClr val="000000"/>
                </a:solidFill>
                <a:latin typeface="JetBrains Mono"/>
              </a:rPr>
              <a:t> = </a:t>
            </a:r>
            <a:r>
              <a:rPr lang="en-US" altLang="en-US" sz="1400" dirty="0" err="1">
                <a:solidFill>
                  <a:srgbClr val="000000"/>
                </a:solidFill>
                <a:latin typeface="JetBrains Mono"/>
              </a:rPr>
              <a:t>DocumentState.MODERATION</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dirty="0">
                <a:solidFill>
                  <a:srgbClr val="000080"/>
                </a:solidFill>
                <a:latin typeface="JetBrains Mono"/>
              </a:rPr>
              <a:t>print</a:t>
            </a:r>
            <a:r>
              <a:rPr lang="en-US" altLang="en-US" sz="1400" dirty="0">
                <a:solidFill>
                  <a:srgbClr val="000000"/>
                </a:solidFill>
                <a:latin typeface="JetBrains Mono"/>
              </a:rPr>
              <a:t>(</a:t>
            </a:r>
            <a:r>
              <a:rPr lang="en-US" altLang="en-US" sz="1400" b="1" dirty="0">
                <a:solidFill>
                  <a:srgbClr val="008000"/>
                </a:solidFill>
                <a:latin typeface="JetBrains Mono"/>
              </a:rPr>
              <a:t>"Document is now waiting for approval"</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b="1" dirty="0" err="1">
                <a:solidFill>
                  <a:srgbClr val="000080"/>
                </a:solidFill>
                <a:latin typeface="JetBrains Mono"/>
              </a:rPr>
              <a:t>elif</a:t>
            </a:r>
            <a:r>
              <a:rPr lang="en-US" altLang="en-US" sz="1400" b="1" dirty="0">
                <a:solidFill>
                  <a:srgbClr val="000080"/>
                </a:solidFill>
                <a:latin typeface="JetBrains Mono"/>
              </a:rPr>
              <a:t> </a:t>
            </a:r>
            <a:r>
              <a:rPr lang="en-US" altLang="en-US" sz="1400" dirty="0" err="1">
                <a:solidFill>
                  <a:srgbClr val="94558D"/>
                </a:solidFill>
                <a:latin typeface="JetBrains Mono"/>
              </a:rPr>
              <a:t>self</a:t>
            </a:r>
            <a:r>
              <a:rPr lang="en-US" altLang="en-US" sz="1400" dirty="0" err="1">
                <a:solidFill>
                  <a:srgbClr val="000000"/>
                </a:solidFill>
                <a:latin typeface="JetBrains Mono"/>
              </a:rPr>
              <a:t>.state</a:t>
            </a:r>
            <a:r>
              <a:rPr lang="en-US" altLang="en-US" sz="1400" dirty="0">
                <a:solidFill>
                  <a:srgbClr val="000000"/>
                </a:solidFill>
                <a:latin typeface="JetBrains Mono"/>
              </a:rPr>
              <a:t> == </a:t>
            </a:r>
            <a:r>
              <a:rPr lang="en-US" altLang="en-US" sz="1400" dirty="0" err="1">
                <a:solidFill>
                  <a:srgbClr val="000000"/>
                </a:solidFill>
                <a:latin typeface="JetBrains Mono"/>
              </a:rPr>
              <a:t>DocumentState.MODERATION</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b="1" dirty="0">
                <a:solidFill>
                  <a:srgbClr val="000080"/>
                </a:solidFill>
                <a:latin typeface="JetBrains Mono"/>
              </a:rPr>
              <a:t>if </a:t>
            </a:r>
            <a:r>
              <a:rPr lang="en-US" altLang="en-US" sz="1400" dirty="0" err="1">
                <a:solidFill>
                  <a:srgbClr val="000000"/>
                </a:solidFill>
                <a:latin typeface="JetBrains Mono"/>
              </a:rPr>
              <a:t>current_user.role</a:t>
            </a:r>
            <a:r>
              <a:rPr lang="en-US" altLang="en-US" sz="1400" dirty="0">
                <a:solidFill>
                  <a:srgbClr val="000000"/>
                </a:solidFill>
                <a:latin typeface="JetBrains Mono"/>
              </a:rPr>
              <a:t> == </a:t>
            </a:r>
            <a:r>
              <a:rPr lang="en-US" altLang="en-US" sz="1400" b="1" dirty="0">
                <a:solidFill>
                  <a:srgbClr val="008000"/>
                </a:solidFill>
                <a:latin typeface="JetBrains Mono"/>
              </a:rPr>
              <a:t>"admin" </a:t>
            </a:r>
            <a:r>
              <a:rPr lang="en-US" altLang="en-US" sz="1400" b="1" dirty="0">
                <a:solidFill>
                  <a:srgbClr val="000080"/>
                </a:solidFill>
                <a:latin typeface="JetBrains Mono"/>
              </a:rPr>
              <a:t>and </a:t>
            </a:r>
            <a:r>
              <a:rPr lang="en-US" altLang="en-US" sz="1400" dirty="0" err="1">
                <a:solidFill>
                  <a:srgbClr val="94558D"/>
                </a:solidFill>
                <a:latin typeface="JetBrains Mono"/>
              </a:rPr>
              <a:t>self</a:t>
            </a:r>
            <a:r>
              <a:rPr lang="en-US" altLang="en-US" sz="1400" dirty="0" err="1">
                <a:solidFill>
                  <a:srgbClr val="000000"/>
                </a:solidFill>
                <a:latin typeface="JetBrains Mono"/>
              </a:rPr>
              <a:t>.valid</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dirty="0" err="1">
                <a:solidFill>
                  <a:srgbClr val="94558D"/>
                </a:solidFill>
                <a:latin typeface="JetBrains Mono"/>
              </a:rPr>
              <a:t>self</a:t>
            </a:r>
            <a:r>
              <a:rPr lang="en-US" altLang="en-US" sz="1400" dirty="0" err="1">
                <a:solidFill>
                  <a:srgbClr val="000000"/>
                </a:solidFill>
                <a:latin typeface="JetBrains Mono"/>
              </a:rPr>
              <a:t>.state</a:t>
            </a:r>
            <a:r>
              <a:rPr lang="en-US" altLang="en-US" sz="1400" dirty="0">
                <a:solidFill>
                  <a:srgbClr val="000000"/>
                </a:solidFill>
                <a:latin typeface="JetBrains Mono"/>
              </a:rPr>
              <a:t> = </a:t>
            </a:r>
            <a:r>
              <a:rPr lang="en-US" altLang="en-US" sz="1400" dirty="0" err="1">
                <a:solidFill>
                  <a:srgbClr val="000000"/>
                </a:solidFill>
                <a:latin typeface="JetBrains Mono"/>
              </a:rPr>
              <a:t>DocumentState.PUBLISHED</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b="1" dirty="0" err="1">
                <a:solidFill>
                  <a:srgbClr val="000080"/>
                </a:solidFill>
                <a:latin typeface="JetBrains Mono"/>
              </a:rPr>
              <a:t>elif</a:t>
            </a:r>
            <a:r>
              <a:rPr lang="en-US" altLang="en-US" sz="1400" b="1" dirty="0">
                <a:solidFill>
                  <a:srgbClr val="000080"/>
                </a:solidFill>
                <a:latin typeface="JetBrains Mono"/>
              </a:rPr>
              <a:t> </a:t>
            </a:r>
            <a:r>
              <a:rPr lang="en-US" altLang="en-US" sz="1400" dirty="0" err="1">
                <a:solidFill>
                  <a:srgbClr val="000000"/>
                </a:solidFill>
                <a:latin typeface="JetBrains Mono"/>
              </a:rPr>
              <a:t>current_user.role</a:t>
            </a:r>
            <a:r>
              <a:rPr lang="en-US" altLang="en-US" sz="1400" dirty="0">
                <a:solidFill>
                  <a:srgbClr val="000000"/>
                </a:solidFill>
                <a:latin typeface="JetBrains Mono"/>
              </a:rPr>
              <a:t> == </a:t>
            </a:r>
            <a:r>
              <a:rPr lang="en-US" altLang="en-US" sz="1400" b="1" dirty="0">
                <a:solidFill>
                  <a:srgbClr val="008000"/>
                </a:solidFill>
                <a:latin typeface="JetBrains Mono"/>
              </a:rPr>
              <a:t>"admin" </a:t>
            </a:r>
            <a:r>
              <a:rPr lang="en-US" altLang="en-US" sz="1400" b="1" dirty="0">
                <a:solidFill>
                  <a:srgbClr val="000080"/>
                </a:solidFill>
                <a:latin typeface="JetBrains Mono"/>
              </a:rPr>
              <a:t>and not </a:t>
            </a:r>
            <a:r>
              <a:rPr lang="en-US" altLang="en-US" sz="1400" dirty="0" err="1">
                <a:solidFill>
                  <a:srgbClr val="94558D"/>
                </a:solidFill>
                <a:latin typeface="JetBrains Mono"/>
              </a:rPr>
              <a:t>self</a:t>
            </a:r>
            <a:r>
              <a:rPr lang="en-US" altLang="en-US" sz="1400" dirty="0" err="1">
                <a:solidFill>
                  <a:srgbClr val="000000"/>
                </a:solidFill>
                <a:latin typeface="JetBrains Mono"/>
              </a:rPr>
              <a:t>.valid</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dirty="0" err="1">
                <a:solidFill>
                  <a:srgbClr val="94558D"/>
                </a:solidFill>
                <a:latin typeface="JetBrains Mono"/>
              </a:rPr>
              <a:t>self</a:t>
            </a:r>
            <a:r>
              <a:rPr lang="en-US" altLang="en-US" sz="1400" dirty="0" err="1">
                <a:solidFill>
                  <a:srgbClr val="000000"/>
                </a:solidFill>
                <a:latin typeface="JetBrains Mono"/>
              </a:rPr>
              <a:t>.state</a:t>
            </a:r>
            <a:r>
              <a:rPr lang="en-US" altLang="en-US" sz="1400" dirty="0">
                <a:solidFill>
                  <a:srgbClr val="000000"/>
                </a:solidFill>
                <a:latin typeface="JetBrains Mono"/>
              </a:rPr>
              <a:t> = </a:t>
            </a:r>
            <a:r>
              <a:rPr lang="en-US" altLang="en-US" sz="1400" dirty="0" err="1">
                <a:solidFill>
                  <a:srgbClr val="000000"/>
                </a:solidFill>
                <a:latin typeface="JetBrains Mono"/>
              </a:rPr>
              <a:t>DocumentState.DRAFT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b="1" dirty="0">
                <a:solidFill>
                  <a:srgbClr val="000080"/>
                </a:solidFill>
                <a:latin typeface="JetBrains Mono"/>
              </a:rPr>
              <a:t>else</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dirty="0">
                <a:solidFill>
                  <a:srgbClr val="000080"/>
                </a:solidFill>
                <a:latin typeface="JetBrains Mono"/>
              </a:rPr>
              <a:t>print</a:t>
            </a:r>
            <a:r>
              <a:rPr lang="en-US" altLang="en-US" sz="1400" dirty="0">
                <a:solidFill>
                  <a:srgbClr val="000000"/>
                </a:solidFill>
                <a:latin typeface="JetBrains Mono"/>
              </a:rPr>
              <a:t>(</a:t>
            </a:r>
            <a:r>
              <a:rPr lang="en-US" altLang="en-US" sz="1400" b="1" dirty="0">
                <a:solidFill>
                  <a:srgbClr val="008000"/>
                </a:solidFill>
                <a:latin typeface="JetBrains Mono"/>
              </a:rPr>
              <a:t>"Only a admin can approve"</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b="1" dirty="0">
                <a:solidFill>
                  <a:srgbClr val="000080"/>
                </a:solidFill>
                <a:latin typeface="JetBrains Mono"/>
              </a:rPr>
              <a:t>else</a:t>
            </a:r>
            <a:r>
              <a:rPr lang="en-US" altLang="en-US" sz="1400" dirty="0">
                <a:solidFill>
                  <a:srgbClr val="000000"/>
                </a:solidFill>
                <a:latin typeface="JetBrains Mono"/>
              </a:rPr>
              <a:t>:</a:t>
            </a: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dirty="0">
                <a:solidFill>
                  <a:srgbClr val="000080"/>
                </a:solidFill>
                <a:latin typeface="JetBrains Mono"/>
              </a:rPr>
              <a:t>print</a:t>
            </a:r>
            <a:r>
              <a:rPr lang="en-US" altLang="en-US" sz="1400" dirty="0">
                <a:solidFill>
                  <a:srgbClr val="000000"/>
                </a:solidFill>
                <a:latin typeface="JetBrains Mono"/>
              </a:rPr>
              <a:t>(</a:t>
            </a:r>
            <a:r>
              <a:rPr lang="en-US" altLang="en-US" sz="1400" b="1" dirty="0">
                <a:solidFill>
                  <a:srgbClr val="008000"/>
                </a:solidFill>
                <a:latin typeface="JetBrains Mono"/>
              </a:rPr>
              <a:t>"Document already published."</a:t>
            </a:r>
            <a:r>
              <a:rPr lang="en-US" altLang="en-US" sz="1400" dirty="0">
                <a:solidFill>
                  <a:srgbClr val="000000"/>
                </a:solidFill>
                <a:latin typeface="JetBrains Mono"/>
              </a:rPr>
              <a:t>)</a:t>
            </a:r>
            <a:br>
              <a:rPr lang="en-US" altLang="en-US" sz="1400" dirty="0">
                <a:solidFill>
                  <a:srgbClr val="000000"/>
                </a:solidFill>
                <a:latin typeface="JetBrains Mono"/>
              </a:rPr>
            </a:br>
            <a:br>
              <a:rPr lang="en-US" altLang="en-US" sz="1400" dirty="0">
                <a:solidFill>
                  <a:srgbClr val="000000"/>
                </a:solidFill>
                <a:latin typeface="JetBrains Mono"/>
              </a:rPr>
            </a:br>
            <a:r>
              <a:rPr lang="en-US" altLang="en-US" sz="1400" dirty="0">
                <a:solidFill>
                  <a:srgbClr val="000000"/>
                </a:solidFill>
                <a:latin typeface="JetBrains Mono"/>
              </a:rPr>
              <a:t>    </a:t>
            </a:r>
            <a:r>
              <a:rPr lang="en-US" altLang="en-US" sz="1400" i="1" dirty="0">
                <a:solidFill>
                  <a:srgbClr val="808080"/>
                </a:solidFill>
                <a:latin typeface="JetBrains Mono"/>
              </a:rPr>
              <a:t># ...</a:t>
            </a:r>
            <a:br>
              <a:rPr lang="en-US" altLang="en-US" sz="1400" i="1" dirty="0">
                <a:solidFill>
                  <a:srgbClr val="808080"/>
                </a:solidFill>
                <a:latin typeface="JetBrains Mono"/>
              </a:rPr>
            </a:br>
            <a:r>
              <a:rPr lang="en-US" altLang="en-US" sz="1400" i="1" dirty="0">
                <a:solidFill>
                  <a:srgbClr val="808080"/>
                </a:solidFill>
                <a:latin typeface="JetBrains Mono"/>
              </a:rPr>
              <a:t>    # ...</a:t>
            </a:r>
            <a:endParaRPr lang="en-US" altLang="en-US" sz="1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6493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734B-109F-4833-884F-341E42D46D1A}"/>
              </a:ext>
            </a:extLst>
          </p:cNvPr>
          <p:cNvSpPr>
            <a:spLocks noGrp="1"/>
          </p:cNvSpPr>
          <p:nvPr>
            <p:ph type="title"/>
          </p:nvPr>
        </p:nvSpPr>
        <p:spPr/>
        <p:txBody>
          <a:bodyPr/>
          <a:lstStyle/>
          <a:p>
            <a:r>
              <a:rPr lang="en-CA" dirty="0"/>
              <a:t>State Pattern</a:t>
            </a:r>
          </a:p>
        </p:txBody>
      </p:sp>
      <p:sp>
        <p:nvSpPr>
          <p:cNvPr id="3" name="Content Placeholder 2">
            <a:extLst>
              <a:ext uri="{FF2B5EF4-FFF2-40B4-BE49-F238E27FC236}">
                <a16:creationId xmlns:a16="http://schemas.microsoft.com/office/drawing/2014/main" id="{2BA8875B-2882-4A04-AC23-1821F440C33E}"/>
              </a:ext>
            </a:extLst>
          </p:cNvPr>
          <p:cNvSpPr>
            <a:spLocks noGrp="1"/>
          </p:cNvSpPr>
          <p:nvPr>
            <p:ph idx="1"/>
          </p:nvPr>
        </p:nvSpPr>
        <p:spPr>
          <a:xfrm>
            <a:off x="1097280" y="1845734"/>
            <a:ext cx="5530586" cy="4023360"/>
          </a:xfrm>
        </p:spPr>
        <p:txBody>
          <a:bodyPr/>
          <a:lstStyle/>
          <a:p>
            <a:r>
              <a:rPr lang="en-CA" dirty="0"/>
              <a:t>We separate the </a:t>
            </a:r>
            <a:r>
              <a:rPr lang="en-CA" dirty="0">
                <a:solidFill>
                  <a:srgbClr val="0070C0"/>
                </a:solidFill>
              </a:rPr>
              <a:t>State</a:t>
            </a:r>
            <a:r>
              <a:rPr lang="en-CA" dirty="0"/>
              <a:t> out into its own hierarchy.</a:t>
            </a:r>
          </a:p>
          <a:p>
            <a:r>
              <a:rPr lang="en-CA" dirty="0"/>
              <a:t>The </a:t>
            </a:r>
            <a:r>
              <a:rPr lang="en-CA" dirty="0">
                <a:solidFill>
                  <a:srgbClr val="C00000"/>
                </a:solidFill>
              </a:rPr>
              <a:t>Document</a:t>
            </a:r>
            <a:r>
              <a:rPr lang="en-CA" dirty="0"/>
              <a:t> should be dependent on a </a:t>
            </a:r>
            <a:r>
              <a:rPr lang="en-CA" dirty="0">
                <a:solidFill>
                  <a:srgbClr val="0070C0"/>
                </a:solidFill>
              </a:rPr>
              <a:t>State</a:t>
            </a:r>
            <a:r>
              <a:rPr lang="en-CA" dirty="0"/>
              <a:t> interface, not the concrete states (Draft, Moderation and Published). </a:t>
            </a:r>
          </a:p>
          <a:p>
            <a:r>
              <a:rPr lang="en-CA" dirty="0"/>
              <a:t>Now we can add and remove states easily.</a:t>
            </a:r>
          </a:p>
          <a:p>
            <a:r>
              <a:rPr lang="en-CA" dirty="0"/>
              <a:t>The State Interface consists of all the state-defined behaviours in the Document class. This allows the document class to communicate with it.</a:t>
            </a:r>
          </a:p>
          <a:p>
            <a:r>
              <a:rPr lang="en-CA" dirty="0"/>
              <a:t>(In a way the Document wraps around its state)</a:t>
            </a:r>
          </a:p>
          <a:p>
            <a:r>
              <a:rPr lang="en-CA" b="1" dirty="0">
                <a:solidFill>
                  <a:schemeClr val="accent2"/>
                </a:solidFill>
              </a:rPr>
              <a:t>Optionally</a:t>
            </a:r>
            <a:r>
              <a:rPr lang="en-CA" dirty="0"/>
              <a:t>, the state can keep a reference to the Document.</a:t>
            </a:r>
          </a:p>
        </p:txBody>
      </p:sp>
      <p:sp>
        <p:nvSpPr>
          <p:cNvPr id="4" name="Slide Number Placeholder 3">
            <a:extLst>
              <a:ext uri="{FF2B5EF4-FFF2-40B4-BE49-F238E27FC236}">
                <a16:creationId xmlns:a16="http://schemas.microsoft.com/office/drawing/2014/main" id="{36766964-867E-4DCC-86AA-0D125A4FE86E}"/>
              </a:ext>
            </a:extLst>
          </p:cNvPr>
          <p:cNvSpPr>
            <a:spLocks noGrp="1"/>
          </p:cNvSpPr>
          <p:nvPr>
            <p:ph type="sldNum" sz="quarter" idx="12"/>
          </p:nvPr>
        </p:nvSpPr>
        <p:spPr/>
        <p:txBody>
          <a:bodyPr/>
          <a:lstStyle/>
          <a:p>
            <a:fld id="{629637A9-119A-49DA-BD12-AAC58B377D80}" type="slidenum">
              <a:rPr lang="en-US" smtClean="0"/>
              <a:t>18</a:t>
            </a:fld>
            <a:endParaRPr lang="en-US" dirty="0"/>
          </a:p>
        </p:txBody>
      </p:sp>
      <p:pic>
        <p:nvPicPr>
          <p:cNvPr id="16386" name="Picture 2" descr="Document delegates the work to a state object">
            <a:extLst>
              <a:ext uri="{FF2B5EF4-FFF2-40B4-BE49-F238E27FC236}">
                <a16:creationId xmlns:a16="http://schemas.microsoft.com/office/drawing/2014/main" id="{8586B8C3-B06C-430F-AC2A-F2FD09390D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2327" y="2249610"/>
            <a:ext cx="5164850" cy="33729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479973" y="5869094"/>
            <a:ext cx="4067204" cy="369332"/>
          </a:xfrm>
          <a:prstGeom prst="rect">
            <a:avLst/>
          </a:prstGeom>
        </p:spPr>
        <p:txBody>
          <a:bodyPr wrap="none">
            <a:spAutoFit/>
          </a:bodyPr>
          <a:lstStyle/>
          <a:p>
            <a:r>
              <a:rPr lang="en-CA" dirty="0">
                <a:solidFill>
                  <a:srgbClr val="0070C0"/>
                </a:solidFill>
              </a:rPr>
              <a:t>document_state_pattern_example.py***</a:t>
            </a:r>
          </a:p>
        </p:txBody>
      </p:sp>
      <p:sp>
        <p:nvSpPr>
          <p:cNvPr id="7" name="Rectangle 6"/>
          <p:cNvSpPr/>
          <p:nvPr/>
        </p:nvSpPr>
        <p:spPr>
          <a:xfrm>
            <a:off x="7647709" y="2354033"/>
            <a:ext cx="1685473" cy="142364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p:cNvSpPr/>
          <p:nvPr/>
        </p:nvSpPr>
        <p:spPr>
          <a:xfrm>
            <a:off x="9955874" y="2344797"/>
            <a:ext cx="1517005" cy="1094080"/>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p:cNvSpPr/>
          <p:nvPr/>
        </p:nvSpPr>
        <p:spPr>
          <a:xfrm>
            <a:off x="10169236" y="3842753"/>
            <a:ext cx="1043247" cy="1181829"/>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3407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6291-1F41-4920-AFF6-E7F03B6DD7BC}"/>
              </a:ext>
            </a:extLst>
          </p:cNvPr>
          <p:cNvSpPr>
            <a:spLocks noGrp="1"/>
          </p:cNvSpPr>
          <p:nvPr>
            <p:ph type="title"/>
          </p:nvPr>
        </p:nvSpPr>
        <p:spPr/>
        <p:txBody>
          <a:bodyPr/>
          <a:lstStyle/>
          <a:p>
            <a:r>
              <a:rPr lang="en-CA" dirty="0"/>
              <a:t>State: Why and When do we use it</a:t>
            </a:r>
          </a:p>
        </p:txBody>
      </p:sp>
      <p:sp>
        <p:nvSpPr>
          <p:cNvPr id="3" name="Content Placeholder 2">
            <a:extLst>
              <a:ext uri="{FF2B5EF4-FFF2-40B4-BE49-F238E27FC236}">
                <a16:creationId xmlns:a16="http://schemas.microsoft.com/office/drawing/2014/main" id="{5CF655CF-6D80-42A3-BED1-AEB9807DCE65}"/>
              </a:ext>
            </a:extLst>
          </p:cNvPr>
          <p:cNvSpPr>
            <a:spLocks noGrp="1"/>
          </p:cNvSpPr>
          <p:nvPr>
            <p:ph idx="1"/>
          </p:nvPr>
        </p:nvSpPr>
        <p:spPr>
          <a:xfrm>
            <a:off x="1097280" y="1845734"/>
            <a:ext cx="6827520" cy="4023360"/>
          </a:xfrm>
        </p:spPr>
        <p:txBody>
          <a:bodyPr>
            <a:normAutofit lnSpcReduction="10000"/>
          </a:bodyPr>
          <a:lstStyle/>
          <a:p>
            <a:pPr>
              <a:buFont typeface="Wingdings" panose="05000000000000000000" pitchFamily="2" charset="2"/>
              <a:buChar char="§"/>
            </a:pPr>
            <a:r>
              <a:rPr lang="en-CA" dirty="0"/>
              <a:t> Use this pattern when an object’s behaviour is heavily dependent on its states and the number of states can be large (or you may want to add more in the future)</a:t>
            </a:r>
          </a:p>
          <a:p>
            <a:pPr>
              <a:buFont typeface="Wingdings" panose="05000000000000000000" pitchFamily="2" charset="2"/>
              <a:buChar char="§"/>
            </a:pPr>
            <a:r>
              <a:rPr lang="en-CA" dirty="0"/>
              <a:t> Avoid massive if statement blocks to handle object behaviours based on state conditions.</a:t>
            </a:r>
          </a:p>
          <a:p>
            <a:pPr>
              <a:buFont typeface="Wingdings" panose="05000000000000000000" pitchFamily="2" charset="2"/>
              <a:buChar char="§"/>
            </a:pPr>
            <a:r>
              <a:rPr lang="en-CA" dirty="0"/>
              <a:t> You can create hierarchies of state classes if there are a lot of similar states that share code.</a:t>
            </a:r>
          </a:p>
          <a:p>
            <a:pPr>
              <a:buFont typeface="Wingdings" panose="05000000000000000000" pitchFamily="2" charset="2"/>
              <a:buChar char="§"/>
            </a:pPr>
            <a:r>
              <a:rPr lang="en-CA" dirty="0"/>
              <a:t> Implements the Single Responsibility Principle. Each state is self-contained.</a:t>
            </a:r>
          </a:p>
          <a:p>
            <a:pPr>
              <a:buFont typeface="Wingdings" panose="05000000000000000000" pitchFamily="2" charset="2"/>
              <a:buChar char="§"/>
            </a:pPr>
            <a:r>
              <a:rPr lang="en-CA" dirty="0"/>
              <a:t>Implements the Open/Closed Principle. We can add and remove states without modifying the context and multiple if-else statements.</a:t>
            </a:r>
          </a:p>
        </p:txBody>
      </p:sp>
      <p:sp>
        <p:nvSpPr>
          <p:cNvPr id="4" name="Slide Number Placeholder 3">
            <a:extLst>
              <a:ext uri="{FF2B5EF4-FFF2-40B4-BE49-F238E27FC236}">
                <a16:creationId xmlns:a16="http://schemas.microsoft.com/office/drawing/2014/main" id="{7743C96B-9D12-4AC2-8A70-0B28D8AF1973}"/>
              </a:ext>
            </a:extLst>
          </p:cNvPr>
          <p:cNvSpPr>
            <a:spLocks noGrp="1"/>
          </p:cNvSpPr>
          <p:nvPr>
            <p:ph type="sldNum" sz="quarter" idx="12"/>
          </p:nvPr>
        </p:nvSpPr>
        <p:spPr/>
        <p:txBody>
          <a:bodyPr/>
          <a:lstStyle/>
          <a:p>
            <a:fld id="{629637A9-119A-49DA-BD12-AAC58B377D80}" type="slidenum">
              <a:rPr lang="en-US" smtClean="0"/>
              <a:t>19</a:t>
            </a:fld>
            <a:endParaRPr lang="en-US" dirty="0"/>
          </a:p>
        </p:txBody>
      </p:sp>
      <p:pic>
        <p:nvPicPr>
          <p:cNvPr id="6" name="Picture 2" descr="Related image">
            <a:extLst>
              <a:ext uri="{FF2B5EF4-FFF2-40B4-BE49-F238E27FC236}">
                <a16:creationId xmlns:a16="http://schemas.microsoft.com/office/drawing/2014/main" id="{69261D06-0803-4114-9BF2-22B795EBAC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8908" y="2504864"/>
            <a:ext cx="2857500"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660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2D6A3-EC0E-4CD5-9C94-A7DA42162C2B}"/>
              </a:ext>
            </a:extLst>
          </p:cNvPr>
          <p:cNvSpPr>
            <a:spLocks noGrp="1"/>
          </p:cNvSpPr>
          <p:nvPr>
            <p:ph type="title"/>
          </p:nvPr>
        </p:nvSpPr>
        <p:spPr/>
        <p:txBody>
          <a:bodyPr/>
          <a:lstStyle/>
          <a:p>
            <a:r>
              <a:rPr lang="en-CA" dirty="0"/>
              <a:t>State – Disadvantages</a:t>
            </a:r>
          </a:p>
        </p:txBody>
      </p:sp>
      <p:sp>
        <p:nvSpPr>
          <p:cNvPr id="3" name="Content Placeholder 2">
            <a:extLst>
              <a:ext uri="{FF2B5EF4-FFF2-40B4-BE49-F238E27FC236}">
                <a16:creationId xmlns:a16="http://schemas.microsoft.com/office/drawing/2014/main" id="{AED773D0-B777-4765-B27E-01083BEEB896}"/>
              </a:ext>
            </a:extLst>
          </p:cNvPr>
          <p:cNvSpPr>
            <a:spLocks noGrp="1"/>
          </p:cNvSpPr>
          <p:nvPr>
            <p:ph idx="1"/>
          </p:nvPr>
        </p:nvSpPr>
        <p:spPr>
          <a:xfrm>
            <a:off x="1097280" y="1845734"/>
            <a:ext cx="5833607" cy="4023360"/>
          </a:xfrm>
        </p:spPr>
        <p:txBody>
          <a:bodyPr/>
          <a:lstStyle/>
          <a:p>
            <a:pPr>
              <a:buFont typeface="Wingdings" panose="05000000000000000000" pitchFamily="2" charset="2"/>
              <a:buChar char="§"/>
            </a:pPr>
            <a:r>
              <a:rPr lang="en-CA" dirty="0"/>
              <a:t> Can become hard to maintain if the object rarely changes state or only has a few states. Sometimes a simpler solution involving conditional statements works better.</a:t>
            </a:r>
          </a:p>
          <a:p>
            <a:pPr>
              <a:buFont typeface="Wingdings" panose="05000000000000000000" pitchFamily="2" charset="2"/>
              <a:buChar char="§"/>
            </a:pPr>
            <a:r>
              <a:rPr lang="en-CA" dirty="0"/>
              <a:t> State Transitions can be complex, especially if each state knows about its neighbouring states (that it transitions from/into). This can make the states highly coupled with each other.</a:t>
            </a:r>
          </a:p>
          <a:p>
            <a:pPr>
              <a:buFont typeface="Wingdings" panose="05000000000000000000" pitchFamily="2" charset="2"/>
              <a:buChar char="§"/>
            </a:pPr>
            <a:r>
              <a:rPr lang="en-CA" dirty="0"/>
              <a:t> There are a lot more classes and code to maintain. </a:t>
            </a:r>
          </a:p>
        </p:txBody>
      </p:sp>
      <p:sp>
        <p:nvSpPr>
          <p:cNvPr id="4" name="Slide Number Placeholder 3">
            <a:extLst>
              <a:ext uri="{FF2B5EF4-FFF2-40B4-BE49-F238E27FC236}">
                <a16:creationId xmlns:a16="http://schemas.microsoft.com/office/drawing/2014/main" id="{AC643D81-FAA8-4C11-BD23-558274540641}"/>
              </a:ext>
            </a:extLst>
          </p:cNvPr>
          <p:cNvSpPr>
            <a:spLocks noGrp="1"/>
          </p:cNvSpPr>
          <p:nvPr>
            <p:ph type="sldNum" sz="quarter" idx="12"/>
          </p:nvPr>
        </p:nvSpPr>
        <p:spPr/>
        <p:txBody>
          <a:bodyPr/>
          <a:lstStyle/>
          <a:p>
            <a:fld id="{629637A9-119A-49DA-BD12-AAC58B377D80}" type="slidenum">
              <a:rPr lang="en-US" smtClean="0"/>
              <a:t>20</a:t>
            </a:fld>
            <a:endParaRPr lang="en-US" dirty="0"/>
          </a:p>
        </p:txBody>
      </p:sp>
      <p:pic>
        <p:nvPicPr>
          <p:cNvPr id="5" name="Picture 4" descr="Related image">
            <a:extLst>
              <a:ext uri="{FF2B5EF4-FFF2-40B4-BE49-F238E27FC236}">
                <a16:creationId xmlns:a16="http://schemas.microsoft.com/office/drawing/2014/main" id="{8FB8C510-DC60-4615-97A5-4D2E279067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5600" y="2536372"/>
            <a:ext cx="3062514" cy="2989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075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3048-18D6-46F9-80BE-C128BAC60E83}"/>
              </a:ext>
            </a:extLst>
          </p:cNvPr>
          <p:cNvSpPr>
            <a:spLocks noGrp="1"/>
          </p:cNvSpPr>
          <p:nvPr>
            <p:ph type="title"/>
          </p:nvPr>
        </p:nvSpPr>
        <p:spPr/>
        <p:txBody>
          <a:bodyPr/>
          <a:lstStyle/>
          <a:p>
            <a:r>
              <a:rPr lang="en-CA" dirty="0"/>
              <a:t>How is State different from Strategy?</a:t>
            </a:r>
          </a:p>
        </p:txBody>
      </p:sp>
      <p:sp>
        <p:nvSpPr>
          <p:cNvPr id="3" name="Content Placeholder 2">
            <a:extLst>
              <a:ext uri="{FF2B5EF4-FFF2-40B4-BE49-F238E27FC236}">
                <a16:creationId xmlns:a16="http://schemas.microsoft.com/office/drawing/2014/main" id="{FE5D18F9-7C6D-4AAA-8F14-136DA2652FBD}"/>
              </a:ext>
            </a:extLst>
          </p:cNvPr>
          <p:cNvSpPr>
            <a:spLocks noGrp="1"/>
          </p:cNvSpPr>
          <p:nvPr>
            <p:ph idx="1"/>
          </p:nvPr>
        </p:nvSpPr>
        <p:spPr/>
        <p:txBody>
          <a:bodyPr/>
          <a:lstStyle/>
          <a:p>
            <a:r>
              <a:rPr lang="en-CA" dirty="0"/>
              <a:t>They solve different problems</a:t>
            </a:r>
          </a:p>
          <a:p>
            <a:r>
              <a:rPr lang="en-CA" b="1" dirty="0"/>
              <a:t>Strategy</a:t>
            </a:r>
            <a:r>
              <a:rPr lang="en-CA" dirty="0"/>
              <a:t> </a:t>
            </a:r>
          </a:p>
          <a:p>
            <a:pPr lvl="1"/>
            <a:r>
              <a:rPr lang="en-CA" dirty="0"/>
              <a:t>Choose an algorithm at run time</a:t>
            </a:r>
          </a:p>
          <a:p>
            <a:pPr lvl="1"/>
            <a:r>
              <a:rPr lang="en-CA" dirty="0"/>
              <a:t>Algorithms </a:t>
            </a:r>
            <a:r>
              <a:rPr lang="en-CA" b="1" dirty="0"/>
              <a:t>don’t know</a:t>
            </a:r>
            <a:r>
              <a:rPr lang="en-CA" dirty="0"/>
              <a:t> about each other</a:t>
            </a:r>
          </a:p>
          <a:p>
            <a:pPr lvl="1"/>
            <a:r>
              <a:rPr lang="en-CA"/>
              <a:t>Strategy </a:t>
            </a:r>
            <a:r>
              <a:rPr lang="en-CA" dirty="0"/>
              <a:t>usually does not have a reference to context</a:t>
            </a:r>
          </a:p>
          <a:p>
            <a:r>
              <a:rPr lang="en-CA" b="1" dirty="0"/>
              <a:t>State</a:t>
            </a:r>
            <a:r>
              <a:rPr lang="en-CA" dirty="0"/>
              <a:t> </a:t>
            </a:r>
          </a:p>
          <a:p>
            <a:pPr lvl="1"/>
            <a:r>
              <a:rPr lang="en-CA" dirty="0"/>
              <a:t>Change between states often based on some rules prescribed by a finite state machine.</a:t>
            </a:r>
          </a:p>
          <a:p>
            <a:pPr lvl="1"/>
            <a:r>
              <a:rPr lang="en-CA" dirty="0"/>
              <a:t>States </a:t>
            </a:r>
            <a:r>
              <a:rPr lang="en-CA" b="1" dirty="0"/>
              <a:t>can know </a:t>
            </a:r>
            <a:r>
              <a:rPr lang="en-CA" dirty="0"/>
              <a:t>about each other</a:t>
            </a:r>
          </a:p>
          <a:p>
            <a:pPr lvl="1"/>
            <a:r>
              <a:rPr lang="en-CA"/>
              <a:t>Can </a:t>
            </a:r>
            <a:r>
              <a:rPr lang="en-CA" dirty="0"/>
              <a:t>have a reference to context</a:t>
            </a:r>
          </a:p>
        </p:txBody>
      </p:sp>
      <p:sp>
        <p:nvSpPr>
          <p:cNvPr id="4" name="Slide Number Placeholder 3">
            <a:extLst>
              <a:ext uri="{FF2B5EF4-FFF2-40B4-BE49-F238E27FC236}">
                <a16:creationId xmlns:a16="http://schemas.microsoft.com/office/drawing/2014/main" id="{69B99A45-01D0-47B4-A9AE-033A0E84E08A}"/>
              </a:ext>
            </a:extLst>
          </p:cNvPr>
          <p:cNvSpPr>
            <a:spLocks noGrp="1"/>
          </p:cNvSpPr>
          <p:nvPr>
            <p:ph type="sldNum" sz="quarter" idx="12"/>
          </p:nvPr>
        </p:nvSpPr>
        <p:spPr/>
        <p:txBody>
          <a:bodyPr/>
          <a:lstStyle/>
          <a:p>
            <a:fld id="{629637A9-119A-49DA-BD12-AAC58B377D80}" type="slidenum">
              <a:rPr lang="en-US" smtClean="0"/>
              <a:t>21</a:t>
            </a:fld>
            <a:endParaRPr lang="en-US" dirty="0"/>
          </a:p>
        </p:txBody>
      </p:sp>
    </p:spTree>
    <p:extLst>
      <p:ext uri="{BB962C8B-B14F-4D97-AF65-F5344CB8AC3E}">
        <p14:creationId xmlns:p14="http://schemas.microsoft.com/office/powerpoint/2010/main" val="773731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5929-839D-4533-9ACB-9443B6319628}"/>
              </a:ext>
            </a:extLst>
          </p:cNvPr>
          <p:cNvSpPr>
            <a:spLocks noGrp="1"/>
          </p:cNvSpPr>
          <p:nvPr>
            <p:ph type="title"/>
          </p:nvPr>
        </p:nvSpPr>
        <p:spPr/>
        <p:txBody>
          <a:bodyPr/>
          <a:lstStyle/>
          <a:p>
            <a:r>
              <a:rPr lang="en-CA" dirty="0"/>
              <a:t>Summary</a:t>
            </a:r>
          </a:p>
        </p:txBody>
      </p:sp>
      <p:sp>
        <p:nvSpPr>
          <p:cNvPr id="4" name="Slide Number Placeholder 3">
            <a:extLst>
              <a:ext uri="{FF2B5EF4-FFF2-40B4-BE49-F238E27FC236}">
                <a16:creationId xmlns:a16="http://schemas.microsoft.com/office/drawing/2014/main" id="{F2835EE4-2ADB-4AB0-B62F-B730884B5019}"/>
              </a:ext>
            </a:extLst>
          </p:cNvPr>
          <p:cNvSpPr>
            <a:spLocks noGrp="1"/>
          </p:cNvSpPr>
          <p:nvPr>
            <p:ph type="sldNum" sz="quarter" idx="12"/>
          </p:nvPr>
        </p:nvSpPr>
        <p:spPr/>
        <p:txBody>
          <a:bodyPr/>
          <a:lstStyle/>
          <a:p>
            <a:fld id="{629637A9-119A-49DA-BD12-AAC58B377D80}" type="slidenum">
              <a:rPr lang="en-US" smtClean="0"/>
              <a:t>22</a:t>
            </a:fld>
            <a:endParaRPr lang="en-US" dirty="0"/>
          </a:p>
        </p:txBody>
      </p:sp>
      <p:graphicFrame>
        <p:nvGraphicFramePr>
          <p:cNvPr id="5" name="Content Placeholder 4">
            <a:extLst>
              <a:ext uri="{FF2B5EF4-FFF2-40B4-BE49-F238E27FC236}">
                <a16:creationId xmlns:a16="http://schemas.microsoft.com/office/drawing/2014/main" id="{9D9170A0-46C5-414B-9992-F7C86E0E2A08}"/>
              </a:ext>
            </a:extLst>
          </p:cNvPr>
          <p:cNvGraphicFramePr>
            <a:graphicFrameLocks noGrp="1"/>
          </p:cNvGraphicFramePr>
          <p:nvPr>
            <p:ph idx="1"/>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216251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17872</TotalTime>
  <Words>2351</Words>
  <Application>Microsoft Office PowerPoint</Application>
  <PresentationFormat>Widescreen</PresentationFormat>
  <Paragraphs>201</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JetBrains Mono</vt:lpstr>
      <vt:lpstr>Wingdings</vt:lpstr>
      <vt:lpstr>Retrospect</vt:lpstr>
      <vt:lpstr>State</vt:lpstr>
      <vt:lpstr>State</vt:lpstr>
      <vt:lpstr>A Finite State Machine</vt:lpstr>
      <vt:lpstr>Apply this concept to objects</vt:lpstr>
      <vt:lpstr>State – Naïve Implementation</vt:lpstr>
      <vt:lpstr>State – Naïve Implementation</vt:lpstr>
      <vt:lpstr>State Pattern</vt:lpstr>
      <vt:lpstr>The generalized pattern</vt:lpstr>
      <vt:lpstr>State example</vt:lpstr>
      <vt:lpstr>State example</vt:lpstr>
      <vt:lpstr>State transition diagram</vt:lpstr>
      <vt:lpstr>State example</vt:lpstr>
      <vt:lpstr>State example</vt:lpstr>
      <vt:lpstr>State example</vt:lpstr>
      <vt:lpstr>State example</vt:lpstr>
      <vt:lpstr>State example</vt:lpstr>
      <vt:lpstr>Another example –  Document publishing </vt:lpstr>
      <vt:lpstr>State Pattern</vt:lpstr>
      <vt:lpstr>State: Why and When do we use it</vt:lpstr>
      <vt:lpstr>State – Disadvantages</vt:lpstr>
      <vt:lpstr>How is State different from Strategy?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Generators</dc:title>
  <dc:creator>Rahul Kukreja</dc:creator>
  <cp:lastModifiedBy>Nabil Al-Rousan</cp:lastModifiedBy>
  <cp:revision>328</cp:revision>
  <cp:lastPrinted>2019-10-07T18:15:39Z</cp:lastPrinted>
  <dcterms:created xsi:type="dcterms:W3CDTF">2019-10-07T17:34:24Z</dcterms:created>
  <dcterms:modified xsi:type="dcterms:W3CDTF">2024-11-07T22:10:03Z</dcterms:modified>
</cp:coreProperties>
</file>