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0"/>
  </p:notesMasterIdLst>
  <p:sldIdLst>
    <p:sldId id="256" r:id="rId2"/>
    <p:sldId id="1351" r:id="rId3"/>
    <p:sldId id="1374" r:id="rId4"/>
    <p:sldId id="1375" r:id="rId5"/>
    <p:sldId id="1376" r:id="rId6"/>
    <p:sldId id="1354" r:id="rId7"/>
    <p:sldId id="1379" r:id="rId8"/>
    <p:sldId id="1434" r:id="rId9"/>
    <p:sldId id="1378" r:id="rId10"/>
    <p:sldId id="1428" r:id="rId11"/>
    <p:sldId id="1429" r:id="rId12"/>
    <p:sldId id="1430" r:id="rId13"/>
    <p:sldId id="1431" r:id="rId14"/>
    <p:sldId id="1380" r:id="rId15"/>
    <p:sldId id="1381" r:id="rId16"/>
    <p:sldId id="1427" r:id="rId17"/>
    <p:sldId id="1435" r:id="rId18"/>
    <p:sldId id="1382" r:id="rId19"/>
    <p:sldId id="1383" r:id="rId20"/>
    <p:sldId id="1384" r:id="rId21"/>
    <p:sldId id="1385" r:id="rId22"/>
    <p:sldId id="1425" r:id="rId23"/>
    <p:sldId id="1436" r:id="rId24"/>
    <p:sldId id="1387" r:id="rId25"/>
    <p:sldId id="1432" r:id="rId26"/>
    <p:sldId id="1389" r:id="rId27"/>
    <p:sldId id="1391" r:id="rId28"/>
    <p:sldId id="1437" r:id="rId29"/>
    <p:sldId id="1377" r:id="rId30"/>
    <p:sldId id="1393" r:id="rId31"/>
    <p:sldId id="1394" r:id="rId32"/>
    <p:sldId id="1440" r:id="rId33"/>
    <p:sldId id="1441" r:id="rId34"/>
    <p:sldId id="1438" r:id="rId35"/>
    <p:sldId id="1395" r:id="rId36"/>
    <p:sldId id="1397" r:id="rId37"/>
    <p:sldId id="1398" r:id="rId38"/>
    <p:sldId id="291" r:id="rId39"/>
    <p:sldId id="292" r:id="rId40"/>
    <p:sldId id="293" r:id="rId41"/>
    <p:sldId id="311" r:id="rId42"/>
    <p:sldId id="312" r:id="rId43"/>
    <p:sldId id="1401" r:id="rId44"/>
    <p:sldId id="1403" r:id="rId45"/>
    <p:sldId id="1439" r:id="rId46"/>
    <p:sldId id="1404" r:id="rId47"/>
    <p:sldId id="1433" r:id="rId48"/>
    <p:sldId id="1426" r:id="rId49"/>
    <p:sldId id="1406" r:id="rId50"/>
    <p:sldId id="310" r:id="rId51"/>
    <p:sldId id="1407" r:id="rId52"/>
    <p:sldId id="1408" r:id="rId53"/>
    <p:sldId id="1409" r:id="rId54"/>
    <p:sldId id="1410" r:id="rId55"/>
    <p:sldId id="1411" r:id="rId56"/>
    <p:sldId id="1412" r:id="rId57"/>
    <p:sldId id="1413" r:id="rId58"/>
    <p:sldId id="1414" r:id="rId59"/>
    <p:sldId id="1415" r:id="rId60"/>
    <p:sldId id="1416" r:id="rId61"/>
    <p:sldId id="1417" r:id="rId62"/>
    <p:sldId id="1418" r:id="rId63"/>
    <p:sldId id="1419" r:id="rId64"/>
    <p:sldId id="1420" r:id="rId65"/>
    <p:sldId id="1421" r:id="rId66"/>
    <p:sldId id="1422" r:id="rId67"/>
    <p:sldId id="1423" r:id="rId68"/>
    <p:sldId id="1424" r:id="rId6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3C52B1B-8552-4EA8-9F30-F71A1F646BFC}">
          <p14:sldIdLst>
            <p14:sldId id="256"/>
            <p14:sldId id="1351"/>
            <p14:sldId id="1374"/>
            <p14:sldId id="1375"/>
            <p14:sldId id="1376"/>
            <p14:sldId id="1354"/>
            <p14:sldId id="1379"/>
            <p14:sldId id="1434"/>
            <p14:sldId id="1378"/>
            <p14:sldId id="1428"/>
            <p14:sldId id="1429"/>
            <p14:sldId id="1430"/>
            <p14:sldId id="1431"/>
            <p14:sldId id="1380"/>
            <p14:sldId id="1381"/>
            <p14:sldId id="1427"/>
            <p14:sldId id="1435"/>
            <p14:sldId id="1382"/>
            <p14:sldId id="1383"/>
            <p14:sldId id="1384"/>
            <p14:sldId id="1385"/>
            <p14:sldId id="1425"/>
            <p14:sldId id="1436"/>
            <p14:sldId id="1387"/>
            <p14:sldId id="1432"/>
            <p14:sldId id="1389"/>
            <p14:sldId id="1391"/>
            <p14:sldId id="1437"/>
            <p14:sldId id="1377"/>
            <p14:sldId id="1393"/>
            <p14:sldId id="1394"/>
            <p14:sldId id="1440"/>
            <p14:sldId id="1441"/>
            <p14:sldId id="1438"/>
            <p14:sldId id="1395"/>
            <p14:sldId id="1397"/>
            <p14:sldId id="1398"/>
            <p14:sldId id="291"/>
            <p14:sldId id="292"/>
            <p14:sldId id="293"/>
            <p14:sldId id="311"/>
            <p14:sldId id="312"/>
            <p14:sldId id="1401"/>
            <p14:sldId id="1403"/>
            <p14:sldId id="1439"/>
            <p14:sldId id="1404"/>
            <p14:sldId id="1433"/>
            <p14:sldId id="1426"/>
            <p14:sldId id="1406"/>
            <p14:sldId id="310"/>
            <p14:sldId id="1407"/>
            <p14:sldId id="1408"/>
            <p14:sldId id="1409"/>
            <p14:sldId id="1410"/>
            <p14:sldId id="1411"/>
            <p14:sldId id="1412"/>
            <p14:sldId id="1413"/>
            <p14:sldId id="1414"/>
            <p14:sldId id="1415"/>
            <p14:sldId id="1416"/>
            <p14:sldId id="1417"/>
            <p14:sldId id="1418"/>
            <p14:sldId id="1419"/>
            <p14:sldId id="1420"/>
            <p14:sldId id="1421"/>
            <p14:sldId id="1422"/>
            <p14:sldId id="1423"/>
            <p14:sldId id="14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320E"/>
    <a:srgbClr val="CBC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3525" autoAdjust="0"/>
  </p:normalViewPr>
  <p:slideViewPr>
    <p:cSldViewPr snapToGrid="0">
      <p:cViewPr varScale="1">
        <p:scale>
          <a:sx n="72" d="100"/>
          <a:sy n="72" d="100"/>
        </p:scale>
        <p:origin x="57" y="5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97FE11-279C-4A31-AF18-49445EF40DF0}" type="datetimeFigureOut">
              <a:rPr lang="en-CA" smtClean="0"/>
              <a:t>2025-10-02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69246-A70B-4C9F-A67E-C2E21AFF715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2055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Code is rewritten so </a:t>
            </a:r>
            <a:r>
              <a:rPr lang="en-CA" dirty="0" err="1"/>
              <a:t>characterCreationUI</a:t>
            </a:r>
            <a:r>
              <a:rPr lang="en-CA" dirty="0"/>
              <a:t> doesn’t depend on </a:t>
            </a:r>
            <a:r>
              <a:rPr lang="en-CA" dirty="0" err="1"/>
              <a:t>CharacterCreator</a:t>
            </a:r>
            <a:r>
              <a:rPr lang="en-CA" dirty="0"/>
              <a:t>. Put Game in the middle and re-wrote how character creator saves character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51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4292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52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0264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://stupidpythonideas.blogspot.com/2013/11/does-python-pass-by-value-or-by.html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6181634" cy="3566160"/>
          </a:xfrm>
        </p:spPr>
        <p:txBody>
          <a:bodyPr/>
          <a:lstStyle/>
          <a:p>
            <a:r>
              <a:rPr lang="en-CA" dirty="0"/>
              <a:t>SOLID Design Principles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5946635" cy="1143000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And the Law of Demeter.</a:t>
            </a:r>
          </a:p>
          <a:p>
            <a:r>
              <a:rPr lang="en-CA" dirty="0"/>
              <a:t>COMP3522 Object Oriented Programming 2: Week 3</a:t>
            </a:r>
          </a:p>
        </p:txBody>
      </p:sp>
      <p:pic>
        <p:nvPicPr>
          <p:cNvPr id="5124" name="Picture 4" descr="Image result for SOLID Jenga">
            <a:extLst>
              <a:ext uri="{FF2B5EF4-FFF2-40B4-BE49-F238E27FC236}">
                <a16:creationId xmlns:a16="http://schemas.microsoft.com/office/drawing/2014/main" id="{FF9AF562-3DF7-4B98-893E-6E1BE6D3B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727" y="304799"/>
            <a:ext cx="3848957" cy="5769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307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F586D4B-4C6C-435F-B4F6-C7A93687684E}"/>
              </a:ext>
            </a:extLst>
          </p:cNvPr>
          <p:cNvSpPr/>
          <p:nvPr/>
        </p:nvSpPr>
        <p:spPr>
          <a:xfrm>
            <a:off x="6667138" y="2382251"/>
            <a:ext cx="1923143" cy="13570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2BF4AA-A225-4915-A436-BCF970B48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840721" cy="1450757"/>
          </a:xfrm>
        </p:spPr>
        <p:txBody>
          <a:bodyPr>
            <a:normAutofit/>
          </a:bodyPr>
          <a:lstStyle/>
          <a:p>
            <a:r>
              <a:rPr lang="en-CA" sz="4400" dirty="0"/>
              <a:t>Recap: Remember this?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CB4FB4-D5A4-419E-8C15-5B85E0DF72B2}"/>
              </a:ext>
            </a:extLst>
          </p:cNvPr>
          <p:cNvSpPr/>
          <p:nvPr/>
        </p:nvSpPr>
        <p:spPr>
          <a:xfrm>
            <a:off x="3360058" y="2382251"/>
            <a:ext cx="1923143" cy="13570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UI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C91D7FD-061C-4552-B767-63EE818D2A78}"/>
              </a:ext>
            </a:extLst>
          </p:cNvPr>
          <p:cNvCxnSpPr>
            <a:stCxn id="5" idx="3"/>
          </p:cNvCxnSpPr>
          <p:nvPr/>
        </p:nvCxnSpPr>
        <p:spPr>
          <a:xfrm>
            <a:off x="5283201" y="3060794"/>
            <a:ext cx="13839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0B7D489-1B5A-46C0-9C0E-D72827EECD17}"/>
              </a:ext>
            </a:extLst>
          </p:cNvPr>
          <p:cNvSpPr txBox="1">
            <a:spLocks/>
          </p:cNvSpPr>
          <p:nvPr/>
        </p:nvSpPr>
        <p:spPr>
          <a:xfrm>
            <a:off x="1336209" y="4285118"/>
            <a:ext cx="9934133" cy="167104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CA"/>
              <a:t>Say we were developing an app with a UI that was populated with some data from a text file.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CA"/>
          </a:p>
          <a:p>
            <a:pPr marL="0" indent="0">
              <a:buFont typeface="Calibri" panose="020F0502020204030204" pitchFamily="34" charset="0"/>
              <a:buNone/>
            </a:pPr>
            <a:r>
              <a:rPr lang="en-CA"/>
              <a:t>After a few releases and years of development, for some reason we decide to switch out to a more secure source of data , perhaps an encrypted JSON file or even perhaps a SQLite Database. We would have to edit all the modules/classes that dealt with our app’s UI!</a:t>
            </a:r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66A290-4B7F-4B75-8208-76DFC3EFC69A}"/>
              </a:ext>
            </a:extLst>
          </p:cNvPr>
          <p:cNvCxnSpPr>
            <a:cxnSpLocks/>
          </p:cNvCxnSpPr>
          <p:nvPr/>
        </p:nvCxnSpPr>
        <p:spPr>
          <a:xfrm>
            <a:off x="6667138" y="2794000"/>
            <a:ext cx="19470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47203DA-FF57-4DB3-90C1-7E421158C7A5}"/>
              </a:ext>
            </a:extLst>
          </p:cNvPr>
          <p:cNvSpPr txBox="1"/>
          <p:nvPr/>
        </p:nvSpPr>
        <p:spPr>
          <a:xfrm>
            <a:off x="6667138" y="2382251"/>
            <a:ext cx="192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Text File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4ECEB8-3078-4C2F-AE8E-594B327507D4}"/>
              </a:ext>
            </a:extLst>
          </p:cNvPr>
          <p:cNvSpPr txBox="1"/>
          <p:nvPr/>
        </p:nvSpPr>
        <p:spPr>
          <a:xfrm>
            <a:off x="6691086" y="2827008"/>
            <a:ext cx="192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read()</a:t>
            </a:r>
            <a:br>
              <a:rPr lang="en-CA" dirty="0"/>
            </a:br>
            <a:r>
              <a:rPr lang="en-CA" dirty="0"/>
              <a:t>write()</a:t>
            </a:r>
            <a:br>
              <a:rPr lang="en-CA" dirty="0"/>
            </a:br>
            <a:r>
              <a:rPr lang="en-CA" dirty="0"/>
              <a:t>search()</a:t>
            </a:r>
          </a:p>
        </p:txBody>
      </p:sp>
    </p:spTree>
    <p:extLst>
      <p:ext uri="{BB962C8B-B14F-4D97-AF65-F5344CB8AC3E}">
        <p14:creationId xmlns:p14="http://schemas.microsoft.com/office/powerpoint/2010/main" val="3590640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C4A8-495D-4C5C-8BC9-E5F3D928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Recap: Decoupling dependencies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220217-9774-441A-B913-BB82955BD3C7}"/>
              </a:ext>
            </a:extLst>
          </p:cNvPr>
          <p:cNvSpPr/>
          <p:nvPr/>
        </p:nvSpPr>
        <p:spPr>
          <a:xfrm>
            <a:off x="4463144" y="1861676"/>
            <a:ext cx="1923143" cy="13570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UI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BEDEA0-E52C-44CE-9AC0-2FBDE720DC0E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386287" y="2540219"/>
            <a:ext cx="13839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EE92C31-4456-4956-9FCE-34084096F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37003"/>
            <a:ext cx="2719977" cy="377756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We can decouple our system to instead depend on a data source which is an </a:t>
            </a:r>
            <a:r>
              <a:rPr lang="en-CA" b="1" dirty="0"/>
              <a:t>abstraction </a:t>
            </a:r>
            <a:r>
              <a:rPr lang="en-CA" dirty="0"/>
              <a:t>that </a:t>
            </a:r>
            <a:r>
              <a:rPr lang="en-CA" b="1" dirty="0"/>
              <a:t>hides</a:t>
            </a:r>
            <a:r>
              <a:rPr lang="en-CA" dirty="0"/>
              <a:t> different data sources.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Our UI would just have to be </a:t>
            </a:r>
            <a:r>
              <a:rPr lang="en-CA" b="1" u="sng" dirty="0"/>
              <a:t>dependent on a common interface</a:t>
            </a:r>
            <a:r>
              <a:rPr lang="en-CA" dirty="0"/>
              <a:t> provided by the Data Source and not be concerned with how that data source is implemented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1EA861-6C4E-4D05-ACB1-17F9021305B6}"/>
              </a:ext>
            </a:extLst>
          </p:cNvPr>
          <p:cNvSpPr/>
          <p:nvPr/>
        </p:nvSpPr>
        <p:spPr>
          <a:xfrm>
            <a:off x="5556795" y="4433893"/>
            <a:ext cx="1923143" cy="13570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C7F48B-28C5-4731-827F-1072E9C25870}"/>
              </a:ext>
            </a:extLst>
          </p:cNvPr>
          <p:cNvSpPr txBox="1"/>
          <p:nvPr/>
        </p:nvSpPr>
        <p:spPr>
          <a:xfrm>
            <a:off x="5556795" y="4433893"/>
            <a:ext cx="192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Text 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A894D-B72A-4119-9D29-69966F5B065E}"/>
              </a:ext>
            </a:extLst>
          </p:cNvPr>
          <p:cNvSpPr txBox="1"/>
          <p:nvPr/>
        </p:nvSpPr>
        <p:spPr>
          <a:xfrm>
            <a:off x="5580743" y="4878650"/>
            <a:ext cx="192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read()</a:t>
            </a:r>
            <a:br>
              <a:rPr lang="en-CA" dirty="0"/>
            </a:br>
            <a:r>
              <a:rPr lang="en-CA" dirty="0"/>
              <a:t>write()</a:t>
            </a:r>
            <a:br>
              <a:rPr lang="en-CA" dirty="0"/>
            </a:br>
            <a:r>
              <a:rPr lang="en-CA" dirty="0"/>
              <a:t>search()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F1BB5E-3D91-4079-AC07-8605D7A3DD9A}"/>
              </a:ext>
            </a:extLst>
          </p:cNvPr>
          <p:cNvSpPr/>
          <p:nvPr/>
        </p:nvSpPr>
        <p:spPr>
          <a:xfrm>
            <a:off x="7794172" y="1870841"/>
            <a:ext cx="1923143" cy="16450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1599F9-A83A-4CBD-B5D3-8D441652D1B8}"/>
              </a:ext>
            </a:extLst>
          </p:cNvPr>
          <p:cNvSpPr txBox="1"/>
          <p:nvPr/>
        </p:nvSpPr>
        <p:spPr>
          <a:xfrm>
            <a:off x="7794172" y="1870841"/>
            <a:ext cx="192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Data Source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672BAC-3A3C-4386-8315-CA561F29D3D4}"/>
              </a:ext>
            </a:extLst>
          </p:cNvPr>
          <p:cNvSpPr txBox="1"/>
          <p:nvPr/>
        </p:nvSpPr>
        <p:spPr>
          <a:xfrm>
            <a:off x="7818120" y="2315598"/>
            <a:ext cx="1923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retrieve()</a:t>
            </a:r>
            <a:br>
              <a:rPr lang="en-CA" dirty="0"/>
            </a:br>
            <a:r>
              <a:rPr lang="en-CA" dirty="0"/>
              <a:t>update()</a:t>
            </a:r>
            <a:br>
              <a:rPr lang="en-CA" dirty="0"/>
            </a:br>
            <a:r>
              <a:rPr lang="en-CA" dirty="0"/>
              <a:t>search()</a:t>
            </a:r>
          </a:p>
          <a:p>
            <a:r>
              <a:rPr lang="en-CA" dirty="0"/>
              <a:t>delete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415862-692C-410E-972F-4D96E83681DD}"/>
              </a:ext>
            </a:extLst>
          </p:cNvPr>
          <p:cNvCxnSpPr>
            <a:cxnSpLocks/>
          </p:cNvCxnSpPr>
          <p:nvPr/>
        </p:nvCxnSpPr>
        <p:spPr>
          <a:xfrm>
            <a:off x="7794172" y="2315598"/>
            <a:ext cx="19231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0DBEA46-5D1E-480C-A6D1-A8F1FA497635}"/>
              </a:ext>
            </a:extLst>
          </p:cNvPr>
          <p:cNvCxnSpPr>
            <a:cxnSpLocks/>
          </p:cNvCxnSpPr>
          <p:nvPr/>
        </p:nvCxnSpPr>
        <p:spPr>
          <a:xfrm>
            <a:off x="5556795" y="4803225"/>
            <a:ext cx="19231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0ECFBBC-3945-4CE7-AA05-C95D4DB62216}"/>
              </a:ext>
            </a:extLst>
          </p:cNvPr>
          <p:cNvSpPr/>
          <p:nvPr/>
        </p:nvSpPr>
        <p:spPr>
          <a:xfrm>
            <a:off x="7842795" y="4433893"/>
            <a:ext cx="1923143" cy="16450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DAFF8C-61A8-4F73-9386-A93BCD58F0A7}"/>
              </a:ext>
            </a:extLst>
          </p:cNvPr>
          <p:cNvSpPr txBox="1"/>
          <p:nvPr/>
        </p:nvSpPr>
        <p:spPr>
          <a:xfrm>
            <a:off x="7842795" y="4433893"/>
            <a:ext cx="192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SQLite DB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E5432B-DDDD-4C02-A5A1-74F2A09CCF38}"/>
              </a:ext>
            </a:extLst>
          </p:cNvPr>
          <p:cNvSpPr txBox="1"/>
          <p:nvPr/>
        </p:nvSpPr>
        <p:spPr>
          <a:xfrm>
            <a:off x="7866743" y="4878650"/>
            <a:ext cx="1923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connect()</a:t>
            </a:r>
          </a:p>
          <a:p>
            <a:r>
              <a:rPr lang="en-CA" dirty="0"/>
              <a:t>read()</a:t>
            </a:r>
            <a:br>
              <a:rPr lang="en-CA" dirty="0"/>
            </a:br>
            <a:r>
              <a:rPr lang="en-CA" dirty="0"/>
              <a:t>write()</a:t>
            </a:r>
            <a:br>
              <a:rPr lang="en-CA" dirty="0"/>
            </a:br>
            <a:r>
              <a:rPr lang="en-CA" dirty="0"/>
              <a:t>search()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F419F2C-A54E-4B57-8FBC-C188BC2FA396}"/>
              </a:ext>
            </a:extLst>
          </p:cNvPr>
          <p:cNvCxnSpPr>
            <a:cxnSpLocks/>
          </p:cNvCxnSpPr>
          <p:nvPr/>
        </p:nvCxnSpPr>
        <p:spPr>
          <a:xfrm>
            <a:off x="7842795" y="4803225"/>
            <a:ext cx="19231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7F54F62-B95D-449F-9E92-64B3CE1D1FCD}"/>
              </a:ext>
            </a:extLst>
          </p:cNvPr>
          <p:cNvSpPr/>
          <p:nvPr/>
        </p:nvSpPr>
        <p:spPr>
          <a:xfrm>
            <a:off x="9978571" y="4433893"/>
            <a:ext cx="1923143" cy="18559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D8E0DF-B80F-42D4-A732-EDFE5FE3F198}"/>
              </a:ext>
            </a:extLst>
          </p:cNvPr>
          <p:cNvSpPr txBox="1"/>
          <p:nvPr/>
        </p:nvSpPr>
        <p:spPr>
          <a:xfrm>
            <a:off x="9978571" y="4433893"/>
            <a:ext cx="192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JSON File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E3C641-65D5-4D2A-9305-FD0EDE139577}"/>
              </a:ext>
            </a:extLst>
          </p:cNvPr>
          <p:cNvSpPr txBox="1"/>
          <p:nvPr/>
        </p:nvSpPr>
        <p:spPr>
          <a:xfrm>
            <a:off x="10046791" y="4835108"/>
            <a:ext cx="18208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read()</a:t>
            </a:r>
            <a:br>
              <a:rPr lang="en-CA" dirty="0"/>
            </a:br>
            <a:r>
              <a:rPr lang="en-CA" dirty="0"/>
              <a:t>write()</a:t>
            </a:r>
            <a:br>
              <a:rPr lang="en-CA" dirty="0"/>
            </a:br>
            <a:r>
              <a:rPr lang="en-CA" dirty="0"/>
              <a:t>search()</a:t>
            </a:r>
          </a:p>
          <a:p>
            <a:r>
              <a:rPr lang="en-CA" dirty="0"/>
              <a:t>serialize()</a:t>
            </a:r>
          </a:p>
          <a:p>
            <a:r>
              <a:rPr lang="en-CA" dirty="0"/>
              <a:t>deserialize()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74B8C54-E6E9-4930-B1EB-BDDFF8ACA666}"/>
              </a:ext>
            </a:extLst>
          </p:cNvPr>
          <p:cNvCxnSpPr>
            <a:cxnSpLocks/>
          </p:cNvCxnSpPr>
          <p:nvPr/>
        </p:nvCxnSpPr>
        <p:spPr>
          <a:xfrm>
            <a:off x="9978571" y="4803225"/>
            <a:ext cx="19231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D25BD78-3931-45BA-9C3E-3B41045466D3}"/>
              </a:ext>
            </a:extLst>
          </p:cNvPr>
          <p:cNvCxnSpPr>
            <a:cxnSpLocks/>
          </p:cNvCxnSpPr>
          <p:nvPr/>
        </p:nvCxnSpPr>
        <p:spPr>
          <a:xfrm>
            <a:off x="6600006" y="4020062"/>
            <a:ext cx="40077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E0F268E-590B-4357-B707-4F4ABD5C3B49}"/>
              </a:ext>
            </a:extLst>
          </p:cNvPr>
          <p:cNvCxnSpPr/>
          <p:nvPr/>
        </p:nvCxnSpPr>
        <p:spPr>
          <a:xfrm flipV="1">
            <a:off x="8750664" y="3558899"/>
            <a:ext cx="0" cy="4611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AE7F0AA-FDEB-4579-8505-45888B9A7A46}"/>
              </a:ext>
            </a:extLst>
          </p:cNvPr>
          <p:cNvCxnSpPr>
            <a:cxnSpLocks/>
          </p:cNvCxnSpPr>
          <p:nvPr/>
        </p:nvCxnSpPr>
        <p:spPr>
          <a:xfrm>
            <a:off x="6600006" y="4020062"/>
            <a:ext cx="0" cy="4138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0E8FA1F-D69D-4D88-B3B1-203D94D726AD}"/>
              </a:ext>
            </a:extLst>
          </p:cNvPr>
          <p:cNvCxnSpPr>
            <a:cxnSpLocks/>
          </p:cNvCxnSpPr>
          <p:nvPr/>
        </p:nvCxnSpPr>
        <p:spPr>
          <a:xfrm flipV="1">
            <a:off x="8754123" y="4020062"/>
            <a:ext cx="0" cy="4252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5A8EC2-6FFF-4DB9-AEFD-EA9479E4F2CA}"/>
              </a:ext>
            </a:extLst>
          </p:cNvPr>
          <p:cNvCxnSpPr>
            <a:cxnSpLocks/>
          </p:cNvCxnSpPr>
          <p:nvPr/>
        </p:nvCxnSpPr>
        <p:spPr>
          <a:xfrm flipV="1">
            <a:off x="10607766" y="4020062"/>
            <a:ext cx="0" cy="41801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966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C4A8-495D-4C5C-8BC9-E5F3D928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Recap: Decoupling dependencies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220217-9774-441A-B913-BB82955BD3C7}"/>
              </a:ext>
            </a:extLst>
          </p:cNvPr>
          <p:cNvSpPr/>
          <p:nvPr/>
        </p:nvSpPr>
        <p:spPr>
          <a:xfrm>
            <a:off x="4463144" y="1861676"/>
            <a:ext cx="1923143" cy="13570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UI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BEDEA0-E52C-44CE-9AC0-2FBDE720DC0E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386287" y="2540219"/>
            <a:ext cx="13839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EE92C31-4456-4956-9FCE-34084096F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37003"/>
            <a:ext cx="3032035" cy="37775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We actually used at least 3 </a:t>
            </a:r>
            <a:r>
              <a:rPr lang="en-CA" b="1" dirty="0"/>
              <a:t>SOLID Design Principles </a:t>
            </a:r>
            <a:r>
              <a:rPr lang="en-CA" dirty="0"/>
              <a:t>here!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Today we’re going to learn what these principles are and why are they so important.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1EA861-6C4E-4D05-ACB1-17F9021305B6}"/>
              </a:ext>
            </a:extLst>
          </p:cNvPr>
          <p:cNvSpPr/>
          <p:nvPr/>
        </p:nvSpPr>
        <p:spPr>
          <a:xfrm>
            <a:off x="5556795" y="4433893"/>
            <a:ext cx="1923143" cy="13570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C7F48B-28C5-4731-827F-1072E9C25870}"/>
              </a:ext>
            </a:extLst>
          </p:cNvPr>
          <p:cNvSpPr txBox="1"/>
          <p:nvPr/>
        </p:nvSpPr>
        <p:spPr>
          <a:xfrm>
            <a:off x="5556795" y="4433893"/>
            <a:ext cx="192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Text 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A894D-B72A-4119-9D29-69966F5B065E}"/>
              </a:ext>
            </a:extLst>
          </p:cNvPr>
          <p:cNvSpPr txBox="1"/>
          <p:nvPr/>
        </p:nvSpPr>
        <p:spPr>
          <a:xfrm>
            <a:off x="5580743" y="4878650"/>
            <a:ext cx="192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read()</a:t>
            </a:r>
            <a:br>
              <a:rPr lang="en-CA" dirty="0"/>
            </a:br>
            <a:r>
              <a:rPr lang="en-CA" dirty="0"/>
              <a:t>write()</a:t>
            </a:r>
            <a:br>
              <a:rPr lang="en-CA" dirty="0"/>
            </a:br>
            <a:r>
              <a:rPr lang="en-CA" dirty="0"/>
              <a:t>search()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F1BB5E-3D91-4079-AC07-8605D7A3DD9A}"/>
              </a:ext>
            </a:extLst>
          </p:cNvPr>
          <p:cNvSpPr/>
          <p:nvPr/>
        </p:nvSpPr>
        <p:spPr>
          <a:xfrm>
            <a:off x="7794172" y="1870841"/>
            <a:ext cx="1923143" cy="16450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1599F9-A83A-4CBD-B5D3-8D441652D1B8}"/>
              </a:ext>
            </a:extLst>
          </p:cNvPr>
          <p:cNvSpPr txBox="1"/>
          <p:nvPr/>
        </p:nvSpPr>
        <p:spPr>
          <a:xfrm>
            <a:off x="7794172" y="1870841"/>
            <a:ext cx="192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Data Source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672BAC-3A3C-4386-8315-CA561F29D3D4}"/>
              </a:ext>
            </a:extLst>
          </p:cNvPr>
          <p:cNvSpPr txBox="1"/>
          <p:nvPr/>
        </p:nvSpPr>
        <p:spPr>
          <a:xfrm>
            <a:off x="7818120" y="2315598"/>
            <a:ext cx="1923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retrieve()</a:t>
            </a:r>
            <a:br>
              <a:rPr lang="en-CA" dirty="0"/>
            </a:br>
            <a:r>
              <a:rPr lang="en-CA" dirty="0"/>
              <a:t>update()</a:t>
            </a:r>
            <a:br>
              <a:rPr lang="en-CA" dirty="0"/>
            </a:br>
            <a:r>
              <a:rPr lang="en-CA" dirty="0"/>
              <a:t>search()</a:t>
            </a:r>
          </a:p>
          <a:p>
            <a:r>
              <a:rPr lang="en-CA" dirty="0"/>
              <a:t>delete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415862-692C-410E-972F-4D96E83681DD}"/>
              </a:ext>
            </a:extLst>
          </p:cNvPr>
          <p:cNvCxnSpPr>
            <a:cxnSpLocks/>
          </p:cNvCxnSpPr>
          <p:nvPr/>
        </p:nvCxnSpPr>
        <p:spPr>
          <a:xfrm>
            <a:off x="7794172" y="2315598"/>
            <a:ext cx="19231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0DBEA46-5D1E-480C-A6D1-A8F1FA497635}"/>
              </a:ext>
            </a:extLst>
          </p:cNvPr>
          <p:cNvCxnSpPr>
            <a:cxnSpLocks/>
          </p:cNvCxnSpPr>
          <p:nvPr/>
        </p:nvCxnSpPr>
        <p:spPr>
          <a:xfrm>
            <a:off x="5556795" y="4803225"/>
            <a:ext cx="19231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0ECFBBC-3945-4CE7-AA05-C95D4DB62216}"/>
              </a:ext>
            </a:extLst>
          </p:cNvPr>
          <p:cNvSpPr/>
          <p:nvPr/>
        </p:nvSpPr>
        <p:spPr>
          <a:xfrm>
            <a:off x="7842795" y="4433893"/>
            <a:ext cx="1923143" cy="16450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DAFF8C-61A8-4F73-9386-A93BCD58F0A7}"/>
              </a:ext>
            </a:extLst>
          </p:cNvPr>
          <p:cNvSpPr txBox="1"/>
          <p:nvPr/>
        </p:nvSpPr>
        <p:spPr>
          <a:xfrm>
            <a:off x="7842795" y="4433893"/>
            <a:ext cx="192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SQLite DB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E5432B-DDDD-4C02-A5A1-74F2A09CCF38}"/>
              </a:ext>
            </a:extLst>
          </p:cNvPr>
          <p:cNvSpPr txBox="1"/>
          <p:nvPr/>
        </p:nvSpPr>
        <p:spPr>
          <a:xfrm>
            <a:off x="7866743" y="4878650"/>
            <a:ext cx="1923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connect()</a:t>
            </a:r>
          </a:p>
          <a:p>
            <a:r>
              <a:rPr lang="en-CA" dirty="0"/>
              <a:t>read()</a:t>
            </a:r>
            <a:br>
              <a:rPr lang="en-CA" dirty="0"/>
            </a:br>
            <a:r>
              <a:rPr lang="en-CA" dirty="0"/>
              <a:t>write()</a:t>
            </a:r>
            <a:br>
              <a:rPr lang="en-CA" dirty="0"/>
            </a:br>
            <a:r>
              <a:rPr lang="en-CA" dirty="0"/>
              <a:t>search()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F419F2C-A54E-4B57-8FBC-C188BC2FA396}"/>
              </a:ext>
            </a:extLst>
          </p:cNvPr>
          <p:cNvCxnSpPr>
            <a:cxnSpLocks/>
          </p:cNvCxnSpPr>
          <p:nvPr/>
        </p:nvCxnSpPr>
        <p:spPr>
          <a:xfrm>
            <a:off x="7842795" y="4803225"/>
            <a:ext cx="19231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7F54F62-B95D-449F-9E92-64B3CE1D1FCD}"/>
              </a:ext>
            </a:extLst>
          </p:cNvPr>
          <p:cNvSpPr/>
          <p:nvPr/>
        </p:nvSpPr>
        <p:spPr>
          <a:xfrm>
            <a:off x="9978571" y="4433893"/>
            <a:ext cx="1923143" cy="18559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D8E0DF-B80F-42D4-A732-EDFE5FE3F198}"/>
              </a:ext>
            </a:extLst>
          </p:cNvPr>
          <p:cNvSpPr txBox="1"/>
          <p:nvPr/>
        </p:nvSpPr>
        <p:spPr>
          <a:xfrm>
            <a:off x="9978571" y="4433893"/>
            <a:ext cx="192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JSON File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E3C641-65D5-4D2A-9305-FD0EDE139577}"/>
              </a:ext>
            </a:extLst>
          </p:cNvPr>
          <p:cNvSpPr txBox="1"/>
          <p:nvPr/>
        </p:nvSpPr>
        <p:spPr>
          <a:xfrm>
            <a:off x="10046791" y="4835108"/>
            <a:ext cx="18208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read()</a:t>
            </a:r>
            <a:br>
              <a:rPr lang="en-CA" dirty="0"/>
            </a:br>
            <a:r>
              <a:rPr lang="en-CA" dirty="0"/>
              <a:t>write()</a:t>
            </a:r>
            <a:br>
              <a:rPr lang="en-CA" dirty="0"/>
            </a:br>
            <a:r>
              <a:rPr lang="en-CA" dirty="0"/>
              <a:t>search()</a:t>
            </a:r>
          </a:p>
          <a:p>
            <a:r>
              <a:rPr lang="en-CA" dirty="0"/>
              <a:t>serialize()</a:t>
            </a:r>
          </a:p>
          <a:p>
            <a:r>
              <a:rPr lang="en-CA" dirty="0"/>
              <a:t>deserialize()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74B8C54-E6E9-4930-B1EB-BDDFF8ACA666}"/>
              </a:ext>
            </a:extLst>
          </p:cNvPr>
          <p:cNvCxnSpPr>
            <a:cxnSpLocks/>
          </p:cNvCxnSpPr>
          <p:nvPr/>
        </p:nvCxnSpPr>
        <p:spPr>
          <a:xfrm>
            <a:off x="9978571" y="4803225"/>
            <a:ext cx="19231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D25BD78-3931-45BA-9C3E-3B41045466D3}"/>
              </a:ext>
            </a:extLst>
          </p:cNvPr>
          <p:cNvCxnSpPr>
            <a:cxnSpLocks/>
          </p:cNvCxnSpPr>
          <p:nvPr/>
        </p:nvCxnSpPr>
        <p:spPr>
          <a:xfrm>
            <a:off x="6600006" y="4020062"/>
            <a:ext cx="40077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E0F268E-590B-4357-B707-4F4ABD5C3B49}"/>
              </a:ext>
            </a:extLst>
          </p:cNvPr>
          <p:cNvCxnSpPr/>
          <p:nvPr/>
        </p:nvCxnSpPr>
        <p:spPr>
          <a:xfrm flipV="1">
            <a:off x="8750664" y="3558899"/>
            <a:ext cx="0" cy="4611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AE7F0AA-FDEB-4579-8505-45888B9A7A46}"/>
              </a:ext>
            </a:extLst>
          </p:cNvPr>
          <p:cNvCxnSpPr>
            <a:cxnSpLocks/>
          </p:cNvCxnSpPr>
          <p:nvPr/>
        </p:nvCxnSpPr>
        <p:spPr>
          <a:xfrm>
            <a:off x="6600006" y="4020062"/>
            <a:ext cx="0" cy="4138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0E8FA1F-D69D-4D88-B3B1-203D94D726AD}"/>
              </a:ext>
            </a:extLst>
          </p:cNvPr>
          <p:cNvCxnSpPr>
            <a:cxnSpLocks/>
          </p:cNvCxnSpPr>
          <p:nvPr/>
        </p:nvCxnSpPr>
        <p:spPr>
          <a:xfrm flipV="1">
            <a:off x="8754123" y="4020062"/>
            <a:ext cx="0" cy="4252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5A8EC2-6FFF-4DB9-AEFD-EA9479E4F2CA}"/>
              </a:ext>
            </a:extLst>
          </p:cNvPr>
          <p:cNvCxnSpPr>
            <a:cxnSpLocks/>
          </p:cNvCxnSpPr>
          <p:nvPr/>
        </p:nvCxnSpPr>
        <p:spPr>
          <a:xfrm flipV="1">
            <a:off x="10607766" y="4020062"/>
            <a:ext cx="0" cy="41801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844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6E250-3F4A-45D1-8FFE-B1ED6BF01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Dependencies and Coupling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7D45E-C333-4E7F-884D-C71E9ED7B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en-US" dirty="0"/>
              <a:t>What are they?</a:t>
            </a:r>
          </a:p>
          <a:p>
            <a:pPr algn="ctr"/>
            <a:r>
              <a:rPr lang="en-US" dirty="0"/>
              <a:t>Why do we need to be aware of them?</a:t>
            </a:r>
          </a:p>
          <a:p>
            <a:pPr algn="ctr"/>
            <a:r>
              <a:rPr lang="en-CA" dirty="0"/>
              <a:t>Are they undesirable?</a:t>
            </a:r>
          </a:p>
        </p:txBody>
      </p:sp>
    </p:spTree>
    <p:extLst>
      <p:ext uri="{BB962C8B-B14F-4D97-AF65-F5344CB8AC3E}">
        <p14:creationId xmlns:p14="http://schemas.microsoft.com/office/powerpoint/2010/main" val="4199957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12F23-6143-41B9-BD03-71601A865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Recap: Dependencies &amp; Coupling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0728B-459C-4F1C-8EF1-E82DAD510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5992009" cy="4023360"/>
          </a:xfrm>
        </p:spPr>
        <p:txBody>
          <a:bodyPr>
            <a:normAutofit/>
          </a:bodyPr>
          <a:lstStyle/>
          <a:p>
            <a:r>
              <a:rPr lang="en-CA" b="1" u="sng" dirty="0"/>
              <a:t>Dependency:</a:t>
            </a:r>
          </a:p>
          <a:p>
            <a:r>
              <a:rPr lang="en-CA" dirty="0"/>
              <a:t>If entity A </a:t>
            </a:r>
            <a:r>
              <a:rPr lang="en-CA" b="1" dirty="0"/>
              <a:t>uses</a:t>
            </a:r>
            <a:r>
              <a:rPr lang="en-CA" dirty="0"/>
              <a:t> entity B, then A is said to be </a:t>
            </a:r>
            <a:r>
              <a:rPr lang="en-CA" b="1" dirty="0"/>
              <a:t>dependent</a:t>
            </a:r>
            <a:r>
              <a:rPr lang="en-CA" dirty="0"/>
              <a:t> on B.</a:t>
            </a:r>
          </a:p>
          <a:p>
            <a:r>
              <a:rPr lang="en-CA" b="1" u="sng" dirty="0"/>
              <a:t>Coupling:</a:t>
            </a:r>
          </a:p>
          <a:p>
            <a:r>
              <a:rPr lang="en-CA" dirty="0"/>
              <a:t>Coupling is a form of a </a:t>
            </a:r>
            <a:r>
              <a:rPr lang="en-CA" b="1" dirty="0"/>
              <a:t>strong </a:t>
            </a:r>
            <a:r>
              <a:rPr lang="en-CA" dirty="0"/>
              <a:t>dependency.</a:t>
            </a:r>
          </a:p>
          <a:p>
            <a:r>
              <a:rPr lang="en-CA" dirty="0"/>
              <a:t>If Entity A is </a:t>
            </a:r>
            <a:r>
              <a:rPr lang="en-CA" b="1" dirty="0"/>
              <a:t>coupled</a:t>
            </a:r>
            <a:r>
              <a:rPr lang="en-CA" dirty="0"/>
              <a:t> with Entity B then Entity A will </a:t>
            </a:r>
            <a:r>
              <a:rPr lang="en-CA" b="1" dirty="0"/>
              <a:t>not be able to function </a:t>
            </a:r>
            <a:r>
              <a:rPr lang="en-CA" dirty="0"/>
              <a:t>without Entity B, </a:t>
            </a:r>
            <a:r>
              <a:rPr lang="en-CA" b="1" u="sng" dirty="0"/>
              <a:t>even if it was replaced</a:t>
            </a:r>
            <a:r>
              <a:rPr lang="en-CA" dirty="0"/>
              <a:t> with another similar Entity. Entity A would need to be refactored to use the new Entity</a:t>
            </a:r>
          </a:p>
          <a:p>
            <a:r>
              <a:rPr lang="en-CA" dirty="0"/>
              <a:t>We usually want to avoid this as it hinders us from creating flexible, dynamic, maintainable code.</a:t>
            </a:r>
          </a:p>
        </p:txBody>
      </p:sp>
      <p:pic>
        <p:nvPicPr>
          <p:cNvPr id="3082" name="Picture 10" descr="Image result for avocado maki cartoon">
            <a:extLst>
              <a:ext uri="{FF2B5EF4-FFF2-40B4-BE49-F238E27FC236}">
                <a16:creationId xmlns:a16="http://schemas.microsoft.com/office/drawing/2014/main" id="{6C450467-FF56-4C22-A60E-2951851C1C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4" r="24297"/>
          <a:stretch/>
        </p:blipFill>
        <p:spPr bwMode="auto">
          <a:xfrm>
            <a:off x="7641001" y="2082800"/>
            <a:ext cx="2853594" cy="388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6584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A42B8-D97F-479A-9C7A-C887367A4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SOLID Design Principles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DFE37-1593-4DEE-AA4B-7602B77CF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525486"/>
            <a:ext cx="3699691" cy="334360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A set of guidelines to help us write Maintainable, decoupled, flexible Object Oriented Code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Created by Robert C. Martin, also known as Uncle Bob amongst developers.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Highly respected and has a bunch of books on writing clean code.</a:t>
            </a:r>
          </a:p>
        </p:txBody>
      </p:sp>
      <p:pic>
        <p:nvPicPr>
          <p:cNvPr id="1026" name="Picture 2" descr="Image result for solid design principles">
            <a:extLst>
              <a:ext uri="{FF2B5EF4-FFF2-40B4-BE49-F238E27FC236}">
                <a16:creationId xmlns:a16="http://schemas.microsoft.com/office/drawing/2014/main" id="{CC6A8465-8524-4432-B97B-D4C1600F8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498" y="664305"/>
            <a:ext cx="4274821" cy="5529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6735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Single Responsibility Principle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6233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2B75-0F46-42A2-B607-74C07166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Say we had a system where a user could write and create forum posts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24999-A41E-467D-9711-5C8A0E970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7392" y="1847294"/>
            <a:ext cx="6304409" cy="407447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dirty="0">
                <a:solidFill>
                  <a:srgbClr val="000000"/>
                </a:solidFill>
                <a:latin typeface="Arial Unicode MS"/>
              </a:rPr>
              <a:t>User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 err="1">
                <a:solidFill>
                  <a:srgbClr val="B200B2"/>
                </a:solidFill>
                <a:latin typeface="Arial Unicode MS"/>
              </a:rPr>
              <a:t>init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(self, </a:t>
            </a: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username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, password, name, email):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self._username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</a:t>
            </a: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username</a:t>
            </a:r>
            <a:br>
              <a:rPr lang="en-US" altLang="en-US" dirty="0">
                <a:solidFill>
                  <a:srgbClr val="94558D"/>
                </a:solidFill>
                <a:latin typeface="Arial Unicode MS"/>
              </a:rPr>
            </a:b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self._password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password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self._name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name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self._email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email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self._database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MyDatabase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()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 err="1">
                <a:solidFill>
                  <a:srgbClr val="00627A"/>
                </a:solidFill>
                <a:latin typeface="Arial Unicode MS"/>
              </a:rPr>
              <a:t>post_to_forum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message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, subject):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post = Post(subject, 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message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,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self.username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self._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database.add_simple_post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(post)</a:t>
            </a:r>
            <a:br>
              <a:rPr lang="en-US" altLang="en-US" sz="1400" dirty="0">
                <a:solidFill>
                  <a:srgbClr val="080808"/>
                </a:solidFill>
                <a:latin typeface="Arial Unicode MS"/>
              </a:rPr>
            </a:br>
            <a:endParaRPr lang="en-US" altLang="en-US" sz="3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CA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3E1254-4DAF-406C-8CFF-80D8AE694039}"/>
              </a:ext>
            </a:extLst>
          </p:cNvPr>
          <p:cNvSpPr/>
          <p:nvPr/>
        </p:nvSpPr>
        <p:spPr>
          <a:xfrm>
            <a:off x="1065006" y="1847294"/>
            <a:ext cx="1524602" cy="9615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896DCA-D99D-4B49-BD59-66FA10236DD1}"/>
              </a:ext>
            </a:extLst>
          </p:cNvPr>
          <p:cNvSpPr/>
          <p:nvPr/>
        </p:nvSpPr>
        <p:spPr>
          <a:xfrm>
            <a:off x="3590492" y="1847294"/>
            <a:ext cx="1524600" cy="9615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Post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FB8B07-D8D7-4572-97A8-FE854D3BED0A}"/>
              </a:ext>
            </a:extLst>
          </p:cNvPr>
          <p:cNvSpPr/>
          <p:nvPr/>
        </p:nvSpPr>
        <p:spPr>
          <a:xfrm>
            <a:off x="1065006" y="3589009"/>
            <a:ext cx="1524600" cy="961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MyDatabase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18EFC6-5A9A-4770-B117-591A7F38B5EE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1827306" y="2808888"/>
            <a:ext cx="1" cy="7801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DC04BA-F56D-4DCB-984F-C139E3CB295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589608" y="2328091"/>
            <a:ext cx="1000884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7D1887-3A82-4B4E-8B97-76761A608004}"/>
              </a:ext>
            </a:extLst>
          </p:cNvPr>
          <p:cNvCxnSpPr>
            <a:cxnSpLocks/>
            <a:stCxn id="6" idx="3"/>
            <a:endCxn id="5" idx="2"/>
          </p:cNvCxnSpPr>
          <p:nvPr/>
        </p:nvCxnSpPr>
        <p:spPr>
          <a:xfrm flipV="1">
            <a:off x="2589606" y="2808888"/>
            <a:ext cx="1763186" cy="1260917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E8A099-0895-4870-91EC-39B0FD52813B}"/>
              </a:ext>
            </a:extLst>
          </p:cNvPr>
          <p:cNvSpPr txBox="1"/>
          <p:nvPr/>
        </p:nvSpPr>
        <p:spPr>
          <a:xfrm>
            <a:off x="295836" y="4763869"/>
            <a:ext cx="59167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u="sng" dirty="0"/>
              <a:t>Why is this code bad?</a:t>
            </a:r>
          </a:p>
          <a:p>
            <a:r>
              <a:rPr lang="en-CA" dirty="0"/>
              <a:t>The User class is very coupled and dependent. It carries out a number of </a:t>
            </a:r>
            <a:r>
              <a:rPr lang="en-CA" b="1" dirty="0"/>
              <a:t>different roles </a:t>
            </a:r>
            <a:r>
              <a:rPr lang="en-CA" dirty="0"/>
              <a:t>and </a:t>
            </a:r>
            <a:r>
              <a:rPr lang="en-CA" b="1" dirty="0"/>
              <a:t>responsibilities</a:t>
            </a:r>
            <a:r>
              <a:rPr lang="en-CA" dirty="0"/>
              <a:t>. Changing any part of this system will probably cause a change in the User class as well.</a:t>
            </a:r>
          </a:p>
          <a:p>
            <a:endParaRPr lang="en-CA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9A85167-8FF7-427B-958F-2F6916B88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272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2B75-0F46-42A2-B607-74C07166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Say we had a system where a user could write and create forum posts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3E1254-4DAF-406C-8CFF-80D8AE694039}"/>
              </a:ext>
            </a:extLst>
          </p:cNvPr>
          <p:cNvSpPr/>
          <p:nvPr/>
        </p:nvSpPr>
        <p:spPr>
          <a:xfrm>
            <a:off x="1065006" y="1847294"/>
            <a:ext cx="1524602" cy="9615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896DCA-D99D-4B49-BD59-66FA10236DD1}"/>
              </a:ext>
            </a:extLst>
          </p:cNvPr>
          <p:cNvSpPr/>
          <p:nvPr/>
        </p:nvSpPr>
        <p:spPr>
          <a:xfrm>
            <a:off x="3590492" y="1847294"/>
            <a:ext cx="1524600" cy="9615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Post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FB8B07-D8D7-4572-97A8-FE854D3BED0A}"/>
              </a:ext>
            </a:extLst>
          </p:cNvPr>
          <p:cNvSpPr/>
          <p:nvPr/>
        </p:nvSpPr>
        <p:spPr>
          <a:xfrm>
            <a:off x="1065006" y="3589009"/>
            <a:ext cx="1524600" cy="961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MyDatabase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18EFC6-5A9A-4770-B117-591A7F38B5EE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1827306" y="2808888"/>
            <a:ext cx="1" cy="7801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DC04BA-F56D-4DCB-984F-C139E3CB295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589608" y="2328091"/>
            <a:ext cx="1000884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7D1887-3A82-4B4E-8B97-76761A608004}"/>
              </a:ext>
            </a:extLst>
          </p:cNvPr>
          <p:cNvCxnSpPr>
            <a:cxnSpLocks/>
            <a:stCxn id="6" idx="3"/>
            <a:endCxn id="5" idx="2"/>
          </p:cNvCxnSpPr>
          <p:nvPr/>
        </p:nvCxnSpPr>
        <p:spPr>
          <a:xfrm flipV="1">
            <a:off x="2589606" y="2808888"/>
            <a:ext cx="1763186" cy="1260917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E8A099-0895-4870-91EC-39B0FD52813B}"/>
              </a:ext>
            </a:extLst>
          </p:cNvPr>
          <p:cNvSpPr txBox="1"/>
          <p:nvPr/>
        </p:nvSpPr>
        <p:spPr>
          <a:xfrm>
            <a:off x="295836" y="4763869"/>
            <a:ext cx="59167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u="sng" dirty="0"/>
              <a:t>Why is this code bad?</a:t>
            </a:r>
          </a:p>
          <a:p>
            <a:r>
              <a:rPr lang="en-CA" dirty="0"/>
              <a:t>User class has code to: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be a user</a:t>
            </a:r>
          </a:p>
          <a:p>
            <a:endParaRPr lang="en-CA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8249562-FE8D-4D92-949A-B75643C979B8}"/>
              </a:ext>
            </a:extLst>
          </p:cNvPr>
          <p:cNvSpPr txBox="1">
            <a:spLocks/>
          </p:cNvSpPr>
          <p:nvPr/>
        </p:nvSpPr>
        <p:spPr>
          <a:xfrm>
            <a:off x="5877392" y="1847294"/>
            <a:ext cx="6304409" cy="40744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US" altLang="en-US" b="1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b="1" dirty="0">
                <a:solidFill>
                  <a:srgbClr val="000000"/>
                </a:solidFill>
                <a:latin typeface="Arial Unicode MS"/>
              </a:rPr>
              <a:t>User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 err="1">
                <a:solidFill>
                  <a:srgbClr val="B200B2"/>
                </a:solidFill>
                <a:latin typeface="Arial Unicode MS"/>
              </a:rPr>
              <a:t>init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(self, </a:t>
            </a: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username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, password, name, email):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b="1" dirty="0" err="1">
                <a:solidFill>
                  <a:srgbClr val="080808"/>
                </a:solidFill>
                <a:latin typeface="Arial Unicode MS"/>
              </a:rPr>
              <a:t>self._username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= 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</a:rPr>
              <a:t>username</a:t>
            </a:r>
            <a:br>
              <a:rPr lang="en-US" altLang="en-US" b="1" dirty="0">
                <a:solidFill>
                  <a:srgbClr val="94558D"/>
                </a:solidFill>
                <a:latin typeface="Arial Unicode MS"/>
              </a:rPr>
            </a:br>
            <a:r>
              <a:rPr lang="en-US" altLang="en-US" b="1" dirty="0">
                <a:solidFill>
                  <a:srgbClr val="94558D"/>
                </a:solidFill>
                <a:latin typeface="Arial Unicode MS"/>
              </a:rPr>
              <a:t>        </a:t>
            </a:r>
            <a:r>
              <a:rPr lang="en-US" altLang="en-US" b="1" dirty="0" err="1">
                <a:solidFill>
                  <a:srgbClr val="080808"/>
                </a:solidFill>
                <a:latin typeface="Arial Unicode MS"/>
              </a:rPr>
              <a:t>self._password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= password</a:t>
            </a:r>
            <a:br>
              <a:rPr lang="en-US" altLang="en-US" b="1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b="1" dirty="0" err="1">
                <a:solidFill>
                  <a:srgbClr val="080808"/>
                </a:solidFill>
                <a:latin typeface="Arial Unicode MS"/>
              </a:rPr>
              <a:t>self._name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= name</a:t>
            </a:r>
            <a:br>
              <a:rPr lang="en-US" altLang="en-US" b="1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b="1" dirty="0" err="1">
                <a:solidFill>
                  <a:srgbClr val="080808"/>
                </a:solidFill>
                <a:latin typeface="Arial Unicode MS"/>
              </a:rPr>
              <a:t>self._email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= email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self._database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MyDatabase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()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 err="1">
                <a:solidFill>
                  <a:srgbClr val="00627A"/>
                </a:solidFill>
                <a:latin typeface="Arial Unicode MS"/>
              </a:rPr>
              <a:t>post_to_forum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message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, subject):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post = Post(subject, 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message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,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self.username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self._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database.add_simple_post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(post)</a:t>
            </a:r>
            <a:br>
              <a:rPr lang="en-US" altLang="en-US" sz="1400" dirty="0">
                <a:solidFill>
                  <a:srgbClr val="080808"/>
                </a:solidFill>
                <a:latin typeface="Arial Unicode MS"/>
              </a:rPr>
            </a:br>
            <a:endParaRPr lang="en-US" altLang="en-US" sz="3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183387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2B75-0F46-42A2-B607-74C07166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Say we had a system where a user could write and create forum posts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3E1254-4DAF-406C-8CFF-80D8AE694039}"/>
              </a:ext>
            </a:extLst>
          </p:cNvPr>
          <p:cNvSpPr/>
          <p:nvPr/>
        </p:nvSpPr>
        <p:spPr>
          <a:xfrm>
            <a:off x="1065006" y="1847294"/>
            <a:ext cx="1524602" cy="9615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896DCA-D99D-4B49-BD59-66FA10236DD1}"/>
              </a:ext>
            </a:extLst>
          </p:cNvPr>
          <p:cNvSpPr/>
          <p:nvPr/>
        </p:nvSpPr>
        <p:spPr>
          <a:xfrm>
            <a:off x="3590492" y="1847294"/>
            <a:ext cx="1524600" cy="9615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Post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FB8B07-D8D7-4572-97A8-FE854D3BED0A}"/>
              </a:ext>
            </a:extLst>
          </p:cNvPr>
          <p:cNvSpPr/>
          <p:nvPr/>
        </p:nvSpPr>
        <p:spPr>
          <a:xfrm>
            <a:off x="1065006" y="3589009"/>
            <a:ext cx="1524600" cy="961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MyDatabase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18EFC6-5A9A-4770-B117-591A7F38B5EE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1827306" y="2808888"/>
            <a:ext cx="1" cy="7801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DC04BA-F56D-4DCB-984F-C139E3CB295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589608" y="2328091"/>
            <a:ext cx="1000884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7D1887-3A82-4B4E-8B97-76761A608004}"/>
              </a:ext>
            </a:extLst>
          </p:cNvPr>
          <p:cNvCxnSpPr>
            <a:cxnSpLocks/>
            <a:stCxn id="6" idx="3"/>
            <a:endCxn id="5" idx="2"/>
          </p:cNvCxnSpPr>
          <p:nvPr/>
        </p:nvCxnSpPr>
        <p:spPr>
          <a:xfrm flipV="1">
            <a:off x="2589606" y="2808888"/>
            <a:ext cx="1763186" cy="1260917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E8A099-0895-4870-91EC-39B0FD52813B}"/>
              </a:ext>
            </a:extLst>
          </p:cNvPr>
          <p:cNvSpPr txBox="1"/>
          <p:nvPr/>
        </p:nvSpPr>
        <p:spPr>
          <a:xfrm>
            <a:off x="295836" y="4763869"/>
            <a:ext cx="59167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u="sng" dirty="0"/>
              <a:t>Why is this code bad?</a:t>
            </a:r>
          </a:p>
          <a:p>
            <a:r>
              <a:rPr lang="en-CA" dirty="0"/>
              <a:t>User class has code to: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be a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create a database</a:t>
            </a:r>
          </a:p>
          <a:p>
            <a:endParaRPr lang="en-CA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C15BCB8-753A-483E-A82D-C020BB6FB3E7}"/>
              </a:ext>
            </a:extLst>
          </p:cNvPr>
          <p:cNvSpPr txBox="1">
            <a:spLocks/>
          </p:cNvSpPr>
          <p:nvPr/>
        </p:nvSpPr>
        <p:spPr>
          <a:xfrm>
            <a:off x="5877392" y="1847294"/>
            <a:ext cx="6304409" cy="40744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b="1" dirty="0">
                <a:solidFill>
                  <a:srgbClr val="000000"/>
                </a:solidFill>
                <a:latin typeface="Arial Unicode MS"/>
              </a:rPr>
              <a:t>User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 err="1">
                <a:solidFill>
                  <a:srgbClr val="B200B2"/>
                </a:solidFill>
                <a:latin typeface="Arial Unicode MS"/>
              </a:rPr>
              <a:t>init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(self, </a:t>
            </a: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username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, password, name, email):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self._username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</a:t>
            </a: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username</a:t>
            </a:r>
            <a:br>
              <a:rPr lang="en-US" altLang="en-US" dirty="0">
                <a:solidFill>
                  <a:srgbClr val="94558D"/>
                </a:solidFill>
                <a:latin typeface="Arial Unicode MS"/>
              </a:rPr>
            </a:b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self._password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password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self._name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name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self._email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email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b="1" dirty="0" err="1">
                <a:solidFill>
                  <a:srgbClr val="080808"/>
                </a:solidFill>
                <a:latin typeface="Arial Unicode MS"/>
              </a:rPr>
              <a:t>self._database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= </a:t>
            </a:r>
            <a:r>
              <a:rPr lang="en-US" altLang="en-US" b="1" dirty="0" err="1">
                <a:solidFill>
                  <a:srgbClr val="080808"/>
                </a:solidFill>
                <a:latin typeface="Arial Unicode MS"/>
              </a:rPr>
              <a:t>MyDatabase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()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 err="1">
                <a:solidFill>
                  <a:srgbClr val="00627A"/>
                </a:solidFill>
                <a:latin typeface="Arial Unicode MS"/>
              </a:rPr>
              <a:t>post_to_forum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message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, subject):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post = Post(subject, 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message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,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self.username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self._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database.add_simple_post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(post)</a:t>
            </a:r>
            <a:br>
              <a:rPr lang="en-US" altLang="en-US" sz="1400" dirty="0">
                <a:solidFill>
                  <a:srgbClr val="080808"/>
                </a:solidFill>
                <a:latin typeface="Arial Unicode MS"/>
              </a:rPr>
            </a:br>
            <a:endParaRPr lang="en-US" altLang="en-US" sz="3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1146629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2B75-0F46-42A2-B607-74C07166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Say we had a system where a user could write and create forum posts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3E1254-4DAF-406C-8CFF-80D8AE694039}"/>
              </a:ext>
            </a:extLst>
          </p:cNvPr>
          <p:cNvSpPr/>
          <p:nvPr/>
        </p:nvSpPr>
        <p:spPr>
          <a:xfrm>
            <a:off x="1065006" y="1847294"/>
            <a:ext cx="1524602" cy="9615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896DCA-D99D-4B49-BD59-66FA10236DD1}"/>
              </a:ext>
            </a:extLst>
          </p:cNvPr>
          <p:cNvSpPr/>
          <p:nvPr/>
        </p:nvSpPr>
        <p:spPr>
          <a:xfrm>
            <a:off x="3590492" y="1847294"/>
            <a:ext cx="1524600" cy="9615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Post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FB8B07-D8D7-4572-97A8-FE854D3BED0A}"/>
              </a:ext>
            </a:extLst>
          </p:cNvPr>
          <p:cNvSpPr/>
          <p:nvPr/>
        </p:nvSpPr>
        <p:spPr>
          <a:xfrm>
            <a:off x="1065006" y="3589009"/>
            <a:ext cx="1524600" cy="961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MyDatabase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18EFC6-5A9A-4770-B117-591A7F38B5EE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1827306" y="2808888"/>
            <a:ext cx="1" cy="7801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DC04BA-F56D-4DCB-984F-C139E3CB295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589608" y="2328091"/>
            <a:ext cx="1000884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7D1887-3A82-4B4E-8B97-76761A608004}"/>
              </a:ext>
            </a:extLst>
          </p:cNvPr>
          <p:cNvCxnSpPr>
            <a:cxnSpLocks/>
            <a:stCxn id="6" idx="3"/>
            <a:endCxn id="5" idx="2"/>
          </p:cNvCxnSpPr>
          <p:nvPr/>
        </p:nvCxnSpPr>
        <p:spPr>
          <a:xfrm flipV="1">
            <a:off x="2589606" y="2808888"/>
            <a:ext cx="1763186" cy="1260917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E8A099-0895-4870-91EC-39B0FD52813B}"/>
              </a:ext>
            </a:extLst>
          </p:cNvPr>
          <p:cNvSpPr txBox="1"/>
          <p:nvPr/>
        </p:nvSpPr>
        <p:spPr>
          <a:xfrm>
            <a:off x="295836" y="4763869"/>
            <a:ext cx="59167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u="sng" dirty="0"/>
              <a:t>Why is this code bad?</a:t>
            </a:r>
          </a:p>
          <a:p>
            <a:r>
              <a:rPr lang="en-CA" dirty="0"/>
              <a:t>User class has code to: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be a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create a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Post to a forum</a:t>
            </a:r>
          </a:p>
          <a:p>
            <a:endParaRPr lang="en-CA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AB706F1-077A-410A-94EE-99A359C1CB36}"/>
              </a:ext>
            </a:extLst>
          </p:cNvPr>
          <p:cNvSpPr txBox="1">
            <a:spLocks/>
          </p:cNvSpPr>
          <p:nvPr/>
        </p:nvSpPr>
        <p:spPr>
          <a:xfrm>
            <a:off x="5877392" y="1847294"/>
            <a:ext cx="6304409" cy="40744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b="1" dirty="0">
                <a:solidFill>
                  <a:srgbClr val="000000"/>
                </a:solidFill>
                <a:latin typeface="Arial Unicode MS"/>
              </a:rPr>
              <a:t>User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 err="1">
                <a:solidFill>
                  <a:srgbClr val="B200B2"/>
                </a:solidFill>
                <a:latin typeface="Arial Unicode MS"/>
              </a:rPr>
              <a:t>init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(self, </a:t>
            </a: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username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, password, name, email):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self._username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</a:t>
            </a: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username</a:t>
            </a:r>
            <a:br>
              <a:rPr lang="en-US" altLang="en-US" dirty="0">
                <a:solidFill>
                  <a:srgbClr val="94558D"/>
                </a:solidFill>
                <a:latin typeface="Arial Unicode MS"/>
              </a:rPr>
            </a:b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self._password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password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self._name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name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self._email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email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self._database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MyDatabase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()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b="1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b="1" dirty="0" err="1">
                <a:solidFill>
                  <a:srgbClr val="00627A"/>
                </a:solidFill>
                <a:latin typeface="Arial Unicode MS"/>
              </a:rPr>
              <a:t>post_to_forum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b="1" dirty="0">
                <a:solidFill>
                  <a:srgbClr val="94558D"/>
                </a:solidFill>
                <a:latin typeface="Arial Unicode MS"/>
              </a:rPr>
              <a:t>message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, subject):</a:t>
            </a:r>
            <a:br>
              <a:rPr lang="en-US" altLang="en-US" b="1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       post = Post(subject, </a:t>
            </a:r>
            <a:r>
              <a:rPr lang="en-US" altLang="en-US" b="1" dirty="0">
                <a:solidFill>
                  <a:srgbClr val="94558D"/>
                </a:solidFill>
                <a:latin typeface="Arial Unicode MS"/>
              </a:rPr>
              <a:t>message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, </a:t>
            </a:r>
            <a:r>
              <a:rPr lang="en-US" altLang="en-US" b="1" dirty="0" err="1">
                <a:solidFill>
                  <a:srgbClr val="080808"/>
                </a:solidFill>
                <a:latin typeface="Arial Unicode MS"/>
              </a:rPr>
              <a:t>self.username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)</a:t>
            </a:r>
            <a:br>
              <a:rPr lang="en-US" altLang="en-US" b="1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       self._</a:t>
            </a:r>
            <a:r>
              <a:rPr lang="en-US" altLang="en-US" b="1" dirty="0" err="1">
                <a:solidFill>
                  <a:srgbClr val="080808"/>
                </a:solidFill>
                <a:latin typeface="Arial Unicode MS"/>
              </a:rPr>
              <a:t>database.add_simple_post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(post)</a:t>
            </a:r>
            <a:br>
              <a:rPr lang="en-US" altLang="en-US" sz="1400" dirty="0">
                <a:solidFill>
                  <a:srgbClr val="080808"/>
                </a:solidFill>
                <a:latin typeface="Arial Unicode MS"/>
              </a:rPr>
            </a:br>
            <a:endParaRPr lang="en-US" altLang="en-US" sz="3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2139057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2B75-0F46-42A2-B607-74C07166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Say we had a system where a user could write and create forum posts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3E1254-4DAF-406C-8CFF-80D8AE694039}"/>
              </a:ext>
            </a:extLst>
          </p:cNvPr>
          <p:cNvSpPr/>
          <p:nvPr/>
        </p:nvSpPr>
        <p:spPr>
          <a:xfrm>
            <a:off x="1065006" y="1847294"/>
            <a:ext cx="1524602" cy="9615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896DCA-D99D-4B49-BD59-66FA10236DD1}"/>
              </a:ext>
            </a:extLst>
          </p:cNvPr>
          <p:cNvSpPr/>
          <p:nvPr/>
        </p:nvSpPr>
        <p:spPr>
          <a:xfrm>
            <a:off x="3590492" y="1847294"/>
            <a:ext cx="1524600" cy="9615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Post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FB8B07-D8D7-4572-97A8-FE854D3BED0A}"/>
              </a:ext>
            </a:extLst>
          </p:cNvPr>
          <p:cNvSpPr/>
          <p:nvPr/>
        </p:nvSpPr>
        <p:spPr>
          <a:xfrm>
            <a:off x="1065006" y="3589009"/>
            <a:ext cx="1524600" cy="961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MyDatabase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18EFC6-5A9A-4770-B117-591A7F38B5EE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1827306" y="2808888"/>
            <a:ext cx="1" cy="7801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DC04BA-F56D-4DCB-984F-C139E3CB295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589608" y="2328091"/>
            <a:ext cx="1000884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7D1887-3A82-4B4E-8B97-76761A608004}"/>
              </a:ext>
            </a:extLst>
          </p:cNvPr>
          <p:cNvCxnSpPr>
            <a:cxnSpLocks/>
            <a:stCxn id="6" idx="3"/>
            <a:endCxn id="5" idx="2"/>
          </p:cNvCxnSpPr>
          <p:nvPr/>
        </p:nvCxnSpPr>
        <p:spPr>
          <a:xfrm flipV="1">
            <a:off x="2589606" y="2808888"/>
            <a:ext cx="1763186" cy="1260917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E8A099-0895-4870-91EC-39B0FD52813B}"/>
              </a:ext>
            </a:extLst>
          </p:cNvPr>
          <p:cNvSpPr txBox="1"/>
          <p:nvPr/>
        </p:nvSpPr>
        <p:spPr>
          <a:xfrm>
            <a:off x="295836" y="4763869"/>
            <a:ext cx="5916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</a:t>
            </a:r>
            <a:r>
              <a:rPr lang="en-CA" b="1" dirty="0"/>
              <a:t>User class</a:t>
            </a:r>
            <a:r>
              <a:rPr lang="en-CA" dirty="0"/>
              <a:t> should focus on only </a:t>
            </a:r>
            <a:r>
              <a:rPr lang="en-CA" b="1" dirty="0"/>
              <a:t>being a user</a:t>
            </a:r>
          </a:p>
          <a:p>
            <a:endParaRPr lang="en-CA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9907620-72DA-468E-BB02-1AE4CE9A36EE}"/>
              </a:ext>
            </a:extLst>
          </p:cNvPr>
          <p:cNvSpPr txBox="1">
            <a:spLocks/>
          </p:cNvSpPr>
          <p:nvPr/>
        </p:nvSpPr>
        <p:spPr>
          <a:xfrm>
            <a:off x="5877392" y="1847294"/>
            <a:ext cx="6304409" cy="40744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b="1" dirty="0">
                <a:solidFill>
                  <a:srgbClr val="000000"/>
                </a:solidFill>
                <a:latin typeface="Arial Unicode MS"/>
              </a:rPr>
              <a:t>User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 err="1">
                <a:solidFill>
                  <a:srgbClr val="B200B2"/>
                </a:solidFill>
                <a:latin typeface="Arial Unicode MS"/>
              </a:rPr>
              <a:t>init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(self, </a:t>
            </a: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username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, password, name, email):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b="1" dirty="0" err="1">
                <a:solidFill>
                  <a:srgbClr val="080808"/>
                </a:solidFill>
                <a:latin typeface="Arial Unicode MS"/>
              </a:rPr>
              <a:t>self._username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= 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</a:rPr>
              <a:t>username</a:t>
            </a:r>
            <a:br>
              <a:rPr lang="en-US" altLang="en-US" b="1" dirty="0">
                <a:solidFill>
                  <a:srgbClr val="94558D"/>
                </a:solidFill>
                <a:latin typeface="Arial Unicode MS"/>
              </a:rPr>
            </a:br>
            <a:r>
              <a:rPr lang="en-US" altLang="en-US" b="1" dirty="0">
                <a:solidFill>
                  <a:srgbClr val="94558D"/>
                </a:solidFill>
                <a:latin typeface="Arial Unicode MS"/>
              </a:rPr>
              <a:t>        </a:t>
            </a:r>
            <a:r>
              <a:rPr lang="en-US" altLang="en-US" b="1" dirty="0" err="1">
                <a:solidFill>
                  <a:srgbClr val="080808"/>
                </a:solidFill>
                <a:latin typeface="Arial Unicode MS"/>
              </a:rPr>
              <a:t>self._password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= password</a:t>
            </a:r>
            <a:br>
              <a:rPr lang="en-US" altLang="en-US" b="1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b="1" dirty="0" err="1">
                <a:solidFill>
                  <a:srgbClr val="080808"/>
                </a:solidFill>
                <a:latin typeface="Arial Unicode MS"/>
              </a:rPr>
              <a:t>self._name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= name</a:t>
            </a:r>
            <a:br>
              <a:rPr lang="en-US" altLang="en-US" b="1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b="1" dirty="0" err="1">
                <a:solidFill>
                  <a:srgbClr val="080808"/>
                </a:solidFill>
                <a:latin typeface="Arial Unicode MS"/>
              </a:rPr>
              <a:t>self._email</a:t>
            </a:r>
            <a:r>
              <a:rPr lang="en-US" altLang="en-US" b="1" dirty="0">
                <a:solidFill>
                  <a:srgbClr val="080808"/>
                </a:solidFill>
                <a:latin typeface="Arial Unicode MS"/>
              </a:rPr>
              <a:t> = email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self._database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MyDatabase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()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 err="1">
                <a:solidFill>
                  <a:srgbClr val="00627A"/>
                </a:solidFill>
                <a:latin typeface="Arial Unicode MS"/>
              </a:rPr>
              <a:t>post_to_forum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message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, subject):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post = Post(subject, 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message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, 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self.username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self._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database.add_simple_post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(post)</a:t>
            </a:r>
            <a:br>
              <a:rPr lang="en-US" altLang="en-US" sz="1400" dirty="0">
                <a:solidFill>
                  <a:srgbClr val="080808"/>
                </a:solidFill>
                <a:latin typeface="Arial Unicode MS"/>
              </a:rPr>
            </a:br>
            <a:endParaRPr lang="en-US" altLang="en-US" sz="3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1585968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76D8B-F9F1-48CF-8609-703BC1CF5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1" u="sng" dirty="0"/>
              <a:t>S</a:t>
            </a:r>
            <a:r>
              <a:rPr lang="en-US" dirty="0"/>
              <a:t>ingle Responsibility Principle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D38AE-2A1F-42C7-9FE5-0CF57EFFD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396377" cy="4023360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200" dirty="0"/>
              <a:t>“The Single Responsibility Principle requires that each class is responsible for only one thing.”</a:t>
            </a:r>
          </a:p>
          <a:p>
            <a:endParaRPr lang="en-US" dirty="0"/>
          </a:p>
          <a:p>
            <a:r>
              <a:rPr lang="en-US" dirty="0"/>
              <a:t>Ask yourself, are there multiple reasons to change my class? </a:t>
            </a:r>
          </a:p>
          <a:p>
            <a:r>
              <a:rPr lang="en-US" dirty="0"/>
              <a:t>There should only be one reason to change your class. Each class should have one and only one responsibility.</a:t>
            </a:r>
            <a:endParaRPr lang="en-CA" dirty="0"/>
          </a:p>
        </p:txBody>
      </p:sp>
      <p:sp>
        <p:nvSpPr>
          <p:cNvPr id="4" name="AutoShape 2" descr="Image result for single responsibility principle">
            <a:extLst>
              <a:ext uri="{FF2B5EF4-FFF2-40B4-BE49-F238E27FC236}">
                <a16:creationId xmlns:a16="http://schemas.microsoft.com/office/drawing/2014/main" id="{A5C24734-2F3A-4893-B70F-647980C2E7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8500" y="1143000"/>
            <a:ext cx="5715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6A7880-148F-4149-8BAD-388DDB2D2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960" y="1984538"/>
            <a:ext cx="4998720" cy="399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21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FBA8E-E39B-4C55-A064-E7F582E60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Split the User Class! Pt.1</a:t>
            </a:r>
            <a:endParaRPr lang="en-CA" dirty="0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F36694FD-E789-4F12-BB1E-2005DBFA7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0835" y="1939413"/>
            <a:ext cx="7358234" cy="266414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2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2200" dirty="0">
                <a:solidFill>
                  <a:srgbClr val="000000"/>
                </a:solidFill>
                <a:latin typeface="Arial Unicode MS"/>
              </a:rPr>
              <a:t>User</a:t>
            </a: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sz="22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2200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2200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sz="2200" dirty="0" err="1">
                <a:solidFill>
                  <a:srgbClr val="B200B2"/>
                </a:solidFill>
                <a:latin typeface="Arial Unicode MS"/>
              </a:rPr>
              <a:t>init</a:t>
            </a:r>
            <a:r>
              <a:rPr lang="en-US" altLang="en-US" sz="2200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(self, </a:t>
            </a:r>
            <a:r>
              <a:rPr lang="en-US" altLang="en-US" sz="2200" dirty="0">
                <a:solidFill>
                  <a:schemeClr val="tx1"/>
                </a:solidFill>
                <a:latin typeface="Arial Unicode MS"/>
              </a:rPr>
              <a:t>username</a:t>
            </a: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, password, name, email):</a:t>
            </a:r>
            <a:br>
              <a:rPr lang="en-US" altLang="en-US" sz="22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2200" dirty="0" err="1">
                <a:solidFill>
                  <a:srgbClr val="080808"/>
                </a:solidFill>
                <a:latin typeface="Arial Unicode MS"/>
              </a:rPr>
              <a:t>self._username</a:t>
            </a: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 = </a:t>
            </a:r>
            <a:r>
              <a:rPr lang="en-US" altLang="en-US" sz="2200" dirty="0">
                <a:solidFill>
                  <a:schemeClr val="tx1"/>
                </a:solidFill>
                <a:latin typeface="Arial Unicode MS"/>
              </a:rPr>
              <a:t>username</a:t>
            </a:r>
            <a:br>
              <a:rPr lang="en-US" altLang="en-US" sz="2200" dirty="0">
                <a:solidFill>
                  <a:srgbClr val="94558D"/>
                </a:solidFill>
                <a:latin typeface="Arial Unicode MS"/>
              </a:rPr>
            </a:br>
            <a:r>
              <a:rPr lang="en-US" altLang="en-US" sz="2200" dirty="0">
                <a:solidFill>
                  <a:srgbClr val="94558D"/>
                </a:solidFill>
                <a:latin typeface="Arial Unicode MS"/>
              </a:rPr>
              <a:t>        </a:t>
            </a:r>
            <a:r>
              <a:rPr lang="en-US" altLang="en-US" sz="2200" dirty="0" err="1">
                <a:solidFill>
                  <a:srgbClr val="080808"/>
                </a:solidFill>
                <a:latin typeface="Arial Unicode MS"/>
              </a:rPr>
              <a:t>self._password</a:t>
            </a: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 = password</a:t>
            </a:r>
            <a:br>
              <a:rPr lang="en-US" altLang="en-US" sz="22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2200" dirty="0" err="1">
                <a:solidFill>
                  <a:srgbClr val="080808"/>
                </a:solidFill>
                <a:latin typeface="Arial Unicode MS"/>
              </a:rPr>
              <a:t>self._name</a:t>
            </a: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 = name</a:t>
            </a:r>
            <a:br>
              <a:rPr lang="en-US" altLang="en-US" sz="22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2200" dirty="0" err="1">
                <a:solidFill>
                  <a:srgbClr val="080808"/>
                </a:solidFill>
                <a:latin typeface="Arial Unicode MS"/>
              </a:rPr>
              <a:t>self._email</a:t>
            </a: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 = email</a:t>
            </a:r>
            <a:endParaRPr lang="en-US" altLang="en-US" sz="2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372163" y="1939413"/>
            <a:ext cx="4050087" cy="4145698"/>
            <a:chOff x="1641570" y="1939413"/>
            <a:chExt cx="4050087" cy="414569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40EB7B5-25BD-4EC8-A96C-9EB5692FEFDA}"/>
                </a:ext>
              </a:extLst>
            </p:cNvPr>
            <p:cNvSpPr/>
            <p:nvPr/>
          </p:nvSpPr>
          <p:spPr>
            <a:xfrm>
              <a:off x="1641570" y="1939413"/>
              <a:ext cx="1524602" cy="9615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User</a:t>
              </a:r>
              <a:endParaRPr lang="en-CA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603ECAB-377F-4A04-AAD7-79B960923A21}"/>
                </a:ext>
              </a:extLst>
            </p:cNvPr>
            <p:cNvSpPr/>
            <p:nvPr/>
          </p:nvSpPr>
          <p:spPr>
            <a:xfrm>
              <a:off x="4167057" y="3381804"/>
              <a:ext cx="1524600" cy="9615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Post</a:t>
              </a:r>
              <a:endParaRPr lang="en-CA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BED2E62-719D-4A98-A08F-C95D2F56F2E0}"/>
                </a:ext>
              </a:extLst>
            </p:cNvPr>
            <p:cNvSpPr/>
            <p:nvPr/>
          </p:nvSpPr>
          <p:spPr>
            <a:xfrm>
              <a:off x="1641571" y="5123519"/>
              <a:ext cx="1524600" cy="9615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MyDatabase</a:t>
              </a:r>
              <a:endParaRPr lang="en-CA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0CBB862-4156-455C-9067-E0AF423304C5}"/>
                </a:ext>
              </a:extLst>
            </p:cNvPr>
            <p:cNvCxnSpPr>
              <a:cxnSpLocks/>
              <a:stCxn id="17" idx="3"/>
              <a:endCxn id="15" idx="2"/>
            </p:cNvCxnSpPr>
            <p:nvPr/>
          </p:nvCxnSpPr>
          <p:spPr>
            <a:xfrm flipV="1">
              <a:off x="3166171" y="4343398"/>
              <a:ext cx="1763186" cy="1260917"/>
            </a:xfrm>
            <a:prstGeom prst="straightConnector1">
              <a:avLst/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5BCF455-45D7-497D-8CE9-CAF8BD0F8E85}"/>
                </a:ext>
              </a:extLst>
            </p:cNvPr>
            <p:cNvSpPr/>
            <p:nvPr/>
          </p:nvSpPr>
          <p:spPr>
            <a:xfrm>
              <a:off x="1641570" y="3381804"/>
              <a:ext cx="1524602" cy="9615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PostWriter</a:t>
              </a:r>
              <a:endParaRPr lang="en-CA" dirty="0">
                <a:solidFill>
                  <a:schemeClr val="tx1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6A8390B-7195-4BC1-A81A-A71F63052C57}"/>
                </a:ext>
              </a:extLst>
            </p:cNvPr>
            <p:cNvCxnSpPr>
              <a:stCxn id="21" idx="3"/>
              <a:endCxn id="15" idx="1"/>
            </p:cNvCxnSpPr>
            <p:nvPr/>
          </p:nvCxnSpPr>
          <p:spPr>
            <a:xfrm>
              <a:off x="3166172" y="3862601"/>
              <a:ext cx="1000885" cy="0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6733C4B-82E4-46F5-A6F8-097730FE246B}"/>
                </a:ext>
              </a:extLst>
            </p:cNvPr>
            <p:cNvCxnSpPr>
              <a:stCxn id="21" idx="2"/>
              <a:endCxn id="17" idx="0"/>
            </p:cNvCxnSpPr>
            <p:nvPr/>
          </p:nvCxnSpPr>
          <p:spPr>
            <a:xfrm>
              <a:off x="2403871" y="4343398"/>
              <a:ext cx="0" cy="78012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8BFC5D8-C073-4007-9028-E4F0582A23FA}"/>
                </a:ext>
              </a:extLst>
            </p:cNvPr>
            <p:cNvCxnSpPr>
              <a:cxnSpLocks/>
              <a:stCxn id="21" idx="0"/>
              <a:endCxn id="14" idx="2"/>
            </p:cNvCxnSpPr>
            <p:nvPr/>
          </p:nvCxnSpPr>
          <p:spPr>
            <a:xfrm flipV="1">
              <a:off x="2403871" y="2901007"/>
              <a:ext cx="0" cy="480797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1">
            <a:extLst>
              <a:ext uri="{FF2B5EF4-FFF2-40B4-BE49-F238E27FC236}">
                <a16:creationId xmlns:a16="http://schemas.microsoft.com/office/drawing/2014/main" id="{51C4B17A-5981-43DC-921E-86CF2E4EE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957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FBA8E-E39B-4C55-A064-E7F582E60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Split the User Class! Pt.2</a:t>
            </a:r>
            <a:endParaRPr lang="en-CA" dirty="0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F36694FD-E789-4F12-BB1E-2005DBFA7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259" y="1875680"/>
            <a:ext cx="7323183" cy="2857778"/>
          </a:xfrm>
        </p:spPr>
        <p:txBody>
          <a:bodyPr>
            <a:noAutofit/>
          </a:bodyPr>
          <a:lstStyle/>
          <a:p>
            <a:r>
              <a:rPr lang="en-US" altLang="en-US" sz="22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2200" dirty="0" err="1">
                <a:solidFill>
                  <a:srgbClr val="000000"/>
                </a:solidFill>
                <a:latin typeface="Arial Unicode MS"/>
              </a:rPr>
              <a:t>PostWriter</a:t>
            </a: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sz="22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2200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2200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sz="2200" dirty="0" err="1">
                <a:solidFill>
                  <a:srgbClr val="B200B2"/>
                </a:solidFill>
                <a:latin typeface="Arial Unicode MS"/>
              </a:rPr>
              <a:t>init</a:t>
            </a:r>
            <a:r>
              <a:rPr lang="en-US" altLang="en-US" sz="2200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2200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, database):</a:t>
            </a:r>
            <a:br>
              <a:rPr lang="en-US" altLang="en-US" sz="22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2200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2200" dirty="0" err="1">
                <a:solidFill>
                  <a:srgbClr val="080808"/>
                </a:solidFill>
                <a:latin typeface="Arial Unicode MS"/>
              </a:rPr>
              <a:t>._database</a:t>
            </a: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 = database</a:t>
            </a:r>
            <a:br>
              <a:rPr lang="en-US" altLang="en-US" sz="2200" dirty="0">
                <a:solidFill>
                  <a:srgbClr val="080808"/>
                </a:solidFill>
                <a:latin typeface="Arial Unicode MS"/>
              </a:rPr>
            </a:br>
            <a:br>
              <a:rPr lang="en-US" altLang="en-US" sz="22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2200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2200" dirty="0" err="1">
                <a:solidFill>
                  <a:srgbClr val="00627A"/>
                </a:solidFill>
                <a:latin typeface="Arial Unicode MS"/>
              </a:rPr>
              <a:t>post_to_forum</a:t>
            </a: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2200" dirty="0">
                <a:solidFill>
                  <a:srgbClr val="94558D"/>
                </a:solidFill>
                <a:latin typeface="Arial Unicode MS"/>
              </a:rPr>
              <a:t>self, </a:t>
            </a:r>
            <a:r>
              <a:rPr lang="en-US" altLang="en-US" sz="2200" dirty="0">
                <a:solidFill>
                  <a:schemeClr val="tx1"/>
                </a:solidFill>
                <a:latin typeface="Arial Unicode MS"/>
              </a:rPr>
              <a:t>user</a:t>
            </a: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, message, subject):</a:t>
            </a:r>
            <a:br>
              <a:rPr lang="en-US" altLang="en-US" sz="22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        post = Post(subject, message, </a:t>
            </a:r>
            <a:r>
              <a:rPr lang="en-US" altLang="en-US" sz="2200" dirty="0" err="1">
                <a:solidFill>
                  <a:schemeClr val="tx1"/>
                </a:solidFill>
                <a:latin typeface="Arial Unicode MS"/>
              </a:rPr>
              <a:t>user</a:t>
            </a:r>
            <a:r>
              <a:rPr lang="en-US" altLang="en-US" sz="2200" dirty="0" err="1">
                <a:solidFill>
                  <a:srgbClr val="080808"/>
                </a:solidFill>
                <a:latin typeface="Arial Unicode MS"/>
              </a:rPr>
              <a:t>._username</a:t>
            </a: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)</a:t>
            </a:r>
            <a:br>
              <a:rPr lang="en-US" altLang="en-US" sz="22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        self._</a:t>
            </a:r>
            <a:r>
              <a:rPr lang="en-US" altLang="en-US" sz="2200" dirty="0" err="1">
                <a:solidFill>
                  <a:srgbClr val="080808"/>
                </a:solidFill>
                <a:latin typeface="Arial Unicode MS"/>
              </a:rPr>
              <a:t>database.add_post</a:t>
            </a:r>
            <a:r>
              <a:rPr lang="en-US" altLang="en-US" sz="2200" dirty="0">
                <a:solidFill>
                  <a:srgbClr val="080808"/>
                </a:solidFill>
                <a:latin typeface="Arial Unicode MS"/>
              </a:rPr>
              <a:t>(post)</a:t>
            </a:r>
            <a:endParaRPr lang="en-US" altLang="en-US" sz="2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CA" sz="18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372163" y="1939413"/>
            <a:ext cx="4050087" cy="4145698"/>
            <a:chOff x="1641570" y="1939413"/>
            <a:chExt cx="4050087" cy="414569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40EB7B5-25BD-4EC8-A96C-9EB5692FEFDA}"/>
                </a:ext>
              </a:extLst>
            </p:cNvPr>
            <p:cNvSpPr/>
            <p:nvPr/>
          </p:nvSpPr>
          <p:spPr>
            <a:xfrm>
              <a:off x="1641570" y="1939413"/>
              <a:ext cx="1524602" cy="9615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User</a:t>
              </a:r>
              <a:endParaRPr lang="en-CA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603ECAB-377F-4A04-AAD7-79B960923A21}"/>
                </a:ext>
              </a:extLst>
            </p:cNvPr>
            <p:cNvSpPr/>
            <p:nvPr/>
          </p:nvSpPr>
          <p:spPr>
            <a:xfrm>
              <a:off x="4167057" y="3381804"/>
              <a:ext cx="1524600" cy="9615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Post</a:t>
              </a:r>
              <a:endParaRPr lang="en-CA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BED2E62-719D-4A98-A08F-C95D2F56F2E0}"/>
                </a:ext>
              </a:extLst>
            </p:cNvPr>
            <p:cNvSpPr/>
            <p:nvPr/>
          </p:nvSpPr>
          <p:spPr>
            <a:xfrm>
              <a:off x="1641571" y="5123519"/>
              <a:ext cx="1524600" cy="9615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MyDatabase</a:t>
              </a:r>
              <a:endParaRPr lang="en-CA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0CBB862-4156-455C-9067-E0AF423304C5}"/>
                </a:ext>
              </a:extLst>
            </p:cNvPr>
            <p:cNvCxnSpPr>
              <a:cxnSpLocks/>
              <a:stCxn id="19" idx="3"/>
              <a:endCxn id="17" idx="2"/>
            </p:cNvCxnSpPr>
            <p:nvPr/>
          </p:nvCxnSpPr>
          <p:spPr>
            <a:xfrm flipV="1">
              <a:off x="3166171" y="4343398"/>
              <a:ext cx="1763186" cy="1260917"/>
            </a:xfrm>
            <a:prstGeom prst="straightConnector1">
              <a:avLst/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5BCF455-45D7-497D-8CE9-CAF8BD0F8E85}"/>
                </a:ext>
              </a:extLst>
            </p:cNvPr>
            <p:cNvSpPr/>
            <p:nvPr/>
          </p:nvSpPr>
          <p:spPr>
            <a:xfrm>
              <a:off x="1641570" y="3381804"/>
              <a:ext cx="1524602" cy="9615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PostWriter</a:t>
              </a:r>
              <a:endParaRPr lang="en-CA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6A8390B-7195-4BC1-A81A-A71F63052C57}"/>
                </a:ext>
              </a:extLst>
            </p:cNvPr>
            <p:cNvCxnSpPr>
              <a:stCxn id="22" idx="3"/>
              <a:endCxn id="17" idx="1"/>
            </p:cNvCxnSpPr>
            <p:nvPr/>
          </p:nvCxnSpPr>
          <p:spPr>
            <a:xfrm>
              <a:off x="3166172" y="3862601"/>
              <a:ext cx="1000885" cy="0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6733C4B-82E4-46F5-A6F8-097730FE246B}"/>
                </a:ext>
              </a:extLst>
            </p:cNvPr>
            <p:cNvCxnSpPr>
              <a:stCxn id="22" idx="2"/>
              <a:endCxn id="19" idx="0"/>
            </p:cNvCxnSpPr>
            <p:nvPr/>
          </p:nvCxnSpPr>
          <p:spPr>
            <a:xfrm>
              <a:off x="2403871" y="4343398"/>
              <a:ext cx="0" cy="78012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8BFC5D8-C073-4007-9028-E4F0582A23FA}"/>
                </a:ext>
              </a:extLst>
            </p:cNvPr>
            <p:cNvCxnSpPr>
              <a:cxnSpLocks/>
              <a:stCxn id="22" idx="0"/>
              <a:endCxn id="15" idx="2"/>
            </p:cNvCxnSpPr>
            <p:nvPr/>
          </p:nvCxnSpPr>
          <p:spPr>
            <a:xfrm flipV="1">
              <a:off x="2403871" y="2901007"/>
              <a:ext cx="0" cy="480797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1">
            <a:extLst>
              <a:ext uri="{FF2B5EF4-FFF2-40B4-BE49-F238E27FC236}">
                <a16:creationId xmlns:a16="http://schemas.microsoft.com/office/drawing/2014/main" id="{54C4CAB3-4F78-48CF-A60C-DC6BE5AFE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353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Open-closed principle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0589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3974A-E362-405D-9FC2-99183F6E2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Now, Say we had a UI widget class….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103D4-1674-489C-86CB-DB6E2E267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307" y="2754385"/>
            <a:ext cx="7280861" cy="3454658"/>
          </a:xfrm>
        </p:spPr>
        <p:txBody>
          <a:bodyPr numCol="1">
            <a:normAutofit/>
          </a:bodyPr>
          <a:lstStyle/>
          <a:p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dirty="0" err="1">
                <a:solidFill>
                  <a:srgbClr val="000000"/>
                </a:solidFill>
                <a:latin typeface="Arial Unicode MS"/>
              </a:rPr>
              <a:t>UIWidget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:</a:t>
            </a:r>
          </a:p>
          <a:p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 err="1">
                <a:solidFill>
                  <a:srgbClr val="00627A"/>
                </a:solidFill>
                <a:latin typeface="Arial Unicode MS"/>
              </a:rPr>
              <a:t>draw_widget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if </a:t>
            </a:r>
            <a:r>
              <a:rPr lang="en-US" altLang="en-US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._type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== </a:t>
            </a:r>
            <a:r>
              <a:rPr lang="en-US" altLang="en-US" dirty="0">
                <a:solidFill>
                  <a:srgbClr val="067D17"/>
                </a:solidFill>
                <a:latin typeface="Arial Unicode MS"/>
              </a:rPr>
              <a:t>"Button"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    </a:t>
            </a:r>
            <a:r>
              <a:rPr lang="en-US" altLang="en-US" i="1" dirty="0">
                <a:solidFill>
                  <a:srgbClr val="8C8C8C"/>
                </a:solidFill>
                <a:latin typeface="Arial Unicode MS"/>
              </a:rPr>
              <a:t># complicated button draw logic here</a:t>
            </a:r>
            <a:br>
              <a:rPr lang="en-US" altLang="en-US" i="1" dirty="0">
                <a:solidFill>
                  <a:srgbClr val="8C8C8C"/>
                </a:solidFill>
                <a:latin typeface="Arial Unicode MS"/>
              </a:rPr>
            </a:br>
            <a:r>
              <a:rPr lang="en-US" altLang="en-US" i="1" dirty="0">
                <a:solidFill>
                  <a:srgbClr val="8C8C8C"/>
                </a:solidFill>
                <a:latin typeface="Arial Unicode MS"/>
              </a:rPr>
              <a:t>    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else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: 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    </a:t>
            </a:r>
            <a:r>
              <a:rPr lang="en-US" altLang="en-US" i="1" dirty="0">
                <a:solidFill>
                  <a:srgbClr val="8C8C8C"/>
                </a:solidFill>
                <a:latin typeface="Arial Unicode MS"/>
              </a:rPr>
              <a:t># complicated draw logic for other widget types</a:t>
            </a:r>
            <a:endParaRPr lang="en-US" altLang="en-US" sz="4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CA" sz="1900" dirty="0">
              <a:latin typeface="Couri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91FFD4-E822-417E-958A-3A2307C6F1E1}"/>
              </a:ext>
            </a:extLst>
          </p:cNvPr>
          <p:cNvSpPr/>
          <p:nvPr/>
        </p:nvSpPr>
        <p:spPr>
          <a:xfrm>
            <a:off x="1097279" y="1932114"/>
            <a:ext cx="83224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Say we had a graphical user interface, where each UI element was a UI widget.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6393FF-5570-4CCD-B5FC-07E982E89486}"/>
              </a:ext>
            </a:extLst>
          </p:cNvPr>
          <p:cNvSpPr/>
          <p:nvPr/>
        </p:nvSpPr>
        <p:spPr>
          <a:xfrm>
            <a:off x="1489165" y="3483918"/>
            <a:ext cx="2139405" cy="1349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UIWidget</a:t>
            </a:r>
            <a:endParaRPr lang="en-CA" sz="2000" dirty="0">
              <a:solidFill>
                <a:schemeClr val="tx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1A4E06B-A5E9-4B95-80B2-EC2961802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5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CE169-96BF-4116-9400-9651BFFCB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over time, what if our </a:t>
            </a:r>
            <a:r>
              <a:rPr lang="en-US" dirty="0" err="1"/>
              <a:t>UIPanelWidgetClass</a:t>
            </a:r>
            <a:r>
              <a:rPr lang="en-US" dirty="0"/>
              <a:t> looked like this?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ED177-69CC-491F-B1A7-3021A21C5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934" y="4658064"/>
            <a:ext cx="7799977" cy="1664904"/>
          </a:xfrm>
        </p:spPr>
        <p:txBody>
          <a:bodyPr>
            <a:normAutofit/>
          </a:bodyPr>
          <a:lstStyle/>
          <a:p>
            <a:endParaRPr lang="en-CA" sz="1400" dirty="0">
              <a:latin typeface="Calibri(Body)"/>
            </a:endParaRPr>
          </a:p>
          <a:p>
            <a:r>
              <a:rPr lang="en-US" sz="1800" dirty="0"/>
              <a:t>This is </a:t>
            </a:r>
            <a:r>
              <a:rPr lang="en-US" sz="1800" b="1" dirty="0"/>
              <a:t>terrible design</a:t>
            </a:r>
            <a:r>
              <a:rPr lang="en-US" sz="1800" dirty="0"/>
              <a:t>! If we wanted to change the logic / algorithm behind drawing a button, we would need to edit this massive draw method.</a:t>
            </a:r>
          </a:p>
          <a:p>
            <a:r>
              <a:rPr lang="en-US" sz="1800" dirty="0"/>
              <a:t>An error or bug here would effect all the widgets on screen and crash our whole system!</a:t>
            </a:r>
            <a:endParaRPr lang="en-CA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55D39E-CF41-45CE-B662-296564DE74A2}"/>
              </a:ext>
            </a:extLst>
          </p:cNvPr>
          <p:cNvSpPr/>
          <p:nvPr/>
        </p:nvSpPr>
        <p:spPr>
          <a:xfrm>
            <a:off x="8638903" y="3164249"/>
            <a:ext cx="2516777" cy="1587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UIWidget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9177" y="1769634"/>
            <a:ext cx="8257092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7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1700" dirty="0" err="1">
                <a:solidFill>
                  <a:srgbClr val="000000"/>
                </a:solidFill>
                <a:latin typeface="Arial Unicode MS"/>
              </a:rPr>
              <a:t>UIWidget</a:t>
            </a:r>
            <a:r>
              <a:rPr lang="en-US" altLang="en-US" sz="1700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sz="17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700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1700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1700" dirty="0" err="1">
                <a:solidFill>
                  <a:srgbClr val="00627A"/>
                </a:solidFill>
                <a:latin typeface="Arial Unicode MS"/>
              </a:rPr>
              <a:t>draw_widget</a:t>
            </a:r>
            <a:r>
              <a:rPr lang="en-US" altLang="en-US" sz="17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700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7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7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7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700" dirty="0">
                <a:solidFill>
                  <a:srgbClr val="0033B3"/>
                </a:solidFill>
                <a:latin typeface="Arial Unicode MS"/>
              </a:rPr>
              <a:t>if </a:t>
            </a:r>
            <a:r>
              <a:rPr lang="en-US" altLang="en-US" sz="1700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700" dirty="0" err="1">
                <a:solidFill>
                  <a:srgbClr val="080808"/>
                </a:solidFill>
                <a:latin typeface="Arial Unicode MS"/>
              </a:rPr>
              <a:t>._type</a:t>
            </a:r>
            <a:r>
              <a:rPr lang="en-US" altLang="en-US" sz="1700" dirty="0">
                <a:solidFill>
                  <a:srgbClr val="080808"/>
                </a:solidFill>
                <a:latin typeface="Arial Unicode MS"/>
              </a:rPr>
              <a:t> == </a:t>
            </a:r>
            <a:r>
              <a:rPr lang="en-US" altLang="en-US" sz="1700" dirty="0">
                <a:solidFill>
                  <a:srgbClr val="00B050"/>
                </a:solidFill>
                <a:latin typeface="Arial Unicode MS"/>
              </a:rPr>
              <a:t>"Button"</a:t>
            </a:r>
            <a:r>
              <a:rPr lang="en-US" altLang="en-US" sz="1700" dirty="0">
                <a:solidFill>
                  <a:srgbClr val="080808"/>
                </a:solidFill>
                <a:latin typeface="Arial Unicode MS"/>
              </a:rPr>
              <a:t>:            </a:t>
            </a:r>
            <a:br>
              <a:rPr lang="en-US" altLang="en-US" sz="17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700" dirty="0">
                <a:solidFill>
                  <a:srgbClr val="080808"/>
                </a:solidFill>
                <a:latin typeface="Arial Unicode MS"/>
              </a:rPr>
              <a:t>            </a:t>
            </a:r>
            <a:r>
              <a:rPr lang="en-US" altLang="en-US" sz="1700" i="1" dirty="0">
                <a:solidFill>
                  <a:srgbClr val="8C8C8C"/>
                </a:solidFill>
                <a:latin typeface="Arial Unicode MS"/>
              </a:rPr>
              <a:t>#complicated button draw logic here</a:t>
            </a:r>
            <a:br>
              <a:rPr lang="en-US" altLang="en-US" sz="1700" i="1" dirty="0">
                <a:solidFill>
                  <a:srgbClr val="8C8C8C"/>
                </a:solidFill>
                <a:latin typeface="Arial Unicode MS"/>
              </a:rPr>
            </a:br>
            <a:r>
              <a:rPr lang="en-US" altLang="en-US" sz="1700" i="1" dirty="0">
                <a:solidFill>
                  <a:srgbClr val="8C8C8C"/>
                </a:solidFill>
                <a:latin typeface="Arial Unicode MS"/>
              </a:rPr>
              <a:t>        </a:t>
            </a:r>
            <a:r>
              <a:rPr lang="en-US" altLang="en-US" sz="1700" dirty="0" err="1">
                <a:solidFill>
                  <a:srgbClr val="0033B3"/>
                </a:solidFill>
                <a:latin typeface="Arial Unicode MS"/>
              </a:rPr>
              <a:t>elif</a:t>
            </a:r>
            <a:r>
              <a:rPr lang="en-US" altLang="en-US" sz="1700" dirty="0">
                <a:solidFill>
                  <a:srgbClr val="0033B3"/>
                </a:solidFill>
                <a:latin typeface="Arial Unicode MS"/>
              </a:rPr>
              <a:t> </a:t>
            </a:r>
            <a:r>
              <a:rPr lang="en-US" altLang="en-US" sz="1700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700" dirty="0" err="1">
                <a:solidFill>
                  <a:srgbClr val="080808"/>
                </a:solidFill>
                <a:latin typeface="Arial Unicode MS"/>
              </a:rPr>
              <a:t>._type</a:t>
            </a:r>
            <a:r>
              <a:rPr lang="en-US" altLang="en-US" sz="1700" dirty="0">
                <a:solidFill>
                  <a:srgbClr val="080808"/>
                </a:solidFill>
                <a:latin typeface="Arial Unicode MS"/>
              </a:rPr>
              <a:t> == </a:t>
            </a:r>
            <a:r>
              <a:rPr lang="en-US" altLang="en-US" sz="1700" dirty="0">
                <a:solidFill>
                  <a:srgbClr val="00B050"/>
                </a:solidFill>
                <a:latin typeface="Arial Unicode MS"/>
              </a:rPr>
              <a:t>“</a:t>
            </a:r>
            <a:r>
              <a:rPr lang="en-US" altLang="en-US" sz="1700" dirty="0" err="1">
                <a:solidFill>
                  <a:srgbClr val="00B050"/>
                </a:solidFill>
                <a:latin typeface="Arial Unicode MS"/>
              </a:rPr>
              <a:t>TextBox</a:t>
            </a:r>
            <a:r>
              <a:rPr lang="en-US" altLang="en-US" sz="1700" dirty="0">
                <a:solidFill>
                  <a:srgbClr val="00B050"/>
                </a:solidFill>
                <a:latin typeface="Arial Unicode MS"/>
              </a:rPr>
              <a:t>”</a:t>
            </a:r>
            <a:r>
              <a:rPr lang="en-US" altLang="en-US" sz="1700" dirty="0">
                <a:solidFill>
                  <a:srgbClr val="080808"/>
                </a:solidFill>
                <a:latin typeface="Arial Unicode MS"/>
              </a:rPr>
              <a:t>:          </a:t>
            </a:r>
            <a:br>
              <a:rPr lang="en-US" altLang="en-US" sz="17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700" dirty="0">
                <a:solidFill>
                  <a:srgbClr val="080808"/>
                </a:solidFill>
                <a:latin typeface="Arial Unicode MS"/>
              </a:rPr>
              <a:t>            </a:t>
            </a:r>
            <a:r>
              <a:rPr lang="en-US" altLang="en-US" sz="1700" i="1" dirty="0">
                <a:solidFill>
                  <a:srgbClr val="8C8C8C"/>
                </a:solidFill>
                <a:latin typeface="Arial Unicode MS"/>
              </a:rPr>
              <a:t># complicated draw logic for a generic UI box</a:t>
            </a:r>
            <a:br>
              <a:rPr lang="en-US" altLang="en-US" sz="1700" i="1" dirty="0">
                <a:solidFill>
                  <a:srgbClr val="8C8C8C"/>
                </a:solidFill>
                <a:latin typeface="Arial Unicode MS"/>
              </a:rPr>
            </a:br>
            <a:r>
              <a:rPr lang="en-US" altLang="en-US" sz="1700" i="1" dirty="0">
                <a:solidFill>
                  <a:srgbClr val="8C8C8C"/>
                </a:solidFill>
                <a:latin typeface="Arial Unicode MS"/>
              </a:rPr>
              <a:t>        </a:t>
            </a:r>
            <a:r>
              <a:rPr lang="en-US" altLang="en-US" sz="1700" dirty="0" err="1">
                <a:solidFill>
                  <a:srgbClr val="0033B3"/>
                </a:solidFill>
                <a:latin typeface="Arial Unicode MS"/>
              </a:rPr>
              <a:t>elif</a:t>
            </a:r>
            <a:r>
              <a:rPr lang="en-US" altLang="en-US" sz="1700" dirty="0">
                <a:solidFill>
                  <a:srgbClr val="0033B3"/>
                </a:solidFill>
                <a:latin typeface="Arial Unicode MS"/>
              </a:rPr>
              <a:t> </a:t>
            </a:r>
            <a:r>
              <a:rPr lang="en-US" altLang="en-US" sz="1700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700" dirty="0" err="1">
                <a:solidFill>
                  <a:srgbClr val="080808"/>
                </a:solidFill>
                <a:latin typeface="Arial Unicode MS"/>
              </a:rPr>
              <a:t>._type</a:t>
            </a:r>
            <a:r>
              <a:rPr lang="en-US" altLang="en-US" sz="1700" dirty="0">
                <a:solidFill>
                  <a:srgbClr val="080808"/>
                </a:solidFill>
                <a:latin typeface="Arial Unicode MS"/>
              </a:rPr>
              <a:t> == </a:t>
            </a:r>
            <a:r>
              <a:rPr lang="en-US" altLang="en-US" sz="1700" dirty="0">
                <a:solidFill>
                  <a:srgbClr val="00B050"/>
                </a:solidFill>
                <a:latin typeface="Arial Unicode MS"/>
              </a:rPr>
              <a:t>“</a:t>
            </a:r>
            <a:r>
              <a:rPr lang="en-US" altLang="en-US" sz="1700" dirty="0" err="1">
                <a:solidFill>
                  <a:srgbClr val="00B050"/>
                </a:solidFill>
                <a:latin typeface="Arial Unicode MS"/>
              </a:rPr>
              <a:t>ScrollBar</a:t>
            </a:r>
            <a:r>
              <a:rPr lang="en-US" altLang="en-US" sz="1700" dirty="0">
                <a:solidFill>
                  <a:srgbClr val="00B050"/>
                </a:solidFill>
                <a:latin typeface="Arial Unicode MS"/>
              </a:rPr>
              <a:t>”</a:t>
            </a:r>
            <a:r>
              <a:rPr lang="en-US" altLang="en-US" sz="1700" dirty="0">
                <a:solidFill>
                  <a:srgbClr val="080808"/>
                </a:solidFill>
                <a:latin typeface="Arial Unicode MS"/>
              </a:rPr>
              <a:t>:            </a:t>
            </a:r>
            <a:br>
              <a:rPr lang="en-US" altLang="en-US" sz="17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700" dirty="0">
                <a:solidFill>
                  <a:srgbClr val="080808"/>
                </a:solidFill>
                <a:latin typeface="Arial Unicode MS"/>
              </a:rPr>
              <a:t>            </a:t>
            </a:r>
            <a:r>
              <a:rPr lang="en-US" altLang="en-US" sz="1700" i="1" dirty="0">
                <a:solidFill>
                  <a:srgbClr val="8C8C8C"/>
                </a:solidFill>
                <a:latin typeface="Arial Unicode MS"/>
              </a:rPr>
              <a:t># complicated draw logic for a generic UI box</a:t>
            </a:r>
            <a:br>
              <a:rPr lang="en-US" altLang="en-US" sz="1700" i="1" dirty="0">
                <a:solidFill>
                  <a:srgbClr val="8C8C8C"/>
                </a:solidFill>
                <a:latin typeface="Arial Unicode MS"/>
              </a:rPr>
            </a:br>
            <a:r>
              <a:rPr lang="en-US" altLang="en-US" sz="1700" i="1" dirty="0">
                <a:solidFill>
                  <a:srgbClr val="8C8C8C"/>
                </a:solidFill>
                <a:latin typeface="Arial Unicode MS"/>
              </a:rPr>
              <a:t>        </a:t>
            </a:r>
            <a:r>
              <a:rPr lang="en-US" altLang="en-US" sz="1700" dirty="0" err="1">
                <a:solidFill>
                  <a:srgbClr val="0033B3"/>
                </a:solidFill>
                <a:latin typeface="Arial Unicode MS"/>
              </a:rPr>
              <a:t>elif</a:t>
            </a:r>
            <a:r>
              <a:rPr lang="en-US" altLang="en-US" sz="1700" dirty="0">
                <a:solidFill>
                  <a:srgbClr val="0033B3"/>
                </a:solidFill>
                <a:latin typeface="Arial Unicode MS"/>
              </a:rPr>
              <a:t> </a:t>
            </a:r>
            <a:r>
              <a:rPr lang="en-US" altLang="en-US" sz="1700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700" dirty="0" err="1">
                <a:solidFill>
                  <a:srgbClr val="080808"/>
                </a:solidFill>
                <a:latin typeface="Arial Unicode MS"/>
              </a:rPr>
              <a:t>._type</a:t>
            </a:r>
            <a:r>
              <a:rPr lang="en-US" altLang="en-US" sz="1700" dirty="0">
                <a:solidFill>
                  <a:srgbClr val="080808"/>
                </a:solidFill>
                <a:latin typeface="Arial Unicode MS"/>
              </a:rPr>
              <a:t> == </a:t>
            </a:r>
            <a:r>
              <a:rPr lang="en-US" altLang="en-US" sz="1700" dirty="0">
                <a:solidFill>
                  <a:srgbClr val="00B050"/>
                </a:solidFill>
                <a:latin typeface="Arial Unicode MS"/>
              </a:rPr>
              <a:t>“Label”</a:t>
            </a:r>
            <a:r>
              <a:rPr lang="en-US" altLang="en-US" sz="1700" dirty="0">
                <a:solidFill>
                  <a:srgbClr val="080808"/>
                </a:solidFill>
                <a:latin typeface="Arial Unicode MS"/>
              </a:rPr>
              <a:t>:            </a:t>
            </a:r>
            <a:br>
              <a:rPr lang="en-US" altLang="en-US" sz="17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700" dirty="0">
                <a:solidFill>
                  <a:srgbClr val="080808"/>
                </a:solidFill>
                <a:latin typeface="Arial Unicode MS"/>
              </a:rPr>
              <a:t>            </a:t>
            </a:r>
            <a:r>
              <a:rPr lang="en-US" altLang="en-US" sz="1700" i="1" dirty="0">
                <a:solidFill>
                  <a:srgbClr val="8C8C8C"/>
                </a:solidFill>
                <a:latin typeface="Arial Unicode MS"/>
              </a:rPr>
              <a:t># complicated draw logic for a generic UI box</a:t>
            </a:r>
            <a:br>
              <a:rPr lang="en-US" altLang="en-US" sz="1700" i="1" dirty="0">
                <a:solidFill>
                  <a:srgbClr val="8C8C8C"/>
                </a:solidFill>
                <a:latin typeface="Arial Unicode MS"/>
              </a:rPr>
            </a:br>
            <a:r>
              <a:rPr lang="en-US" altLang="en-US" sz="1700" i="1" dirty="0">
                <a:solidFill>
                  <a:srgbClr val="8C8C8C"/>
                </a:solidFill>
                <a:latin typeface="Arial Unicode MS"/>
              </a:rPr>
              <a:t>        </a:t>
            </a:r>
            <a:r>
              <a:rPr lang="en-US" altLang="en-US" sz="1700" dirty="0">
                <a:solidFill>
                  <a:srgbClr val="0033B3"/>
                </a:solidFill>
                <a:latin typeface="Arial Unicode MS"/>
              </a:rPr>
              <a:t>else</a:t>
            </a:r>
            <a:r>
              <a:rPr lang="en-US" altLang="en-US" sz="1700" dirty="0">
                <a:solidFill>
                  <a:srgbClr val="080808"/>
                </a:solidFill>
                <a:latin typeface="Arial Unicode MS"/>
              </a:rPr>
              <a:t>:             </a:t>
            </a:r>
            <a:br>
              <a:rPr lang="en-US" altLang="en-US" sz="17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700" dirty="0">
                <a:solidFill>
                  <a:srgbClr val="080808"/>
                </a:solidFill>
                <a:latin typeface="Arial Unicode MS"/>
              </a:rPr>
              <a:t>            </a:t>
            </a:r>
            <a:r>
              <a:rPr lang="en-US" altLang="en-US" sz="1700" i="1" dirty="0">
                <a:solidFill>
                  <a:srgbClr val="8C8C8C"/>
                </a:solidFill>
                <a:latin typeface="Arial Unicode MS"/>
              </a:rPr>
              <a:t># complicated draw logic for a generic UI box</a:t>
            </a:r>
            <a:endParaRPr lang="en-US" altLang="en-US" sz="1700" dirty="0"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5033FEF-121F-476B-A4C6-C6A402582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14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58DFC-C205-4B20-8A95-8260B73C8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b="1" u="sng" dirty="0"/>
              <a:t>O</a:t>
            </a:r>
            <a:r>
              <a:rPr lang="en-US" dirty="0"/>
              <a:t>pen Closed Principle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170A9-196A-458F-A1B2-41E9EF96E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4650377" cy="4373637"/>
          </a:xfrm>
        </p:spPr>
        <p:txBody>
          <a:bodyPr>
            <a:normAutofit fontScale="92500"/>
          </a:bodyPr>
          <a:lstStyle/>
          <a:p>
            <a:pPr algn="ctr"/>
            <a:r>
              <a:rPr lang="en-US" sz="2800" i="1" dirty="0"/>
              <a:t>The Open/Closed Principle states that software entities (classes, modules, functions, etc.) should be open for extension, but closed for modification.</a:t>
            </a:r>
          </a:p>
          <a:p>
            <a:endParaRPr lang="en-US" i="1" dirty="0"/>
          </a:p>
          <a:p>
            <a:r>
              <a:rPr lang="en-CA" dirty="0"/>
              <a:t>Once a class is made, it’s behaviour shouldn’t be modified to support special cases. It should be </a:t>
            </a:r>
            <a:r>
              <a:rPr lang="en-CA" b="1" u="sng" dirty="0"/>
              <a:t>CLOSED for modification</a:t>
            </a:r>
            <a:r>
              <a:rPr lang="en-CA" dirty="0"/>
              <a:t>.</a:t>
            </a:r>
          </a:p>
          <a:p>
            <a:r>
              <a:rPr lang="en-CA" dirty="0"/>
              <a:t>Instead, we extend (or inherit) from the class and override behaviours. That is, it’s </a:t>
            </a:r>
            <a:r>
              <a:rPr lang="en-CA" b="1" dirty="0"/>
              <a:t>OPEN for extension</a:t>
            </a:r>
            <a:r>
              <a:rPr lang="en-CA" dirty="0"/>
              <a:t>.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C0B56A8-CFF1-4216-9517-85C2ABF27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317" y="1821544"/>
            <a:ext cx="4397826" cy="439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5671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CE169-96BF-4116-9400-9651BFFCB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use Inheritance (and overriding)!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55D39E-CF41-45CE-B662-296564DE74A2}"/>
              </a:ext>
            </a:extLst>
          </p:cNvPr>
          <p:cNvSpPr/>
          <p:nvPr/>
        </p:nvSpPr>
        <p:spPr>
          <a:xfrm>
            <a:off x="8651965" y="2121508"/>
            <a:ext cx="1524600" cy="961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UIWidget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80CE76-E32E-46A7-A923-0A4895771C8B}"/>
              </a:ext>
            </a:extLst>
          </p:cNvPr>
          <p:cNvSpPr/>
          <p:nvPr/>
        </p:nvSpPr>
        <p:spPr>
          <a:xfrm>
            <a:off x="7254839" y="3788229"/>
            <a:ext cx="1199732" cy="512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UITextBox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C935E4-4B31-4C41-BD07-B7FE4A9F739F}"/>
              </a:ext>
            </a:extLst>
          </p:cNvPr>
          <p:cNvSpPr/>
          <p:nvPr/>
        </p:nvSpPr>
        <p:spPr>
          <a:xfrm>
            <a:off x="8593908" y="3788229"/>
            <a:ext cx="1370874" cy="512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UIScrollBar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0DF3C3-7814-4878-9B89-EB24FA9F82C5}"/>
              </a:ext>
            </a:extLst>
          </p:cNvPr>
          <p:cNvSpPr/>
          <p:nvPr/>
        </p:nvSpPr>
        <p:spPr>
          <a:xfrm>
            <a:off x="10450759" y="3788229"/>
            <a:ext cx="1199732" cy="512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UIButton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B8D7E8-0AE9-477A-B59A-CF63AEA0B250}"/>
              </a:ext>
            </a:extLst>
          </p:cNvPr>
          <p:cNvSpPr txBox="1"/>
          <p:nvPr/>
        </p:nvSpPr>
        <p:spPr>
          <a:xfrm>
            <a:off x="10008799" y="3860025"/>
            <a:ext cx="420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.…</a:t>
            </a:r>
            <a:endParaRPr lang="en-CA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3152B1-AC7B-44A6-8DC4-AD00646708B6}"/>
              </a:ext>
            </a:extLst>
          </p:cNvPr>
          <p:cNvCxnSpPr>
            <a:cxnSpLocks/>
          </p:cNvCxnSpPr>
          <p:nvPr/>
        </p:nvCxnSpPr>
        <p:spPr>
          <a:xfrm>
            <a:off x="7854705" y="3435663"/>
            <a:ext cx="3277752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B20559E-EC50-4215-A026-02242026507F}"/>
              </a:ext>
            </a:extLst>
          </p:cNvPr>
          <p:cNvCxnSpPr>
            <a:stCxn id="15" idx="0"/>
          </p:cNvCxnSpPr>
          <p:nvPr/>
        </p:nvCxnSpPr>
        <p:spPr>
          <a:xfrm flipV="1">
            <a:off x="7854705" y="3435664"/>
            <a:ext cx="0" cy="35256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A510ECF-C01E-4D00-864A-A4E0B15B76DE}"/>
              </a:ext>
            </a:extLst>
          </p:cNvPr>
          <p:cNvCxnSpPr/>
          <p:nvPr/>
        </p:nvCxnSpPr>
        <p:spPr>
          <a:xfrm flipV="1">
            <a:off x="9412451" y="3435663"/>
            <a:ext cx="0" cy="35256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0D79159-6219-4AC9-A9CC-99551586341B}"/>
              </a:ext>
            </a:extLst>
          </p:cNvPr>
          <p:cNvCxnSpPr/>
          <p:nvPr/>
        </p:nvCxnSpPr>
        <p:spPr>
          <a:xfrm flipV="1">
            <a:off x="11117879" y="3435663"/>
            <a:ext cx="0" cy="35256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B9E48FA-0777-45FF-9D07-5FC206FA32E9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9414265" y="3083100"/>
            <a:ext cx="0" cy="3525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>
            <a:extLst>
              <a:ext uri="{FF2B5EF4-FFF2-40B4-BE49-F238E27FC236}">
                <a16:creationId xmlns:a16="http://schemas.microsoft.com/office/drawing/2014/main" id="{D21ABD7F-2BCA-4CD5-9880-85CC287DB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8189C7B-E695-4596-ADFA-8F919635A183}"/>
              </a:ext>
            </a:extLst>
          </p:cNvPr>
          <p:cNvSpPr txBox="1">
            <a:spLocks/>
          </p:cNvSpPr>
          <p:nvPr/>
        </p:nvSpPr>
        <p:spPr>
          <a:xfrm>
            <a:off x="284480" y="1966116"/>
            <a:ext cx="7799977" cy="3600796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1800" dirty="0" err="1">
                <a:solidFill>
                  <a:srgbClr val="000000"/>
                </a:solidFill>
                <a:latin typeface="Arial Unicode MS"/>
              </a:rPr>
              <a:t>UIWidget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abc.ABC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1800" dirty="0">
                <a:solidFill>
                  <a:srgbClr val="9E880D"/>
                </a:solidFill>
                <a:latin typeface="Arial Unicode MS"/>
              </a:rPr>
              <a:t>@</a:t>
            </a:r>
            <a:r>
              <a:rPr lang="en-US" altLang="en-US" sz="1800" dirty="0" err="1">
                <a:solidFill>
                  <a:srgbClr val="9E880D"/>
                </a:solidFill>
                <a:latin typeface="Arial Unicode MS"/>
              </a:rPr>
              <a:t>abc.abstractmethod</a:t>
            </a:r>
            <a:br>
              <a:rPr lang="en-US" altLang="en-US" sz="1800" dirty="0">
                <a:solidFill>
                  <a:srgbClr val="9E880D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9E880D"/>
                </a:solidFill>
                <a:latin typeface="Arial Unicode MS"/>
              </a:rPr>
              <a:t>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1800" dirty="0" err="1">
                <a:solidFill>
                  <a:srgbClr val="00627A"/>
                </a:solidFill>
                <a:latin typeface="Arial Unicode MS"/>
              </a:rPr>
              <a:t>draw_widget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pass</a:t>
            </a:r>
            <a:br>
              <a:rPr lang="en-US" altLang="en-US" sz="1800" dirty="0">
                <a:solidFill>
                  <a:srgbClr val="0033B3"/>
                </a:solidFill>
                <a:latin typeface="Arial Unicode MS"/>
              </a:rPr>
            </a:br>
            <a:endParaRPr lang="en-US" altLang="en-US" sz="1800" dirty="0">
              <a:solidFill>
                <a:srgbClr val="0033B3"/>
              </a:solidFill>
              <a:latin typeface="Arial Unicode M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1800" dirty="0" err="1">
                <a:solidFill>
                  <a:srgbClr val="000000"/>
                </a:solidFill>
                <a:latin typeface="Arial Unicode MS"/>
              </a:rPr>
              <a:t>UIButton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UIWidget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1800" b="1" dirty="0">
                <a:solidFill>
                  <a:srgbClr val="0033B3"/>
                </a:solidFill>
                <a:latin typeface="Arial Unicode MS"/>
              </a:rPr>
              <a:t>def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 </a:t>
            </a:r>
            <a:r>
              <a:rPr lang="en-US" altLang="en-US" sz="1800" b="1" dirty="0" err="1">
                <a:solidFill>
                  <a:srgbClr val="00627A"/>
                </a:solidFill>
                <a:latin typeface="Arial Unicode MS"/>
              </a:rPr>
              <a:t>draw_widget</a:t>
            </a:r>
            <a:r>
              <a:rPr lang="en-US" altLang="en-US" sz="1800" b="1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b="1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b="1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b="1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b="1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b="1" i="1" dirty="0">
                <a:solidFill>
                  <a:srgbClr val="8C8C8C"/>
                </a:solidFill>
                <a:latin typeface="Arial Unicode MS"/>
              </a:rPr>
              <a:t># complicated draw code for text box goes here</a:t>
            </a:r>
            <a:endParaRPr lang="en-US" altLang="en-US" sz="1800" b="1" dirty="0">
              <a:solidFill>
                <a:srgbClr val="0033B3"/>
              </a:solidFill>
              <a:latin typeface="Arial Unicode M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br>
              <a:rPr lang="en-US" altLang="en-US" sz="1800" dirty="0">
                <a:solidFill>
                  <a:srgbClr val="0033B3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1800" dirty="0" err="1">
                <a:solidFill>
                  <a:srgbClr val="000000"/>
                </a:solidFill>
                <a:latin typeface="Arial Unicode MS"/>
              </a:rPr>
              <a:t>UITextBox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UIWidget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1800" dirty="0" err="1">
                <a:solidFill>
                  <a:srgbClr val="00627A"/>
                </a:solidFill>
                <a:latin typeface="Arial Unicode MS"/>
              </a:rPr>
              <a:t>draw_widget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i="1" dirty="0">
                <a:solidFill>
                  <a:srgbClr val="8C8C8C"/>
                </a:solidFill>
                <a:latin typeface="Arial Unicode MS"/>
              </a:rPr>
              <a:t># complicated draw code for text box goes here</a:t>
            </a:r>
            <a:br>
              <a:rPr lang="en-US" altLang="en-US" sz="1800" i="1" dirty="0">
                <a:solidFill>
                  <a:srgbClr val="8C8C8C"/>
                </a:solidFill>
                <a:latin typeface="Arial Unicode MS"/>
              </a:rPr>
            </a:br>
            <a:br>
              <a:rPr lang="en-US" altLang="en-US" sz="1800" i="1" dirty="0">
                <a:solidFill>
                  <a:srgbClr val="8C8C8C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1800" dirty="0" err="1">
                <a:solidFill>
                  <a:srgbClr val="000000"/>
                </a:solidFill>
                <a:latin typeface="Arial Unicode MS"/>
              </a:rPr>
              <a:t>UIScrollBar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UIWidget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1800" dirty="0" err="1">
                <a:solidFill>
                  <a:srgbClr val="00627A"/>
                </a:solidFill>
                <a:latin typeface="Arial Unicode MS"/>
              </a:rPr>
              <a:t>draw_widget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i="1" dirty="0">
                <a:solidFill>
                  <a:srgbClr val="8C8C8C"/>
                </a:solidFill>
                <a:latin typeface="Arial Unicode MS"/>
              </a:rPr>
              <a:t># complicated draw code for scroll bar goes here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167AFD-368B-4D71-9120-114B15E038D9}"/>
              </a:ext>
            </a:extLst>
          </p:cNvPr>
          <p:cNvSpPr/>
          <p:nvPr/>
        </p:nvSpPr>
        <p:spPr>
          <a:xfrm>
            <a:off x="284481" y="5441725"/>
            <a:ext cx="1136601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Now, any change to </a:t>
            </a:r>
            <a:r>
              <a:rPr lang="en-US" sz="2000" b="1" dirty="0" err="1">
                <a:solidFill>
                  <a:srgbClr val="9B320E"/>
                </a:solidFill>
              </a:rPr>
              <a:t>UIButton</a:t>
            </a:r>
            <a:r>
              <a:rPr lang="en-US" sz="2000" dirty="0"/>
              <a:t> would not affect any other widget. </a:t>
            </a:r>
          </a:p>
          <a:p>
            <a:r>
              <a:rPr lang="en-US" sz="2000" dirty="0"/>
              <a:t>Each widget class is modular and decoupled. It even follows the Single Responsibility Principle!</a:t>
            </a:r>
          </a:p>
        </p:txBody>
      </p:sp>
    </p:spTree>
    <p:extLst>
      <p:ext uri="{BB962C8B-B14F-4D97-AF65-F5344CB8AC3E}">
        <p14:creationId xmlns:p14="http://schemas.microsoft.com/office/powerpoint/2010/main" val="2341788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CE169-96BF-4116-9400-9651BFFCB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use Inheritance (and overriding)!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ED177-69CC-491F-B1A7-3021A21C5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480" y="1966116"/>
            <a:ext cx="7799977" cy="3600796"/>
          </a:xfrm>
        </p:spPr>
        <p:txBody>
          <a:bodyPr>
            <a:normAutofit fontScale="92500" lnSpcReduction="2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1800" dirty="0" err="1">
                <a:solidFill>
                  <a:srgbClr val="000000"/>
                </a:solidFill>
                <a:latin typeface="Arial Unicode MS"/>
              </a:rPr>
              <a:t>UIWidget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abc.ABC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1800" dirty="0">
                <a:solidFill>
                  <a:srgbClr val="9E880D"/>
                </a:solidFill>
                <a:latin typeface="Arial Unicode MS"/>
              </a:rPr>
              <a:t>@</a:t>
            </a:r>
            <a:r>
              <a:rPr lang="en-US" altLang="en-US" sz="1800" dirty="0" err="1">
                <a:solidFill>
                  <a:srgbClr val="9E880D"/>
                </a:solidFill>
                <a:latin typeface="Arial Unicode MS"/>
              </a:rPr>
              <a:t>abc.abstractmethod</a:t>
            </a:r>
            <a:br>
              <a:rPr lang="en-US" altLang="en-US" sz="1800" dirty="0">
                <a:solidFill>
                  <a:srgbClr val="9E880D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9E880D"/>
                </a:solidFill>
                <a:latin typeface="Arial Unicode MS"/>
              </a:rPr>
              <a:t>    </a:t>
            </a:r>
            <a:r>
              <a:rPr lang="en-US" altLang="en-US" sz="1800" b="1" dirty="0">
                <a:solidFill>
                  <a:srgbClr val="0033B3"/>
                </a:solidFill>
                <a:latin typeface="Arial Unicode MS"/>
              </a:rPr>
              <a:t>def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 </a:t>
            </a:r>
            <a:r>
              <a:rPr lang="en-US" altLang="en-US" sz="1800" b="1" dirty="0" err="1">
                <a:solidFill>
                  <a:srgbClr val="00627A"/>
                </a:solidFill>
                <a:latin typeface="Arial Unicode MS"/>
              </a:rPr>
              <a:t>draw_widget</a:t>
            </a:r>
            <a:r>
              <a:rPr lang="en-US" altLang="en-US" sz="1800" b="1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b="1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b="1" dirty="0">
                <a:solidFill>
                  <a:srgbClr val="080808"/>
                </a:solidFill>
                <a:latin typeface="Arial Unicode MS"/>
              </a:rPr>
              <a:t>)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pass</a:t>
            </a:r>
            <a:br>
              <a:rPr lang="en-US" altLang="en-US" sz="1800" dirty="0">
                <a:solidFill>
                  <a:srgbClr val="0033B3"/>
                </a:solidFill>
                <a:latin typeface="Arial Unicode MS"/>
              </a:rPr>
            </a:br>
            <a:endParaRPr lang="en-US" altLang="en-US" sz="1800" dirty="0">
              <a:solidFill>
                <a:srgbClr val="0033B3"/>
              </a:solidFill>
              <a:latin typeface="Arial Unicode M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1800" dirty="0" err="1">
                <a:solidFill>
                  <a:srgbClr val="000000"/>
                </a:solidFill>
                <a:latin typeface="Arial Unicode MS"/>
              </a:rPr>
              <a:t>UIButton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UIWidget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b="1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1800" b="1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1800" b="1" dirty="0" err="1">
                <a:solidFill>
                  <a:srgbClr val="00627A"/>
                </a:solidFill>
                <a:latin typeface="Arial Unicode MS"/>
              </a:rPr>
              <a:t>draw_widget</a:t>
            </a:r>
            <a:r>
              <a:rPr lang="en-US" altLang="en-US" sz="1800" b="1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b="1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b="1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b="1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b="1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i="1" dirty="0">
                <a:solidFill>
                  <a:srgbClr val="8C8C8C"/>
                </a:solidFill>
                <a:latin typeface="Arial Unicode MS"/>
              </a:rPr>
              <a:t># complicated draw code for text box goes here</a:t>
            </a:r>
            <a:endParaRPr lang="en-US" altLang="en-US" sz="1800" dirty="0">
              <a:solidFill>
                <a:srgbClr val="0033B3"/>
              </a:solidFill>
              <a:latin typeface="Arial Unicode M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lang="en-US" altLang="en-US" sz="1800" dirty="0">
                <a:solidFill>
                  <a:srgbClr val="0033B3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1800" dirty="0" err="1">
                <a:solidFill>
                  <a:srgbClr val="000000"/>
                </a:solidFill>
                <a:latin typeface="Arial Unicode MS"/>
              </a:rPr>
              <a:t>UITextBox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UIWidget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1800" b="1" dirty="0">
                <a:solidFill>
                  <a:srgbClr val="0033B3"/>
                </a:solidFill>
                <a:latin typeface="Arial Unicode MS"/>
              </a:rPr>
              <a:t>def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 </a:t>
            </a:r>
            <a:r>
              <a:rPr lang="en-US" altLang="en-US" sz="1800" b="1" dirty="0" err="1">
                <a:solidFill>
                  <a:srgbClr val="00627A"/>
                </a:solidFill>
                <a:latin typeface="Arial Unicode MS"/>
              </a:rPr>
              <a:t>draw_widget</a:t>
            </a:r>
            <a:r>
              <a:rPr lang="en-US" altLang="en-US" sz="1800" b="1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b="1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b="1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b="1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i="1" dirty="0">
                <a:solidFill>
                  <a:srgbClr val="8C8C8C"/>
                </a:solidFill>
                <a:latin typeface="Arial Unicode MS"/>
              </a:rPr>
              <a:t># complicated draw code for text box goes here</a:t>
            </a:r>
            <a:br>
              <a:rPr lang="en-US" altLang="en-US" sz="1800" i="1" dirty="0">
                <a:solidFill>
                  <a:srgbClr val="8C8C8C"/>
                </a:solidFill>
                <a:latin typeface="Arial Unicode MS"/>
              </a:rPr>
            </a:br>
            <a:br>
              <a:rPr lang="en-US" altLang="en-US" sz="1800" i="1" dirty="0">
                <a:solidFill>
                  <a:srgbClr val="8C8C8C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1800" dirty="0" err="1">
                <a:solidFill>
                  <a:srgbClr val="000000"/>
                </a:solidFill>
                <a:latin typeface="Arial Unicode MS"/>
              </a:rPr>
              <a:t>UIScrollBar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UIWidget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1800" b="1" dirty="0">
                <a:solidFill>
                  <a:srgbClr val="0033B3"/>
                </a:solidFill>
                <a:latin typeface="Arial Unicode MS"/>
              </a:rPr>
              <a:t>def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 </a:t>
            </a:r>
            <a:r>
              <a:rPr lang="en-US" altLang="en-US" sz="1800" b="1" dirty="0" err="1">
                <a:solidFill>
                  <a:srgbClr val="00627A"/>
                </a:solidFill>
                <a:latin typeface="Arial Unicode MS"/>
              </a:rPr>
              <a:t>draw_widget</a:t>
            </a:r>
            <a:r>
              <a:rPr lang="en-US" altLang="en-US" sz="1800" b="1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b="1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b="1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b="1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i="1" dirty="0">
                <a:solidFill>
                  <a:srgbClr val="8C8C8C"/>
                </a:solidFill>
                <a:latin typeface="Arial Unicode MS"/>
              </a:rPr>
              <a:t># complicated draw code for scroll bar goes here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55D39E-CF41-45CE-B662-296564DE74A2}"/>
              </a:ext>
            </a:extLst>
          </p:cNvPr>
          <p:cNvSpPr/>
          <p:nvPr/>
        </p:nvSpPr>
        <p:spPr>
          <a:xfrm>
            <a:off x="8651965" y="2121508"/>
            <a:ext cx="1524600" cy="961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UIWidget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80CE76-E32E-46A7-A923-0A4895771C8B}"/>
              </a:ext>
            </a:extLst>
          </p:cNvPr>
          <p:cNvSpPr/>
          <p:nvPr/>
        </p:nvSpPr>
        <p:spPr>
          <a:xfrm>
            <a:off x="7254839" y="3788229"/>
            <a:ext cx="1199732" cy="512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UITextBox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C935E4-4B31-4C41-BD07-B7FE4A9F739F}"/>
              </a:ext>
            </a:extLst>
          </p:cNvPr>
          <p:cNvSpPr/>
          <p:nvPr/>
        </p:nvSpPr>
        <p:spPr>
          <a:xfrm>
            <a:off x="8593908" y="3788229"/>
            <a:ext cx="1370874" cy="512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UIScrollBar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0DF3C3-7814-4878-9B89-EB24FA9F82C5}"/>
              </a:ext>
            </a:extLst>
          </p:cNvPr>
          <p:cNvSpPr/>
          <p:nvPr/>
        </p:nvSpPr>
        <p:spPr>
          <a:xfrm>
            <a:off x="10450759" y="3788229"/>
            <a:ext cx="1199732" cy="512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UIButton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B8D7E8-0AE9-477A-B59A-CF63AEA0B250}"/>
              </a:ext>
            </a:extLst>
          </p:cNvPr>
          <p:cNvSpPr txBox="1"/>
          <p:nvPr/>
        </p:nvSpPr>
        <p:spPr>
          <a:xfrm>
            <a:off x="10008799" y="3860025"/>
            <a:ext cx="420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.…</a:t>
            </a:r>
            <a:endParaRPr lang="en-CA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3152B1-AC7B-44A6-8DC4-AD00646708B6}"/>
              </a:ext>
            </a:extLst>
          </p:cNvPr>
          <p:cNvCxnSpPr>
            <a:cxnSpLocks/>
          </p:cNvCxnSpPr>
          <p:nvPr/>
        </p:nvCxnSpPr>
        <p:spPr>
          <a:xfrm>
            <a:off x="7854705" y="3435663"/>
            <a:ext cx="3277752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B20559E-EC50-4215-A026-02242026507F}"/>
              </a:ext>
            </a:extLst>
          </p:cNvPr>
          <p:cNvCxnSpPr>
            <a:stCxn id="15" idx="0"/>
          </p:cNvCxnSpPr>
          <p:nvPr/>
        </p:nvCxnSpPr>
        <p:spPr>
          <a:xfrm flipV="1">
            <a:off x="7854705" y="3435664"/>
            <a:ext cx="0" cy="35256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A510ECF-C01E-4D00-864A-A4E0B15B76DE}"/>
              </a:ext>
            </a:extLst>
          </p:cNvPr>
          <p:cNvCxnSpPr/>
          <p:nvPr/>
        </p:nvCxnSpPr>
        <p:spPr>
          <a:xfrm flipV="1">
            <a:off x="9412451" y="3435663"/>
            <a:ext cx="0" cy="35256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0D79159-6219-4AC9-A9CC-99551586341B}"/>
              </a:ext>
            </a:extLst>
          </p:cNvPr>
          <p:cNvCxnSpPr/>
          <p:nvPr/>
        </p:nvCxnSpPr>
        <p:spPr>
          <a:xfrm flipV="1">
            <a:off x="11117879" y="3435663"/>
            <a:ext cx="0" cy="35256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B9E48FA-0777-45FF-9D07-5FC206FA32E9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9414265" y="3083100"/>
            <a:ext cx="0" cy="3525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834B200C-74C4-47C9-B089-624EB43A5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DFFA55-E517-4AEF-8C2C-0BCC4EF7D1B9}"/>
              </a:ext>
            </a:extLst>
          </p:cNvPr>
          <p:cNvSpPr/>
          <p:nvPr/>
        </p:nvSpPr>
        <p:spPr>
          <a:xfrm>
            <a:off x="284480" y="5336359"/>
            <a:ext cx="113660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We used abstraction to do this. </a:t>
            </a:r>
          </a:p>
          <a:p>
            <a:r>
              <a:rPr lang="en-US" sz="2000" dirty="0"/>
              <a:t>The </a:t>
            </a:r>
            <a:r>
              <a:rPr lang="en-US" sz="2000" b="1" dirty="0" err="1">
                <a:solidFill>
                  <a:srgbClr val="9B320E"/>
                </a:solidFill>
              </a:rPr>
              <a:t>UIWidget</a:t>
            </a:r>
            <a:r>
              <a:rPr lang="en-US" sz="2000" dirty="0">
                <a:solidFill>
                  <a:srgbClr val="9B320E"/>
                </a:solidFill>
              </a:rPr>
              <a:t> </a:t>
            </a:r>
            <a:r>
              <a:rPr lang="en-US" sz="2000" b="1" dirty="0">
                <a:solidFill>
                  <a:srgbClr val="9B320E"/>
                </a:solidFill>
              </a:rPr>
              <a:t>class</a:t>
            </a:r>
            <a:r>
              <a:rPr lang="en-US" sz="2000" dirty="0">
                <a:solidFill>
                  <a:srgbClr val="9B320E"/>
                </a:solidFill>
              </a:rPr>
              <a:t> </a:t>
            </a:r>
            <a:r>
              <a:rPr lang="en-US" sz="2000" dirty="0"/>
              <a:t>is now an interface ensuring that each UI component that inherits from it has the same interface.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6139922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err="1"/>
              <a:t>Liskov</a:t>
            </a:r>
            <a:r>
              <a:rPr lang="en-CA" dirty="0"/>
              <a:t> </a:t>
            </a:r>
            <a:r>
              <a:rPr lang="en-CA" dirty="0" err="1"/>
              <a:t>Substition</a:t>
            </a:r>
            <a:r>
              <a:rPr lang="en-CA" dirty="0"/>
              <a:t> Principle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3249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5BA72-F516-4660-9E69-782908002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how do we draw all these widgets?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7D7E3-2DDD-4D77-A40A-66E2D554C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73" y="5551803"/>
            <a:ext cx="7365598" cy="1005042"/>
          </a:xfrm>
        </p:spPr>
        <p:txBody>
          <a:bodyPr>
            <a:normAutofit/>
          </a:bodyPr>
          <a:lstStyle/>
          <a:p>
            <a:r>
              <a:rPr lang="en-US" dirty="0"/>
              <a:t>Say we have a Canvas Object that needs to draw the screen. Would this be a good way of drawing all the widgets?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273" y="1797922"/>
            <a:ext cx="736805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dirty="0">
                <a:solidFill>
                  <a:srgbClr val="000000"/>
                </a:solidFill>
                <a:latin typeface="Arial Unicode MS"/>
              </a:rPr>
              <a:t>Canvas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 err="1">
                <a:solidFill>
                  <a:srgbClr val="B200B2"/>
                </a:solidFill>
                <a:latin typeface="Arial Unicode MS"/>
              </a:rPr>
              <a:t>init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, panel, scrollbar, …, button):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._panel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panel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._scrollbar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scrollbar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._button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button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..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 err="1">
                <a:solidFill>
                  <a:srgbClr val="00627A"/>
                </a:solidFill>
                <a:latin typeface="Arial Unicode MS"/>
              </a:rPr>
              <a:t>draw_screen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(self):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self._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panel.draw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()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self._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scrollbar.draw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()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self._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button.draw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()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..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..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9403748-ECB6-4D3F-ADAD-B78754FE7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504" y="2028864"/>
            <a:ext cx="3532967" cy="400604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579F317-C1A2-4975-A8F6-9EB0084F3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57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5BA72-F516-4660-9E69-782908002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how do we draw all these widgets?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7D7E3-2DDD-4D77-A40A-66E2D554C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73" y="5551803"/>
            <a:ext cx="7365598" cy="1005042"/>
          </a:xfrm>
        </p:spPr>
        <p:txBody>
          <a:bodyPr>
            <a:normAutofit/>
          </a:bodyPr>
          <a:lstStyle/>
          <a:p>
            <a:r>
              <a:rPr lang="en-US" dirty="0"/>
              <a:t>This would be terrible! Why inherit if you have to keep an explicit reference to each subtype?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9403748-ECB6-4D3F-ADAD-B78754FE7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504" y="2028864"/>
            <a:ext cx="3532967" cy="400604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99FB6B1-EEB6-4D9D-AE4E-50AC14459FCC}"/>
              </a:ext>
            </a:extLst>
          </p:cNvPr>
          <p:cNvSpPr/>
          <p:nvPr/>
        </p:nvSpPr>
        <p:spPr>
          <a:xfrm>
            <a:off x="474273" y="1797922"/>
            <a:ext cx="736805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dirty="0">
                <a:solidFill>
                  <a:srgbClr val="000000"/>
                </a:solidFill>
                <a:latin typeface="Arial Unicode MS"/>
              </a:rPr>
              <a:t>Canvas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 err="1">
                <a:solidFill>
                  <a:srgbClr val="B200B2"/>
                </a:solidFill>
                <a:latin typeface="Arial Unicode MS"/>
              </a:rPr>
              <a:t>init</a:t>
            </a:r>
            <a:r>
              <a:rPr lang="en-US" altLang="en-US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, panel, scrollbar, …, button):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._panel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panel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._scrollbar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scrollbar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._button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= button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..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 err="1">
                <a:solidFill>
                  <a:srgbClr val="00627A"/>
                </a:solidFill>
                <a:latin typeface="Arial Unicode MS"/>
              </a:rPr>
              <a:t>draw_screen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(self):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self._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panel.draw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()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self._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scrollbar.draw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()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self._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button.draw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()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..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..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1126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16A81-2940-4A75-80EA-2F07EE6AF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Liskov</a:t>
            </a:r>
            <a:r>
              <a:rPr lang="en-US" dirty="0"/>
              <a:t> Substitution Principle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2D248-FDDB-47A1-9E28-2521191FD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238206" cy="4023360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/>
              <a:t>In programming, the </a:t>
            </a:r>
            <a:r>
              <a:rPr lang="en-US" sz="2600" dirty="0" err="1"/>
              <a:t>Liskov</a:t>
            </a:r>
            <a:r>
              <a:rPr lang="en-US" sz="2600" dirty="0"/>
              <a:t> substitution principle states that if </a:t>
            </a:r>
            <a:r>
              <a:rPr lang="en-US" sz="2600" b="1" i="1" dirty="0"/>
              <a:t>S</a:t>
            </a:r>
            <a:r>
              <a:rPr lang="en-US" sz="2600" dirty="0"/>
              <a:t> is a subtype of </a:t>
            </a:r>
            <a:r>
              <a:rPr lang="en-US" sz="2600" b="1" i="1" dirty="0"/>
              <a:t>T</a:t>
            </a:r>
            <a:r>
              <a:rPr lang="en-US" sz="2600" dirty="0"/>
              <a:t>, then objects of type </a:t>
            </a:r>
            <a:r>
              <a:rPr lang="en-US" sz="2600" b="1" i="1" dirty="0"/>
              <a:t>T</a:t>
            </a:r>
            <a:r>
              <a:rPr lang="en-US" sz="2600" dirty="0"/>
              <a:t> may be replaced (or substituted) with objects of type </a:t>
            </a:r>
            <a:r>
              <a:rPr lang="en-US" sz="2600" b="1" i="1" dirty="0"/>
              <a:t>S</a:t>
            </a:r>
            <a:r>
              <a:rPr lang="en-US" sz="2600" dirty="0"/>
              <a:t>.</a:t>
            </a:r>
          </a:p>
          <a:p>
            <a:pPr algn="ctr"/>
            <a:r>
              <a:rPr lang="en-CA" dirty="0"/>
              <a:t>Or</a:t>
            </a:r>
          </a:p>
          <a:p>
            <a:r>
              <a:rPr lang="en-US" sz="2600" dirty="0"/>
              <a:t>Objects in a program should be replaceable with instances of their sub types without altering the correctness of that program.</a:t>
            </a:r>
          </a:p>
          <a:p>
            <a:endParaRPr lang="en-US" dirty="0"/>
          </a:p>
          <a:p>
            <a:r>
              <a:rPr lang="en-US" dirty="0"/>
              <a:t>Simply put, you should be able to refer to all the different UI components as its parent class, </a:t>
            </a:r>
            <a:r>
              <a:rPr lang="en-US" dirty="0" err="1"/>
              <a:t>UIWidget</a:t>
            </a:r>
            <a:endParaRPr lang="en-US" dirty="0"/>
          </a:p>
        </p:txBody>
      </p:sp>
      <p:pic>
        <p:nvPicPr>
          <p:cNvPr id="1026" name="Picture 2" descr="Image result for liskov substitution principle">
            <a:extLst>
              <a:ext uri="{FF2B5EF4-FFF2-40B4-BE49-F238E27FC236}">
                <a16:creationId xmlns:a16="http://schemas.microsoft.com/office/drawing/2014/main" id="{6F835F8F-7B07-43B4-8BAA-24037114F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513" y="1956889"/>
            <a:ext cx="5138057" cy="411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6694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5BA72-F516-4660-9E69-782908002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Python this is easy, since we don’t worry about types!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7D7E3-2DDD-4D77-A40A-66E2D554C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5393740" cy="4344609"/>
          </a:xfrm>
        </p:spPr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1800" dirty="0">
                <a:solidFill>
                  <a:srgbClr val="000000"/>
                </a:solidFill>
                <a:latin typeface="Arial Unicode MS"/>
              </a:rPr>
              <a:t>Canvas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1800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sz="1800" dirty="0" err="1">
                <a:solidFill>
                  <a:srgbClr val="B200B2"/>
                </a:solidFill>
                <a:latin typeface="Arial Unicode MS"/>
              </a:rPr>
              <a:t>init</a:t>
            </a:r>
            <a:r>
              <a:rPr lang="en-US" altLang="en-US" sz="1800" dirty="0">
                <a:solidFill>
                  <a:srgbClr val="B200B2"/>
                </a:solidFill>
                <a:latin typeface="Arial Unicode MS"/>
              </a:rPr>
              <a:t>__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, </a:t>
            </a:r>
            <a:r>
              <a:rPr lang="en-US" altLang="en-US" sz="1800" b="1" dirty="0" err="1">
                <a:solidFill>
                  <a:srgbClr val="080808"/>
                </a:solidFill>
                <a:latin typeface="Arial Unicode MS"/>
              </a:rPr>
              <a:t>widget_list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._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ui_widgets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= 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widget_list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1800" dirty="0" err="1">
                <a:solidFill>
                  <a:srgbClr val="00627A"/>
                </a:solidFill>
                <a:latin typeface="Arial Unicode MS"/>
              </a:rPr>
              <a:t>draw_screen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for 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widget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in </a:t>
            </a:r>
            <a:r>
              <a:rPr lang="en-US" altLang="en-US" sz="1800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._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ui_widgets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    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widget.draw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() </a:t>
            </a: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  <a:p>
            <a:r>
              <a:rPr lang="en-US" dirty="0"/>
              <a:t>Now we just have a </a:t>
            </a:r>
            <a:r>
              <a:rPr lang="en-US" b="1" dirty="0"/>
              <a:t>widget list </a:t>
            </a:r>
            <a:r>
              <a:rPr lang="en-US" dirty="0"/>
              <a:t>filled with all the different kinds of UI Widget objects. </a:t>
            </a:r>
          </a:p>
          <a:p>
            <a:r>
              <a:rPr lang="en-US" dirty="0"/>
              <a:t>Since they all have the same interface (draw method) they can be treated as if they were their base class (</a:t>
            </a:r>
            <a:r>
              <a:rPr lang="en-US" dirty="0" err="1"/>
              <a:t>UIWidget</a:t>
            </a:r>
            <a:r>
              <a:rPr lang="en-US" dirty="0"/>
              <a:t>). </a:t>
            </a:r>
          </a:p>
          <a:p>
            <a:r>
              <a:rPr lang="en-US" dirty="0"/>
              <a:t>We don’t care about the subtype.</a:t>
            </a:r>
          </a:p>
          <a:p>
            <a:endParaRPr lang="en-CA" sz="1300" dirty="0">
              <a:latin typeface="Courie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A3B6DE-C866-4889-820E-6FE1F726D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30" y="2270175"/>
            <a:ext cx="5029093" cy="361425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A1079BD-69C9-450D-8BE4-B7120FF53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693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Interface segregation principle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7752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2B75-0F46-42A2-B607-74C07166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Say We Were Modeling A Zoo…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24999-A41E-467D-9711-5C8A0E970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5675" y="1852990"/>
            <a:ext cx="5045765" cy="4395409"/>
          </a:xfrm>
        </p:spPr>
        <p:txBody>
          <a:bodyPr>
            <a:normAutofit fontScale="92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dirty="0">
                <a:solidFill>
                  <a:srgbClr val="000000"/>
                </a:solidFill>
                <a:latin typeface="Arial Unicode MS"/>
              </a:rPr>
              <a:t>Animal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 err="1">
                <a:solidFill>
                  <a:srgbClr val="080808"/>
                </a:solidFill>
                <a:latin typeface="Arial Unicode MS"/>
              </a:rPr>
              <a:t>abc.ABC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>
                <a:solidFill>
                  <a:srgbClr val="00627A"/>
                </a:solidFill>
                <a:latin typeface="Arial Unicode MS"/>
              </a:rPr>
              <a:t>breathe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i="1" dirty="0">
                <a:solidFill>
                  <a:srgbClr val="8C8C8C"/>
                </a:solidFill>
                <a:latin typeface="Arial Unicode MS"/>
              </a:rPr>
              <a:t># common breathing code here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lang="en-US" altLang="en-US" i="1" dirty="0">
                <a:solidFill>
                  <a:srgbClr val="8C8C8C"/>
                </a:solidFill>
                <a:latin typeface="Arial Unicode MS"/>
              </a:rPr>
            </a:br>
            <a:r>
              <a:rPr lang="en-US" altLang="en-US" i="1" dirty="0">
                <a:solidFill>
                  <a:srgbClr val="8C8C8C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>
                <a:solidFill>
                  <a:srgbClr val="00627A"/>
                </a:solidFill>
                <a:latin typeface="Arial Unicode MS"/>
              </a:rPr>
              <a:t>eat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i="1" dirty="0">
                <a:solidFill>
                  <a:srgbClr val="8C8C8C"/>
                </a:solidFill>
                <a:latin typeface="Arial Unicode MS"/>
              </a:rPr>
              <a:t># common eating code here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lang="en-US" altLang="en-US" i="1" dirty="0">
                <a:solidFill>
                  <a:srgbClr val="8C8C8C"/>
                </a:solidFill>
                <a:latin typeface="Arial Unicode MS"/>
              </a:rPr>
            </a:br>
            <a:r>
              <a:rPr lang="en-US" altLang="en-US" i="1" dirty="0">
                <a:solidFill>
                  <a:srgbClr val="8C8C8C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9E880D"/>
                </a:solidFill>
                <a:latin typeface="Arial Unicode MS"/>
              </a:rPr>
              <a:t>@</a:t>
            </a:r>
            <a:r>
              <a:rPr lang="en-US" altLang="en-US" dirty="0" err="1">
                <a:solidFill>
                  <a:srgbClr val="9E880D"/>
                </a:solidFill>
                <a:latin typeface="Arial Unicode MS"/>
              </a:rPr>
              <a:t>abc.abstractmethod</a:t>
            </a:r>
            <a:br>
              <a:rPr lang="en-US" altLang="en-US" dirty="0">
                <a:solidFill>
                  <a:srgbClr val="9E880D"/>
                </a:solidFill>
                <a:latin typeface="Arial Unicode MS"/>
              </a:rPr>
            </a:br>
            <a:r>
              <a:rPr lang="en-US" altLang="en-US" dirty="0">
                <a:solidFill>
                  <a:srgbClr val="9E880D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>
                <a:solidFill>
                  <a:srgbClr val="00627A"/>
                </a:solidFill>
                <a:latin typeface="Arial Unicode MS"/>
              </a:rPr>
              <a:t>walk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i="1" dirty="0">
                <a:solidFill>
                  <a:srgbClr val="8C8C8C"/>
                </a:solidFill>
                <a:latin typeface="Arial Unicode MS"/>
              </a:rPr>
              <a:t># common walking code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lang="en-US" altLang="en-US" i="1" dirty="0">
                <a:solidFill>
                  <a:srgbClr val="8C8C8C"/>
                </a:solidFill>
                <a:latin typeface="Arial Unicode MS"/>
              </a:rPr>
            </a:br>
            <a:r>
              <a:rPr lang="en-US" altLang="en-US" i="1" dirty="0">
                <a:solidFill>
                  <a:srgbClr val="8C8C8C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9E880D"/>
                </a:solidFill>
                <a:latin typeface="Arial Unicode MS"/>
              </a:rPr>
              <a:t>@</a:t>
            </a:r>
            <a:r>
              <a:rPr lang="en-US" altLang="en-US" dirty="0" err="1">
                <a:solidFill>
                  <a:srgbClr val="9E880D"/>
                </a:solidFill>
                <a:latin typeface="Arial Unicode MS"/>
              </a:rPr>
              <a:t>abc.abstractmethod</a:t>
            </a:r>
            <a:br>
              <a:rPr lang="en-US" altLang="en-US" dirty="0">
                <a:solidFill>
                  <a:srgbClr val="9E880D"/>
                </a:solidFill>
                <a:latin typeface="Arial Unicode MS"/>
              </a:rPr>
            </a:br>
            <a:r>
              <a:rPr lang="en-US" altLang="en-US" dirty="0">
                <a:solidFill>
                  <a:srgbClr val="9E880D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>
                <a:solidFill>
                  <a:srgbClr val="00627A"/>
                </a:solidFill>
                <a:latin typeface="Arial Unicode MS"/>
              </a:rPr>
              <a:t>swim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i="1" dirty="0">
                <a:solidFill>
                  <a:srgbClr val="8C8C8C"/>
                </a:solidFill>
                <a:latin typeface="Arial Unicode MS"/>
              </a:rPr>
              <a:t># common swimming code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lang="en-US" altLang="en-US" i="1" dirty="0">
                <a:solidFill>
                  <a:srgbClr val="8C8C8C"/>
                </a:solidFill>
                <a:latin typeface="Arial Unicode MS"/>
              </a:rPr>
            </a:br>
            <a:r>
              <a:rPr lang="en-US" altLang="en-US" i="1" dirty="0">
                <a:solidFill>
                  <a:srgbClr val="8C8C8C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9E880D"/>
                </a:solidFill>
                <a:latin typeface="Arial Unicode MS"/>
              </a:rPr>
              <a:t>@</a:t>
            </a:r>
            <a:r>
              <a:rPr lang="en-US" altLang="en-US" dirty="0" err="1">
                <a:solidFill>
                  <a:srgbClr val="9E880D"/>
                </a:solidFill>
                <a:latin typeface="Arial Unicode MS"/>
              </a:rPr>
              <a:t>abc.abstractmethod</a:t>
            </a:r>
            <a:br>
              <a:rPr lang="en-US" altLang="en-US" dirty="0">
                <a:solidFill>
                  <a:srgbClr val="9E880D"/>
                </a:solidFill>
                <a:latin typeface="Arial Unicode MS"/>
              </a:rPr>
            </a:br>
            <a:r>
              <a:rPr lang="en-US" altLang="en-US" dirty="0">
                <a:solidFill>
                  <a:srgbClr val="9E880D"/>
                </a:solidFill>
                <a:latin typeface="Arial Unicode MS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dirty="0">
                <a:solidFill>
                  <a:srgbClr val="00627A"/>
                </a:solidFill>
                <a:latin typeface="Arial Unicode MS"/>
              </a:rPr>
              <a:t>fly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i="1" dirty="0">
                <a:solidFill>
                  <a:srgbClr val="8C8C8C"/>
                </a:solidFill>
                <a:latin typeface="Arial Unicode MS"/>
              </a:rPr>
              <a:t># common flying code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14606F-0CB6-4D91-B70D-5ADCAB655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843" y="2128597"/>
            <a:ext cx="4581525" cy="23907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1012" y="491060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dirty="0"/>
              <a:t>So we followed all our design principles and wrote the animal ABC Class.</a:t>
            </a:r>
          </a:p>
          <a:p>
            <a:r>
              <a:rPr lang="en-CA" dirty="0"/>
              <a:t>But this is terrible! </a:t>
            </a:r>
            <a:r>
              <a:rPr lang="en-CA" b="1" dirty="0"/>
              <a:t>Now our Human class needs to override the fly method. Our Whale can walk!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C2F3FBE-7C99-454E-A29F-FEC79AB38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0758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16A81-2940-4A75-80EA-2F07EE6AF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Segregation Principle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2D248-FDDB-47A1-9E28-2521191FD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238206" cy="4023360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/>
              <a:t>Many client-specific interfaces are better than one general-purpose interface.</a:t>
            </a:r>
          </a:p>
          <a:p>
            <a:pPr algn="ctr"/>
            <a:r>
              <a:rPr lang="en-CA" dirty="0"/>
              <a:t>Or</a:t>
            </a:r>
          </a:p>
          <a:p>
            <a:r>
              <a:rPr lang="en-US" sz="2600" dirty="0"/>
              <a:t>The interface segregation principle states that no client should be forced to depend on methods it does not use.</a:t>
            </a:r>
            <a:br>
              <a:rPr lang="en-US" sz="2800" dirty="0"/>
            </a:br>
            <a:endParaRPr lang="en-US" sz="2800" dirty="0"/>
          </a:p>
          <a:p>
            <a:r>
              <a:rPr lang="en-US" dirty="0"/>
              <a:t>Put more simply: Do not add additional functionality to an existing interface by adding new methods.</a:t>
            </a:r>
          </a:p>
          <a:p>
            <a:r>
              <a:rPr lang="en-US" dirty="0"/>
              <a:t>This is the Single Responsibility Principle for Interfaces/Abstractions!</a:t>
            </a:r>
          </a:p>
        </p:txBody>
      </p:sp>
      <p:pic>
        <p:nvPicPr>
          <p:cNvPr id="2052" name="Picture 4" descr="Related image">
            <a:extLst>
              <a:ext uri="{FF2B5EF4-FFF2-40B4-BE49-F238E27FC236}">
                <a16:creationId xmlns:a16="http://schemas.microsoft.com/office/drawing/2014/main" id="{89BD03DC-FDEF-48EA-BF02-64E060A93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0405" y="1965143"/>
            <a:ext cx="4105275" cy="410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81608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2B75-0F46-42A2-B607-74C07166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Zoo!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24999-A41E-467D-9711-5C8A0E970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933" y="1869613"/>
            <a:ext cx="5469138" cy="4395409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1800" dirty="0">
                <a:solidFill>
                  <a:srgbClr val="000000"/>
                </a:solidFill>
                <a:latin typeface="Arial Unicode MS"/>
              </a:rPr>
              <a:t>Animal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1800" dirty="0">
                <a:solidFill>
                  <a:srgbClr val="00627A"/>
                </a:solidFill>
                <a:latin typeface="Arial Unicode MS"/>
              </a:rPr>
              <a:t>breathe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i="1" dirty="0">
                <a:solidFill>
                  <a:srgbClr val="8C8C8C"/>
                </a:solidFill>
                <a:latin typeface="Arial Unicode MS"/>
              </a:rPr>
              <a:t>#common breathing code here</a:t>
            </a:r>
            <a:br>
              <a:rPr lang="en-US" altLang="en-US" sz="1800" i="1" dirty="0">
                <a:solidFill>
                  <a:srgbClr val="8C8C8C"/>
                </a:solidFill>
                <a:latin typeface="Arial Unicode MS"/>
              </a:rPr>
            </a:br>
            <a:r>
              <a:rPr lang="en-US" altLang="en-US" sz="1800" i="1" dirty="0">
                <a:solidFill>
                  <a:srgbClr val="8C8C8C"/>
                </a:solidFill>
                <a:latin typeface="Arial Unicode MS"/>
              </a:rPr>
              <a:t>    </a:t>
            </a:r>
            <a:br>
              <a:rPr lang="en-US" altLang="en-US" sz="1800" i="1" dirty="0">
                <a:solidFill>
                  <a:srgbClr val="8C8C8C"/>
                </a:solidFill>
                <a:latin typeface="Arial Unicode MS"/>
              </a:rPr>
            </a:br>
            <a:r>
              <a:rPr lang="en-US" altLang="en-US" sz="1800" i="1" dirty="0">
                <a:solidFill>
                  <a:srgbClr val="8C8C8C"/>
                </a:solidFill>
                <a:latin typeface="Arial Unicode MS"/>
              </a:rPr>
              <a:t>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1800" dirty="0">
                <a:solidFill>
                  <a:srgbClr val="00627A"/>
                </a:solidFill>
                <a:latin typeface="Arial Unicode MS"/>
              </a:rPr>
              <a:t>eat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     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i="1" dirty="0">
                <a:solidFill>
                  <a:srgbClr val="8C8C8C"/>
                </a:solidFill>
                <a:latin typeface="Arial Unicode MS"/>
              </a:rPr>
              <a:t>#common eating code here</a:t>
            </a: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B7128F-BD6F-41E8-8343-9F1F949C87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8177" y="1869613"/>
            <a:ext cx="4758724" cy="437878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05927" y="40057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dirty="0"/>
              <a:t>Instead of polluting the animal base class with additional functionality, we create separate interfaces (read: ABC) that handle different responsibilities.</a:t>
            </a:r>
          </a:p>
          <a:p>
            <a:r>
              <a:rPr lang="en-CA" dirty="0"/>
              <a:t>This may seem difficult to maintain, but in fact it isn’t.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B58D40D-E420-43D1-B1D6-7704BC5C8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024A519-4C2F-4864-B6D5-577ADD34C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B3D407-2465-4B8B-AB2E-34EECD0441E6}"/>
              </a:ext>
            </a:extLst>
          </p:cNvPr>
          <p:cNvSpPr/>
          <p:nvPr/>
        </p:nvSpPr>
        <p:spPr>
          <a:xfrm>
            <a:off x="5705927" y="4100037"/>
            <a:ext cx="466997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200" dirty="0"/>
              <a:t>Extract code that </a:t>
            </a:r>
            <a:r>
              <a:rPr lang="en-CA" sz="2200" b="1" dirty="0"/>
              <a:t>all Animals share</a:t>
            </a:r>
          </a:p>
        </p:txBody>
      </p:sp>
    </p:spTree>
    <p:extLst>
      <p:ext uri="{BB962C8B-B14F-4D97-AF65-F5344CB8AC3E}">
        <p14:creationId xmlns:p14="http://schemas.microsoft.com/office/powerpoint/2010/main" val="36563546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2B75-0F46-42A2-B607-74C07166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Zoo!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24999-A41E-467D-9711-5C8A0E970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933" y="1869613"/>
            <a:ext cx="5469138" cy="4395409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1800" dirty="0">
                <a:solidFill>
                  <a:srgbClr val="000000"/>
                </a:solidFill>
                <a:latin typeface="Arial Unicode MS"/>
              </a:rPr>
              <a:t>Walkable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abc.ABC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1800" dirty="0">
                <a:solidFill>
                  <a:srgbClr val="9E880D"/>
                </a:solidFill>
                <a:latin typeface="Arial Unicode MS"/>
              </a:rPr>
              <a:t>@</a:t>
            </a:r>
            <a:r>
              <a:rPr lang="en-US" altLang="en-US" sz="1800" dirty="0" err="1">
                <a:solidFill>
                  <a:srgbClr val="9E880D"/>
                </a:solidFill>
                <a:latin typeface="Arial Unicode MS"/>
              </a:rPr>
              <a:t>abc.abstractmethod</a:t>
            </a:r>
            <a:br>
              <a:rPr lang="en-US" altLang="en-US" sz="1800" dirty="0">
                <a:solidFill>
                  <a:srgbClr val="9E880D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9E880D"/>
                </a:solidFill>
                <a:latin typeface="Arial Unicode MS"/>
              </a:rPr>
              <a:t>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1800" dirty="0">
                <a:solidFill>
                  <a:srgbClr val="00627A"/>
                </a:solidFill>
                <a:latin typeface="Arial Unicode MS"/>
              </a:rPr>
              <a:t>walk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pass</a:t>
            </a:r>
            <a:br>
              <a:rPr lang="en-US" altLang="en-US" sz="1800" dirty="0">
                <a:solidFill>
                  <a:srgbClr val="0033B3"/>
                </a:solidFill>
                <a:latin typeface="Arial Unicode MS"/>
              </a:rPr>
            </a:br>
            <a:br>
              <a:rPr lang="en-US" altLang="en-US" sz="1800" dirty="0">
                <a:solidFill>
                  <a:srgbClr val="0033B3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1800" dirty="0">
                <a:solidFill>
                  <a:srgbClr val="000000"/>
                </a:solidFill>
                <a:latin typeface="Arial Unicode MS"/>
              </a:rPr>
              <a:t>Swimmable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abc.ABC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1800" dirty="0">
                <a:solidFill>
                  <a:srgbClr val="9E880D"/>
                </a:solidFill>
                <a:latin typeface="Arial Unicode MS"/>
              </a:rPr>
              <a:t>@</a:t>
            </a:r>
            <a:r>
              <a:rPr lang="en-US" altLang="en-US" sz="1800" dirty="0" err="1">
                <a:solidFill>
                  <a:srgbClr val="9E880D"/>
                </a:solidFill>
                <a:latin typeface="Arial Unicode MS"/>
              </a:rPr>
              <a:t>abc.abstractmethod</a:t>
            </a:r>
            <a:br>
              <a:rPr lang="en-US" altLang="en-US" sz="1800" dirty="0">
                <a:solidFill>
                  <a:srgbClr val="9E880D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9E880D"/>
                </a:solidFill>
                <a:latin typeface="Arial Unicode MS"/>
              </a:rPr>
              <a:t>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1800" dirty="0">
                <a:solidFill>
                  <a:srgbClr val="00627A"/>
                </a:solidFill>
                <a:latin typeface="Arial Unicode MS"/>
              </a:rPr>
              <a:t>swim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pass</a:t>
            </a:r>
            <a:br>
              <a:rPr lang="en-US" altLang="en-US" sz="1800" dirty="0">
                <a:solidFill>
                  <a:srgbClr val="0033B3"/>
                </a:solidFill>
                <a:latin typeface="Arial Unicode MS"/>
              </a:rPr>
            </a:br>
            <a:br>
              <a:rPr lang="en-US" altLang="en-US" sz="1800" dirty="0">
                <a:solidFill>
                  <a:srgbClr val="0033B3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1800" dirty="0">
                <a:solidFill>
                  <a:srgbClr val="000000"/>
                </a:solidFill>
                <a:latin typeface="Arial Unicode MS"/>
              </a:rPr>
              <a:t>Flyable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abc.ABC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1800" dirty="0">
                <a:solidFill>
                  <a:srgbClr val="9E880D"/>
                </a:solidFill>
                <a:latin typeface="Arial Unicode MS"/>
              </a:rPr>
              <a:t>@</a:t>
            </a:r>
            <a:r>
              <a:rPr lang="en-US" altLang="en-US" sz="1800" dirty="0" err="1">
                <a:solidFill>
                  <a:srgbClr val="9E880D"/>
                </a:solidFill>
                <a:latin typeface="Arial Unicode MS"/>
              </a:rPr>
              <a:t>abc.abstractmethod</a:t>
            </a:r>
            <a:br>
              <a:rPr lang="en-US" altLang="en-US" sz="1800" dirty="0">
                <a:solidFill>
                  <a:srgbClr val="9E880D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9E880D"/>
                </a:solidFill>
                <a:latin typeface="Arial Unicode MS"/>
              </a:rPr>
              <a:t>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1800" dirty="0">
                <a:solidFill>
                  <a:srgbClr val="00627A"/>
                </a:solidFill>
                <a:latin typeface="Arial Unicode MS"/>
              </a:rPr>
              <a:t>fly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pass</a:t>
            </a: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B7128F-BD6F-41E8-8343-9F1F949C87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8177" y="1869613"/>
            <a:ext cx="4758724" cy="437878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05927" y="40057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dirty="0"/>
              <a:t>Instead of polluting the animal base class with additional functionality, we create separate interfaces (read: ABC) that handle different responsibilities.</a:t>
            </a:r>
          </a:p>
          <a:p>
            <a:r>
              <a:rPr lang="en-CA" dirty="0"/>
              <a:t>This may seem difficult to maintain, but in fact it isn’t.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B58D40D-E420-43D1-B1D6-7704BC5C8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231A5CB-2757-40DD-97E5-75CB40DCF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D4B344-0667-4215-8294-D35B140C28B1}"/>
              </a:ext>
            </a:extLst>
          </p:cNvPr>
          <p:cNvSpPr/>
          <p:nvPr/>
        </p:nvSpPr>
        <p:spPr>
          <a:xfrm>
            <a:off x="5660572" y="5863678"/>
            <a:ext cx="65314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200" dirty="0"/>
              <a:t>Extract optional functionality to </a:t>
            </a:r>
            <a:r>
              <a:rPr lang="en-CA" sz="2200" b="1" dirty="0"/>
              <a:t>separate</a:t>
            </a:r>
            <a:r>
              <a:rPr lang="en-CA" sz="2200" dirty="0"/>
              <a:t> </a:t>
            </a:r>
            <a:r>
              <a:rPr lang="en-CA" sz="2200" b="1" dirty="0"/>
              <a:t>interfaces</a:t>
            </a:r>
          </a:p>
        </p:txBody>
      </p:sp>
    </p:spTree>
    <p:extLst>
      <p:ext uri="{BB962C8B-B14F-4D97-AF65-F5344CB8AC3E}">
        <p14:creationId xmlns:p14="http://schemas.microsoft.com/office/powerpoint/2010/main" val="42250501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2B75-0F46-42A2-B607-74C07166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Zoo!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24999-A41E-467D-9711-5C8A0E970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933" y="1869613"/>
            <a:ext cx="5469138" cy="4395409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1800" dirty="0">
                <a:solidFill>
                  <a:srgbClr val="000000"/>
                </a:solidFill>
                <a:latin typeface="Arial Unicode MS"/>
              </a:rPr>
              <a:t>Human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(Animal, Walkable, Swimmable):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180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1800" dirty="0">
                <a:solidFill>
                  <a:srgbClr val="00627A"/>
                </a:solidFill>
                <a:latin typeface="Arial Unicode MS"/>
              </a:rPr>
              <a:t>walk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i="1" dirty="0">
                <a:solidFill>
                  <a:srgbClr val="8C8C8C"/>
                </a:solidFill>
                <a:latin typeface="Arial Unicode MS"/>
              </a:rPr>
              <a:t># overridden walking code</a:t>
            </a:r>
            <a:br>
              <a:rPr lang="en-US" altLang="en-US" sz="1800" i="1" dirty="0">
                <a:solidFill>
                  <a:srgbClr val="8C8C8C"/>
                </a:solidFill>
                <a:latin typeface="Arial Unicode MS"/>
              </a:rPr>
            </a:br>
            <a:r>
              <a:rPr lang="en-US" altLang="en-US" sz="1800" i="1" dirty="0">
                <a:solidFill>
                  <a:srgbClr val="8C8C8C"/>
                </a:solidFill>
                <a:latin typeface="Arial Unicode MS"/>
              </a:rPr>
              <a:t>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1800" dirty="0">
                <a:solidFill>
                  <a:srgbClr val="00627A"/>
                </a:solidFill>
                <a:latin typeface="Arial Unicode MS"/>
              </a:rPr>
              <a:t>swim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i="1" dirty="0">
                <a:solidFill>
                  <a:srgbClr val="8C8C8C"/>
                </a:solidFill>
                <a:latin typeface="Arial Unicode MS"/>
              </a:rPr>
              <a:t># overridden swimming code</a:t>
            </a: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B7128F-BD6F-41E8-8343-9F1F949C87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8177" y="1869613"/>
            <a:ext cx="4758724" cy="437878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05927" y="40057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dirty="0"/>
              <a:t>Instead of polluting the animal base class with additional functionality, we create separate interfaces (read: ABC) that handle different responsibilities.</a:t>
            </a:r>
          </a:p>
          <a:p>
            <a:r>
              <a:rPr lang="en-CA" dirty="0"/>
              <a:t>This may seem difficult to maintain, but in fact it isn’t.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B58D40D-E420-43D1-B1D6-7704BC5C8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64E1E4-7C5E-441F-9675-B4155A5FB150}"/>
              </a:ext>
            </a:extLst>
          </p:cNvPr>
          <p:cNvSpPr/>
          <p:nvPr/>
        </p:nvSpPr>
        <p:spPr>
          <a:xfrm>
            <a:off x="5705927" y="3527326"/>
            <a:ext cx="643283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200" b="1" dirty="0"/>
              <a:t>Human class </a:t>
            </a:r>
            <a:r>
              <a:rPr lang="en-CA" sz="2200" dirty="0"/>
              <a:t>inherits only the functionality they need</a:t>
            </a:r>
          </a:p>
        </p:txBody>
      </p:sp>
    </p:spTree>
    <p:extLst>
      <p:ext uri="{BB962C8B-B14F-4D97-AF65-F5344CB8AC3E}">
        <p14:creationId xmlns:p14="http://schemas.microsoft.com/office/powerpoint/2010/main" val="5040672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Dependency inversion principle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38050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5AC7-3C12-4750-8171-D0C78A8F0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Inversion Principle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3A365-3618-4717-8C51-8B7437849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Dependency Inversion Principle can be thought as a combined effect of the previous principles.</a:t>
            </a:r>
          </a:p>
          <a:p>
            <a:r>
              <a:rPr lang="en-US" dirty="0"/>
              <a:t>Specifically, the Open Closed Principle and </a:t>
            </a:r>
            <a:r>
              <a:rPr lang="en-US" dirty="0" err="1"/>
              <a:t>Liskov</a:t>
            </a:r>
            <a:r>
              <a:rPr lang="en-US" dirty="0"/>
              <a:t> Substitution Principle</a:t>
            </a:r>
          </a:p>
          <a:p>
            <a:endParaRPr lang="en-US" dirty="0"/>
          </a:p>
          <a:p>
            <a:r>
              <a:rPr lang="en-US" dirty="0"/>
              <a:t>Before we dive into this, we need to look at a few concepts.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313565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EC6C-5C3E-493D-AC90-15C6DE3D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&amp; Low Level Modules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0515BE-C358-4E09-813F-747F3F1CEB04}"/>
              </a:ext>
            </a:extLst>
          </p:cNvPr>
          <p:cNvSpPr/>
          <p:nvPr/>
        </p:nvSpPr>
        <p:spPr>
          <a:xfrm>
            <a:off x="3352801" y="1997623"/>
            <a:ext cx="1923143" cy="13570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UI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D529-0C8F-4C40-9575-A475D148F160}"/>
              </a:ext>
            </a:extLst>
          </p:cNvPr>
          <p:cNvSpPr/>
          <p:nvPr/>
        </p:nvSpPr>
        <p:spPr>
          <a:xfrm>
            <a:off x="6667138" y="1997623"/>
            <a:ext cx="1923143" cy="13570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8BF8DA2-A359-4306-A309-6819FC27ADE0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275944" y="2676166"/>
            <a:ext cx="13839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89DC5B7-CE24-425A-A7BD-8DFD3FACB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544" y="4190811"/>
            <a:ext cx="10784113" cy="2001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b="1" u="sng" dirty="0"/>
              <a:t>High Level Modules </a:t>
            </a:r>
            <a:r>
              <a:rPr lang="en-CA" dirty="0"/>
              <a:t>are the ones that contain complex logic made up of small ‘chunks’ of simpler code. For example, our UI class</a:t>
            </a:r>
          </a:p>
          <a:p>
            <a:pPr marL="0" indent="0">
              <a:buNone/>
            </a:pPr>
            <a:r>
              <a:rPr lang="en-CA" dirty="0"/>
              <a:t>A </a:t>
            </a:r>
            <a:r>
              <a:rPr lang="en-CA" b="1" u="sng" dirty="0"/>
              <a:t>Low Level Module </a:t>
            </a:r>
            <a:r>
              <a:rPr lang="en-CA" dirty="0"/>
              <a:t>on the other hand, is a class that encapsulates some simple atomic behaviour. Such as writing and reading from a file, displaying an image, etc.</a:t>
            </a:r>
          </a:p>
          <a:p>
            <a:pPr marL="0" indent="0">
              <a:buNone/>
            </a:pPr>
            <a:r>
              <a:rPr lang="en-CA" dirty="0"/>
              <a:t>We generally compose high level modules with low level modules. That is, </a:t>
            </a:r>
            <a:r>
              <a:rPr lang="en-CA" b="1" u="sng" dirty="0"/>
              <a:t>high level modules are Coupled and Dependent on low level modules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5BA8FC-83A1-4BBC-91B8-242D551BF0E3}"/>
              </a:ext>
            </a:extLst>
          </p:cNvPr>
          <p:cNvCxnSpPr>
            <a:cxnSpLocks/>
          </p:cNvCxnSpPr>
          <p:nvPr/>
        </p:nvCxnSpPr>
        <p:spPr>
          <a:xfrm>
            <a:off x="6667138" y="2409372"/>
            <a:ext cx="19470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6490274-FD7F-41CB-9123-B527DB8023A7}"/>
              </a:ext>
            </a:extLst>
          </p:cNvPr>
          <p:cNvSpPr txBox="1"/>
          <p:nvPr/>
        </p:nvSpPr>
        <p:spPr>
          <a:xfrm>
            <a:off x="6667138" y="1997623"/>
            <a:ext cx="192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Text File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69ED84-A606-477E-9386-9201140EC0E0}"/>
              </a:ext>
            </a:extLst>
          </p:cNvPr>
          <p:cNvSpPr txBox="1"/>
          <p:nvPr/>
        </p:nvSpPr>
        <p:spPr>
          <a:xfrm>
            <a:off x="6683829" y="2442380"/>
            <a:ext cx="192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read()</a:t>
            </a:r>
            <a:br>
              <a:rPr lang="en-CA" dirty="0"/>
            </a:br>
            <a:r>
              <a:rPr lang="en-CA" dirty="0"/>
              <a:t>write()</a:t>
            </a:r>
            <a:br>
              <a:rPr lang="en-CA" dirty="0"/>
            </a:br>
            <a:r>
              <a:rPr lang="en-CA" dirty="0"/>
              <a:t>search()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CAF40D7-F36D-46E6-B561-DF2DC995FB8E}"/>
              </a:ext>
            </a:extLst>
          </p:cNvPr>
          <p:cNvSpPr txBox="1">
            <a:spLocks/>
          </p:cNvSpPr>
          <p:nvPr/>
        </p:nvSpPr>
        <p:spPr>
          <a:xfrm>
            <a:off x="3240762" y="3621501"/>
            <a:ext cx="2147220" cy="60311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CA" b="1" dirty="0"/>
              <a:t>High Level Module</a:t>
            </a:r>
            <a:endParaRPr lang="en-CA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7EBBECC-CC6B-41DF-85C2-8D330602A598}"/>
              </a:ext>
            </a:extLst>
          </p:cNvPr>
          <p:cNvSpPr txBox="1">
            <a:spLocks/>
          </p:cNvSpPr>
          <p:nvPr/>
        </p:nvSpPr>
        <p:spPr>
          <a:xfrm>
            <a:off x="6571790" y="3579848"/>
            <a:ext cx="2147220" cy="60311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CA" b="1" dirty="0"/>
              <a:t>Low Level Module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421688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EC6C-5C3E-493D-AC90-15C6DE3D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&amp; Low Level Modules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0515BE-C358-4E09-813F-747F3F1CEB04}"/>
              </a:ext>
            </a:extLst>
          </p:cNvPr>
          <p:cNvSpPr/>
          <p:nvPr/>
        </p:nvSpPr>
        <p:spPr>
          <a:xfrm>
            <a:off x="3360058" y="2382251"/>
            <a:ext cx="1923143" cy="13570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UI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D529-0C8F-4C40-9575-A475D148F160}"/>
              </a:ext>
            </a:extLst>
          </p:cNvPr>
          <p:cNvSpPr/>
          <p:nvPr/>
        </p:nvSpPr>
        <p:spPr>
          <a:xfrm>
            <a:off x="6667138" y="2382251"/>
            <a:ext cx="1923143" cy="13570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8BF8DA2-A359-4306-A309-6819FC27ADE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283201" y="3060794"/>
            <a:ext cx="13839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89DC5B7-CE24-425A-A7BD-8DFD3FACB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6209" y="4876804"/>
            <a:ext cx="9934133" cy="1306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u="sng" dirty="0"/>
              <a:t>This is not very good design.</a:t>
            </a:r>
          </a:p>
          <a:p>
            <a:pPr marL="0" indent="0">
              <a:buNone/>
            </a:pPr>
            <a:r>
              <a:rPr lang="en-CA" dirty="0"/>
              <a:t>We don’t want this dependency. We want to be able to change or replace the lower level modules without tampering with the complex code in the higher level modules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5BA8FC-83A1-4BBC-91B8-242D551BF0E3}"/>
              </a:ext>
            </a:extLst>
          </p:cNvPr>
          <p:cNvCxnSpPr>
            <a:cxnSpLocks/>
          </p:cNvCxnSpPr>
          <p:nvPr/>
        </p:nvCxnSpPr>
        <p:spPr>
          <a:xfrm>
            <a:off x="6667138" y="2794000"/>
            <a:ext cx="19470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6490274-FD7F-41CB-9123-B527DB8023A7}"/>
              </a:ext>
            </a:extLst>
          </p:cNvPr>
          <p:cNvSpPr txBox="1"/>
          <p:nvPr/>
        </p:nvSpPr>
        <p:spPr>
          <a:xfrm>
            <a:off x="6667138" y="2382251"/>
            <a:ext cx="192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Text File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69ED84-A606-477E-9386-9201140EC0E0}"/>
              </a:ext>
            </a:extLst>
          </p:cNvPr>
          <p:cNvSpPr txBox="1"/>
          <p:nvPr/>
        </p:nvSpPr>
        <p:spPr>
          <a:xfrm>
            <a:off x="6691086" y="2827008"/>
            <a:ext cx="192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read()</a:t>
            </a:r>
            <a:br>
              <a:rPr lang="en-CA" dirty="0"/>
            </a:br>
            <a:r>
              <a:rPr lang="en-CA" dirty="0"/>
              <a:t>write()</a:t>
            </a:r>
            <a:br>
              <a:rPr lang="en-CA" dirty="0"/>
            </a:br>
            <a:r>
              <a:rPr lang="en-CA" dirty="0"/>
              <a:t>search()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C759D9F-E96F-48C1-99A9-8719A4D784AB}"/>
              </a:ext>
            </a:extLst>
          </p:cNvPr>
          <p:cNvSpPr txBox="1">
            <a:spLocks/>
          </p:cNvSpPr>
          <p:nvPr/>
        </p:nvSpPr>
        <p:spPr>
          <a:xfrm>
            <a:off x="3248019" y="4006129"/>
            <a:ext cx="2147220" cy="60311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CA" b="1" dirty="0"/>
              <a:t>High Level Module</a:t>
            </a:r>
            <a:endParaRPr lang="en-CA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4B92021-4CBB-4271-B36B-FFB97D267AB0}"/>
              </a:ext>
            </a:extLst>
          </p:cNvPr>
          <p:cNvSpPr txBox="1">
            <a:spLocks/>
          </p:cNvSpPr>
          <p:nvPr/>
        </p:nvSpPr>
        <p:spPr>
          <a:xfrm>
            <a:off x="6579047" y="3964476"/>
            <a:ext cx="2147220" cy="60311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CA" b="1" dirty="0"/>
              <a:t>Low Level Module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126739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C4A8-495D-4C5C-8BC9-E5F3D928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We inversed the dependencies!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EE92C31-4456-4956-9FCE-34084096F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79" y="2002762"/>
            <a:ext cx="4855027" cy="3777568"/>
          </a:xfrm>
        </p:spPr>
        <p:txBody>
          <a:bodyPr>
            <a:noAutofit/>
          </a:bodyPr>
          <a:lstStyle/>
          <a:p>
            <a:r>
              <a:rPr lang="en-CA" sz="2500" dirty="0"/>
              <a:t>We introduced an </a:t>
            </a:r>
            <a:r>
              <a:rPr lang="en-CA" sz="2500" b="1" dirty="0">
                <a:solidFill>
                  <a:srgbClr val="00B050"/>
                </a:solidFill>
              </a:rPr>
              <a:t>abstract layer </a:t>
            </a:r>
            <a:r>
              <a:rPr lang="en-CA" sz="2500" dirty="0"/>
              <a:t>that does not depend on anything.</a:t>
            </a:r>
          </a:p>
          <a:p>
            <a:r>
              <a:rPr lang="en-CA" sz="2500" dirty="0"/>
              <a:t>We made both our </a:t>
            </a:r>
            <a:r>
              <a:rPr lang="en-CA" sz="2500" b="1" dirty="0"/>
              <a:t>high level </a:t>
            </a:r>
            <a:r>
              <a:rPr lang="en-CA" sz="2500" dirty="0"/>
              <a:t>and </a:t>
            </a:r>
            <a:r>
              <a:rPr lang="en-CA" sz="2500" b="1" dirty="0"/>
              <a:t>low level </a:t>
            </a:r>
            <a:r>
              <a:rPr lang="en-CA" sz="2500" dirty="0"/>
              <a:t>modules </a:t>
            </a:r>
            <a:r>
              <a:rPr lang="en-CA" sz="2500" b="1" dirty="0">
                <a:solidFill>
                  <a:srgbClr val="00B0F0"/>
                </a:solidFill>
              </a:rPr>
              <a:t>depend on the abstract </a:t>
            </a:r>
            <a:r>
              <a:rPr lang="en-CA" sz="2500" dirty="0"/>
              <a:t>instead.</a:t>
            </a:r>
          </a:p>
          <a:p>
            <a:r>
              <a:rPr lang="en-CA" sz="2500" dirty="0"/>
              <a:t>Now we can switch out either side, the UI and the text file could be replaced with something completely different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C40178-FFD4-4D24-8F32-2F0BBBA41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030" y="1989869"/>
            <a:ext cx="5139463" cy="405592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B030E72-8D53-4E5C-950A-2101256F63A0}"/>
              </a:ext>
            </a:extLst>
          </p:cNvPr>
          <p:cNvSpPr/>
          <p:nvPr/>
        </p:nvSpPr>
        <p:spPr>
          <a:xfrm>
            <a:off x="8196942" y="2002763"/>
            <a:ext cx="2345552" cy="1894324"/>
          </a:xfrm>
          <a:prstGeom prst="rect">
            <a:avLst/>
          </a:prstGeom>
          <a:solidFill>
            <a:schemeClr val="bg1">
              <a:alpha val="0"/>
            </a:schemeClr>
          </a:solidFill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8D1A5E-8AB1-40C9-ADD5-3171086BFD01}"/>
              </a:ext>
            </a:extLst>
          </p:cNvPr>
          <p:cNvCxnSpPr/>
          <p:nvPr/>
        </p:nvCxnSpPr>
        <p:spPr>
          <a:xfrm>
            <a:off x="6574971" y="2950029"/>
            <a:ext cx="1469572" cy="0"/>
          </a:xfrm>
          <a:prstGeom prst="straightConnector1">
            <a:avLst/>
          </a:prstGeom>
          <a:ln w="508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FEEA41D-7117-4669-8B90-BA6B9EA5E00A}"/>
              </a:ext>
            </a:extLst>
          </p:cNvPr>
          <p:cNvCxnSpPr>
            <a:cxnSpLocks/>
          </p:cNvCxnSpPr>
          <p:nvPr/>
        </p:nvCxnSpPr>
        <p:spPr>
          <a:xfrm flipV="1">
            <a:off x="9358832" y="3897087"/>
            <a:ext cx="0" cy="1251856"/>
          </a:xfrm>
          <a:prstGeom prst="straightConnector1">
            <a:avLst/>
          </a:prstGeom>
          <a:ln w="508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68444DD3-D47E-4179-A6A2-EB933B138F0F}"/>
              </a:ext>
            </a:extLst>
          </p:cNvPr>
          <p:cNvSpPr/>
          <p:nvPr/>
        </p:nvSpPr>
        <p:spPr>
          <a:xfrm>
            <a:off x="9176655" y="3897087"/>
            <a:ext cx="347048" cy="299179"/>
          </a:xfrm>
          <a:prstGeom prst="triangle">
            <a:avLst/>
          </a:prstGeom>
          <a:solidFill>
            <a:schemeClr val="bg1"/>
          </a:solidFill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04888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C4A8-495D-4C5C-8BC9-E5F3D928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We inversed the dependencies!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EE92C31-4456-4956-9FCE-34084096F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564" y="1831645"/>
            <a:ext cx="4391128" cy="3777568"/>
          </a:xfrm>
        </p:spPr>
        <p:txBody>
          <a:bodyPr>
            <a:noAutofit/>
          </a:bodyPr>
          <a:lstStyle/>
          <a:p>
            <a:r>
              <a:rPr lang="en-CA" dirty="0"/>
              <a:t>Everyone here has seen a diagram like this many times now.</a:t>
            </a:r>
          </a:p>
          <a:p>
            <a:r>
              <a:rPr lang="en-CA" dirty="0"/>
              <a:t>We can even see the building blocks that are </a:t>
            </a:r>
            <a:r>
              <a:rPr lang="en-CA" dirty="0" err="1"/>
              <a:t>Liskov</a:t>
            </a:r>
            <a:r>
              <a:rPr lang="en-CA" dirty="0"/>
              <a:t> Substitution and Open Closed Principles.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449975-7C95-4CB5-BC56-94F3B1936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639" y="1831645"/>
            <a:ext cx="6881025" cy="377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6920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16A81-2940-4A75-80EA-2F07EE6AF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Inversion Principle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2D248-FDDB-47A1-9E28-2521191FD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690691"/>
            <a:ext cx="9961581" cy="110774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400" dirty="0"/>
              <a:t>High-level modules should not depend on low-level modules. </a:t>
            </a:r>
            <a:r>
              <a:rPr lang="en-US" sz="3400" b="1" dirty="0">
                <a:solidFill>
                  <a:srgbClr val="00B0F0"/>
                </a:solidFill>
              </a:rPr>
              <a:t>Both should depend on abstractions</a:t>
            </a:r>
            <a:r>
              <a:rPr lang="en-US" sz="3400" dirty="0"/>
              <a:t>.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82A70E3-8D43-48DA-BBA0-DE1987EB2893}"/>
              </a:ext>
            </a:extLst>
          </p:cNvPr>
          <p:cNvGrpSpPr/>
          <p:nvPr/>
        </p:nvGrpSpPr>
        <p:grpSpPr>
          <a:xfrm>
            <a:off x="412206" y="3117727"/>
            <a:ext cx="5478248" cy="2226994"/>
            <a:chOff x="276219" y="3779810"/>
            <a:chExt cx="5478248" cy="222699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68CBD61-861C-485B-BE15-16EF047CE542}"/>
                </a:ext>
              </a:extLst>
            </p:cNvPr>
            <p:cNvSpPr/>
            <p:nvPr/>
          </p:nvSpPr>
          <p:spPr>
            <a:xfrm>
              <a:off x="3695338" y="3779810"/>
              <a:ext cx="1923143" cy="135708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>
                <a:solidFill>
                  <a:schemeClr val="tx1"/>
                </a:solidFill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F004FAD-7981-48D5-B1C1-DECE148E8634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2311401" y="4458353"/>
              <a:ext cx="1383937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77083F9-A6FF-4E1D-B3C7-E6C96EEC3B29}"/>
                </a:ext>
              </a:extLst>
            </p:cNvPr>
            <p:cNvCxnSpPr>
              <a:cxnSpLocks/>
            </p:cNvCxnSpPr>
            <p:nvPr/>
          </p:nvCxnSpPr>
          <p:spPr>
            <a:xfrm>
              <a:off x="3695338" y="4191559"/>
              <a:ext cx="194709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DC4C646-54FB-4953-AC83-1791C895D9D8}"/>
                </a:ext>
              </a:extLst>
            </p:cNvPr>
            <p:cNvSpPr txBox="1"/>
            <p:nvPr/>
          </p:nvSpPr>
          <p:spPr>
            <a:xfrm>
              <a:off x="3695338" y="3779810"/>
              <a:ext cx="19231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Text File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92227D-5C14-4ACA-A47B-07CE9E95F432}"/>
                </a:ext>
              </a:extLst>
            </p:cNvPr>
            <p:cNvSpPr txBox="1"/>
            <p:nvPr/>
          </p:nvSpPr>
          <p:spPr>
            <a:xfrm>
              <a:off x="3719286" y="4224567"/>
              <a:ext cx="192314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read()</a:t>
              </a:r>
              <a:br>
                <a:rPr lang="en-CA" dirty="0"/>
              </a:br>
              <a:r>
                <a:rPr lang="en-CA" dirty="0"/>
                <a:t>write()</a:t>
              </a:r>
              <a:br>
                <a:rPr lang="en-CA" dirty="0"/>
              </a:br>
              <a:r>
                <a:rPr lang="en-CA" dirty="0"/>
                <a:t>search()</a:t>
              </a:r>
            </a:p>
          </p:txBody>
        </p:sp>
        <p:sp>
          <p:nvSpPr>
            <p:cNvPr id="9" name="Content Placeholder 3">
              <a:extLst>
                <a:ext uri="{FF2B5EF4-FFF2-40B4-BE49-F238E27FC236}">
                  <a16:creationId xmlns:a16="http://schemas.microsoft.com/office/drawing/2014/main" id="{CE0CF450-EE36-4F06-8725-1D32E6585257}"/>
                </a:ext>
              </a:extLst>
            </p:cNvPr>
            <p:cNvSpPr txBox="1">
              <a:spLocks/>
            </p:cNvSpPr>
            <p:nvPr/>
          </p:nvSpPr>
          <p:spPr>
            <a:xfrm>
              <a:off x="276219" y="5403688"/>
              <a:ext cx="2147220" cy="603116"/>
            </a:xfrm>
            <a:prstGeom prst="rect">
              <a:avLst/>
            </a:prstGeom>
          </p:spPr>
          <p:txBody>
            <a:bodyPr vert="horz" lIns="0" tIns="45720" rIns="0" bIns="45720" rtlCol="0">
              <a:normAutofit/>
            </a:bodyPr>
            <a:lstStyle>
              <a:lvl1pPr marL="91440" indent="-9144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8404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56692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74980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93268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1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3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Calibri" panose="020F0502020204030204" pitchFamily="34" charset="0"/>
                <a:buNone/>
              </a:pPr>
              <a:r>
                <a:rPr lang="en-CA" b="1" dirty="0"/>
                <a:t>High Level Module</a:t>
              </a:r>
              <a:endParaRPr lang="en-CA" dirty="0"/>
            </a:p>
          </p:txBody>
        </p:sp>
        <p:sp>
          <p:nvSpPr>
            <p:cNvPr id="10" name="Content Placeholder 3">
              <a:extLst>
                <a:ext uri="{FF2B5EF4-FFF2-40B4-BE49-F238E27FC236}">
                  <a16:creationId xmlns:a16="http://schemas.microsoft.com/office/drawing/2014/main" id="{E490FB41-F167-41CE-96F6-45A5B70EB7B2}"/>
                </a:ext>
              </a:extLst>
            </p:cNvPr>
            <p:cNvSpPr txBox="1">
              <a:spLocks/>
            </p:cNvSpPr>
            <p:nvPr/>
          </p:nvSpPr>
          <p:spPr>
            <a:xfrm>
              <a:off x="3607247" y="5362035"/>
              <a:ext cx="2147220" cy="603116"/>
            </a:xfrm>
            <a:prstGeom prst="rect">
              <a:avLst/>
            </a:prstGeom>
          </p:spPr>
          <p:txBody>
            <a:bodyPr vert="horz" lIns="0" tIns="45720" rIns="0" bIns="45720" rtlCol="0">
              <a:normAutofit/>
            </a:bodyPr>
            <a:lstStyle>
              <a:lvl1pPr marL="91440" indent="-9144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8404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56692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74980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93268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1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3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Calibri" panose="020F0502020204030204" pitchFamily="34" charset="0"/>
                <a:buNone/>
              </a:pPr>
              <a:r>
                <a:rPr lang="en-CA" b="1" dirty="0"/>
                <a:t>Low Level Module</a:t>
              </a:r>
              <a:endParaRPr lang="en-CA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C7D0741-D873-4DB2-A792-1F50F40A984A}"/>
                </a:ext>
              </a:extLst>
            </p:cNvPr>
            <p:cNvSpPr/>
            <p:nvPr/>
          </p:nvSpPr>
          <p:spPr>
            <a:xfrm>
              <a:off x="388258" y="3779810"/>
              <a:ext cx="1923143" cy="135708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B84FC3-A234-406B-8029-C39A7B376AE6}"/>
                </a:ext>
              </a:extLst>
            </p:cNvPr>
            <p:cNvCxnSpPr>
              <a:cxnSpLocks/>
            </p:cNvCxnSpPr>
            <p:nvPr/>
          </p:nvCxnSpPr>
          <p:spPr>
            <a:xfrm>
              <a:off x="388258" y="4191559"/>
              <a:ext cx="194709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8C07049-7FC9-40C5-AA9B-496FBEFED846}"/>
                </a:ext>
              </a:extLst>
            </p:cNvPr>
            <p:cNvSpPr txBox="1"/>
            <p:nvPr/>
          </p:nvSpPr>
          <p:spPr>
            <a:xfrm>
              <a:off x="388258" y="3779810"/>
              <a:ext cx="19231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UI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BEA3049-3DF7-4846-8D51-6E45D54E5D28}"/>
                </a:ext>
              </a:extLst>
            </p:cNvPr>
            <p:cNvSpPr txBox="1"/>
            <p:nvPr/>
          </p:nvSpPr>
          <p:spPr>
            <a:xfrm>
              <a:off x="412206" y="4224567"/>
              <a:ext cx="19231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 err="1"/>
                <a:t>textFile</a:t>
              </a:r>
              <a:endParaRPr lang="en-CA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6667E96-ECBB-462D-8035-F087DF6249B0}"/>
              </a:ext>
            </a:extLst>
          </p:cNvPr>
          <p:cNvGrpSpPr/>
          <p:nvPr/>
        </p:nvGrpSpPr>
        <p:grpSpPr>
          <a:xfrm>
            <a:off x="7137819" y="2854273"/>
            <a:ext cx="3710530" cy="2928253"/>
            <a:chOff x="6664279" y="2758528"/>
            <a:chExt cx="5139463" cy="405592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83E6D5C-28F4-4595-89A8-BD314EA6A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4279" y="2758528"/>
              <a:ext cx="5139463" cy="4055929"/>
            </a:xfrm>
            <a:prstGeom prst="rect">
              <a:avLst/>
            </a:prstGeom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2CB54F4-F56A-4388-AD70-8674E2582216}"/>
                </a:ext>
              </a:extLst>
            </p:cNvPr>
            <p:cNvCxnSpPr>
              <a:cxnSpLocks/>
            </p:cNvCxnSpPr>
            <p:nvPr/>
          </p:nvCxnSpPr>
          <p:spPr>
            <a:xfrm>
              <a:off x="7836220" y="3718688"/>
              <a:ext cx="1469572" cy="0"/>
            </a:xfrm>
            <a:prstGeom prst="straightConnector1">
              <a:avLst/>
            </a:prstGeom>
            <a:ln w="508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6DAF3EE-7CCB-49C9-AA03-306759DAF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0081" y="4665746"/>
              <a:ext cx="0" cy="1251856"/>
            </a:xfrm>
            <a:prstGeom prst="straightConnector1">
              <a:avLst/>
            </a:prstGeom>
            <a:ln w="508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472918FB-BAE0-4D04-B3BA-D69AD10B6A25}"/>
                </a:ext>
              </a:extLst>
            </p:cNvPr>
            <p:cNvSpPr/>
            <p:nvPr/>
          </p:nvSpPr>
          <p:spPr>
            <a:xfrm>
              <a:off x="10437904" y="4665746"/>
              <a:ext cx="347048" cy="299179"/>
            </a:xfrm>
            <a:prstGeom prst="triangle">
              <a:avLst/>
            </a:prstGeom>
            <a:solidFill>
              <a:schemeClr val="bg1"/>
            </a:solidFill>
            <a:ln w="508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31" name="L-Shape 30">
            <a:extLst>
              <a:ext uri="{FF2B5EF4-FFF2-40B4-BE49-F238E27FC236}">
                <a16:creationId xmlns:a16="http://schemas.microsoft.com/office/drawing/2014/main" id="{A1C24202-F52D-4306-8EBD-C1236EC793FB}"/>
              </a:ext>
            </a:extLst>
          </p:cNvPr>
          <p:cNvSpPr/>
          <p:nvPr/>
        </p:nvSpPr>
        <p:spPr>
          <a:xfrm rot="18900000">
            <a:off x="7511868" y="5016821"/>
            <a:ext cx="1955584" cy="831740"/>
          </a:xfrm>
          <a:prstGeom prst="corner">
            <a:avLst>
              <a:gd name="adj1" fmla="val 50000"/>
              <a:gd name="adj2" fmla="val 56381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Multiplication Sign 31">
            <a:extLst>
              <a:ext uri="{FF2B5EF4-FFF2-40B4-BE49-F238E27FC236}">
                <a16:creationId xmlns:a16="http://schemas.microsoft.com/office/drawing/2014/main" id="{5F6A2DC6-74FB-4106-9AE7-DB729389FFB8}"/>
              </a:ext>
            </a:extLst>
          </p:cNvPr>
          <p:cNvSpPr/>
          <p:nvPr/>
        </p:nvSpPr>
        <p:spPr>
          <a:xfrm>
            <a:off x="1826556" y="4484898"/>
            <a:ext cx="2450006" cy="245000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77646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16A81-2940-4A75-80EA-2F07EE6AF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Inversion Principle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2D248-FDDB-47A1-9E28-2521191FD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9961581" cy="10716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3400" dirty="0"/>
              <a:t>Abstractions should not depend on details. Details should depend on abstractions.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2DEE30F-8AAA-4812-A14D-4D67B393C440}"/>
              </a:ext>
            </a:extLst>
          </p:cNvPr>
          <p:cNvGrpSpPr/>
          <p:nvPr/>
        </p:nvGrpSpPr>
        <p:grpSpPr>
          <a:xfrm>
            <a:off x="4078933" y="3169958"/>
            <a:ext cx="3710530" cy="2928253"/>
            <a:chOff x="6664279" y="2758528"/>
            <a:chExt cx="5139463" cy="405592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5E24D0A-4DC6-4961-95C1-7222C1A38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4279" y="2758528"/>
              <a:ext cx="5139463" cy="4055929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3648CB1-53B7-46F4-95A4-3CCF9B505670}"/>
                </a:ext>
              </a:extLst>
            </p:cNvPr>
            <p:cNvCxnSpPr>
              <a:cxnSpLocks/>
            </p:cNvCxnSpPr>
            <p:nvPr/>
          </p:nvCxnSpPr>
          <p:spPr>
            <a:xfrm>
              <a:off x="7836220" y="3718688"/>
              <a:ext cx="1469572" cy="0"/>
            </a:xfrm>
            <a:prstGeom prst="straightConnector1">
              <a:avLst/>
            </a:prstGeom>
            <a:ln w="508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E56D322-739C-4CD5-9106-B6C31532AF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0081" y="4665746"/>
              <a:ext cx="0" cy="1251856"/>
            </a:xfrm>
            <a:prstGeom prst="straightConnector1">
              <a:avLst/>
            </a:prstGeom>
            <a:ln w="508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3A2B0007-C49C-45DC-89AE-7B6042A75CF7}"/>
                </a:ext>
              </a:extLst>
            </p:cNvPr>
            <p:cNvSpPr/>
            <p:nvPr/>
          </p:nvSpPr>
          <p:spPr>
            <a:xfrm>
              <a:off x="10437904" y="4665746"/>
              <a:ext cx="347048" cy="299179"/>
            </a:xfrm>
            <a:prstGeom prst="triangle">
              <a:avLst/>
            </a:prstGeom>
            <a:solidFill>
              <a:schemeClr val="bg1"/>
            </a:solidFill>
            <a:ln w="508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0" name="L-Shape 9">
            <a:extLst>
              <a:ext uri="{FF2B5EF4-FFF2-40B4-BE49-F238E27FC236}">
                <a16:creationId xmlns:a16="http://schemas.microsoft.com/office/drawing/2014/main" id="{7D43F9C3-92BB-4353-99FB-615FDD497279}"/>
              </a:ext>
            </a:extLst>
          </p:cNvPr>
          <p:cNvSpPr/>
          <p:nvPr/>
        </p:nvSpPr>
        <p:spPr>
          <a:xfrm rot="18900000">
            <a:off x="4279311" y="5250774"/>
            <a:ext cx="1955584" cy="831740"/>
          </a:xfrm>
          <a:prstGeom prst="corner">
            <a:avLst>
              <a:gd name="adj1" fmla="val 50000"/>
              <a:gd name="adj2" fmla="val 56381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87562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16A81-2940-4A75-80EA-2F07EE6AF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Inversion Principle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2D248-FDDB-47A1-9E28-2521191FD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455" y="1878393"/>
            <a:ext cx="7162801" cy="3928334"/>
          </a:xfrm>
        </p:spPr>
        <p:txBody>
          <a:bodyPr>
            <a:normAutofit/>
          </a:bodyPr>
          <a:lstStyle/>
          <a:p>
            <a:r>
              <a:rPr lang="en-US" dirty="0"/>
              <a:t>We call classes that implement details ‘</a:t>
            </a:r>
            <a:r>
              <a:rPr lang="en-US" b="1" dirty="0"/>
              <a:t>Concrete Classes</a:t>
            </a:r>
            <a:r>
              <a:rPr lang="en-US" dirty="0"/>
              <a:t>’. In the example we just saw, the </a:t>
            </a:r>
            <a:r>
              <a:rPr lang="en-US" b="1" dirty="0"/>
              <a:t>Data Source </a:t>
            </a:r>
            <a:r>
              <a:rPr lang="en-US" dirty="0"/>
              <a:t>is our </a:t>
            </a:r>
            <a:r>
              <a:rPr lang="en-US" b="1" dirty="0"/>
              <a:t>abstract class or interface</a:t>
            </a:r>
            <a:r>
              <a:rPr lang="en-US" dirty="0"/>
              <a:t>, and the </a:t>
            </a:r>
            <a:r>
              <a:rPr lang="en-US" b="1" dirty="0"/>
              <a:t>UI</a:t>
            </a:r>
            <a:r>
              <a:rPr lang="en-US" dirty="0"/>
              <a:t> and </a:t>
            </a:r>
            <a:r>
              <a:rPr lang="en-US" b="1" dirty="0" err="1"/>
              <a:t>TextFile</a:t>
            </a:r>
            <a:r>
              <a:rPr lang="en-US" dirty="0"/>
              <a:t> classes are </a:t>
            </a:r>
            <a:r>
              <a:rPr lang="en-US" b="1" dirty="0"/>
              <a:t>concrete classes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rgbClr val="00B050"/>
                </a:solidFill>
              </a:rPr>
              <a:t>Abstract classes </a:t>
            </a:r>
            <a:r>
              <a:rPr lang="en-US" dirty="0"/>
              <a:t>declare an interface.</a:t>
            </a:r>
          </a:p>
          <a:p>
            <a:r>
              <a:rPr lang="en-US" dirty="0">
                <a:solidFill>
                  <a:srgbClr val="FFC000"/>
                </a:solidFill>
              </a:rPr>
              <a:t>Concrete classes </a:t>
            </a:r>
            <a:r>
              <a:rPr lang="en-US" dirty="0"/>
              <a:t>actually contain the code that implements the details of the interface.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03D962A-4DB3-4888-A411-E11927B05297}"/>
              </a:ext>
            </a:extLst>
          </p:cNvPr>
          <p:cNvGrpSpPr/>
          <p:nvPr/>
        </p:nvGrpSpPr>
        <p:grpSpPr>
          <a:xfrm>
            <a:off x="7564718" y="2109857"/>
            <a:ext cx="4114758" cy="3247258"/>
            <a:chOff x="6664279" y="2758528"/>
            <a:chExt cx="5139464" cy="405592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73D4192-D40A-4257-829D-5E468F0B7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4279" y="2758528"/>
              <a:ext cx="5139463" cy="405592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033E3C-43DE-4489-9BC1-314A84997DFF}"/>
                </a:ext>
              </a:extLst>
            </p:cNvPr>
            <p:cNvSpPr/>
            <p:nvPr/>
          </p:nvSpPr>
          <p:spPr>
            <a:xfrm>
              <a:off x="9458191" y="2771422"/>
              <a:ext cx="2345552" cy="189432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3D7C322-B8B7-4B6F-B6AB-BE40EAE792CB}"/>
                </a:ext>
              </a:extLst>
            </p:cNvPr>
            <p:cNvCxnSpPr>
              <a:cxnSpLocks/>
            </p:cNvCxnSpPr>
            <p:nvPr/>
          </p:nvCxnSpPr>
          <p:spPr>
            <a:xfrm>
              <a:off x="7836220" y="3718688"/>
              <a:ext cx="1469572" cy="0"/>
            </a:xfrm>
            <a:prstGeom prst="straightConnector1">
              <a:avLst/>
            </a:prstGeom>
            <a:ln w="508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79C79F7-BBA9-4640-A5CF-21FCA1B231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0081" y="4665746"/>
              <a:ext cx="0" cy="1251856"/>
            </a:xfrm>
            <a:prstGeom prst="straightConnector1">
              <a:avLst/>
            </a:prstGeom>
            <a:ln w="508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36BC7E9C-425D-4B44-84A4-4BDECA288522}"/>
                </a:ext>
              </a:extLst>
            </p:cNvPr>
            <p:cNvSpPr/>
            <p:nvPr/>
          </p:nvSpPr>
          <p:spPr>
            <a:xfrm>
              <a:off x="10437904" y="4665746"/>
              <a:ext cx="347048" cy="299179"/>
            </a:xfrm>
            <a:prstGeom prst="triangle">
              <a:avLst/>
            </a:prstGeom>
            <a:solidFill>
              <a:schemeClr val="bg1"/>
            </a:solidFill>
            <a:ln w="508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0" name="L-Shape 9">
            <a:extLst>
              <a:ext uri="{FF2B5EF4-FFF2-40B4-BE49-F238E27FC236}">
                <a16:creationId xmlns:a16="http://schemas.microsoft.com/office/drawing/2014/main" id="{0FE77142-1FA7-4605-93C5-AD1F1A074DB7}"/>
              </a:ext>
            </a:extLst>
          </p:cNvPr>
          <p:cNvSpPr/>
          <p:nvPr/>
        </p:nvSpPr>
        <p:spPr>
          <a:xfrm rot="18900000">
            <a:off x="8019515" y="4252725"/>
            <a:ext cx="2168626" cy="922350"/>
          </a:xfrm>
          <a:prstGeom prst="corner">
            <a:avLst>
              <a:gd name="adj1" fmla="val 50000"/>
              <a:gd name="adj2" fmla="val 56381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7ED679-3A52-47DA-8D65-72C9AA9FEE70}"/>
              </a:ext>
            </a:extLst>
          </p:cNvPr>
          <p:cNvSpPr/>
          <p:nvPr/>
        </p:nvSpPr>
        <p:spPr>
          <a:xfrm>
            <a:off x="7560590" y="2433183"/>
            <a:ext cx="942406" cy="908730"/>
          </a:xfrm>
          <a:prstGeom prst="rect">
            <a:avLst/>
          </a:prstGeom>
          <a:solidFill>
            <a:schemeClr val="bg1">
              <a:alpha val="0"/>
            </a:schemeClr>
          </a:solidFill>
          <a:ln w="635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FE4C0C-C7C9-42C0-A4FC-767613F63FBE}"/>
              </a:ext>
            </a:extLst>
          </p:cNvPr>
          <p:cNvSpPr/>
          <p:nvPr/>
        </p:nvSpPr>
        <p:spPr>
          <a:xfrm>
            <a:off x="10006543" y="4639075"/>
            <a:ext cx="1456113" cy="718040"/>
          </a:xfrm>
          <a:prstGeom prst="rect">
            <a:avLst/>
          </a:prstGeom>
          <a:solidFill>
            <a:schemeClr val="bg1">
              <a:alpha val="0"/>
            </a:schemeClr>
          </a:solidFill>
          <a:ln w="635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2169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C4A8-495D-4C5C-8BC9-E5F3D928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Right, now your turn! Say we had a character creation UI in a game.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EE92C31-4456-4956-9FCE-34084096F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984" y="1988457"/>
            <a:ext cx="5805707" cy="1705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have a Character Creation UI, where a player creates their character. When they click the create button, it gets saved to a save file.</a:t>
            </a:r>
          </a:p>
          <a:p>
            <a:pPr marL="0" indent="0">
              <a:buNone/>
            </a:pPr>
            <a:r>
              <a:rPr lang="en-US" dirty="0"/>
              <a:t>Apply everything you’ve learnt so far to “fix” this terrible design.</a:t>
            </a:r>
            <a:endParaRPr lang="en-CA" dirty="0"/>
          </a:p>
        </p:txBody>
      </p:sp>
      <p:pic>
        <p:nvPicPr>
          <p:cNvPr id="4098" name="Picture 2" descr="Image result for character creation screen">
            <a:extLst>
              <a:ext uri="{FF2B5EF4-FFF2-40B4-BE49-F238E27FC236}">
                <a16:creationId xmlns:a16="http://schemas.microsoft.com/office/drawing/2014/main" id="{F463C2A4-77D8-479D-B890-B4D4C0EB3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317" y="3782332"/>
            <a:ext cx="4529621" cy="283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11D1FDC-9E63-4269-8528-C10809314E7D}"/>
              </a:ext>
            </a:extLst>
          </p:cNvPr>
          <p:cNvSpPr/>
          <p:nvPr/>
        </p:nvSpPr>
        <p:spPr>
          <a:xfrm>
            <a:off x="9535874" y="2402705"/>
            <a:ext cx="2095863" cy="1321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CharacterCreationUI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C5C513-F428-47D7-9A73-0803F0E7EEBA}"/>
              </a:ext>
            </a:extLst>
          </p:cNvPr>
          <p:cNvSpPr/>
          <p:nvPr/>
        </p:nvSpPr>
        <p:spPr>
          <a:xfrm>
            <a:off x="9655616" y="4607379"/>
            <a:ext cx="1856377" cy="1170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SaveFileWriter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A074A4-697B-4E66-AA6B-417E6EEEC941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10583805" y="3724604"/>
            <a:ext cx="1" cy="8827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11D1FDC-9E63-4269-8528-C10809314E7D}"/>
              </a:ext>
            </a:extLst>
          </p:cNvPr>
          <p:cNvSpPr/>
          <p:nvPr/>
        </p:nvSpPr>
        <p:spPr>
          <a:xfrm>
            <a:off x="7416794" y="2402705"/>
            <a:ext cx="1396279" cy="1321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Game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A074A4-697B-4E66-AA6B-417E6EEEC941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>
          <a:xfrm>
            <a:off x="8813073" y="3063655"/>
            <a:ext cx="7228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9509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C4A8-495D-4C5C-8BC9-E5F3D928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My 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F13B4D-0275-437C-8774-568FB7CCE2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374847" y="1947163"/>
            <a:ext cx="4472819" cy="37628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99EB2FC-F56F-4CDC-802C-BD3873FD9951}"/>
              </a:ext>
            </a:extLst>
          </p:cNvPr>
          <p:cNvSpPr/>
          <p:nvPr/>
        </p:nvSpPr>
        <p:spPr>
          <a:xfrm>
            <a:off x="2394857" y="1814286"/>
            <a:ext cx="3585029" cy="2496457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AAE4E7-B559-464D-A8F9-9BC9D65A29DC}"/>
              </a:ext>
            </a:extLst>
          </p:cNvPr>
          <p:cNvSpPr/>
          <p:nvPr/>
        </p:nvSpPr>
        <p:spPr>
          <a:xfrm>
            <a:off x="4194629" y="2989943"/>
            <a:ext cx="4833256" cy="2881086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96CEF3C-CB07-45B4-B48B-F0297FF2E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885" y="2133600"/>
            <a:ext cx="1592172" cy="129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Single Responsibility Principle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4997E41-4843-4C02-BFDA-A590112BD465}"/>
              </a:ext>
            </a:extLst>
          </p:cNvPr>
          <p:cNvSpPr txBox="1">
            <a:spLocks/>
          </p:cNvSpPr>
          <p:nvPr/>
        </p:nvSpPr>
        <p:spPr>
          <a:xfrm>
            <a:off x="4274457" y="4633005"/>
            <a:ext cx="1320799" cy="117134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dirty="0"/>
              <a:t>Dependency Inversion Principle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586861-E3A1-4BF8-94C5-99210B8DBD6E}"/>
              </a:ext>
            </a:extLst>
          </p:cNvPr>
          <p:cNvSpPr/>
          <p:nvPr/>
        </p:nvSpPr>
        <p:spPr>
          <a:xfrm>
            <a:off x="4194629" y="1664788"/>
            <a:ext cx="6103257" cy="1164137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3C89086-5AB1-4367-BC42-03F901AE1CB0}"/>
              </a:ext>
            </a:extLst>
          </p:cNvPr>
          <p:cNvSpPr txBox="1">
            <a:spLocks/>
          </p:cNvSpPr>
          <p:nvPr/>
        </p:nvSpPr>
        <p:spPr>
          <a:xfrm>
            <a:off x="8640399" y="1984102"/>
            <a:ext cx="1592172" cy="752791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dirty="0"/>
              <a:t>Single Responsibility Principle</a:t>
            </a:r>
          </a:p>
        </p:txBody>
      </p:sp>
    </p:spTree>
    <p:extLst>
      <p:ext uri="{BB962C8B-B14F-4D97-AF65-F5344CB8AC3E}">
        <p14:creationId xmlns:p14="http://schemas.microsoft.com/office/powerpoint/2010/main" val="26193969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Law of Demeter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20202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7C17E-118E-4BD7-956F-D432A617A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Law of Demeter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E434-41D9-48F0-ACD8-13F6B1925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437865"/>
            <a:ext cx="10058400" cy="1144892"/>
          </a:xfrm>
        </p:spPr>
        <p:txBody>
          <a:bodyPr>
            <a:normAutofit/>
          </a:bodyPr>
          <a:lstStyle/>
          <a:p>
            <a:pPr algn="ctr"/>
            <a:r>
              <a:rPr lang="en-US" sz="4500" dirty="0"/>
              <a:t>Real life - Wallet example</a:t>
            </a:r>
            <a:endParaRPr lang="en-CA" sz="4500" dirty="0"/>
          </a:p>
        </p:txBody>
      </p:sp>
    </p:spTree>
    <p:extLst>
      <p:ext uri="{BB962C8B-B14F-4D97-AF65-F5344CB8AC3E}">
        <p14:creationId xmlns:p14="http://schemas.microsoft.com/office/powerpoint/2010/main" val="39555034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7C17E-118E-4BD7-956F-D432A617A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Law of Demeter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E434-41D9-48F0-ACD8-13F6B1925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351" y="2407851"/>
            <a:ext cx="10058400" cy="787294"/>
          </a:xfrm>
        </p:spPr>
        <p:txBody>
          <a:bodyPr>
            <a:normAutofit/>
          </a:bodyPr>
          <a:lstStyle/>
          <a:p>
            <a:pPr algn="ctr"/>
            <a:r>
              <a:rPr lang="en-US" sz="4500" dirty="0"/>
              <a:t>Real life - Wallet example</a:t>
            </a:r>
          </a:p>
          <a:p>
            <a:pPr algn="ctr"/>
            <a:endParaRPr lang="en-CA" sz="45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ED03E8-99D1-4EFC-989B-5CF9750B0BD2}"/>
              </a:ext>
            </a:extLst>
          </p:cNvPr>
          <p:cNvSpPr/>
          <p:nvPr/>
        </p:nvSpPr>
        <p:spPr>
          <a:xfrm>
            <a:off x="1313793" y="3419646"/>
            <a:ext cx="9669517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Imagine if customer, cashier, wallet are classes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b="1" dirty="0"/>
              <a:t>Cashier</a:t>
            </a:r>
            <a:r>
              <a:rPr lang="en-US" sz="2700" dirty="0"/>
              <a:t> </a:t>
            </a:r>
            <a:r>
              <a:rPr lang="en-US" sz="2700" i="1" dirty="0"/>
              <a:t>should</a:t>
            </a:r>
            <a:r>
              <a:rPr lang="en-US" sz="2700" dirty="0"/>
              <a:t> </a:t>
            </a:r>
            <a:r>
              <a:rPr lang="en-US" sz="2700" i="1" dirty="0"/>
              <a:t>not</a:t>
            </a:r>
            <a:r>
              <a:rPr lang="en-US" sz="2700" dirty="0"/>
              <a:t> reach in </a:t>
            </a:r>
            <a:r>
              <a:rPr lang="en-US" sz="2700" b="1" dirty="0"/>
              <a:t>customer</a:t>
            </a:r>
            <a:r>
              <a:rPr lang="en-US" sz="2700" dirty="0"/>
              <a:t>, then reach into their </a:t>
            </a:r>
            <a:r>
              <a:rPr lang="en-US" sz="2700" b="1" dirty="0"/>
              <a:t>wallet</a:t>
            </a:r>
            <a:r>
              <a:rPr lang="en-US" sz="2700" dirty="0"/>
              <a:t> to get the </a:t>
            </a:r>
            <a:r>
              <a:rPr lang="en-US" sz="2700" b="1" dirty="0"/>
              <a:t>money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Classes </a:t>
            </a:r>
            <a:r>
              <a:rPr lang="en-US" sz="2700" b="1" dirty="0"/>
              <a:t>should not </a:t>
            </a:r>
            <a:r>
              <a:rPr lang="en-US" sz="2700" dirty="0"/>
              <a:t>have knowledge of public members several classes away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Cashier can access customer, but not wallet, through customer</a:t>
            </a:r>
          </a:p>
        </p:txBody>
      </p:sp>
    </p:spTree>
    <p:extLst>
      <p:ext uri="{BB962C8B-B14F-4D97-AF65-F5344CB8AC3E}">
        <p14:creationId xmlns:p14="http://schemas.microsoft.com/office/powerpoint/2010/main" val="1374599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7C17E-118E-4BD7-956F-D432A617A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Law of Demeter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E434-41D9-48F0-ACD8-13F6B1925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“Each unit should have only limited knowledge about other units: only units “closely” related to the current unit. </a:t>
            </a:r>
            <a:r>
              <a:rPr lang="en-US" b="1" dirty="0"/>
              <a:t>Each unit should only talk to its friends</a:t>
            </a:r>
            <a:r>
              <a:rPr lang="en-US" dirty="0"/>
              <a:t>; don’t talk to strangers.”</a:t>
            </a:r>
          </a:p>
          <a:p>
            <a:r>
              <a:rPr lang="en-US" dirty="0"/>
              <a:t>Don’t have train wrecks like these:</a:t>
            </a:r>
          </a:p>
          <a:p>
            <a:endParaRPr lang="en-US" dirty="0"/>
          </a:p>
          <a:p>
            <a:pPr algn="ctr"/>
            <a:r>
              <a:rPr lang="en-US" dirty="0" err="1"/>
              <a:t>obj.getX</a:t>
            </a:r>
            <a:r>
              <a:rPr lang="en-US" dirty="0"/>
              <a:t>().</a:t>
            </a:r>
            <a:r>
              <a:rPr lang="en-US" dirty="0" err="1"/>
              <a:t>getY</a:t>
            </a:r>
            <a:r>
              <a:rPr lang="en-US" dirty="0"/>
              <a:t>().</a:t>
            </a:r>
            <a:r>
              <a:rPr lang="en-US" dirty="0" err="1"/>
              <a:t>getZ</a:t>
            </a:r>
            <a:r>
              <a:rPr lang="en-US" dirty="0"/>
              <a:t>().</a:t>
            </a:r>
            <a:r>
              <a:rPr lang="en-US" dirty="0" err="1"/>
              <a:t>doSomething</a:t>
            </a:r>
            <a:r>
              <a:rPr lang="en-US" dirty="0"/>
              <a:t>();</a:t>
            </a:r>
          </a:p>
          <a:p>
            <a:pPr algn="ctr"/>
            <a:r>
              <a:rPr lang="en-US" dirty="0"/>
              <a:t>Or</a:t>
            </a:r>
          </a:p>
          <a:p>
            <a:pPr algn="ctr"/>
            <a:r>
              <a:rPr lang="en-US" dirty="0" err="1"/>
              <a:t>MyCharacterUI.GetCharacterData</a:t>
            </a:r>
            <a:r>
              <a:rPr lang="en-US" dirty="0"/>
              <a:t>().</a:t>
            </a:r>
            <a:r>
              <a:rPr lang="en-US" dirty="0" err="1"/>
              <a:t>CreateCharacter</a:t>
            </a:r>
            <a:r>
              <a:rPr lang="en-US" dirty="0"/>
              <a:t>().Save()</a:t>
            </a:r>
          </a:p>
          <a:p>
            <a:pPr algn="ctr"/>
            <a:endParaRPr lang="en-US" dirty="0"/>
          </a:p>
          <a:p>
            <a:r>
              <a:rPr lang="en-US" dirty="0"/>
              <a:t>Poor Demeter is often forgotten, some people even call it “Suggestion of Demeter” since this is difficult to avoid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067653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7C17E-118E-4BD7-956F-D432A617A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Law of Demeter – Example Code</a:t>
            </a:r>
            <a:endParaRPr lang="en-CA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727BFFD-0136-4DE6-A072-DD0D39D046D4}"/>
              </a:ext>
            </a:extLst>
          </p:cNvPr>
          <p:cNvSpPr txBox="1">
            <a:spLocks/>
          </p:cNvSpPr>
          <p:nvPr/>
        </p:nvSpPr>
        <p:spPr>
          <a:xfrm>
            <a:off x="537881" y="1780418"/>
            <a:ext cx="11523489" cy="1331359"/>
          </a:xfrm>
          <a:prstGeom prst="rect">
            <a:avLst/>
          </a:prstGeom>
        </p:spPr>
        <p:txBody>
          <a:bodyPr vert="horz" lIns="0" tIns="45720" rIns="0" bIns="45720" rtlCol="0">
            <a:normAutofit fontScale="925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n-US" altLang="en-US" sz="19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1900" dirty="0">
                <a:solidFill>
                  <a:srgbClr val="000000"/>
                </a:solidFill>
                <a:latin typeface="Arial Unicode MS"/>
              </a:rPr>
              <a:t>game</a:t>
            </a:r>
            <a:r>
              <a:rPr lang="en-US" altLang="en-US" sz="1900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sz="19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900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1900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1900" dirty="0" err="1">
                <a:solidFill>
                  <a:srgbClr val="00627A"/>
                </a:solidFill>
                <a:latin typeface="Arial Unicode MS"/>
              </a:rPr>
              <a:t>create_character</a:t>
            </a:r>
            <a:r>
              <a:rPr lang="en-US" altLang="en-US" sz="19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900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9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9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9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900" dirty="0" err="1">
                <a:solidFill>
                  <a:srgbClr val="080808"/>
                </a:solidFill>
                <a:latin typeface="Arial Unicode MS"/>
              </a:rPr>
              <a:t>self._</a:t>
            </a:r>
            <a:r>
              <a:rPr lang="en-US" altLang="en-US" sz="1900" dirty="0" err="1">
                <a:solidFill>
                  <a:srgbClr val="808080"/>
                </a:solidFill>
                <a:latin typeface="Arial Unicode MS"/>
              </a:rPr>
              <a:t>data</a:t>
            </a:r>
            <a:r>
              <a:rPr lang="en-US" altLang="en-US" sz="1900" dirty="0">
                <a:solidFill>
                  <a:srgbClr val="808080"/>
                </a:solidFill>
                <a:latin typeface="Arial Unicode MS"/>
              </a:rPr>
              <a:t> </a:t>
            </a:r>
            <a:r>
              <a:rPr lang="en-US" altLang="en-US" sz="1900" dirty="0">
                <a:solidFill>
                  <a:srgbClr val="080808"/>
                </a:solidFill>
                <a:latin typeface="Arial Unicode MS"/>
              </a:rPr>
              <a:t>= </a:t>
            </a:r>
            <a:r>
              <a:rPr lang="en-US" altLang="en-US" sz="1900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900" dirty="0" err="1">
                <a:solidFill>
                  <a:srgbClr val="080808"/>
                </a:solidFill>
                <a:latin typeface="Arial Unicode MS"/>
              </a:rPr>
              <a:t>.character_ui.get_character_creator</a:t>
            </a:r>
            <a:r>
              <a:rPr lang="en-US" altLang="en-US" sz="1900" dirty="0">
                <a:solidFill>
                  <a:srgbClr val="080808"/>
                </a:solidFill>
                <a:latin typeface="Arial Unicode MS"/>
              </a:rPr>
              <a:t>().save(</a:t>
            </a:r>
            <a:r>
              <a:rPr lang="en-US" altLang="en-US" sz="1900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900" dirty="0" err="1">
                <a:solidFill>
                  <a:srgbClr val="080808"/>
                </a:solidFill>
                <a:latin typeface="Arial Unicode MS"/>
              </a:rPr>
              <a:t>.character_ui.get_character_creator</a:t>
            </a:r>
            <a:r>
              <a:rPr lang="en-US" altLang="en-US" sz="1900" dirty="0">
                <a:solidFill>
                  <a:srgbClr val="080808"/>
                </a:solidFill>
                <a:latin typeface="Arial Unicode MS"/>
              </a:rPr>
              <a:t>().</a:t>
            </a:r>
            <a:r>
              <a:rPr lang="en-US" altLang="en-US" sz="1900" dirty="0" err="1">
                <a:solidFill>
                  <a:srgbClr val="080808"/>
                </a:solidFill>
                <a:latin typeface="Arial Unicode MS"/>
              </a:rPr>
              <a:t>create_character</a:t>
            </a:r>
            <a:r>
              <a:rPr lang="en-US" altLang="en-US" sz="1900" dirty="0">
                <a:solidFill>
                  <a:srgbClr val="080808"/>
                </a:solidFill>
                <a:latin typeface="Arial Unicode MS"/>
              </a:rPr>
              <a:t>())</a:t>
            </a:r>
            <a:endParaRPr lang="en-US" altLang="en-US" sz="19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CA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D5FE4F-B61A-4990-A083-7C2AE910EB62}"/>
              </a:ext>
            </a:extLst>
          </p:cNvPr>
          <p:cNvSpPr txBox="1">
            <a:spLocks/>
          </p:cNvSpPr>
          <p:nvPr/>
        </p:nvSpPr>
        <p:spPr>
          <a:xfrm>
            <a:off x="130629" y="3429000"/>
            <a:ext cx="6847113" cy="2360464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This code tries to create a character and save it</a:t>
            </a:r>
          </a:p>
          <a:p>
            <a:r>
              <a:rPr lang="en-CA" dirty="0"/>
              <a:t>This is obviously </a:t>
            </a:r>
            <a:r>
              <a:rPr lang="en-CA" b="1" dirty="0"/>
              <a:t>bad</a:t>
            </a:r>
            <a:r>
              <a:rPr lang="en-CA" dirty="0"/>
              <a:t> and </a:t>
            </a:r>
            <a:r>
              <a:rPr lang="en-CA" b="1" dirty="0"/>
              <a:t>hard to read</a:t>
            </a:r>
            <a:r>
              <a:rPr lang="en-CA" dirty="0"/>
              <a:t> code</a:t>
            </a:r>
          </a:p>
          <a:p>
            <a:r>
              <a:rPr lang="en-CA" dirty="0"/>
              <a:t>I also had a hard time getting the lines to fit in </a:t>
            </a:r>
            <a:r>
              <a:rPr lang="en-CA" dirty="0" err="1"/>
              <a:t>powerpoint</a:t>
            </a:r>
            <a:r>
              <a:rPr lang="en-CA" dirty="0"/>
              <a:t>. Bad for many reasons</a:t>
            </a:r>
          </a:p>
          <a:p>
            <a:r>
              <a:rPr lang="en-CA" dirty="0"/>
              <a:t>Any change in the save method, which is all the way in </a:t>
            </a:r>
            <a:r>
              <a:rPr lang="en-CA" dirty="0" err="1"/>
              <a:t>SaveWriter</a:t>
            </a:r>
            <a:r>
              <a:rPr lang="en-CA" dirty="0"/>
              <a:t>, could have a ripple effect of changes all the way to our game class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5CBC12-551D-42F6-B756-E572E13EA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684" y="3017365"/>
            <a:ext cx="4691744" cy="384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59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7C17E-118E-4BD7-956F-D432A617A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84"/>
            <a:ext cx="10515600" cy="1325563"/>
          </a:xfrm>
        </p:spPr>
        <p:txBody>
          <a:bodyPr/>
          <a:lstStyle/>
          <a:p>
            <a:r>
              <a:rPr lang="en-US" dirty="0"/>
              <a:t>Law of Demeter – Example Code</a:t>
            </a:r>
            <a:endParaRPr lang="en-C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21604B-A48B-4C64-B447-5F4612F640CE}"/>
              </a:ext>
            </a:extLst>
          </p:cNvPr>
          <p:cNvSpPr/>
          <p:nvPr/>
        </p:nvSpPr>
        <p:spPr>
          <a:xfrm>
            <a:off x="458754" y="1797831"/>
            <a:ext cx="1127449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100" dirty="0"/>
              <a:t>Part of the solution is to restructure the system by swapping </a:t>
            </a:r>
            <a:r>
              <a:rPr lang="en-CA" sz="2100" dirty="0">
                <a:solidFill>
                  <a:srgbClr val="0070C0"/>
                </a:solidFill>
              </a:rPr>
              <a:t>Game</a:t>
            </a:r>
            <a:r>
              <a:rPr lang="en-CA" sz="2100" dirty="0"/>
              <a:t> and </a:t>
            </a:r>
            <a:r>
              <a:rPr lang="en-CA" sz="2100" dirty="0" err="1">
                <a:solidFill>
                  <a:srgbClr val="FF0000"/>
                </a:solidFill>
              </a:rPr>
              <a:t>CharacterCreationUI</a:t>
            </a:r>
            <a:endParaRPr lang="en-CA" sz="21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100" dirty="0"/>
              <a:t>Therefore </a:t>
            </a:r>
            <a:r>
              <a:rPr lang="en-CA" sz="2100" dirty="0">
                <a:solidFill>
                  <a:srgbClr val="0070C0"/>
                </a:solidFill>
              </a:rPr>
              <a:t>Game</a:t>
            </a:r>
            <a:r>
              <a:rPr lang="en-CA" sz="2100" dirty="0"/>
              <a:t> does not need to </a:t>
            </a:r>
            <a:r>
              <a:rPr lang="en-CA" sz="2100" i="1" dirty="0"/>
              <a:t>reach through </a:t>
            </a:r>
            <a:r>
              <a:rPr lang="en-CA" sz="2100" dirty="0" err="1">
                <a:solidFill>
                  <a:srgbClr val="FF0000"/>
                </a:solidFill>
              </a:rPr>
              <a:t>CharacterCreationUI</a:t>
            </a:r>
            <a:r>
              <a:rPr lang="en-CA" sz="2100" dirty="0"/>
              <a:t> to get </a:t>
            </a:r>
            <a:r>
              <a:rPr lang="en-CA" sz="2100" dirty="0" err="1">
                <a:solidFill>
                  <a:srgbClr val="FFC000"/>
                </a:solidFill>
              </a:rPr>
              <a:t>CharacterCreator</a:t>
            </a:r>
            <a:endParaRPr lang="en-CA" sz="2100" dirty="0">
              <a:solidFill>
                <a:srgbClr val="FFC000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4AD905C-51EF-4E2C-B76E-7DE974685BB4}"/>
              </a:ext>
            </a:extLst>
          </p:cNvPr>
          <p:cNvGrpSpPr/>
          <p:nvPr/>
        </p:nvGrpSpPr>
        <p:grpSpPr>
          <a:xfrm>
            <a:off x="785842" y="2697276"/>
            <a:ext cx="4922246" cy="4010711"/>
            <a:chOff x="794656" y="2760544"/>
            <a:chExt cx="4713516" cy="384063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8068661-72FB-4FB5-BD30-FA9157BB3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6428" y="2760544"/>
              <a:ext cx="4691744" cy="3840635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5F5221B-7893-44E6-BB5E-DEF98E651E32}"/>
                </a:ext>
              </a:extLst>
            </p:cNvPr>
            <p:cNvSpPr/>
            <p:nvPr/>
          </p:nvSpPr>
          <p:spPr>
            <a:xfrm>
              <a:off x="794656" y="2760544"/>
              <a:ext cx="1284514" cy="646331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88D36FE-481E-4ED3-B11F-A668F50527E1}"/>
                </a:ext>
              </a:extLst>
            </p:cNvPr>
            <p:cNvSpPr/>
            <p:nvPr/>
          </p:nvSpPr>
          <p:spPr>
            <a:xfrm>
              <a:off x="2938734" y="2760544"/>
              <a:ext cx="1284514" cy="646331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91894FD-C542-4BF2-8E3B-2B9D050F2A9E}"/>
                </a:ext>
              </a:extLst>
            </p:cNvPr>
            <p:cNvSpPr/>
            <p:nvPr/>
          </p:nvSpPr>
          <p:spPr>
            <a:xfrm>
              <a:off x="816428" y="4163888"/>
              <a:ext cx="1284514" cy="646331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6E59149-83D3-4A02-AE57-20FCD207F7F1}"/>
              </a:ext>
            </a:extLst>
          </p:cNvPr>
          <p:cNvGrpSpPr/>
          <p:nvPr/>
        </p:nvGrpSpPr>
        <p:grpSpPr>
          <a:xfrm>
            <a:off x="6566649" y="2697276"/>
            <a:ext cx="4787151" cy="4007889"/>
            <a:chOff x="6907935" y="2760543"/>
            <a:chExt cx="4587378" cy="384063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F015043-8E35-4AF8-A9B6-F3ACF92AF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930030" y="2760543"/>
              <a:ext cx="4565283" cy="3840635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F0BBA8-2E8A-4BCC-A967-F5F722F5B70E}"/>
                </a:ext>
              </a:extLst>
            </p:cNvPr>
            <p:cNvSpPr/>
            <p:nvPr/>
          </p:nvSpPr>
          <p:spPr>
            <a:xfrm>
              <a:off x="9125584" y="2760543"/>
              <a:ext cx="1211676" cy="646331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D8A1DBB-36E7-4C40-88E7-7310EF67EE2D}"/>
                </a:ext>
              </a:extLst>
            </p:cNvPr>
            <p:cNvSpPr/>
            <p:nvPr/>
          </p:nvSpPr>
          <p:spPr>
            <a:xfrm>
              <a:off x="6951802" y="2760543"/>
              <a:ext cx="1211676" cy="646331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1F600F5-F3D7-4B96-BB03-4FF536BA2813}"/>
                </a:ext>
              </a:extLst>
            </p:cNvPr>
            <p:cNvSpPr/>
            <p:nvPr/>
          </p:nvSpPr>
          <p:spPr>
            <a:xfrm>
              <a:off x="6907935" y="4222588"/>
              <a:ext cx="1284514" cy="646331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7209F00-3AA6-4FD9-BEE2-801E87F15F01}"/>
              </a:ext>
            </a:extLst>
          </p:cNvPr>
          <p:cNvSpPr/>
          <p:nvPr/>
        </p:nvSpPr>
        <p:spPr>
          <a:xfrm>
            <a:off x="5268044" y="4249705"/>
            <a:ext cx="914400" cy="452927"/>
          </a:xfrm>
          <a:prstGeom prst="rightArrow">
            <a:avLst/>
          </a:prstGeom>
          <a:solidFill>
            <a:srgbClr val="00B050">
              <a:alpha val="0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25172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7C17E-118E-4BD7-956F-D432A617A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Law of Demeter – Example Code - Solution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E434-41D9-48F0-ACD8-13F6B1925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274" y="2413517"/>
            <a:ext cx="4838329" cy="4375696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1800" dirty="0">
                <a:solidFill>
                  <a:srgbClr val="000000"/>
                </a:solidFill>
                <a:latin typeface="Arial Unicode MS"/>
              </a:rPr>
              <a:t>game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1800" dirty="0" err="1">
                <a:solidFill>
                  <a:srgbClr val="00627A"/>
                </a:solidFill>
                <a:latin typeface="Arial Unicode MS"/>
              </a:rPr>
              <a:t>create_character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data = </a:t>
            </a:r>
            <a:r>
              <a:rPr lang="en-US" altLang="en-US" sz="1800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.character_ui.get_data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()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.character_creator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    .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initiate_character_creation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(data)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1800" dirty="0" err="1">
                <a:solidFill>
                  <a:srgbClr val="000000"/>
                </a:solidFill>
                <a:latin typeface="Arial Unicode MS"/>
              </a:rPr>
              <a:t>CharacterCreationUI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1800" dirty="0" err="1">
                <a:solidFill>
                  <a:srgbClr val="00627A"/>
                </a:solidFill>
                <a:latin typeface="Arial Unicode MS"/>
              </a:rPr>
              <a:t>get_data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return </a:t>
            </a:r>
            <a:r>
              <a:rPr lang="en-US" altLang="en-US" sz="1800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.character_data</a:t>
            </a:r>
            <a:endParaRPr lang="en-US" altLang="en-US" sz="1800" dirty="0">
              <a:solidFill>
                <a:srgbClr val="080808"/>
              </a:solidFill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class </a:t>
            </a:r>
            <a:r>
              <a:rPr lang="en-US" altLang="en-US" sz="1800" dirty="0" err="1">
                <a:solidFill>
                  <a:srgbClr val="000000"/>
                </a:solidFill>
                <a:latin typeface="Arial Unicode MS"/>
              </a:rPr>
              <a:t>CharacterCreator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</a:t>
            </a:r>
            <a:r>
              <a:rPr lang="en-US" altLang="en-US" sz="1800" dirty="0">
                <a:solidFill>
                  <a:srgbClr val="0033B3"/>
                </a:solidFill>
                <a:latin typeface="Arial Unicode MS"/>
              </a:rPr>
              <a:t>def </a:t>
            </a:r>
            <a:r>
              <a:rPr lang="en-US" altLang="en-US" sz="1800" dirty="0" err="1">
                <a:solidFill>
                  <a:srgbClr val="00627A"/>
                </a:solidFill>
                <a:latin typeface="Arial Unicode MS"/>
              </a:rPr>
              <a:t>initiate_character_creation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, data):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 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my_char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= </a:t>
            </a:r>
            <a:r>
              <a:rPr lang="en-US" altLang="en-US" sz="1800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.create_character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(data)</a:t>
            </a:r>
            <a:br>
              <a:rPr lang="en-US" altLang="en-US" sz="1800" dirty="0">
                <a:solidFill>
                  <a:srgbClr val="080808"/>
                </a:solidFill>
                <a:latin typeface="Arial Unicode MS"/>
              </a:rPr>
            </a:b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         </a:t>
            </a:r>
            <a:r>
              <a:rPr lang="en-US" altLang="en-US" sz="1800" dirty="0" err="1">
                <a:solidFill>
                  <a:srgbClr val="94558D"/>
                </a:solidFill>
                <a:latin typeface="Arial Unicode MS"/>
              </a:rPr>
              <a:t>self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.save_manager.save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(</a:t>
            </a:r>
            <a:r>
              <a:rPr lang="en-US" altLang="en-US" sz="1800" dirty="0" err="1">
                <a:solidFill>
                  <a:srgbClr val="080808"/>
                </a:solidFill>
                <a:latin typeface="Arial Unicode MS"/>
              </a:rPr>
              <a:t>my_char</a:t>
            </a:r>
            <a:r>
              <a:rPr lang="en-US" altLang="en-US" sz="1800" dirty="0">
                <a:solidFill>
                  <a:srgbClr val="080808"/>
                </a:solidFill>
                <a:latin typeface="Arial Unicode MS"/>
              </a:rPr>
              <a:t>)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br>
              <a:rPr lang="en-CA" sz="1800" dirty="0"/>
            </a:br>
            <a:endParaRPr lang="en-CA" sz="1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00FD65-65CA-4E26-B06C-955624610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FEF27E-25C1-4A4A-AE1F-56077B64C50F}"/>
              </a:ext>
            </a:extLst>
          </p:cNvPr>
          <p:cNvGrpSpPr/>
          <p:nvPr/>
        </p:nvGrpSpPr>
        <p:grpSpPr>
          <a:xfrm>
            <a:off x="6363394" y="2469116"/>
            <a:ext cx="5111332" cy="4300010"/>
            <a:chOff x="6785390" y="2252280"/>
            <a:chExt cx="5111332" cy="430001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4E14F17-DC1B-432E-981B-BDA57176A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785390" y="2252280"/>
              <a:ext cx="5111332" cy="430001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AAFEB03-13D3-4088-8CE0-0691625C25D5}"/>
                </a:ext>
              </a:extLst>
            </p:cNvPr>
            <p:cNvSpPr/>
            <p:nvPr/>
          </p:nvSpPr>
          <p:spPr>
            <a:xfrm>
              <a:off x="9244523" y="2286476"/>
              <a:ext cx="1369048" cy="646331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71C9FB7-97F6-4D61-B885-FB50CAA29901}"/>
                </a:ext>
              </a:extLst>
            </p:cNvPr>
            <p:cNvSpPr/>
            <p:nvPr/>
          </p:nvSpPr>
          <p:spPr>
            <a:xfrm>
              <a:off x="6785390" y="2286475"/>
              <a:ext cx="1369048" cy="646331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D6A5096-105F-4E4C-8D87-7E5F5B6455F4}"/>
                </a:ext>
              </a:extLst>
            </p:cNvPr>
            <p:cNvSpPr/>
            <p:nvPr/>
          </p:nvSpPr>
          <p:spPr>
            <a:xfrm>
              <a:off x="6785390" y="3903423"/>
              <a:ext cx="1411313" cy="646331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635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0AF8946-105A-49F7-BF83-920C8774392C}"/>
              </a:ext>
            </a:extLst>
          </p:cNvPr>
          <p:cNvSpPr/>
          <p:nvPr/>
        </p:nvSpPr>
        <p:spPr>
          <a:xfrm>
            <a:off x="469807" y="1710365"/>
            <a:ext cx="1122126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100" b="1" dirty="0"/>
              <a:t>Restructure code so</a:t>
            </a:r>
            <a:r>
              <a:rPr lang="en-CA" sz="2100" dirty="0"/>
              <a:t> </a:t>
            </a:r>
            <a:r>
              <a:rPr lang="en-CA" sz="2100" b="1" dirty="0"/>
              <a:t>each class is responsible for their own data</a:t>
            </a:r>
            <a:r>
              <a:rPr lang="en-CA" sz="2100" dirty="0"/>
              <a:t>. This prevents classes reaching deeply through multiple classes</a:t>
            </a:r>
          </a:p>
        </p:txBody>
      </p:sp>
    </p:spTree>
    <p:extLst>
      <p:ext uri="{BB962C8B-B14F-4D97-AF65-F5344CB8AC3E}">
        <p14:creationId xmlns:p14="http://schemas.microsoft.com/office/powerpoint/2010/main" val="21341445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Function parameters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Pass by value? Pass by reference? Or something else???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3415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Pass by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546908"/>
          </a:xfrm>
        </p:spPr>
        <p:txBody>
          <a:bodyPr/>
          <a:lstStyle/>
          <a:p>
            <a:r>
              <a:rPr lang="en-CA" dirty="0"/>
              <a:t>Check out this code, and let’s assume it’s pass by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in_list.append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078532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[0]</a:t>
            </a:r>
          </a:p>
        </p:txBody>
      </p:sp>
      <p:sp>
        <p:nvSpPr>
          <p:cNvPr id="9" name="Rectangle 8"/>
          <p:cNvSpPr/>
          <p:nvPr/>
        </p:nvSpPr>
        <p:spPr>
          <a:xfrm>
            <a:off x="7012239" y="3946913"/>
            <a:ext cx="116531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out_list</a:t>
            </a:r>
            <a:endParaRPr lang="en-CA" sz="2500" dirty="0"/>
          </a:p>
        </p:txBody>
      </p:sp>
      <p:sp>
        <p:nvSpPr>
          <p:cNvPr id="10" name="Rectangle 9"/>
          <p:cNvSpPr/>
          <p:nvPr/>
        </p:nvSpPr>
        <p:spPr>
          <a:xfrm>
            <a:off x="1097280" y="4786209"/>
            <a:ext cx="10115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/>
              <a:t>A new object is created in memory, and the variable </a:t>
            </a:r>
            <a:r>
              <a:rPr lang="en-CA" dirty="0" err="1"/>
              <a:t>out_list</a:t>
            </a:r>
            <a:r>
              <a:rPr lang="en-CA" dirty="0"/>
              <a:t> is assigned to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21923" y="5971148"/>
            <a:ext cx="85093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>
                <a:hlinkClick r:id="rId2"/>
              </a:rPr>
              <a:t>http://stupidpythonideas.blogspot.com/2013/11/does-python-pass-by-value-or-by.html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8598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Pass by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546908"/>
          </a:xfrm>
        </p:spPr>
        <p:txBody>
          <a:bodyPr/>
          <a:lstStyle/>
          <a:p>
            <a:r>
              <a:rPr lang="en-CA" dirty="0"/>
              <a:t>Check out this code, and let’s assume it’s pass by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in_list.append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0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[0]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4507" y="3946913"/>
            <a:ext cx="116531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out_list</a:t>
            </a:r>
            <a:endParaRPr lang="en-CA" sz="2500" dirty="0"/>
          </a:p>
        </p:txBody>
      </p:sp>
      <p:sp>
        <p:nvSpPr>
          <p:cNvPr id="10" name="Rectangle 9"/>
          <p:cNvSpPr/>
          <p:nvPr/>
        </p:nvSpPr>
        <p:spPr>
          <a:xfrm>
            <a:off x="9156551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[0]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91247" y="3946913"/>
            <a:ext cx="96334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in_list</a:t>
            </a:r>
            <a:endParaRPr lang="en-CA" sz="2500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7121562" y="3442447"/>
            <a:ext cx="2355925" cy="10758"/>
          </a:xfrm>
          <a:prstGeom prst="straightConnector1">
            <a:avLst/>
          </a:prstGeom>
          <a:ln w="635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917848" y="3532404"/>
            <a:ext cx="837152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A" sz="2500" dirty="0">
                <a:solidFill>
                  <a:srgbClr val="00B050"/>
                </a:solidFill>
              </a:rPr>
              <a:t>Copy</a:t>
            </a:r>
          </a:p>
          <a:p>
            <a:pPr algn="ctr"/>
            <a:r>
              <a:rPr lang="en-CA" sz="2500" dirty="0">
                <a:solidFill>
                  <a:srgbClr val="00B050"/>
                </a:solidFill>
              </a:rPr>
              <a:t>[0]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786209"/>
            <a:ext cx="101152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 err="1"/>
              <a:t>in_list</a:t>
            </a:r>
            <a:r>
              <a:rPr lang="en-CA" dirty="0"/>
              <a:t> is a new parameter. A new piece of memory is created and a copy of [0] is placed into the memory of </a:t>
            </a:r>
            <a:r>
              <a:rPr lang="en-CA" dirty="0" err="1"/>
              <a:t>in_list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806124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Pass by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546908"/>
          </a:xfrm>
        </p:spPr>
        <p:txBody>
          <a:bodyPr/>
          <a:lstStyle/>
          <a:p>
            <a:r>
              <a:rPr lang="en-CA" dirty="0"/>
              <a:t>Check out this code, and let’s assume it’s pass by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in_list.append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0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[0]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56550" y="2946452"/>
            <a:ext cx="1203063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[0, </a:t>
            </a:r>
            <a:r>
              <a:rPr lang="en-CA" sz="3500" dirty="0">
                <a:solidFill>
                  <a:srgbClr val="00B050"/>
                </a:solidFill>
              </a:rPr>
              <a:t>1</a:t>
            </a:r>
            <a:r>
              <a:rPr lang="en-CA" sz="3500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76410" y="3946913"/>
            <a:ext cx="96334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in_list</a:t>
            </a:r>
            <a:endParaRPr lang="en-CA" sz="2500" dirty="0"/>
          </a:p>
        </p:txBody>
      </p:sp>
      <p:sp>
        <p:nvSpPr>
          <p:cNvPr id="13" name="Rectangle 12"/>
          <p:cNvSpPr/>
          <p:nvPr/>
        </p:nvSpPr>
        <p:spPr>
          <a:xfrm>
            <a:off x="1097280" y="4786209"/>
            <a:ext cx="10115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 err="1"/>
              <a:t>in_list</a:t>
            </a:r>
            <a:r>
              <a:rPr lang="en-CA" dirty="0"/>
              <a:t> has the value 1 appended to it. This does not change the original </a:t>
            </a:r>
            <a:r>
              <a:rPr lang="en-CA" dirty="0" err="1"/>
              <a:t>out_list</a:t>
            </a:r>
            <a:r>
              <a:rPr lang="en-CA" dirty="0"/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2C6AE4-AE68-41F2-83C9-5C7B34058382}"/>
              </a:ext>
            </a:extLst>
          </p:cNvPr>
          <p:cNvSpPr/>
          <p:nvPr/>
        </p:nvSpPr>
        <p:spPr>
          <a:xfrm>
            <a:off x="6334507" y="3946913"/>
            <a:ext cx="116531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out_list</a:t>
            </a:r>
            <a:endParaRPr lang="en-CA" sz="2500" dirty="0"/>
          </a:p>
        </p:txBody>
      </p:sp>
    </p:spTree>
    <p:extLst>
      <p:ext uri="{BB962C8B-B14F-4D97-AF65-F5344CB8AC3E}">
        <p14:creationId xmlns:p14="http://schemas.microsoft.com/office/powerpoint/2010/main" val="41678626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Pass by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546908"/>
          </a:xfrm>
        </p:spPr>
        <p:txBody>
          <a:bodyPr/>
          <a:lstStyle/>
          <a:p>
            <a:r>
              <a:rPr lang="en-CA" dirty="0"/>
              <a:t>Check out this code, and let’s assume it’s pass by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in_list.append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0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[0]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56550" y="2946452"/>
            <a:ext cx="1203063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</a:t>
            </a:r>
            <a:r>
              <a:rPr lang="en-CA" sz="3500" dirty="0">
                <a:solidFill>
                  <a:srgbClr val="00B050"/>
                </a:solidFill>
              </a:rPr>
              <a:t>2</a:t>
            </a:r>
            <a:r>
              <a:rPr lang="en-CA" sz="3500" dirty="0">
                <a:solidFill>
                  <a:schemeClr val="tx1"/>
                </a:solidFill>
              </a:rPr>
              <a:t>, </a:t>
            </a:r>
            <a:r>
              <a:rPr lang="en-CA" sz="3500" dirty="0">
                <a:solidFill>
                  <a:srgbClr val="00B050"/>
                </a:solidFill>
              </a:rPr>
              <a:t>3</a:t>
            </a:r>
            <a:r>
              <a:rPr lang="en-CA" sz="3500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91242" y="3946913"/>
            <a:ext cx="96334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in_list</a:t>
            </a:r>
            <a:endParaRPr lang="en-CA" sz="2500" dirty="0"/>
          </a:p>
        </p:txBody>
      </p:sp>
      <p:sp>
        <p:nvSpPr>
          <p:cNvPr id="13" name="Rectangle 12"/>
          <p:cNvSpPr/>
          <p:nvPr/>
        </p:nvSpPr>
        <p:spPr>
          <a:xfrm>
            <a:off x="1097280" y="4786209"/>
            <a:ext cx="10115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 err="1"/>
              <a:t>in_list</a:t>
            </a:r>
            <a:r>
              <a:rPr lang="en-CA" dirty="0"/>
              <a:t> has now changed its value to [2,3]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C51561-060D-4585-8157-A3F94DE45CF3}"/>
              </a:ext>
            </a:extLst>
          </p:cNvPr>
          <p:cNvSpPr/>
          <p:nvPr/>
        </p:nvSpPr>
        <p:spPr>
          <a:xfrm>
            <a:off x="6334507" y="3946913"/>
            <a:ext cx="116531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out_list</a:t>
            </a:r>
            <a:endParaRPr lang="en-CA" sz="2500" dirty="0"/>
          </a:p>
        </p:txBody>
      </p:sp>
    </p:spTree>
    <p:extLst>
      <p:ext uri="{BB962C8B-B14F-4D97-AF65-F5344CB8AC3E}">
        <p14:creationId xmlns:p14="http://schemas.microsoft.com/office/powerpoint/2010/main" val="36695701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Pass by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546908"/>
          </a:xfrm>
        </p:spPr>
        <p:txBody>
          <a:bodyPr/>
          <a:lstStyle/>
          <a:p>
            <a:r>
              <a:rPr lang="en-CA" dirty="0"/>
              <a:t>Check out this code, and let’s assume it’s pass by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in_list.append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0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[0]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56550" y="2946452"/>
            <a:ext cx="1203063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[2, 3]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91242" y="3946913"/>
            <a:ext cx="96334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in_list</a:t>
            </a:r>
            <a:endParaRPr lang="en-CA" sz="2500" dirty="0"/>
          </a:p>
        </p:txBody>
      </p:sp>
      <p:sp>
        <p:nvSpPr>
          <p:cNvPr id="13" name="Rectangle 12"/>
          <p:cNvSpPr/>
          <p:nvPr/>
        </p:nvSpPr>
        <p:spPr>
          <a:xfrm>
            <a:off x="1097280" y="4786209"/>
            <a:ext cx="10115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/>
              <a:t>When we print </a:t>
            </a:r>
            <a:r>
              <a:rPr lang="en-CA" dirty="0" err="1"/>
              <a:t>out_list</a:t>
            </a:r>
            <a:r>
              <a:rPr lang="en-CA" dirty="0"/>
              <a:t>, its value still remains as [0]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B18012-A0B9-4454-B6D7-8392C3ACF65D}"/>
              </a:ext>
            </a:extLst>
          </p:cNvPr>
          <p:cNvSpPr/>
          <p:nvPr/>
        </p:nvSpPr>
        <p:spPr>
          <a:xfrm>
            <a:off x="6334507" y="3946913"/>
            <a:ext cx="116531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out_list</a:t>
            </a:r>
            <a:endParaRPr lang="en-CA" sz="2500" dirty="0"/>
          </a:p>
        </p:txBody>
      </p:sp>
    </p:spTree>
    <p:extLst>
      <p:ext uri="{BB962C8B-B14F-4D97-AF65-F5344CB8AC3E}">
        <p14:creationId xmlns:p14="http://schemas.microsoft.com/office/powerpoint/2010/main" val="3410047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Pass by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546908"/>
          </a:xfrm>
        </p:spPr>
        <p:txBody>
          <a:bodyPr/>
          <a:lstStyle/>
          <a:p>
            <a:r>
              <a:rPr lang="en-CA" dirty="0"/>
              <a:t>Check out this code, and let’s assume it’s pass by reference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in_list.append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97280" y="4786209"/>
            <a:ext cx="10115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/>
              <a:t>A new object is created in memory, and the variable </a:t>
            </a:r>
            <a:r>
              <a:rPr lang="en-CA" dirty="0" err="1"/>
              <a:t>out_list</a:t>
            </a:r>
            <a:r>
              <a:rPr lang="en-CA" dirty="0"/>
              <a:t> is assigned to 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625AD5-812D-4DE1-8C5E-1692EB8B38A5}"/>
              </a:ext>
            </a:extLst>
          </p:cNvPr>
          <p:cNvSpPr/>
          <p:nvPr/>
        </p:nvSpPr>
        <p:spPr>
          <a:xfrm>
            <a:off x="6400800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[0]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01E3E8-22C6-4C68-8B9E-2DC81A3060D1}"/>
              </a:ext>
            </a:extLst>
          </p:cNvPr>
          <p:cNvSpPr/>
          <p:nvPr/>
        </p:nvSpPr>
        <p:spPr>
          <a:xfrm>
            <a:off x="6331305" y="3946913"/>
            <a:ext cx="116531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out_list</a:t>
            </a:r>
            <a:endParaRPr lang="en-CA" sz="2500" dirty="0"/>
          </a:p>
        </p:txBody>
      </p:sp>
    </p:spTree>
    <p:extLst>
      <p:ext uri="{BB962C8B-B14F-4D97-AF65-F5344CB8AC3E}">
        <p14:creationId xmlns:p14="http://schemas.microsoft.com/office/powerpoint/2010/main" val="41393676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Pass by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546908"/>
          </a:xfrm>
        </p:spPr>
        <p:txBody>
          <a:bodyPr/>
          <a:lstStyle/>
          <a:p>
            <a:r>
              <a:rPr lang="en-CA" dirty="0"/>
              <a:t>Check out this code, and let’s assume it’s pass by reference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in_list.append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0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[0]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1305" y="3946913"/>
            <a:ext cx="116531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out_list</a:t>
            </a:r>
            <a:endParaRPr lang="en-CA" sz="2500" dirty="0"/>
          </a:p>
        </p:txBody>
      </p:sp>
      <p:sp>
        <p:nvSpPr>
          <p:cNvPr id="11" name="Rectangle 10"/>
          <p:cNvSpPr/>
          <p:nvPr/>
        </p:nvSpPr>
        <p:spPr>
          <a:xfrm>
            <a:off x="6432293" y="4222008"/>
            <a:ext cx="96334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in_list</a:t>
            </a:r>
            <a:endParaRPr lang="en-CA" sz="2500" dirty="0"/>
          </a:p>
        </p:txBody>
      </p:sp>
      <p:sp>
        <p:nvSpPr>
          <p:cNvPr id="13" name="Rectangle 12"/>
          <p:cNvSpPr/>
          <p:nvPr/>
        </p:nvSpPr>
        <p:spPr>
          <a:xfrm>
            <a:off x="1097280" y="4786209"/>
            <a:ext cx="101152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 err="1"/>
              <a:t>in_list</a:t>
            </a:r>
            <a:r>
              <a:rPr lang="en-CA" dirty="0"/>
              <a:t> is a reference to </a:t>
            </a:r>
            <a:r>
              <a:rPr lang="en-CA" dirty="0" err="1"/>
              <a:t>out_list</a:t>
            </a:r>
            <a:r>
              <a:rPr lang="en-CA" dirty="0"/>
              <a:t>. </a:t>
            </a:r>
            <a:r>
              <a:rPr lang="en-CA" dirty="0" err="1"/>
              <a:t>in_list</a:t>
            </a:r>
            <a:r>
              <a:rPr lang="en-CA" dirty="0"/>
              <a:t> and </a:t>
            </a:r>
            <a:r>
              <a:rPr lang="en-CA" dirty="0" err="1"/>
              <a:t>out_list</a:t>
            </a:r>
            <a:r>
              <a:rPr lang="en-CA" dirty="0"/>
              <a:t> are both referencing the same object in memory. There is NO COPYING</a:t>
            </a:r>
          </a:p>
        </p:txBody>
      </p:sp>
    </p:spTree>
    <p:extLst>
      <p:ext uri="{BB962C8B-B14F-4D97-AF65-F5344CB8AC3E}">
        <p14:creationId xmlns:p14="http://schemas.microsoft.com/office/powerpoint/2010/main" val="40121554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Pass by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546908"/>
          </a:xfrm>
        </p:spPr>
        <p:txBody>
          <a:bodyPr/>
          <a:lstStyle/>
          <a:p>
            <a:r>
              <a:rPr lang="en-CA" dirty="0"/>
              <a:t>Check out this code, and let’s assume it’s pass by reference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in_list.append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97280" y="4786209"/>
            <a:ext cx="10115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 err="1"/>
              <a:t>in_list</a:t>
            </a:r>
            <a:r>
              <a:rPr lang="en-CA" dirty="0"/>
              <a:t> has the value 1 appended to it. This changes the original value </a:t>
            </a:r>
            <a:r>
              <a:rPr lang="en-CA" dirty="0" err="1"/>
              <a:t>out_list</a:t>
            </a:r>
            <a:r>
              <a:rPr lang="en-CA" dirty="0"/>
              <a:t> is assigned 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[0,</a:t>
            </a:r>
            <a:r>
              <a:rPr lang="en-CA" sz="3500" dirty="0">
                <a:solidFill>
                  <a:srgbClr val="00B050"/>
                </a:solidFill>
              </a:rPr>
              <a:t>1</a:t>
            </a:r>
            <a:r>
              <a:rPr lang="en-CA" sz="3500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E12261-1ABA-4826-8C4B-4465B11AC4BD}"/>
              </a:ext>
            </a:extLst>
          </p:cNvPr>
          <p:cNvSpPr/>
          <p:nvPr/>
        </p:nvSpPr>
        <p:spPr>
          <a:xfrm>
            <a:off x="6331305" y="3946913"/>
            <a:ext cx="116531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out_list</a:t>
            </a:r>
            <a:endParaRPr lang="en-CA" sz="25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6652DD-EAE0-4A8E-BF43-E4FEA6235AB8}"/>
              </a:ext>
            </a:extLst>
          </p:cNvPr>
          <p:cNvSpPr/>
          <p:nvPr/>
        </p:nvSpPr>
        <p:spPr>
          <a:xfrm>
            <a:off x="6432293" y="4222008"/>
            <a:ext cx="96334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in_list</a:t>
            </a:r>
            <a:endParaRPr lang="en-CA" sz="2500" dirty="0"/>
          </a:p>
        </p:txBody>
      </p:sp>
    </p:spTree>
    <p:extLst>
      <p:ext uri="{BB962C8B-B14F-4D97-AF65-F5344CB8AC3E}">
        <p14:creationId xmlns:p14="http://schemas.microsoft.com/office/powerpoint/2010/main" val="20851594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Pass by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546908"/>
          </a:xfrm>
        </p:spPr>
        <p:txBody>
          <a:bodyPr/>
          <a:lstStyle/>
          <a:p>
            <a:r>
              <a:rPr lang="en-CA" dirty="0"/>
              <a:t>Check out this code, and let’s assume it’s pass by reference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in_list.append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97280" y="4786209"/>
            <a:ext cx="101152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 err="1"/>
              <a:t>in_list</a:t>
            </a:r>
            <a:r>
              <a:rPr lang="en-CA" dirty="0"/>
              <a:t> has now changed its value to [2,3]. Again this changes the original value </a:t>
            </a:r>
            <a:r>
              <a:rPr lang="en-CA" dirty="0" err="1"/>
              <a:t>out_list</a:t>
            </a:r>
            <a:r>
              <a:rPr lang="en-CA" dirty="0"/>
              <a:t> is assigned to</a:t>
            </a:r>
          </a:p>
          <a:p>
            <a:endParaRPr lang="en-CA" dirty="0"/>
          </a:p>
        </p:txBody>
      </p:sp>
      <p:sp>
        <p:nvSpPr>
          <p:cNvPr id="12" name="Rectangle 11"/>
          <p:cNvSpPr/>
          <p:nvPr/>
        </p:nvSpPr>
        <p:spPr>
          <a:xfrm>
            <a:off x="6400800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</a:t>
            </a:r>
            <a:r>
              <a:rPr lang="en-CA" sz="3500" dirty="0">
                <a:solidFill>
                  <a:srgbClr val="00B050"/>
                </a:solidFill>
              </a:rPr>
              <a:t>2,3</a:t>
            </a:r>
            <a:r>
              <a:rPr lang="en-CA" sz="3500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71E31F-548C-45F6-AE35-AF3AF76ADA33}"/>
              </a:ext>
            </a:extLst>
          </p:cNvPr>
          <p:cNvSpPr/>
          <p:nvPr/>
        </p:nvSpPr>
        <p:spPr>
          <a:xfrm>
            <a:off x="6331305" y="3946913"/>
            <a:ext cx="116531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out_list</a:t>
            </a:r>
            <a:endParaRPr lang="en-CA" sz="25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AF0F12-0DDC-44BF-9C4D-186AFCC0FBD1}"/>
              </a:ext>
            </a:extLst>
          </p:cNvPr>
          <p:cNvSpPr/>
          <p:nvPr/>
        </p:nvSpPr>
        <p:spPr>
          <a:xfrm>
            <a:off x="6432293" y="4222008"/>
            <a:ext cx="96334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in_list</a:t>
            </a:r>
            <a:endParaRPr lang="en-CA" sz="2500" dirty="0"/>
          </a:p>
        </p:txBody>
      </p:sp>
    </p:spTree>
    <p:extLst>
      <p:ext uri="{BB962C8B-B14F-4D97-AF65-F5344CB8AC3E}">
        <p14:creationId xmlns:p14="http://schemas.microsoft.com/office/powerpoint/2010/main" val="27494350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Pass by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546908"/>
          </a:xfrm>
        </p:spPr>
        <p:txBody>
          <a:bodyPr/>
          <a:lstStyle/>
          <a:p>
            <a:r>
              <a:rPr lang="en-CA" dirty="0"/>
              <a:t>Check out this code, and let’s assume it’s pass by reference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in_list.append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97280" y="4786209"/>
            <a:ext cx="101152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/>
              <a:t>When we print </a:t>
            </a:r>
            <a:r>
              <a:rPr lang="en-CA" dirty="0" err="1"/>
              <a:t>out_list</a:t>
            </a:r>
            <a:r>
              <a:rPr lang="en-CA" dirty="0"/>
              <a:t>, its value was changed within the function to [2,3]. These changes are reflected even outside the function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[2,3]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1C6DD3-95CE-4AE4-863F-05479437F2E1}"/>
              </a:ext>
            </a:extLst>
          </p:cNvPr>
          <p:cNvSpPr/>
          <p:nvPr/>
        </p:nvSpPr>
        <p:spPr>
          <a:xfrm>
            <a:off x="6331305" y="3946913"/>
            <a:ext cx="116531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out_list</a:t>
            </a:r>
            <a:endParaRPr lang="en-CA" sz="25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E8BAD3-DA38-432A-B6FC-EF2496EF408E}"/>
              </a:ext>
            </a:extLst>
          </p:cNvPr>
          <p:cNvSpPr/>
          <p:nvPr/>
        </p:nvSpPr>
        <p:spPr>
          <a:xfrm>
            <a:off x="6432293" y="4222008"/>
            <a:ext cx="96334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in_list</a:t>
            </a:r>
            <a:endParaRPr lang="en-CA" sz="2500" dirty="0"/>
          </a:p>
        </p:txBody>
      </p:sp>
    </p:spTree>
    <p:extLst>
      <p:ext uri="{BB962C8B-B14F-4D97-AF65-F5344CB8AC3E}">
        <p14:creationId xmlns:p14="http://schemas.microsoft.com/office/powerpoint/2010/main" val="42594513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Python - Pass by ???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in_list.append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97280" y="4786209"/>
            <a:ext cx="10115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/>
              <a:t>A new object is created in memory, and the variable </a:t>
            </a:r>
            <a:r>
              <a:rPr lang="en-CA" dirty="0" err="1"/>
              <a:t>out_list</a:t>
            </a:r>
            <a:r>
              <a:rPr lang="en-CA" dirty="0"/>
              <a:t> is assigned to 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D4B88C-7ABE-4A3C-BFE3-E01640080B11}"/>
              </a:ext>
            </a:extLst>
          </p:cNvPr>
          <p:cNvSpPr/>
          <p:nvPr/>
        </p:nvSpPr>
        <p:spPr>
          <a:xfrm>
            <a:off x="6400800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[0]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617F15-C6D5-4B7A-A448-B57E52AEFABB}"/>
              </a:ext>
            </a:extLst>
          </p:cNvPr>
          <p:cNvSpPr/>
          <p:nvPr/>
        </p:nvSpPr>
        <p:spPr>
          <a:xfrm>
            <a:off x="6334506" y="3946913"/>
            <a:ext cx="116531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out_list</a:t>
            </a:r>
            <a:endParaRPr lang="en-CA" sz="2500" dirty="0"/>
          </a:p>
        </p:txBody>
      </p:sp>
    </p:spTree>
    <p:extLst>
      <p:ext uri="{BB962C8B-B14F-4D97-AF65-F5344CB8AC3E}">
        <p14:creationId xmlns:p14="http://schemas.microsoft.com/office/powerpoint/2010/main" val="37498228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Python - </a:t>
            </a:r>
            <a:r>
              <a:rPr lang="en-CA" dirty="0"/>
              <a:t>Pass by </a:t>
            </a:r>
            <a:r>
              <a:rPr lang="en-CA" b="1" dirty="0"/>
              <a:t>???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in_list.append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0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[0]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4506" y="3946913"/>
            <a:ext cx="116531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out_list</a:t>
            </a:r>
            <a:endParaRPr lang="en-CA" sz="2500" dirty="0"/>
          </a:p>
        </p:txBody>
      </p:sp>
      <p:sp>
        <p:nvSpPr>
          <p:cNvPr id="11" name="Rectangle 10"/>
          <p:cNvSpPr/>
          <p:nvPr/>
        </p:nvSpPr>
        <p:spPr>
          <a:xfrm>
            <a:off x="6435496" y="4222008"/>
            <a:ext cx="96334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in_list</a:t>
            </a:r>
            <a:endParaRPr lang="en-CA" sz="2500" dirty="0"/>
          </a:p>
        </p:txBody>
      </p:sp>
      <p:sp>
        <p:nvSpPr>
          <p:cNvPr id="13" name="Rectangle 12"/>
          <p:cNvSpPr/>
          <p:nvPr/>
        </p:nvSpPr>
        <p:spPr>
          <a:xfrm>
            <a:off x="1097280" y="4786209"/>
            <a:ext cx="101152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 err="1"/>
              <a:t>in_list</a:t>
            </a:r>
            <a:r>
              <a:rPr lang="en-CA" dirty="0"/>
              <a:t> is a new parameter that points to the same value </a:t>
            </a:r>
            <a:r>
              <a:rPr lang="en-CA" dirty="0" err="1"/>
              <a:t>out_list</a:t>
            </a:r>
            <a:r>
              <a:rPr lang="en-CA" dirty="0"/>
              <a:t> is pointing at. </a:t>
            </a:r>
            <a:r>
              <a:rPr lang="en-CA" dirty="0" err="1"/>
              <a:t>in_list</a:t>
            </a:r>
            <a:r>
              <a:rPr lang="en-CA" dirty="0"/>
              <a:t> and </a:t>
            </a:r>
            <a:r>
              <a:rPr lang="en-CA" dirty="0" err="1"/>
              <a:t>out_list</a:t>
            </a:r>
            <a:r>
              <a:rPr lang="en-CA" dirty="0"/>
              <a:t> are both pointing at the same object in memory. There is NO COPYING</a:t>
            </a:r>
          </a:p>
        </p:txBody>
      </p:sp>
    </p:spTree>
    <p:extLst>
      <p:ext uri="{BB962C8B-B14F-4D97-AF65-F5344CB8AC3E}">
        <p14:creationId xmlns:p14="http://schemas.microsoft.com/office/powerpoint/2010/main" val="3577692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Python - </a:t>
            </a:r>
            <a:r>
              <a:rPr lang="en-CA" dirty="0"/>
              <a:t>Pass by </a:t>
            </a:r>
            <a:r>
              <a:rPr lang="en-CA" b="1" dirty="0"/>
              <a:t>???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in_list.append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97280" y="4786209"/>
            <a:ext cx="10115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 err="1"/>
              <a:t>in_list</a:t>
            </a:r>
            <a:r>
              <a:rPr lang="en-CA" dirty="0"/>
              <a:t> has the value 1 appended to it. This changes the original value </a:t>
            </a:r>
            <a:r>
              <a:rPr lang="en-CA" dirty="0" err="1"/>
              <a:t>out_list</a:t>
            </a:r>
            <a:r>
              <a:rPr lang="en-CA" dirty="0"/>
              <a:t> is assigned 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[0,</a:t>
            </a:r>
            <a:r>
              <a:rPr lang="en-CA" sz="3500" dirty="0">
                <a:solidFill>
                  <a:srgbClr val="00B050"/>
                </a:solidFill>
              </a:rPr>
              <a:t>1</a:t>
            </a:r>
            <a:r>
              <a:rPr lang="en-CA" sz="3500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42FCFF-39E3-4134-AAE4-EAF3CC31F3C1}"/>
              </a:ext>
            </a:extLst>
          </p:cNvPr>
          <p:cNvSpPr/>
          <p:nvPr/>
        </p:nvSpPr>
        <p:spPr>
          <a:xfrm>
            <a:off x="6334506" y="3946913"/>
            <a:ext cx="116531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out_list</a:t>
            </a:r>
            <a:endParaRPr lang="en-CA" sz="25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42B73B-F8C0-47AB-8A13-7A2C410062D0}"/>
              </a:ext>
            </a:extLst>
          </p:cNvPr>
          <p:cNvSpPr/>
          <p:nvPr/>
        </p:nvSpPr>
        <p:spPr>
          <a:xfrm>
            <a:off x="6435496" y="4222008"/>
            <a:ext cx="96334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in_list</a:t>
            </a:r>
            <a:endParaRPr lang="en-CA" sz="2500" dirty="0"/>
          </a:p>
        </p:txBody>
      </p:sp>
    </p:spTree>
    <p:extLst>
      <p:ext uri="{BB962C8B-B14F-4D97-AF65-F5344CB8AC3E}">
        <p14:creationId xmlns:p14="http://schemas.microsoft.com/office/powerpoint/2010/main" val="53207824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Python - </a:t>
            </a:r>
            <a:r>
              <a:rPr lang="en-CA" dirty="0"/>
              <a:t>Pass by </a:t>
            </a:r>
            <a:r>
              <a:rPr lang="en-CA" b="1" dirty="0"/>
              <a:t>???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in_list.append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97280" y="4786209"/>
            <a:ext cx="101152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/>
              <a:t>The object [2,3] is created in memory and </a:t>
            </a:r>
            <a:r>
              <a:rPr lang="en-CA" dirty="0" err="1"/>
              <a:t>in_list</a:t>
            </a:r>
            <a:r>
              <a:rPr lang="en-CA" dirty="0"/>
              <a:t> has now changed to point to it</a:t>
            </a:r>
          </a:p>
          <a:p>
            <a:endParaRPr lang="en-CA" dirty="0"/>
          </a:p>
        </p:txBody>
      </p:sp>
      <p:sp>
        <p:nvSpPr>
          <p:cNvPr id="12" name="Rectangle 11"/>
          <p:cNvSpPr/>
          <p:nvPr/>
        </p:nvSpPr>
        <p:spPr>
          <a:xfrm>
            <a:off x="6400800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[0,1]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34507" y="3946913"/>
            <a:ext cx="116531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out_list</a:t>
            </a:r>
            <a:endParaRPr lang="en-CA" sz="2500" dirty="0"/>
          </a:p>
        </p:txBody>
      </p:sp>
      <p:sp>
        <p:nvSpPr>
          <p:cNvPr id="11" name="Rectangle 10"/>
          <p:cNvSpPr/>
          <p:nvPr/>
        </p:nvSpPr>
        <p:spPr>
          <a:xfrm>
            <a:off x="9156550" y="2946452"/>
            <a:ext cx="1203063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</a:t>
            </a:r>
            <a:r>
              <a:rPr lang="en-CA" sz="3500" dirty="0">
                <a:solidFill>
                  <a:srgbClr val="00B050"/>
                </a:solidFill>
              </a:rPr>
              <a:t>2, 3</a:t>
            </a:r>
            <a:r>
              <a:rPr lang="en-CA" sz="3500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91242" y="3946913"/>
            <a:ext cx="96334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in_list</a:t>
            </a:r>
            <a:endParaRPr lang="en-CA" sz="2500" dirty="0"/>
          </a:p>
        </p:txBody>
      </p:sp>
    </p:spTree>
    <p:extLst>
      <p:ext uri="{BB962C8B-B14F-4D97-AF65-F5344CB8AC3E}">
        <p14:creationId xmlns:p14="http://schemas.microsoft.com/office/powerpoint/2010/main" val="32448187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Python - </a:t>
            </a:r>
            <a:r>
              <a:rPr lang="en-CA" dirty="0"/>
              <a:t>Pass by </a:t>
            </a:r>
            <a:r>
              <a:rPr lang="en-CA" b="1" dirty="0"/>
              <a:t>???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in_list.append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in_list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out_list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97280" y="4786209"/>
            <a:ext cx="10115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/>
              <a:t>When we print </a:t>
            </a:r>
            <a:r>
              <a:rPr lang="en-CA" dirty="0" err="1"/>
              <a:t>out_list</a:t>
            </a:r>
            <a:r>
              <a:rPr lang="en-CA" dirty="0"/>
              <a:t>, its value is [0,1]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[0,1]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56550" y="2946452"/>
            <a:ext cx="1203063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</a:t>
            </a:r>
            <a:r>
              <a:rPr lang="en-CA" sz="3500" dirty="0">
                <a:solidFill>
                  <a:srgbClr val="00B050"/>
                </a:solidFill>
              </a:rPr>
              <a:t>2, 3</a:t>
            </a:r>
            <a:r>
              <a:rPr lang="en-CA" sz="3500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91242" y="3946913"/>
            <a:ext cx="96334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in_list</a:t>
            </a:r>
            <a:endParaRPr lang="en-CA" sz="25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7B704A-D5F7-4641-907B-35B5A9E89AE0}"/>
              </a:ext>
            </a:extLst>
          </p:cNvPr>
          <p:cNvSpPr/>
          <p:nvPr/>
        </p:nvSpPr>
        <p:spPr>
          <a:xfrm>
            <a:off x="6334507" y="3946913"/>
            <a:ext cx="116531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out_list</a:t>
            </a:r>
            <a:endParaRPr lang="en-CA" sz="2500" dirty="0"/>
          </a:p>
        </p:txBody>
      </p:sp>
    </p:spTree>
    <p:extLst>
      <p:ext uri="{BB962C8B-B14F-4D97-AF65-F5344CB8AC3E}">
        <p14:creationId xmlns:p14="http://schemas.microsoft.com/office/powerpoint/2010/main" val="35508002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Python - </a:t>
            </a:r>
            <a:r>
              <a:rPr lang="en-CA" dirty="0"/>
              <a:t>Pass by </a:t>
            </a:r>
            <a:r>
              <a:rPr lang="en-CA" b="1" dirty="0"/>
              <a:t>???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0477" y="2150585"/>
            <a:ext cx="1011520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000" dirty="0" err="1"/>
              <a:t>Soooo</a:t>
            </a:r>
            <a:r>
              <a:rPr lang="en-CA" sz="2000" dirty="0"/>
              <a:t>, what is it called?</a:t>
            </a:r>
          </a:p>
          <a:p>
            <a:endParaRPr lang="en-CA" sz="2000" dirty="0"/>
          </a:p>
          <a:p>
            <a:r>
              <a:rPr lang="en-CA" sz="2000" dirty="0"/>
              <a:t>You might see some of the following ways to call it:</a:t>
            </a:r>
          </a:p>
          <a:p>
            <a:endParaRPr lang="en-CA" sz="2000" dirty="0"/>
          </a:p>
          <a:p>
            <a:r>
              <a:rPr lang="en-CA" sz="2000" dirty="0"/>
              <a:t>Call-by-Object</a:t>
            </a:r>
          </a:p>
          <a:p>
            <a:r>
              <a:rPr lang="en-CA" sz="2000" dirty="0"/>
              <a:t>Call by Object Reference</a:t>
            </a:r>
          </a:p>
          <a:p>
            <a:r>
              <a:rPr lang="en-CA" sz="2000" dirty="0"/>
              <a:t>Call by Sharing</a:t>
            </a:r>
          </a:p>
          <a:p>
            <a:r>
              <a:rPr lang="en-CA" sz="2000" dirty="0"/>
              <a:t>Pass-by-object-reference</a:t>
            </a:r>
          </a:p>
          <a:p>
            <a:r>
              <a:rPr lang="en-CA" sz="2000" dirty="0"/>
              <a:t>Passed by assignment</a:t>
            </a:r>
          </a:p>
          <a:p>
            <a:r>
              <a:rPr lang="en-CA" sz="2000"/>
              <a:t>Pass by name</a:t>
            </a:r>
            <a:endParaRPr lang="en-CA" sz="2000" dirty="0"/>
          </a:p>
          <a:p>
            <a:endParaRPr lang="en-CA" sz="2000" dirty="0"/>
          </a:p>
          <a:p>
            <a:r>
              <a:rPr lang="en-CA" sz="2000" dirty="0"/>
              <a:t>Some people don’t bother giving it a name because it’s an entirely different concept from pass by value or pass by reference</a:t>
            </a:r>
          </a:p>
        </p:txBody>
      </p:sp>
    </p:spTree>
    <p:extLst>
      <p:ext uri="{BB962C8B-B14F-4D97-AF65-F5344CB8AC3E}">
        <p14:creationId xmlns:p14="http://schemas.microsoft.com/office/powerpoint/2010/main" val="333282191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3062</TotalTime>
  <Words>5352</Words>
  <Application>Microsoft Office PowerPoint</Application>
  <PresentationFormat>Widescreen</PresentationFormat>
  <Paragraphs>435</Paragraphs>
  <Slides>68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7" baseType="lpstr">
      <vt:lpstr>Arial</vt:lpstr>
      <vt:lpstr>Arial Unicode MS</vt:lpstr>
      <vt:lpstr>Calibri</vt:lpstr>
      <vt:lpstr>Calibri Light</vt:lpstr>
      <vt:lpstr>Calibri(Body)</vt:lpstr>
      <vt:lpstr>Consolas</vt:lpstr>
      <vt:lpstr>Courier</vt:lpstr>
      <vt:lpstr>Wingdings</vt:lpstr>
      <vt:lpstr>Retrospect</vt:lpstr>
      <vt:lpstr>SOLID Design Principles</vt:lpstr>
      <vt:lpstr>Recap: Remember this?</vt:lpstr>
      <vt:lpstr>Recap: Decoupling dependencies</vt:lpstr>
      <vt:lpstr>Recap: Decoupling dependencies</vt:lpstr>
      <vt:lpstr>Recap: Dependencies and Coupling</vt:lpstr>
      <vt:lpstr>Recap: Dependencies &amp; Coupling</vt:lpstr>
      <vt:lpstr>SOLID Design Principles</vt:lpstr>
      <vt:lpstr>Single Responsibility Principle</vt:lpstr>
      <vt:lpstr>Say we had a system where a user could write and create forum posts</vt:lpstr>
      <vt:lpstr>Say we had a system where a user could write and create forum posts</vt:lpstr>
      <vt:lpstr>Say we had a system where a user could write and create forum posts</vt:lpstr>
      <vt:lpstr>Say we had a system where a user could write and create forum posts</vt:lpstr>
      <vt:lpstr>Say we had a system where a user could write and create forum posts</vt:lpstr>
      <vt:lpstr>Single Responsibility Principle</vt:lpstr>
      <vt:lpstr>We Split the User Class! Pt.1</vt:lpstr>
      <vt:lpstr>We Split the User Class! Pt.2</vt:lpstr>
      <vt:lpstr>Open-closed principle</vt:lpstr>
      <vt:lpstr>Now, Say we had a UI widget class….</vt:lpstr>
      <vt:lpstr>Now over time, what if our UIPanelWidgetClass looked like this?</vt:lpstr>
      <vt:lpstr>Open Closed Principle</vt:lpstr>
      <vt:lpstr>We use Inheritance (and overriding)!</vt:lpstr>
      <vt:lpstr>We use Inheritance (and overriding)!</vt:lpstr>
      <vt:lpstr>Liskov Substition Principle</vt:lpstr>
      <vt:lpstr>Now how do we draw all these widgets?</vt:lpstr>
      <vt:lpstr>Now how do we draw all these widgets?</vt:lpstr>
      <vt:lpstr>Liskov Substitution Principle</vt:lpstr>
      <vt:lpstr>In Python this is easy, since we don’t worry about types!</vt:lpstr>
      <vt:lpstr>Interface segregation principle</vt:lpstr>
      <vt:lpstr>Now Say We Were Modeling A Zoo…</vt:lpstr>
      <vt:lpstr>Interface Segregation Principle</vt:lpstr>
      <vt:lpstr>Back To Our Zoo!</vt:lpstr>
      <vt:lpstr>Back To Our Zoo!</vt:lpstr>
      <vt:lpstr>Back To Our Zoo!</vt:lpstr>
      <vt:lpstr>Dependency inversion principle</vt:lpstr>
      <vt:lpstr>Dependency Inversion Principle</vt:lpstr>
      <vt:lpstr>High Level &amp; Low Level Modules</vt:lpstr>
      <vt:lpstr>High Level &amp; Low Level Modules</vt:lpstr>
      <vt:lpstr>We inversed the dependencies!</vt:lpstr>
      <vt:lpstr>We inversed the dependencies!</vt:lpstr>
      <vt:lpstr>Dependency Inversion Principle</vt:lpstr>
      <vt:lpstr>Dependency Inversion Principle</vt:lpstr>
      <vt:lpstr>Dependency Inversion Principle</vt:lpstr>
      <vt:lpstr>Right, now your turn! Say we had a character creation UI in a game.</vt:lpstr>
      <vt:lpstr>My Solution</vt:lpstr>
      <vt:lpstr>Law of Demeter</vt:lpstr>
      <vt:lpstr>Law of Demeter</vt:lpstr>
      <vt:lpstr>Law of Demeter</vt:lpstr>
      <vt:lpstr>Law of Demeter</vt:lpstr>
      <vt:lpstr>Law of Demeter – Example Code</vt:lpstr>
      <vt:lpstr>Law of Demeter – Example Code</vt:lpstr>
      <vt:lpstr>Law of Demeter – Example Code - Solution</vt:lpstr>
      <vt:lpstr>Function parameters</vt:lpstr>
      <vt:lpstr>Pass by value</vt:lpstr>
      <vt:lpstr>Pass by value</vt:lpstr>
      <vt:lpstr>Pass by value</vt:lpstr>
      <vt:lpstr>Pass by value</vt:lpstr>
      <vt:lpstr>Pass by value</vt:lpstr>
      <vt:lpstr>Pass by reference</vt:lpstr>
      <vt:lpstr>Pass by reference</vt:lpstr>
      <vt:lpstr>Pass by reference</vt:lpstr>
      <vt:lpstr>Pass by reference</vt:lpstr>
      <vt:lpstr>Pass by reference</vt:lpstr>
      <vt:lpstr>Python - Pass by ???</vt:lpstr>
      <vt:lpstr>Python - Pass by ???</vt:lpstr>
      <vt:lpstr>Python - Pass by ???</vt:lpstr>
      <vt:lpstr>Python - Pass by ???</vt:lpstr>
      <vt:lpstr>Python - Pass by ???</vt:lpstr>
      <vt:lpstr>Python - Pass by ???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Dependencies, Coupling And Interfaces</dc:title>
  <dc:creator>Rahul Kukreja</dc:creator>
  <cp:lastModifiedBy>Nabil Al-Rousan</cp:lastModifiedBy>
  <cp:revision>178</cp:revision>
  <dcterms:created xsi:type="dcterms:W3CDTF">2019-09-16T17:31:40Z</dcterms:created>
  <dcterms:modified xsi:type="dcterms:W3CDTF">2025-10-03T00:05:13Z</dcterms:modified>
</cp:coreProperties>
</file>