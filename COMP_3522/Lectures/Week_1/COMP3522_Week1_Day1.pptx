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5"/>
  </p:notesMasterIdLst>
  <p:sldIdLst>
    <p:sldId id="256" r:id="rId2"/>
    <p:sldId id="303" r:id="rId3"/>
    <p:sldId id="258" r:id="rId4"/>
    <p:sldId id="260" r:id="rId5"/>
    <p:sldId id="259" r:id="rId6"/>
    <p:sldId id="305" r:id="rId7"/>
    <p:sldId id="1318" r:id="rId8"/>
    <p:sldId id="1319" r:id="rId9"/>
    <p:sldId id="1320" r:id="rId10"/>
    <p:sldId id="1321" r:id="rId11"/>
    <p:sldId id="266" r:id="rId12"/>
    <p:sldId id="1322" r:id="rId13"/>
    <p:sldId id="1317" r:id="rId14"/>
    <p:sldId id="308" r:id="rId15"/>
    <p:sldId id="264" r:id="rId16"/>
    <p:sldId id="1326" r:id="rId17"/>
    <p:sldId id="267" r:id="rId18"/>
    <p:sldId id="268" r:id="rId19"/>
    <p:sldId id="312" r:id="rId20"/>
    <p:sldId id="327" r:id="rId21"/>
    <p:sldId id="328" r:id="rId22"/>
    <p:sldId id="309" r:id="rId23"/>
    <p:sldId id="334" r:id="rId24"/>
    <p:sldId id="1306" r:id="rId25"/>
    <p:sldId id="1308" r:id="rId26"/>
    <p:sldId id="1309" r:id="rId27"/>
    <p:sldId id="1323" r:id="rId28"/>
    <p:sldId id="1313" r:id="rId29"/>
    <p:sldId id="1314" r:id="rId30"/>
    <p:sldId id="1310" r:id="rId31"/>
    <p:sldId id="1311" r:id="rId32"/>
    <p:sldId id="1315" r:id="rId33"/>
    <p:sldId id="1312" r:id="rId34"/>
    <p:sldId id="1316" r:id="rId35"/>
    <p:sldId id="1324" r:id="rId36"/>
    <p:sldId id="635" r:id="rId37"/>
    <p:sldId id="650" r:id="rId38"/>
    <p:sldId id="651" r:id="rId39"/>
    <p:sldId id="636" r:id="rId40"/>
    <p:sldId id="652" r:id="rId41"/>
    <p:sldId id="653" r:id="rId42"/>
    <p:sldId id="657" r:id="rId43"/>
    <p:sldId id="638" r:id="rId44"/>
    <p:sldId id="660" r:id="rId45"/>
    <p:sldId id="662" r:id="rId46"/>
    <p:sldId id="1304" r:id="rId47"/>
    <p:sldId id="332" r:id="rId48"/>
    <p:sldId id="333" r:id="rId49"/>
    <p:sldId id="1305" r:id="rId50"/>
    <p:sldId id="335" r:id="rId51"/>
    <p:sldId id="337" r:id="rId52"/>
    <p:sldId id="338" r:id="rId53"/>
    <p:sldId id="339" r:id="rId54"/>
    <p:sldId id="340" r:id="rId55"/>
    <p:sldId id="341" r:id="rId56"/>
    <p:sldId id="311" r:id="rId57"/>
    <p:sldId id="342" r:id="rId58"/>
    <p:sldId id="343" r:id="rId59"/>
    <p:sldId id="344" r:id="rId60"/>
    <p:sldId id="346" r:id="rId61"/>
    <p:sldId id="347" r:id="rId62"/>
    <p:sldId id="348" r:id="rId63"/>
    <p:sldId id="349" r:id="rId64"/>
    <p:sldId id="350" r:id="rId65"/>
    <p:sldId id="356" r:id="rId66"/>
    <p:sldId id="357" r:id="rId67"/>
    <p:sldId id="351" r:id="rId68"/>
    <p:sldId id="352" r:id="rId69"/>
    <p:sldId id="353" r:id="rId70"/>
    <p:sldId id="354" r:id="rId71"/>
    <p:sldId id="355" r:id="rId72"/>
    <p:sldId id="1327" r:id="rId73"/>
    <p:sldId id="314" r:id="rId74"/>
    <p:sldId id="362" r:id="rId75"/>
    <p:sldId id="363" r:id="rId76"/>
    <p:sldId id="364" r:id="rId77"/>
    <p:sldId id="365" r:id="rId78"/>
    <p:sldId id="366" r:id="rId79"/>
    <p:sldId id="367" r:id="rId80"/>
    <p:sldId id="1325" r:id="rId81"/>
    <p:sldId id="368" r:id="rId82"/>
    <p:sldId id="369" r:id="rId83"/>
    <p:sldId id="370" r:id="rId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C52B1B-8552-4EA8-9F30-F71A1F646BFC}">
          <p14:sldIdLst>
            <p14:sldId id="256"/>
            <p14:sldId id="303"/>
            <p14:sldId id="258"/>
            <p14:sldId id="260"/>
            <p14:sldId id="259"/>
            <p14:sldId id="305"/>
            <p14:sldId id="1318"/>
            <p14:sldId id="1319"/>
            <p14:sldId id="1320"/>
            <p14:sldId id="1321"/>
            <p14:sldId id="266"/>
            <p14:sldId id="1322"/>
            <p14:sldId id="1317"/>
            <p14:sldId id="308"/>
            <p14:sldId id="264"/>
            <p14:sldId id="1326"/>
            <p14:sldId id="267"/>
            <p14:sldId id="268"/>
            <p14:sldId id="312"/>
            <p14:sldId id="327"/>
            <p14:sldId id="328"/>
            <p14:sldId id="309"/>
            <p14:sldId id="334"/>
            <p14:sldId id="1306"/>
            <p14:sldId id="1308"/>
            <p14:sldId id="1309"/>
            <p14:sldId id="1323"/>
            <p14:sldId id="1313"/>
            <p14:sldId id="1314"/>
            <p14:sldId id="1310"/>
            <p14:sldId id="1311"/>
            <p14:sldId id="1315"/>
            <p14:sldId id="1312"/>
            <p14:sldId id="1316"/>
            <p14:sldId id="1324"/>
            <p14:sldId id="635"/>
            <p14:sldId id="650"/>
            <p14:sldId id="651"/>
            <p14:sldId id="636"/>
            <p14:sldId id="652"/>
            <p14:sldId id="653"/>
            <p14:sldId id="657"/>
            <p14:sldId id="638"/>
            <p14:sldId id="660"/>
            <p14:sldId id="662"/>
            <p14:sldId id="1304"/>
            <p14:sldId id="332"/>
            <p14:sldId id="333"/>
            <p14:sldId id="1305"/>
            <p14:sldId id="335"/>
            <p14:sldId id="337"/>
            <p14:sldId id="338"/>
            <p14:sldId id="339"/>
            <p14:sldId id="340"/>
            <p14:sldId id="341"/>
            <p14:sldId id="311"/>
            <p14:sldId id="342"/>
            <p14:sldId id="343"/>
            <p14:sldId id="344"/>
            <p14:sldId id="346"/>
            <p14:sldId id="347"/>
            <p14:sldId id="348"/>
            <p14:sldId id="349"/>
            <p14:sldId id="350"/>
            <p14:sldId id="356"/>
            <p14:sldId id="357"/>
            <p14:sldId id="351"/>
            <p14:sldId id="352"/>
            <p14:sldId id="353"/>
            <p14:sldId id="354"/>
            <p14:sldId id="355"/>
            <p14:sldId id="1327"/>
            <p14:sldId id="314"/>
            <p14:sldId id="362"/>
            <p14:sldId id="363"/>
            <p14:sldId id="364"/>
            <p14:sldId id="365"/>
            <p14:sldId id="366"/>
            <p14:sldId id="367"/>
            <p14:sldId id="1325"/>
            <p14:sldId id="368"/>
            <p14:sldId id="369"/>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913" autoAdjust="0"/>
  </p:normalViewPr>
  <p:slideViewPr>
    <p:cSldViewPr snapToGrid="0">
      <p:cViewPr varScale="1">
        <p:scale>
          <a:sx n="77" d="100"/>
          <a:sy n="77" d="100"/>
        </p:scale>
        <p:origin x="114"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97FE11-279C-4A31-AF18-49445EF40DF0}" type="datetimeFigureOut">
              <a:rPr lang="en-CA" smtClean="0"/>
              <a:t>2026-01-06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969246-A70B-4C9F-A67E-C2E21AFF715D}" type="slidenum">
              <a:rPr lang="en-CA" smtClean="0"/>
              <a:t>‹#›</a:t>
            </a:fld>
            <a:endParaRPr lang="en-CA"/>
          </a:p>
        </p:txBody>
      </p:sp>
    </p:spTree>
    <p:extLst>
      <p:ext uri="{BB962C8B-B14F-4D97-AF65-F5344CB8AC3E}">
        <p14:creationId xmlns:p14="http://schemas.microsoft.com/office/powerpoint/2010/main" val="1132055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FB1E10DD-9946-4245-A630-7C200E4FE4A0}" type="slidenum">
              <a:rPr lang="en-US" smtClean="0"/>
              <a:t>5</a:t>
            </a:fld>
            <a:endParaRPr lang="en-US"/>
          </a:p>
        </p:txBody>
      </p:sp>
    </p:spTree>
    <p:extLst>
      <p:ext uri="{BB962C8B-B14F-4D97-AF65-F5344CB8AC3E}">
        <p14:creationId xmlns:p14="http://schemas.microsoft.com/office/powerpoint/2010/main" val="1560873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6</a:t>
            </a:fld>
            <a:endParaRPr lang="en-CA"/>
          </a:p>
        </p:txBody>
      </p:sp>
    </p:spTree>
    <p:extLst>
      <p:ext uri="{BB962C8B-B14F-4D97-AF65-F5344CB8AC3E}">
        <p14:creationId xmlns:p14="http://schemas.microsoft.com/office/powerpoint/2010/main" val="4244111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7</a:t>
            </a:fld>
            <a:endParaRPr lang="en-CA"/>
          </a:p>
        </p:txBody>
      </p:sp>
    </p:spTree>
    <p:extLst>
      <p:ext uri="{BB962C8B-B14F-4D97-AF65-F5344CB8AC3E}">
        <p14:creationId xmlns:p14="http://schemas.microsoft.com/office/powerpoint/2010/main" val="333854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969246-A70B-4C9F-A67E-C2E21AFF715D}" type="slidenum">
              <a:rPr lang="en-CA" smtClean="0"/>
              <a:t>8</a:t>
            </a:fld>
            <a:endParaRPr lang="en-CA"/>
          </a:p>
        </p:txBody>
      </p:sp>
    </p:spTree>
    <p:extLst>
      <p:ext uri="{BB962C8B-B14F-4D97-AF65-F5344CB8AC3E}">
        <p14:creationId xmlns:p14="http://schemas.microsoft.com/office/powerpoint/2010/main" val="1488294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969246-A70B-4C9F-A67E-C2E21AFF715D}" type="slidenum">
              <a:rPr lang="en-CA" smtClean="0"/>
              <a:t>16</a:t>
            </a:fld>
            <a:endParaRPr lang="en-CA"/>
          </a:p>
        </p:txBody>
      </p:sp>
    </p:spTree>
    <p:extLst>
      <p:ext uri="{BB962C8B-B14F-4D97-AF65-F5344CB8AC3E}">
        <p14:creationId xmlns:p14="http://schemas.microsoft.com/office/powerpoint/2010/main" val="1475263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 return type</a:t>
            </a:r>
            <a:r>
              <a:rPr lang="en-CA" baseline="0" dirty="0"/>
              <a:t> needed to be specified, just have </a:t>
            </a:r>
            <a:r>
              <a:rPr lang="en-CA" baseline="0" dirty="0" err="1"/>
              <a:t>def</a:t>
            </a:r>
            <a:endParaRPr lang="en-CA" dirty="0"/>
          </a:p>
        </p:txBody>
      </p:sp>
      <p:sp>
        <p:nvSpPr>
          <p:cNvPr id="4" name="Slide Number Placeholder 3"/>
          <p:cNvSpPr>
            <a:spLocks noGrp="1"/>
          </p:cNvSpPr>
          <p:nvPr>
            <p:ph type="sldNum" sz="quarter" idx="10"/>
          </p:nvPr>
        </p:nvSpPr>
        <p:spPr/>
        <p:txBody>
          <a:bodyPr/>
          <a:lstStyle/>
          <a:p>
            <a:fld id="{F6969246-A70B-4C9F-A67E-C2E21AFF715D}" type="slidenum">
              <a:rPr lang="en-CA" smtClean="0"/>
              <a:t>38</a:t>
            </a:fld>
            <a:endParaRPr lang="en-CA"/>
          </a:p>
        </p:txBody>
      </p:sp>
    </p:spTree>
    <p:extLst>
      <p:ext uri="{BB962C8B-B14F-4D97-AF65-F5344CB8AC3E}">
        <p14:creationId xmlns:p14="http://schemas.microsoft.com/office/powerpoint/2010/main" val="3093871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Here is</a:t>
            </a:r>
            <a:r>
              <a:rPr lang="en-CA" baseline="0" dirty="0"/>
              <a:t> a function called max that accepts 2 parameters</a:t>
            </a:r>
          </a:p>
          <a:p>
            <a:endParaRPr lang="en-CA" baseline="0" dirty="0"/>
          </a:p>
          <a:p>
            <a:r>
              <a:rPr lang="en-CA" baseline="0" dirty="0"/>
              <a:t>Notice no return type needed to be specified, just </a:t>
            </a:r>
            <a:r>
              <a:rPr lang="en-CA" baseline="0" dirty="0" err="1"/>
              <a:t>def</a:t>
            </a:r>
            <a:endParaRPr lang="en-CA" dirty="0"/>
          </a:p>
        </p:txBody>
      </p:sp>
      <p:sp>
        <p:nvSpPr>
          <p:cNvPr id="4" name="Slide Number Placeholder 3"/>
          <p:cNvSpPr>
            <a:spLocks noGrp="1"/>
          </p:cNvSpPr>
          <p:nvPr>
            <p:ph type="sldNum" sz="quarter" idx="10"/>
          </p:nvPr>
        </p:nvSpPr>
        <p:spPr/>
        <p:txBody>
          <a:bodyPr/>
          <a:lstStyle/>
          <a:p>
            <a:fld id="{F6969246-A70B-4C9F-A67E-C2E21AFF715D}" type="slidenum">
              <a:rPr lang="en-CA" smtClean="0"/>
              <a:t>40</a:t>
            </a:fld>
            <a:endParaRPr lang="en-CA"/>
          </a:p>
        </p:txBody>
      </p:sp>
    </p:spTree>
    <p:extLst>
      <p:ext uri="{BB962C8B-B14F-4D97-AF65-F5344CB8AC3E}">
        <p14:creationId xmlns:p14="http://schemas.microsoft.com/office/powerpoint/2010/main" val="63180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complex code</a:t>
            </a:r>
            <a:r>
              <a:rPr lang="en-CA" dirty="0"/>
              <a:t>, assumptions, flaws and limitations</a:t>
            </a:r>
          </a:p>
          <a:p>
            <a:r>
              <a:rPr lang="en-CA" dirty="0"/>
              <a:t>Record our thoughts and ideas for posterity</a:t>
            </a:r>
            <a:endParaRPr lang="en-US" dirty="0"/>
          </a:p>
        </p:txBody>
      </p:sp>
      <p:sp>
        <p:nvSpPr>
          <p:cNvPr id="4" name="Slide Number Placeholder 3"/>
          <p:cNvSpPr>
            <a:spLocks noGrp="1"/>
          </p:cNvSpPr>
          <p:nvPr>
            <p:ph type="sldNum" sz="quarter" idx="5"/>
          </p:nvPr>
        </p:nvSpPr>
        <p:spPr/>
        <p:txBody>
          <a:bodyPr/>
          <a:lstStyle/>
          <a:p>
            <a:fld id="{F6969246-A70B-4C9F-A67E-C2E21AFF715D}" type="slidenum">
              <a:rPr lang="en-CA" smtClean="0"/>
              <a:t>47</a:t>
            </a:fld>
            <a:endParaRPr lang="en-CA"/>
          </a:p>
        </p:txBody>
      </p:sp>
    </p:spTree>
    <p:extLst>
      <p:ext uri="{BB962C8B-B14F-4D97-AF65-F5344CB8AC3E}">
        <p14:creationId xmlns:p14="http://schemas.microsoft.com/office/powerpoint/2010/main" val="354493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PEP stands for Python Enhancement Proposal. PEPs are proposals for improvements to the Python language, made by members of the Python community. PEPs are reviewed and accepted or rejected by the Python community, and are used to document and communicate changes to the language.</a:t>
            </a:r>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52</a:t>
            </a:fld>
            <a:endParaRPr lang="en-CA"/>
          </a:p>
        </p:txBody>
      </p:sp>
    </p:spTree>
    <p:extLst>
      <p:ext uri="{BB962C8B-B14F-4D97-AF65-F5344CB8AC3E}">
        <p14:creationId xmlns:p14="http://schemas.microsoft.com/office/powerpoint/2010/main" val="1715777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Easier to locate and find relevant code</a:t>
            </a:r>
          </a:p>
          <a:p>
            <a:r>
              <a:rPr lang="en-US" dirty="0"/>
              <a:t>Code is read more often than written</a:t>
            </a:r>
          </a:p>
          <a:p>
            <a:r>
              <a:rPr lang="en-US" dirty="0"/>
              <a:t>Code is modified more often too</a:t>
            </a:r>
          </a:p>
          <a:p>
            <a:r>
              <a:rPr lang="en-US" dirty="0"/>
              <a:t>Communication between developers within a project</a:t>
            </a:r>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53</a:t>
            </a:fld>
            <a:endParaRPr lang="en-CA"/>
          </a:p>
        </p:txBody>
      </p:sp>
    </p:spTree>
    <p:extLst>
      <p:ext uri="{BB962C8B-B14F-4D97-AF65-F5344CB8AC3E}">
        <p14:creationId xmlns:p14="http://schemas.microsoft.com/office/powerpoint/2010/main" val="2797111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969246-A70B-4C9F-A67E-C2E21AFF715D}" type="slidenum">
              <a:rPr lang="en-CA" smtClean="0"/>
              <a:t>54</a:t>
            </a:fld>
            <a:endParaRPr lang="en-CA"/>
          </a:p>
        </p:txBody>
      </p:sp>
    </p:spTree>
    <p:extLst>
      <p:ext uri="{BB962C8B-B14F-4D97-AF65-F5344CB8AC3E}">
        <p14:creationId xmlns:p14="http://schemas.microsoft.com/office/powerpoint/2010/main" val="2974850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Java</a:t>
            </a:r>
          </a:p>
          <a:p>
            <a:pPr lvl="1"/>
            <a:r>
              <a:rPr lang="en-US" sz="2800" u="sng" dirty="0"/>
              <a:t>Don’t</a:t>
            </a:r>
            <a:r>
              <a:rPr lang="en-US" sz="2800" dirty="0"/>
              <a:t> write novels!</a:t>
            </a:r>
          </a:p>
          <a:p>
            <a:pPr lvl="1"/>
            <a:r>
              <a:rPr lang="en-US" sz="2800" u="sng" dirty="0"/>
              <a:t>Don’t</a:t>
            </a:r>
            <a:r>
              <a:rPr lang="en-US" sz="2800" dirty="0"/>
              <a:t> comment every single little thing!</a:t>
            </a:r>
          </a:p>
          <a:p>
            <a:r>
              <a:rPr lang="en-US" dirty="0"/>
              <a:t>Only docstring comments should be necessary unless we need to say why we made a choice</a:t>
            </a:r>
          </a:p>
          <a:p>
            <a:r>
              <a:rPr lang="en-US" dirty="0"/>
              <a:t>Pass some modules and functions to the help function to see how library module docstrings are formatted</a:t>
            </a:r>
          </a:p>
          <a:p>
            <a:r>
              <a:rPr lang="en-US" dirty="0"/>
              <a:t>Ensure your docstrings adhere to the same format and style </a:t>
            </a:r>
          </a:p>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55</a:t>
            </a:fld>
            <a:endParaRPr lang="en-CA"/>
          </a:p>
        </p:txBody>
      </p:sp>
    </p:spTree>
    <p:extLst>
      <p:ext uri="{BB962C8B-B14F-4D97-AF65-F5344CB8AC3E}">
        <p14:creationId xmlns:p14="http://schemas.microsoft.com/office/powerpoint/2010/main" val="2807356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a:t>ord</a:t>
            </a:r>
            <a:r>
              <a:rPr lang="en-CA" dirty="0"/>
              <a:t>(‘A’) return 65</a:t>
            </a:r>
          </a:p>
          <a:p>
            <a:r>
              <a:rPr lang="en-CA" dirty="0" err="1"/>
              <a:t>chr</a:t>
            </a:r>
            <a:r>
              <a:rPr lang="en-CA" dirty="0"/>
              <a:t>(65) returns</a:t>
            </a:r>
            <a:r>
              <a:rPr lang="en-CA" baseline="0" dirty="0"/>
              <a:t> ‘A’</a:t>
            </a:r>
            <a:endParaRPr lang="en-CA" dirty="0"/>
          </a:p>
        </p:txBody>
      </p:sp>
      <p:sp>
        <p:nvSpPr>
          <p:cNvPr id="4" name="Slide Number Placeholder 3"/>
          <p:cNvSpPr>
            <a:spLocks noGrp="1"/>
          </p:cNvSpPr>
          <p:nvPr>
            <p:ph type="sldNum" sz="quarter" idx="10"/>
          </p:nvPr>
        </p:nvSpPr>
        <p:spPr/>
        <p:txBody>
          <a:bodyPr/>
          <a:lstStyle/>
          <a:p>
            <a:fld id="{F6969246-A70B-4C9F-A67E-C2E21AFF715D}" type="slidenum">
              <a:rPr lang="en-CA" smtClean="0"/>
              <a:t>59</a:t>
            </a:fld>
            <a:endParaRPr lang="en-CA"/>
          </a:p>
        </p:txBody>
      </p:sp>
    </p:spTree>
    <p:extLst>
      <p:ext uri="{BB962C8B-B14F-4D97-AF65-F5344CB8AC3E}">
        <p14:creationId xmlns:p14="http://schemas.microsoft.com/office/powerpoint/2010/main" val="821160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An escape sequence is a combination of characters that represents a special character or symbol that is not represented by a single character. Escape sequences are used in string literals to represent characters that are difficult or impossible to include directly, such as tabs, newlines, and quotation marks.</a:t>
            </a:r>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61</a:t>
            </a:fld>
            <a:endParaRPr lang="en-CA"/>
          </a:p>
        </p:txBody>
      </p:sp>
    </p:spTree>
    <p:extLst>
      <p:ext uri="{BB962C8B-B14F-4D97-AF65-F5344CB8AC3E}">
        <p14:creationId xmlns:p14="http://schemas.microsoft.com/office/powerpoint/2010/main" val="2420547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 the original doesn’t change</a:t>
            </a:r>
            <a:br>
              <a:rPr lang="en-CA"/>
            </a:br>
            <a:br>
              <a:rPr lang="en-CA"/>
            </a:br>
            <a:br>
              <a:rPr lang="en-CA"/>
            </a:br>
            <a:r>
              <a:rPr lang="en-CA" sz="1200" b="0" kern="1200">
                <a:solidFill>
                  <a:schemeClr val="tx1"/>
                </a:solidFill>
                <a:effectLst/>
                <a:latin typeface="+mn-lt"/>
                <a:ea typeface="+mn-ea"/>
                <a:cs typeface="+mn-cs"/>
              </a:rPr>
              <a:t>my_string = "Comp 3522"</a:t>
            </a:r>
          </a:p>
          <a:p>
            <a:r>
              <a:rPr lang="en-CA" sz="1200" b="0" kern="1200">
                <a:solidFill>
                  <a:schemeClr val="tx1"/>
                </a:solidFill>
                <a:effectLst/>
                <a:latin typeface="+mn-lt"/>
                <a:ea typeface="+mn-ea"/>
                <a:cs typeface="+mn-cs"/>
              </a:rPr>
              <a:t>print(my_string.upper())</a:t>
            </a:r>
          </a:p>
          <a:p>
            <a:r>
              <a:rPr lang="en-CA" sz="1200" b="0" kern="1200">
                <a:solidFill>
                  <a:schemeClr val="tx1"/>
                </a:solidFill>
                <a:effectLst/>
                <a:latin typeface="+mn-lt"/>
                <a:ea typeface="+mn-ea"/>
                <a:cs typeface="+mn-cs"/>
              </a:rPr>
              <a:t>print(my_string.lower())</a:t>
            </a:r>
          </a:p>
          <a:p>
            <a:r>
              <a:rPr lang="en-CA" sz="1200" b="0" kern="1200">
                <a:solidFill>
                  <a:schemeClr val="tx1"/>
                </a:solidFill>
                <a:effectLst/>
                <a:latin typeface="+mn-lt"/>
                <a:ea typeface="+mn-ea"/>
                <a:cs typeface="+mn-cs"/>
              </a:rPr>
              <a:t>print(len(my_string))</a:t>
            </a:r>
          </a:p>
          <a:p>
            <a:r>
              <a:rPr lang="en-CA" sz="1200" b="0" kern="1200">
                <a:solidFill>
                  <a:schemeClr val="tx1"/>
                </a:solidFill>
                <a:effectLst/>
                <a:latin typeface="+mn-lt"/>
                <a:ea typeface="+mn-ea"/>
                <a:cs typeface="+mn-cs"/>
              </a:rPr>
              <a:t>print(my_string[3])</a:t>
            </a:r>
          </a:p>
          <a:p>
            <a:r>
              <a:rPr lang="en-CA" sz="1200" b="0" kern="1200">
                <a:solidFill>
                  <a:schemeClr val="tx1"/>
                </a:solidFill>
                <a:effectLst/>
                <a:latin typeface="+mn-lt"/>
                <a:ea typeface="+mn-ea"/>
                <a:cs typeface="+mn-cs"/>
              </a:rPr>
              <a:t>print(my_string[0])</a:t>
            </a:r>
          </a:p>
          <a:p>
            <a:r>
              <a:rPr lang="en-CA" sz="1200" b="0" kern="1200">
                <a:solidFill>
                  <a:schemeClr val="tx1"/>
                </a:solidFill>
                <a:effectLst/>
                <a:latin typeface="+mn-lt"/>
                <a:ea typeface="+mn-ea"/>
                <a:cs typeface="+mn-cs"/>
              </a:rPr>
              <a:t>print(my_string[-2])</a:t>
            </a:r>
          </a:p>
          <a:p>
            <a:r>
              <a:rPr lang="en-CA" sz="1200" b="0" kern="1200">
                <a:solidFill>
                  <a:schemeClr val="tx1"/>
                </a:solidFill>
                <a:effectLst/>
                <a:latin typeface="+mn-lt"/>
                <a:ea typeface="+mn-ea"/>
                <a:cs typeface="+mn-cs"/>
              </a:rPr>
              <a:t>print(my_string.find("2"))</a:t>
            </a:r>
          </a:p>
          <a:p>
            <a:r>
              <a:rPr lang="en-CA" sz="1200" b="0" kern="1200">
                <a:solidFill>
                  <a:schemeClr val="tx1"/>
                </a:solidFill>
                <a:effectLst/>
                <a:latin typeface="+mn-lt"/>
                <a:ea typeface="+mn-ea"/>
                <a:cs typeface="+mn-cs"/>
              </a:rPr>
              <a:t>print(my_string.split(" ", 1))</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6969246-A70B-4C9F-A67E-C2E21AFF715D}" type="slidenum">
              <a:rPr lang="en-CA" smtClean="0"/>
              <a:t>63</a:t>
            </a:fld>
            <a:endParaRPr lang="en-CA"/>
          </a:p>
        </p:txBody>
      </p:sp>
    </p:spTree>
    <p:extLst>
      <p:ext uri="{BB962C8B-B14F-4D97-AF65-F5344CB8AC3E}">
        <p14:creationId xmlns:p14="http://schemas.microsoft.com/office/powerpoint/2010/main" val="2265395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The </a:t>
            </a:r>
            <a:r>
              <a:rPr lang="en-CA" sz="1200" b="0" i="0" kern="1200" dirty="0" err="1">
                <a:solidFill>
                  <a:schemeClr val="tx1"/>
                </a:solidFill>
                <a:effectLst/>
                <a:latin typeface="+mn-lt"/>
                <a:ea typeface="+mn-ea"/>
                <a:cs typeface="+mn-cs"/>
              </a:rPr>
              <a:t>dir</a:t>
            </a:r>
            <a:r>
              <a:rPr lang="en-CA" sz="1200" b="0" i="0" kern="1200" dirty="0">
                <a:solidFill>
                  <a:schemeClr val="tx1"/>
                </a:solidFill>
                <a:effectLst/>
                <a:latin typeface="+mn-lt"/>
                <a:ea typeface="+mn-ea"/>
                <a:cs typeface="+mn-cs"/>
              </a:rPr>
              <a:t> function is a built-in function in Python that returns a list of attributes and methods for a given object. For example, if you have a list object </a:t>
            </a:r>
            <a:r>
              <a:rPr lang="en-CA" sz="1200" b="0" i="0" kern="1200" dirty="0" err="1">
                <a:solidFill>
                  <a:schemeClr val="tx1"/>
                </a:solidFill>
                <a:effectLst/>
                <a:latin typeface="+mn-lt"/>
                <a:ea typeface="+mn-ea"/>
                <a:cs typeface="+mn-cs"/>
              </a:rPr>
              <a:t>my_list</a:t>
            </a:r>
            <a:r>
              <a:rPr lang="en-CA" sz="1200" b="0" i="0" kern="1200" dirty="0">
                <a:solidFill>
                  <a:schemeClr val="tx1"/>
                </a:solidFill>
                <a:effectLst/>
                <a:latin typeface="+mn-lt"/>
                <a:ea typeface="+mn-ea"/>
                <a:cs typeface="+mn-cs"/>
              </a:rPr>
              <a:t>, you can use </a:t>
            </a:r>
            <a:r>
              <a:rPr lang="en-CA" sz="1200" b="0" i="0" kern="1200" dirty="0" err="1">
                <a:solidFill>
                  <a:schemeClr val="tx1"/>
                </a:solidFill>
                <a:effectLst/>
                <a:latin typeface="+mn-lt"/>
                <a:ea typeface="+mn-ea"/>
                <a:cs typeface="+mn-cs"/>
              </a:rPr>
              <a:t>dir</a:t>
            </a:r>
            <a:r>
              <a:rPr lang="en-CA" sz="1200" b="0" i="0" kern="1200" dirty="0">
                <a:solidFill>
                  <a:schemeClr val="tx1"/>
                </a:solidFill>
                <a:effectLst/>
                <a:latin typeface="+mn-lt"/>
                <a:ea typeface="+mn-ea"/>
                <a:cs typeface="+mn-cs"/>
              </a:rPr>
              <a:t>(</a:t>
            </a:r>
            <a:r>
              <a:rPr lang="en-CA" sz="1200" b="0" i="0" kern="1200" dirty="0" err="1">
                <a:solidFill>
                  <a:schemeClr val="tx1"/>
                </a:solidFill>
                <a:effectLst/>
                <a:latin typeface="+mn-lt"/>
                <a:ea typeface="+mn-ea"/>
                <a:cs typeface="+mn-cs"/>
              </a:rPr>
              <a:t>my_list</a:t>
            </a:r>
            <a:r>
              <a:rPr lang="en-CA" sz="1200" b="0" i="0" kern="1200" dirty="0">
                <a:solidFill>
                  <a:schemeClr val="tx1"/>
                </a:solidFill>
                <a:effectLst/>
                <a:latin typeface="+mn-lt"/>
                <a:ea typeface="+mn-ea"/>
                <a:cs typeface="+mn-cs"/>
              </a:rPr>
              <a:t>) to get a list of the methods and attributes that you can use with </a:t>
            </a:r>
            <a:r>
              <a:rPr lang="en-CA" sz="1200" b="0" i="0" kern="1200" dirty="0" err="1">
                <a:solidFill>
                  <a:schemeClr val="tx1"/>
                </a:solidFill>
                <a:effectLst/>
                <a:latin typeface="+mn-lt"/>
                <a:ea typeface="+mn-ea"/>
                <a:cs typeface="+mn-cs"/>
              </a:rPr>
              <a:t>my_list</a:t>
            </a:r>
            <a:r>
              <a:rPr lang="en-CA" sz="1200" b="0" i="0" kern="1200" dirty="0">
                <a:solidFill>
                  <a:schemeClr val="tx1"/>
                </a:solidFill>
                <a:effectLst/>
                <a:latin typeface="+mn-lt"/>
                <a:ea typeface="+mn-ea"/>
                <a:cs typeface="+mn-cs"/>
              </a:rPr>
              <a:t>.</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The help function is also a built-in function in Python that provides help information for a given object. For example, if you have a list object </a:t>
            </a:r>
            <a:r>
              <a:rPr lang="en-CA" sz="1200" b="0" i="0" kern="1200" dirty="0" err="1">
                <a:solidFill>
                  <a:schemeClr val="tx1"/>
                </a:solidFill>
                <a:effectLst/>
                <a:latin typeface="+mn-lt"/>
                <a:ea typeface="+mn-ea"/>
                <a:cs typeface="+mn-cs"/>
              </a:rPr>
              <a:t>my_list</a:t>
            </a:r>
            <a:r>
              <a:rPr lang="en-CA" sz="1200" b="0" i="0" kern="1200" dirty="0">
                <a:solidFill>
                  <a:schemeClr val="tx1"/>
                </a:solidFill>
                <a:effectLst/>
                <a:latin typeface="+mn-lt"/>
                <a:ea typeface="+mn-ea"/>
                <a:cs typeface="+mn-cs"/>
              </a:rPr>
              <a:t>, you can use help(</a:t>
            </a:r>
            <a:r>
              <a:rPr lang="en-CA" sz="1200" b="0" i="0" kern="1200" dirty="0" err="1">
                <a:solidFill>
                  <a:schemeClr val="tx1"/>
                </a:solidFill>
                <a:effectLst/>
                <a:latin typeface="+mn-lt"/>
                <a:ea typeface="+mn-ea"/>
                <a:cs typeface="+mn-cs"/>
              </a:rPr>
              <a:t>my_list</a:t>
            </a:r>
            <a:r>
              <a:rPr lang="en-CA" sz="1200" b="0" i="0" kern="1200" dirty="0">
                <a:solidFill>
                  <a:schemeClr val="tx1"/>
                </a:solidFill>
                <a:effectLst/>
                <a:latin typeface="+mn-lt"/>
                <a:ea typeface="+mn-ea"/>
                <a:cs typeface="+mn-cs"/>
              </a:rPr>
              <a:t>) to get a list of the methods and attributes that you can use with </a:t>
            </a:r>
            <a:r>
              <a:rPr lang="en-CA" sz="1200" b="0" i="0" kern="1200" dirty="0" err="1">
                <a:solidFill>
                  <a:schemeClr val="tx1"/>
                </a:solidFill>
                <a:effectLst/>
                <a:latin typeface="+mn-lt"/>
                <a:ea typeface="+mn-ea"/>
                <a:cs typeface="+mn-cs"/>
              </a:rPr>
              <a:t>my_list</a:t>
            </a:r>
            <a:r>
              <a:rPr lang="en-CA" sz="1200" b="0" i="0" kern="1200" dirty="0">
                <a:solidFill>
                  <a:schemeClr val="tx1"/>
                </a:solidFill>
                <a:effectLst/>
                <a:latin typeface="+mn-lt"/>
                <a:ea typeface="+mn-ea"/>
                <a:cs typeface="+mn-cs"/>
              </a:rPr>
              <a:t>, as well as a description of what each one does.</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So, the main difference between </a:t>
            </a:r>
            <a:r>
              <a:rPr lang="en-CA" sz="1200" b="0" i="0" kern="1200" dirty="0" err="1">
                <a:solidFill>
                  <a:schemeClr val="tx1"/>
                </a:solidFill>
                <a:effectLst/>
                <a:latin typeface="+mn-lt"/>
                <a:ea typeface="+mn-ea"/>
                <a:cs typeface="+mn-cs"/>
              </a:rPr>
              <a:t>dir</a:t>
            </a:r>
            <a:r>
              <a:rPr lang="en-CA" sz="1200" b="0" i="0" kern="1200" dirty="0">
                <a:solidFill>
                  <a:schemeClr val="tx1"/>
                </a:solidFill>
                <a:effectLst/>
                <a:latin typeface="+mn-lt"/>
                <a:ea typeface="+mn-ea"/>
                <a:cs typeface="+mn-cs"/>
              </a:rPr>
              <a:t> and help is that </a:t>
            </a:r>
            <a:r>
              <a:rPr lang="en-CA" sz="1200" b="0" i="0" kern="1200" dirty="0" err="1">
                <a:solidFill>
                  <a:schemeClr val="tx1"/>
                </a:solidFill>
                <a:effectLst/>
                <a:latin typeface="+mn-lt"/>
                <a:ea typeface="+mn-ea"/>
                <a:cs typeface="+mn-cs"/>
              </a:rPr>
              <a:t>dir</a:t>
            </a:r>
            <a:r>
              <a:rPr lang="en-CA" sz="1200" b="0" i="0" kern="1200" dirty="0">
                <a:solidFill>
                  <a:schemeClr val="tx1"/>
                </a:solidFill>
                <a:effectLst/>
                <a:latin typeface="+mn-lt"/>
                <a:ea typeface="+mn-ea"/>
                <a:cs typeface="+mn-cs"/>
              </a:rPr>
              <a:t> simply returns a list of attributes and methods for an object, while help provides more detailed information about each attribute and method, including a description of what it does.</a:t>
            </a:r>
          </a:p>
        </p:txBody>
      </p:sp>
      <p:sp>
        <p:nvSpPr>
          <p:cNvPr id="4" name="Slide Number Placeholder 3"/>
          <p:cNvSpPr>
            <a:spLocks noGrp="1"/>
          </p:cNvSpPr>
          <p:nvPr>
            <p:ph type="sldNum" sz="quarter" idx="5"/>
          </p:nvPr>
        </p:nvSpPr>
        <p:spPr/>
        <p:txBody>
          <a:bodyPr/>
          <a:lstStyle/>
          <a:p>
            <a:fld id="{F6969246-A70B-4C9F-A67E-C2E21AFF715D}" type="slidenum">
              <a:rPr lang="en-CA" smtClean="0"/>
              <a:t>66</a:t>
            </a:fld>
            <a:endParaRPr lang="en-CA"/>
          </a:p>
        </p:txBody>
      </p:sp>
    </p:spTree>
    <p:extLst>
      <p:ext uri="{BB962C8B-B14F-4D97-AF65-F5344CB8AC3E}">
        <p14:creationId xmlns:p14="http://schemas.microsoft.com/office/powerpoint/2010/main" val="766860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Error! </a:t>
            </a:r>
            <a:r>
              <a:rPr lang="en-CA" dirty="0" err="1"/>
              <a:t>Num_members</a:t>
            </a:r>
            <a:r>
              <a:rPr lang="en-CA" dirty="0"/>
              <a:t> is an int</a:t>
            </a:r>
            <a:endParaRPr lang="en-US" dirty="0"/>
          </a:p>
        </p:txBody>
      </p:sp>
      <p:sp>
        <p:nvSpPr>
          <p:cNvPr id="4" name="Slide Number Placeholder 3"/>
          <p:cNvSpPr>
            <a:spLocks noGrp="1"/>
          </p:cNvSpPr>
          <p:nvPr>
            <p:ph type="sldNum" sz="quarter" idx="5"/>
          </p:nvPr>
        </p:nvSpPr>
        <p:spPr/>
        <p:txBody>
          <a:bodyPr/>
          <a:lstStyle/>
          <a:p>
            <a:fld id="{F6969246-A70B-4C9F-A67E-C2E21AFF715D}" type="slidenum">
              <a:rPr lang="en-CA" smtClean="0"/>
              <a:t>67</a:t>
            </a:fld>
            <a:endParaRPr lang="en-CA"/>
          </a:p>
        </p:txBody>
      </p:sp>
    </p:spTree>
    <p:extLst>
      <p:ext uri="{BB962C8B-B14F-4D97-AF65-F5344CB8AC3E}">
        <p14:creationId xmlns:p14="http://schemas.microsoft.com/office/powerpoint/2010/main" val="2047632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pikachu</a:t>
            </a:r>
            <a:r>
              <a:rPr lang="en-US" dirty="0"/>
              <a:t> and 6others</a:t>
            </a:r>
          </a:p>
        </p:txBody>
      </p:sp>
      <p:sp>
        <p:nvSpPr>
          <p:cNvPr id="4" name="Slide Number Placeholder 3"/>
          <p:cNvSpPr>
            <a:spLocks noGrp="1"/>
          </p:cNvSpPr>
          <p:nvPr>
            <p:ph type="sldNum" sz="quarter" idx="5"/>
          </p:nvPr>
        </p:nvSpPr>
        <p:spPr/>
        <p:txBody>
          <a:bodyPr/>
          <a:lstStyle/>
          <a:p>
            <a:fld id="{F6969246-A70B-4C9F-A67E-C2E21AFF715D}" type="slidenum">
              <a:rPr lang="en-CA" smtClean="0"/>
              <a:t>68</a:t>
            </a:fld>
            <a:endParaRPr lang="en-CA"/>
          </a:p>
        </p:txBody>
      </p:sp>
    </p:spTree>
    <p:extLst>
      <p:ext uri="{BB962C8B-B14F-4D97-AF65-F5344CB8AC3E}">
        <p14:creationId xmlns:p14="http://schemas.microsoft.com/office/powerpoint/2010/main" val="347436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will actually produce multiple new lines vs one long line of text</a:t>
            </a:r>
          </a:p>
          <a:p>
            <a:endParaRPr lang="en-CA" dirty="0"/>
          </a:p>
          <a:p>
            <a:r>
              <a:rPr lang="en-CA" dirty="0"/>
              <a:t>They like version 2 with the (</a:t>
            </a:r>
            <a:endParaRPr lang="en-US" dirty="0"/>
          </a:p>
        </p:txBody>
      </p:sp>
      <p:sp>
        <p:nvSpPr>
          <p:cNvPr id="4" name="Slide Number Placeholder 3"/>
          <p:cNvSpPr>
            <a:spLocks noGrp="1"/>
          </p:cNvSpPr>
          <p:nvPr>
            <p:ph type="sldNum" sz="quarter" idx="5"/>
          </p:nvPr>
        </p:nvSpPr>
        <p:spPr/>
        <p:txBody>
          <a:bodyPr/>
          <a:lstStyle/>
          <a:p>
            <a:fld id="{F6969246-A70B-4C9F-A67E-C2E21AFF715D}" type="slidenum">
              <a:rPr lang="en-CA" smtClean="0"/>
              <a:t>71</a:t>
            </a:fld>
            <a:endParaRPr lang="en-CA"/>
          </a:p>
        </p:txBody>
      </p:sp>
    </p:spTree>
    <p:extLst>
      <p:ext uri="{BB962C8B-B14F-4D97-AF65-F5344CB8AC3E}">
        <p14:creationId xmlns:p14="http://schemas.microsoft.com/office/powerpoint/2010/main" val="34744099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 earned 98.5 and 65</a:t>
            </a:r>
          </a:p>
          <a:p>
            <a:r>
              <a:rPr lang="en-CA" dirty="0"/>
              <a:t>Pi equals 3.141592653589793</a:t>
            </a:r>
          </a:p>
          <a:p>
            <a:r>
              <a:rPr lang="en-CA" dirty="0"/>
              <a:t>Pi equals 3.142</a:t>
            </a:r>
            <a:endParaRPr lang="en-US" dirty="0"/>
          </a:p>
        </p:txBody>
      </p:sp>
      <p:sp>
        <p:nvSpPr>
          <p:cNvPr id="4" name="Slide Number Placeholder 3"/>
          <p:cNvSpPr>
            <a:spLocks noGrp="1"/>
          </p:cNvSpPr>
          <p:nvPr>
            <p:ph type="sldNum" sz="quarter" idx="5"/>
          </p:nvPr>
        </p:nvSpPr>
        <p:spPr/>
        <p:txBody>
          <a:bodyPr/>
          <a:lstStyle/>
          <a:p>
            <a:fld id="{F6969246-A70B-4C9F-A67E-C2E21AFF715D}" type="slidenum">
              <a:rPr lang="en-CA" smtClean="0"/>
              <a:t>76</a:t>
            </a:fld>
            <a:endParaRPr lang="en-CA"/>
          </a:p>
        </p:txBody>
      </p:sp>
    </p:spTree>
    <p:extLst>
      <p:ext uri="{BB962C8B-B14F-4D97-AF65-F5344CB8AC3E}">
        <p14:creationId xmlns:p14="http://schemas.microsoft.com/office/powerpoint/2010/main" val="3106859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The main difference between using a comma and a plus sign in a print statement is that the comma adds a space between the concatenated values, while the plus sign does not. So, if you want to add a space between the values you're printing, you can use a comma to separate them. If you don't want to add a space, you can use a plus sign to concatenate the values.</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Note that when using a plus sign, you may need to explicitly convert variables to strings if you want to concatenate them with strings. In the example above, we used the str() function to convert the age variable to a string before concatenating it with the other strings.</a:t>
            </a:r>
          </a:p>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78</a:t>
            </a:fld>
            <a:endParaRPr lang="en-CA"/>
          </a:p>
        </p:txBody>
      </p:sp>
    </p:spTree>
    <p:extLst>
      <p:ext uri="{BB962C8B-B14F-4D97-AF65-F5344CB8AC3E}">
        <p14:creationId xmlns:p14="http://schemas.microsoft.com/office/powerpoint/2010/main" val="4270978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Marvel movie example</a:t>
            </a:r>
            <a:br>
              <a:rPr lang="en-US" dirty="0"/>
            </a:br>
            <a:r>
              <a:rPr lang="en-US" dirty="0"/>
              <a:t>print("%s is %d years old." % (name, age))</a:t>
            </a:r>
          </a:p>
          <a:p>
            <a:r>
              <a:rPr lang="en-US" dirty="0" err="1"/>
              <a:t>mylist</a:t>
            </a:r>
            <a:r>
              <a:rPr lang="en-US" dirty="0"/>
              <a:t> = [1,2,3]</a:t>
            </a:r>
          </a:p>
          <a:p>
            <a:r>
              <a:rPr lang="en-US" dirty="0"/>
              <a:t>print("A list: %s" % </a:t>
            </a:r>
            <a:r>
              <a:rPr lang="en-US" dirty="0" err="1"/>
              <a:t>mylist</a:t>
            </a:r>
            <a:r>
              <a:rPr lang="en-US" dirty="0"/>
              <a:t>)</a:t>
            </a:r>
          </a:p>
          <a:p>
            <a:endParaRPr lang="en-US" dirty="0"/>
          </a:p>
          <a:p>
            <a:r>
              <a:rPr lang="en-US" dirty="0"/>
              <a:t>I don’t like these but they are common across many languages</a:t>
            </a:r>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80</a:t>
            </a:fld>
            <a:endParaRPr lang="en-CA"/>
          </a:p>
        </p:txBody>
      </p:sp>
    </p:spTree>
    <p:extLst>
      <p:ext uri="{BB962C8B-B14F-4D97-AF65-F5344CB8AC3E}">
        <p14:creationId xmlns:p14="http://schemas.microsoft.com/office/powerpoint/2010/main" val="3391449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Marvel movie example</a:t>
            </a:r>
            <a:br>
              <a:rPr lang="en-US" dirty="0"/>
            </a:br>
            <a:r>
              <a:rPr lang="en-US" dirty="0"/>
              <a:t>print("%s is %d years old." % (name, age))</a:t>
            </a:r>
          </a:p>
          <a:p>
            <a:r>
              <a:rPr lang="en-US" dirty="0" err="1"/>
              <a:t>mylist</a:t>
            </a:r>
            <a:r>
              <a:rPr lang="en-US" dirty="0"/>
              <a:t> = [1,2,3]</a:t>
            </a:r>
          </a:p>
          <a:p>
            <a:r>
              <a:rPr lang="en-US" dirty="0"/>
              <a:t>print("A list: %s" % </a:t>
            </a:r>
            <a:r>
              <a:rPr lang="en-US" dirty="0" err="1"/>
              <a:t>mylist</a:t>
            </a:r>
            <a:r>
              <a:rPr lang="en-US" dirty="0"/>
              <a:t>)</a:t>
            </a:r>
          </a:p>
          <a:p>
            <a:endParaRPr lang="en-US" dirty="0"/>
          </a:p>
          <a:p>
            <a:r>
              <a:rPr lang="en-US" dirty="0"/>
              <a:t>I don’t like these but they are common across many languages</a:t>
            </a:r>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81</a:t>
            </a:fld>
            <a:endParaRPr lang="en-CA"/>
          </a:p>
        </p:txBody>
      </p:sp>
    </p:spTree>
    <p:extLst>
      <p:ext uri="{BB962C8B-B14F-4D97-AF65-F5344CB8AC3E}">
        <p14:creationId xmlns:p14="http://schemas.microsoft.com/office/powerpoint/2010/main" val="2890664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Order matters</a:t>
            </a:r>
          </a:p>
        </p:txBody>
      </p:sp>
      <p:sp>
        <p:nvSpPr>
          <p:cNvPr id="4" name="Slide Number Placeholder 3"/>
          <p:cNvSpPr>
            <a:spLocks noGrp="1"/>
          </p:cNvSpPr>
          <p:nvPr>
            <p:ph type="sldNum" sz="quarter" idx="5"/>
          </p:nvPr>
        </p:nvSpPr>
        <p:spPr/>
        <p:txBody>
          <a:bodyPr/>
          <a:lstStyle/>
          <a:p>
            <a:fld id="{F6969246-A70B-4C9F-A67E-C2E21AFF715D}" type="slidenum">
              <a:rPr lang="en-CA" smtClean="0"/>
              <a:t>83</a:t>
            </a:fld>
            <a:endParaRPr lang="en-CA"/>
          </a:p>
        </p:txBody>
      </p:sp>
    </p:spTree>
    <p:extLst>
      <p:ext uri="{BB962C8B-B14F-4D97-AF65-F5344CB8AC3E}">
        <p14:creationId xmlns:p14="http://schemas.microsoft.com/office/powerpoint/2010/main" val="592639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7" name="Date Placeholder 6"/>
          <p:cNvSpPr>
            <a:spLocks noGrp="1"/>
          </p:cNvSpPr>
          <p:nvPr>
            <p:ph type="dt" sz="half" idx="10"/>
          </p:nvPr>
        </p:nvSpPr>
        <p:spPr/>
        <p:txBody>
          <a:bodyPr/>
          <a:lstStyle/>
          <a:p>
            <a:fld id="{1D102C1E-28F2-47E9-802D-339E64E2F920}" type="datetimeFigureOut">
              <a:rPr lang="en-US" dirty="0"/>
              <a:t>1/6/2026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1/6/2026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1/6/2026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tutorialspoint.com/python/index.htm" TargetMode="External"/><Relationship Id="rId2" Type="http://schemas.openxmlformats.org/officeDocument/2006/relationships/hyperlink" Target="https://www.geeksforgeeks.org/python-programming-languag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6.gif"/><Relationship Id="rId3" Type="http://schemas.openxmlformats.org/officeDocument/2006/relationships/image" Target="../media/image2.png"/><Relationship Id="rId7"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wallpaperflare.com/gray-crt-television-on-dresser-sonic-the-hedgehog-retro-games-wallpaper-pqkwt/download/3440x1440" TargetMode="External"/><Relationship Id="rId5" Type="http://schemas.openxmlformats.org/officeDocument/2006/relationships/image" Target="../media/image4.jp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hyperlink" Target="https://www.bcit.ca/files/pdf/policies/5104.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tiobe.com/tiobe-index/"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hyperlink" Target="https://www.python.org/dev/peps/pep-0008/"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realpython.com/python-pep8/"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docs.python.org/3.7/library/stdtypes.html#string-methods"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docs.python.org/3.7/library/stdtypes.html#string-method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learn.bcit.ca/d2l/le/content/1192286/viewContent/12370933/View"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docs.python.org/3/library/functions.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Welcome!</a:t>
            </a:r>
          </a:p>
        </p:txBody>
      </p:sp>
      <p:sp>
        <p:nvSpPr>
          <p:cNvPr id="3" name="Subtitle 2"/>
          <p:cNvSpPr>
            <a:spLocks noGrp="1"/>
          </p:cNvSpPr>
          <p:nvPr>
            <p:ph type="subTitle" idx="1"/>
          </p:nvPr>
        </p:nvSpPr>
        <p:spPr/>
        <p:txBody>
          <a:bodyPr>
            <a:normAutofit fontScale="85000" lnSpcReduction="20000"/>
          </a:bodyPr>
          <a:lstStyle/>
          <a:p>
            <a:r>
              <a:rPr lang="en-CA" dirty="0"/>
              <a:t>COMP 3522 Object Oriented Programming 2</a:t>
            </a:r>
          </a:p>
          <a:p>
            <a:r>
              <a:rPr lang="en-CA" dirty="0"/>
              <a:t>Week 1: Python Fundamentals</a:t>
            </a:r>
          </a:p>
          <a:p>
            <a:r>
              <a:rPr lang="en-CA" dirty="0"/>
              <a:t>Slides by </a:t>
            </a:r>
            <a:r>
              <a:rPr lang="en-CA"/>
              <a:t>Jeffrey Yim &amp; Rahul Kukreja</a:t>
            </a:r>
            <a:endParaRPr lang="en-CA" dirty="0"/>
          </a:p>
        </p:txBody>
      </p:sp>
    </p:spTree>
    <p:extLst>
      <p:ext uri="{BB962C8B-B14F-4D97-AF65-F5344CB8AC3E}">
        <p14:creationId xmlns:p14="http://schemas.microsoft.com/office/powerpoint/2010/main" val="1132307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856F-1EFF-4185-93B9-3C2B73FA14C8}"/>
              </a:ext>
            </a:extLst>
          </p:cNvPr>
          <p:cNvSpPr>
            <a:spLocks noGrp="1"/>
          </p:cNvSpPr>
          <p:nvPr>
            <p:ph type="title"/>
          </p:nvPr>
        </p:nvSpPr>
        <p:spPr/>
        <p:txBody>
          <a:bodyPr/>
          <a:lstStyle/>
          <a:p>
            <a:r>
              <a:rPr lang="en-CA" dirty="0"/>
              <a:t>Agenda</a:t>
            </a:r>
          </a:p>
        </p:txBody>
      </p:sp>
      <p:sp>
        <p:nvSpPr>
          <p:cNvPr id="3" name="Content Placeholder 2">
            <a:extLst>
              <a:ext uri="{FF2B5EF4-FFF2-40B4-BE49-F238E27FC236}">
                <a16:creationId xmlns:a16="http://schemas.microsoft.com/office/drawing/2014/main" id="{EF8BF406-B0B7-4A7A-BB97-3391AD3984B6}"/>
              </a:ext>
            </a:extLst>
          </p:cNvPr>
          <p:cNvSpPr>
            <a:spLocks noGrp="1"/>
          </p:cNvSpPr>
          <p:nvPr>
            <p:ph idx="1"/>
          </p:nvPr>
        </p:nvSpPr>
        <p:spPr>
          <a:xfrm>
            <a:off x="1097280" y="1845734"/>
            <a:ext cx="10058400" cy="4023360"/>
          </a:xfrm>
        </p:spPr>
        <p:txBody>
          <a:bodyPr numCol="2">
            <a:normAutofit/>
          </a:bodyPr>
          <a:lstStyle/>
          <a:p>
            <a:pPr marL="514350" indent="-514350">
              <a:buFont typeface="+mj-lt"/>
              <a:buAutoNum type="arabicPeriod"/>
            </a:pPr>
            <a:r>
              <a:rPr lang="en-US" dirty="0"/>
              <a:t>Introduction</a:t>
            </a:r>
          </a:p>
          <a:p>
            <a:pPr marL="514350" indent="-514350">
              <a:buFont typeface="+mj-lt"/>
              <a:buAutoNum type="arabicPeriod"/>
            </a:pPr>
            <a:r>
              <a:rPr lang="en-US" dirty="0"/>
              <a:t>Logistics and Expectations</a:t>
            </a:r>
          </a:p>
          <a:p>
            <a:pPr marL="514350" indent="-514350">
              <a:buFont typeface="+mj-lt"/>
              <a:buAutoNum type="arabicPeriod"/>
            </a:pPr>
            <a:r>
              <a:rPr lang="en-US" dirty="0"/>
              <a:t>Intro to Python</a:t>
            </a:r>
          </a:p>
          <a:p>
            <a:pPr marL="514350" indent="-514350">
              <a:buFont typeface="+mj-lt"/>
              <a:buAutoNum type="arabicPeriod"/>
            </a:pPr>
            <a:r>
              <a:rPr lang="en-US" dirty="0"/>
              <a:t>Comments and docstrings</a:t>
            </a:r>
          </a:p>
          <a:p>
            <a:pPr marL="514350" indent="-514350">
              <a:buFont typeface="+mj-lt"/>
              <a:buAutoNum type="arabicPeriod"/>
            </a:pPr>
            <a:r>
              <a:rPr lang="en-US" dirty="0"/>
              <a:t>PEP-8 Style Guide</a:t>
            </a:r>
          </a:p>
          <a:p>
            <a:pPr marL="514350" indent="-514350">
              <a:buFont typeface="+mj-lt"/>
              <a:buAutoNum type="arabicPeriod"/>
            </a:pPr>
            <a:r>
              <a:rPr lang="en-US" dirty="0"/>
              <a:t>Strings, ASCII and Unicode in Python</a:t>
            </a:r>
          </a:p>
          <a:p>
            <a:pPr marL="514350" indent="-514350">
              <a:buFont typeface="+mj-lt"/>
              <a:buAutoNum type="arabicPeriod"/>
            </a:pPr>
            <a:r>
              <a:rPr lang="en-US" dirty="0"/>
              <a:t>Formatting output (</a:t>
            </a:r>
            <a:r>
              <a:rPr lang="en-US" dirty="0" err="1"/>
              <a:t>str.format</a:t>
            </a:r>
            <a:r>
              <a:rPr lang="en-US" dirty="0"/>
              <a:t>, f-strings, conversion specifiers) </a:t>
            </a:r>
          </a:p>
        </p:txBody>
      </p:sp>
    </p:spTree>
    <p:extLst>
      <p:ext uri="{BB962C8B-B14F-4D97-AF65-F5344CB8AC3E}">
        <p14:creationId xmlns:p14="http://schemas.microsoft.com/office/powerpoint/2010/main" val="19951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Bit About Me…</a:t>
            </a:r>
          </a:p>
        </p:txBody>
      </p:sp>
      <p:sp>
        <p:nvSpPr>
          <p:cNvPr id="3" name="Content Placeholder 2"/>
          <p:cNvSpPr>
            <a:spLocks noGrp="1"/>
          </p:cNvSpPr>
          <p:nvPr>
            <p:ph idx="1"/>
          </p:nvPr>
        </p:nvSpPr>
        <p:spPr>
          <a:xfrm>
            <a:off x="1097280" y="1918970"/>
            <a:ext cx="6479176" cy="3989070"/>
          </a:xfrm>
        </p:spPr>
        <p:txBody>
          <a:bodyPr>
            <a:normAutofit/>
          </a:bodyPr>
          <a:lstStyle/>
          <a:p>
            <a:pPr marL="0" indent="0">
              <a:buNone/>
            </a:pPr>
            <a:r>
              <a:rPr lang="en-CA" sz="2800" dirty="0"/>
              <a:t>Nabil </a:t>
            </a:r>
          </a:p>
          <a:p>
            <a:pPr marL="0" indent="0">
              <a:buNone/>
            </a:pPr>
            <a:r>
              <a:rPr lang="en-CA" sz="2800" b="1" u="sng" dirty="0"/>
              <a:t>Office </a:t>
            </a:r>
            <a:r>
              <a:rPr lang="en-CA" sz="2800" b="1" u="sng"/>
              <a:t>Hours</a:t>
            </a:r>
            <a:r>
              <a:rPr lang="en-CA" sz="2800"/>
              <a:t>:</a:t>
            </a:r>
            <a:endParaRPr lang="en-CA" sz="2800" dirty="0"/>
          </a:p>
          <a:p>
            <a:pPr marL="0" indent="0">
              <a:buNone/>
            </a:pPr>
            <a:r>
              <a:rPr lang="en-CA"/>
              <a:t>Tuesdays: 9:30 – 10:00 AM Tech Hub Area</a:t>
            </a:r>
            <a:br>
              <a:rPr lang="en-CA"/>
            </a:br>
            <a:r>
              <a:rPr lang="en-CA"/>
              <a:t>Kindly message me in advance</a:t>
            </a:r>
            <a:br>
              <a:rPr lang="en-CA"/>
            </a:br>
            <a:br>
              <a:rPr lang="en-CA" dirty="0"/>
            </a:br>
            <a:br>
              <a:rPr lang="en-CA" dirty="0"/>
            </a:br>
            <a:r>
              <a:rPr lang="en-US" dirty="0"/>
              <a:t>Email:</a:t>
            </a:r>
          </a:p>
          <a:p>
            <a:pPr lvl="1">
              <a:lnSpc>
                <a:spcPct val="100000"/>
              </a:lnSpc>
              <a:spcBef>
                <a:spcPts val="0"/>
              </a:spcBef>
              <a:defRPr/>
            </a:pPr>
            <a:r>
              <a:rPr lang="en-US" sz="3600" b="1" dirty="0"/>
              <a:t>nabil_alrousan@bcit.ca</a:t>
            </a:r>
          </a:p>
        </p:txBody>
      </p:sp>
    </p:spTree>
    <p:extLst>
      <p:ext uri="{BB962C8B-B14F-4D97-AF65-F5344CB8AC3E}">
        <p14:creationId xmlns:p14="http://schemas.microsoft.com/office/powerpoint/2010/main" val="1544263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027611" y="2523367"/>
            <a:ext cx="10197738" cy="147085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CA" dirty="0"/>
              <a:t>Let’s Get Through Some Administrative Stuff First</a:t>
            </a:r>
          </a:p>
        </p:txBody>
      </p:sp>
    </p:spTree>
    <p:extLst>
      <p:ext uri="{BB962C8B-B14F-4D97-AF65-F5344CB8AC3E}">
        <p14:creationId xmlns:p14="http://schemas.microsoft.com/office/powerpoint/2010/main" val="232171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 3522 - </a:t>
            </a:r>
            <a:r>
              <a:rPr lang="en-US" b="1" dirty="0"/>
              <a:t>Three pillars of this course:</a:t>
            </a:r>
            <a:endParaRPr lang="en-US" dirty="0"/>
          </a:p>
        </p:txBody>
      </p:sp>
      <p:sp>
        <p:nvSpPr>
          <p:cNvPr id="3" name="Content Placeholder 2"/>
          <p:cNvSpPr>
            <a:spLocks noGrp="1"/>
          </p:cNvSpPr>
          <p:nvPr>
            <p:ph idx="1"/>
          </p:nvPr>
        </p:nvSpPr>
        <p:spPr>
          <a:xfrm>
            <a:off x="838200" y="1927543"/>
            <a:ext cx="10515600" cy="4086750"/>
          </a:xfrm>
        </p:spPr>
        <p:txBody>
          <a:bodyPr>
            <a:noAutofit/>
          </a:bodyPr>
          <a:lstStyle/>
          <a:p>
            <a:pPr marL="0" lvl="0" indent="0">
              <a:lnSpc>
                <a:spcPct val="100000"/>
              </a:lnSpc>
              <a:spcBef>
                <a:spcPts val="0"/>
              </a:spcBef>
              <a:buNone/>
            </a:pPr>
            <a:r>
              <a:rPr lang="en-US" dirty="0"/>
              <a:t>1. Learn how to </a:t>
            </a:r>
            <a:r>
              <a:rPr lang="en-US" b="1" dirty="0"/>
              <a:t>code in Python</a:t>
            </a:r>
            <a:endParaRPr lang="en-US" dirty="0"/>
          </a:p>
          <a:p>
            <a:pPr lvl="1">
              <a:lnSpc>
                <a:spcPct val="100000"/>
              </a:lnSpc>
              <a:spcBef>
                <a:spcPts val="0"/>
              </a:spcBef>
            </a:pPr>
            <a:r>
              <a:rPr lang="en-US" sz="2500" dirty="0"/>
              <a:t>OOP concepts Classes, inheritance, polymorphism</a:t>
            </a:r>
          </a:p>
          <a:p>
            <a:pPr lvl="1">
              <a:lnSpc>
                <a:spcPct val="100000"/>
              </a:lnSpc>
              <a:spcBef>
                <a:spcPts val="0"/>
              </a:spcBef>
            </a:pPr>
            <a:r>
              <a:rPr lang="en-US" sz="2500" dirty="0"/>
              <a:t>Containers</a:t>
            </a:r>
          </a:p>
          <a:p>
            <a:pPr lvl="1">
              <a:lnSpc>
                <a:spcPct val="100000"/>
              </a:lnSpc>
              <a:spcBef>
                <a:spcPts val="0"/>
              </a:spcBef>
            </a:pPr>
            <a:r>
              <a:rPr lang="en-US" sz="2500" dirty="0"/>
              <a:t>Exceptions</a:t>
            </a:r>
          </a:p>
          <a:p>
            <a:pPr>
              <a:lnSpc>
                <a:spcPct val="100000"/>
              </a:lnSpc>
              <a:spcBef>
                <a:spcPts val="0"/>
              </a:spcBef>
            </a:pPr>
            <a:endParaRPr lang="en-US" dirty="0"/>
          </a:p>
          <a:p>
            <a:pPr marL="0" indent="0">
              <a:lnSpc>
                <a:spcPct val="100000"/>
              </a:lnSpc>
              <a:spcBef>
                <a:spcPts val="0"/>
              </a:spcBef>
              <a:buNone/>
            </a:pPr>
            <a:r>
              <a:rPr lang="en-US" dirty="0"/>
              <a:t>2. Learn how to </a:t>
            </a:r>
            <a:r>
              <a:rPr lang="en-US" b="1" dirty="0"/>
              <a:t>write good clean reusable code </a:t>
            </a:r>
            <a:r>
              <a:rPr lang="en-US" dirty="0"/>
              <a:t>using the S.O.L.I.D principles</a:t>
            </a:r>
          </a:p>
          <a:p>
            <a:pPr marL="0" lvl="0" indent="0">
              <a:lnSpc>
                <a:spcPct val="100000"/>
              </a:lnSpc>
              <a:spcBef>
                <a:spcPts val="0"/>
              </a:spcBef>
              <a:buNone/>
            </a:pPr>
            <a:endParaRPr lang="en-US" b="1" dirty="0"/>
          </a:p>
          <a:p>
            <a:pPr marL="0" lvl="0" indent="0">
              <a:lnSpc>
                <a:spcPct val="100000"/>
              </a:lnSpc>
              <a:spcBef>
                <a:spcPts val="0"/>
              </a:spcBef>
              <a:buNone/>
            </a:pPr>
            <a:r>
              <a:rPr lang="en-US" dirty="0"/>
              <a:t>3. Learn how to </a:t>
            </a:r>
            <a:r>
              <a:rPr lang="en-US" b="1" dirty="0"/>
              <a:t>write Design Patterns </a:t>
            </a:r>
            <a:r>
              <a:rPr lang="en-US" dirty="0"/>
              <a:t>– Behavioral, Creational, Structural patterns</a:t>
            </a:r>
          </a:p>
        </p:txBody>
      </p:sp>
    </p:spTree>
    <p:extLst>
      <p:ext uri="{BB962C8B-B14F-4D97-AF65-F5344CB8AC3E}">
        <p14:creationId xmlns:p14="http://schemas.microsoft.com/office/powerpoint/2010/main" val="443714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2CFD2-C7BD-4085-988C-B35622ADC093}"/>
              </a:ext>
            </a:extLst>
          </p:cNvPr>
          <p:cNvSpPr>
            <a:spLocks noGrp="1"/>
          </p:cNvSpPr>
          <p:nvPr>
            <p:ph type="title"/>
          </p:nvPr>
        </p:nvSpPr>
        <p:spPr/>
        <p:txBody>
          <a:bodyPr/>
          <a:lstStyle/>
          <a:p>
            <a:r>
              <a:rPr lang="en-CA" dirty="0"/>
              <a:t>Class Schedule</a:t>
            </a:r>
          </a:p>
        </p:txBody>
      </p:sp>
      <p:sp>
        <p:nvSpPr>
          <p:cNvPr id="3" name="Content Placeholder 2">
            <a:extLst>
              <a:ext uri="{FF2B5EF4-FFF2-40B4-BE49-F238E27FC236}">
                <a16:creationId xmlns:a16="http://schemas.microsoft.com/office/drawing/2014/main" id="{5A2CD1A0-9A3B-431A-9006-6F62DB94B0CB}"/>
              </a:ext>
            </a:extLst>
          </p:cNvPr>
          <p:cNvSpPr>
            <a:spLocks noGrp="1"/>
          </p:cNvSpPr>
          <p:nvPr>
            <p:ph idx="1"/>
          </p:nvPr>
        </p:nvSpPr>
        <p:spPr>
          <a:xfrm>
            <a:off x="1097280" y="1971464"/>
            <a:ext cx="10058400" cy="4023360"/>
          </a:xfrm>
        </p:spPr>
        <p:txBody>
          <a:bodyPr numCol="2">
            <a:normAutofit/>
          </a:bodyPr>
          <a:lstStyle/>
          <a:p>
            <a:r>
              <a:rPr lang="en-CA" sz="2800" b="1"/>
              <a:t>Lecture </a:t>
            </a:r>
            <a:r>
              <a:rPr lang="en-CA" sz="2800" b="1" dirty="0"/>
              <a:t>1 </a:t>
            </a:r>
            <a:br>
              <a:rPr lang="en-CA" sz="2800" dirty="0"/>
            </a:br>
            <a:r>
              <a:rPr lang="en-CA" sz="2800" dirty="0"/>
              <a:t>Tuesday</a:t>
            </a:r>
            <a:r>
              <a:rPr lang="en-CA" sz="2800"/>
              <a:t>, 10:30 – 11:20 </a:t>
            </a:r>
            <a:r>
              <a:rPr lang="en-CA" sz="2800" dirty="0"/>
              <a:t>A</a:t>
            </a:r>
            <a:r>
              <a:rPr lang="en-CA" sz="2800"/>
              <a:t>M</a:t>
            </a:r>
            <a:endParaRPr lang="en-CA" sz="2800" dirty="0"/>
          </a:p>
          <a:p>
            <a:r>
              <a:rPr lang="en-CA" sz="2800" b="1"/>
              <a:t>Lecture 2</a:t>
            </a:r>
            <a:br>
              <a:rPr lang="en-CA" sz="2800"/>
            </a:br>
            <a:r>
              <a:rPr lang="en-CA" sz="2800"/>
              <a:t>Thursday, 10:30 – 12:20 </a:t>
            </a:r>
            <a:r>
              <a:rPr lang="en-CA" sz="2800" dirty="0"/>
              <a:t>PM</a:t>
            </a:r>
          </a:p>
          <a:p>
            <a:pPr marL="0" indent="0">
              <a:buNone/>
            </a:pPr>
            <a:endParaRPr lang="en-CA" sz="2800" dirty="0"/>
          </a:p>
        </p:txBody>
      </p:sp>
    </p:spTree>
    <p:extLst>
      <p:ext uri="{BB962C8B-B14F-4D97-AF65-F5344CB8AC3E}">
        <p14:creationId xmlns:p14="http://schemas.microsoft.com/office/powerpoint/2010/main" val="3099032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a:t>
            </a:r>
          </a:p>
        </p:txBody>
      </p:sp>
      <p:sp>
        <p:nvSpPr>
          <p:cNvPr id="3" name="Content Placeholder 2"/>
          <p:cNvSpPr>
            <a:spLocks noGrp="1"/>
          </p:cNvSpPr>
          <p:nvPr>
            <p:ph idx="1"/>
          </p:nvPr>
        </p:nvSpPr>
        <p:spPr>
          <a:xfrm>
            <a:off x="1097280" y="1845733"/>
            <a:ext cx="10058400" cy="4544309"/>
          </a:xfrm>
        </p:spPr>
        <p:txBody>
          <a:bodyPr>
            <a:normAutofit/>
          </a:bodyPr>
          <a:lstStyle/>
          <a:p>
            <a:pPr marL="0" indent="0">
              <a:buNone/>
            </a:pPr>
            <a:r>
              <a:rPr lang="en-US" sz="2500" b="1" dirty="0"/>
              <a:t>Lecture Breakdown:</a:t>
            </a:r>
          </a:p>
          <a:p>
            <a:pPr marL="457200" indent="-457200">
              <a:buFont typeface="+mj-lt"/>
              <a:buAutoNum type="arabicPeriod"/>
            </a:pPr>
            <a:r>
              <a:rPr lang="en-US" dirty="0"/>
              <a:t>Explaining topic and theory</a:t>
            </a:r>
          </a:p>
          <a:p>
            <a:pPr marL="457200" indent="-457200">
              <a:buFont typeface="+mj-lt"/>
              <a:buAutoNum type="arabicPeriod"/>
            </a:pPr>
            <a:r>
              <a:rPr lang="en-US" dirty="0"/>
              <a:t>Write and Examine code</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7088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a:t>
            </a:r>
          </a:p>
        </p:txBody>
      </p:sp>
      <p:sp>
        <p:nvSpPr>
          <p:cNvPr id="3" name="Content Placeholder 2"/>
          <p:cNvSpPr>
            <a:spLocks noGrp="1"/>
          </p:cNvSpPr>
          <p:nvPr>
            <p:ph idx="1"/>
          </p:nvPr>
        </p:nvSpPr>
        <p:spPr/>
        <p:txBody>
          <a:bodyPr>
            <a:normAutofit fontScale="92500" lnSpcReduction="10000"/>
          </a:bodyPr>
          <a:lstStyle/>
          <a:p>
            <a:r>
              <a:rPr lang="en-US" sz="3200" b="1" dirty="0"/>
              <a:t>Labs</a:t>
            </a:r>
          </a:p>
          <a:p>
            <a:r>
              <a:rPr lang="en-US" dirty="0"/>
              <a:t>Try your best to be punctual</a:t>
            </a:r>
          </a:p>
          <a:p>
            <a:r>
              <a:rPr lang="en-US" dirty="0"/>
              <a:t>Time to work on lab and ask me questions</a:t>
            </a:r>
          </a:p>
          <a:p>
            <a:r>
              <a:rPr lang="en-US" dirty="0"/>
              <a:t>Attendance is taken during labs</a:t>
            </a:r>
          </a:p>
          <a:p>
            <a:pPr lvl="1"/>
            <a:r>
              <a:rPr lang="en-US" dirty="0"/>
              <a:t>I need to report unapproved absences</a:t>
            </a:r>
          </a:p>
          <a:p>
            <a:pPr lvl="1"/>
            <a:r>
              <a:rPr lang="en-US" dirty="0"/>
              <a:t>Unapproved absence of 10% or more of the labs may result in failure or forced withdrawal from this course</a:t>
            </a:r>
          </a:p>
          <a:p>
            <a:r>
              <a:rPr lang="en-US" b="1"/>
              <a:t>Labs to be done in lab time. You have always one week to demonstrate your work.</a:t>
            </a:r>
            <a:br>
              <a:rPr lang="en-US" b="1"/>
            </a:br>
            <a:br>
              <a:rPr lang="en-US" b="1"/>
            </a:br>
            <a:r>
              <a:rPr lang="en-US" b="1"/>
              <a:t>Labs will be graded in lab time. You have to present your work and answer questions to receive 100%.</a:t>
            </a:r>
            <a:br>
              <a:rPr lang="en-US" b="1"/>
            </a:br>
            <a:br>
              <a:rPr lang="en-US" b="1"/>
            </a:br>
            <a:r>
              <a:rPr lang="en-US" b="1"/>
              <a:t>Atomic and Incremental commits are always expected.</a:t>
            </a:r>
            <a:endParaRPr lang="en-US" b="1" dirty="0"/>
          </a:p>
        </p:txBody>
      </p:sp>
    </p:spTree>
    <p:extLst>
      <p:ext uri="{BB962C8B-B14F-4D97-AF65-F5344CB8AC3E}">
        <p14:creationId xmlns:p14="http://schemas.microsoft.com/office/powerpoint/2010/main" val="2474854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a:t>
            </a:r>
          </a:p>
        </p:txBody>
      </p:sp>
      <p:sp>
        <p:nvSpPr>
          <p:cNvPr id="3" name="Content Placeholder 2"/>
          <p:cNvSpPr>
            <a:spLocks noGrp="1"/>
          </p:cNvSpPr>
          <p:nvPr>
            <p:ph idx="1"/>
          </p:nvPr>
        </p:nvSpPr>
        <p:spPr>
          <a:xfrm>
            <a:off x="1091060" y="1858174"/>
            <a:ext cx="10058400" cy="4023360"/>
          </a:xfrm>
        </p:spPr>
        <p:txBody>
          <a:bodyPr>
            <a:normAutofit/>
          </a:bodyPr>
          <a:lstStyle/>
          <a:p>
            <a:r>
              <a:rPr lang="en-US" sz="3200" b="1"/>
              <a:t>Assignments</a:t>
            </a:r>
            <a:endParaRPr lang="en-US" sz="3200" b="1" dirty="0"/>
          </a:p>
          <a:p>
            <a:r>
              <a:rPr lang="en-US" sz="3200">
                <a:solidFill>
                  <a:srgbClr val="FF0000"/>
                </a:solidFill>
              </a:rPr>
              <a:t>- No </a:t>
            </a:r>
            <a:r>
              <a:rPr lang="en-US" sz="3200" dirty="0">
                <a:solidFill>
                  <a:srgbClr val="FF0000"/>
                </a:solidFill>
              </a:rPr>
              <a:t>late submissions</a:t>
            </a:r>
          </a:p>
          <a:p>
            <a:r>
              <a:rPr lang="en-US" sz="3200"/>
              <a:t>- Submit </a:t>
            </a:r>
            <a:r>
              <a:rPr lang="en-US" sz="3200" dirty="0"/>
              <a:t>code to </a:t>
            </a:r>
            <a:r>
              <a:rPr lang="en-US" sz="3200" err="1"/>
              <a:t>github</a:t>
            </a:r>
            <a:r>
              <a:rPr lang="en-US" sz="3200"/>
              <a:t> classroom</a:t>
            </a:r>
          </a:p>
          <a:p>
            <a:r>
              <a:rPr lang="en-US" sz="3200"/>
              <a:t>- Must be demonstrated in person</a:t>
            </a:r>
            <a:endParaRPr lang="en-US" sz="3200" dirty="0"/>
          </a:p>
          <a:p>
            <a:endParaRPr lang="en-US" sz="3200" dirty="0"/>
          </a:p>
        </p:txBody>
      </p:sp>
    </p:spTree>
    <p:extLst>
      <p:ext uri="{BB962C8B-B14F-4D97-AF65-F5344CB8AC3E}">
        <p14:creationId xmlns:p14="http://schemas.microsoft.com/office/powerpoint/2010/main" val="4265701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a:t>
            </a:r>
          </a:p>
        </p:txBody>
      </p:sp>
      <p:sp>
        <p:nvSpPr>
          <p:cNvPr id="3" name="Content Placeholder 2"/>
          <p:cNvSpPr>
            <a:spLocks noGrp="1"/>
          </p:cNvSpPr>
          <p:nvPr>
            <p:ph idx="1"/>
          </p:nvPr>
        </p:nvSpPr>
        <p:spPr/>
        <p:txBody>
          <a:bodyPr>
            <a:normAutofit lnSpcReduction="10000"/>
          </a:bodyPr>
          <a:lstStyle/>
          <a:p>
            <a:r>
              <a:rPr lang="en-US" sz="3200" b="1" dirty="0"/>
              <a:t>Midterm &amp; Final exam</a:t>
            </a:r>
          </a:p>
          <a:p>
            <a:r>
              <a:rPr lang="en-US" sz="3200" dirty="0"/>
              <a:t>In-person hand-written paper exams</a:t>
            </a:r>
          </a:p>
          <a:p>
            <a:r>
              <a:rPr lang="en-US" sz="3200" dirty="0"/>
              <a:t>True/false, multiple choice</a:t>
            </a:r>
          </a:p>
          <a:p>
            <a:r>
              <a:rPr lang="en-US" sz="3200" dirty="0"/>
              <a:t>Short </a:t>
            </a:r>
            <a:r>
              <a:rPr lang="en-US" sz="3200"/>
              <a:t>and long guided coding </a:t>
            </a:r>
            <a:r>
              <a:rPr lang="en-US" sz="3200" dirty="0"/>
              <a:t>questions</a:t>
            </a:r>
          </a:p>
          <a:p>
            <a:r>
              <a:rPr lang="en-US" sz="3200" dirty="0"/>
              <a:t>Best way to practice is to complete the labs, assignments, and exercises </a:t>
            </a:r>
            <a:r>
              <a:rPr lang="en-US" sz="3200"/>
              <a:t>in lectures</a:t>
            </a:r>
          </a:p>
          <a:p>
            <a:r>
              <a:rPr lang="en-US" sz="3200"/>
              <a:t>Previous exams will be shared with you</a:t>
            </a:r>
            <a:endParaRPr lang="en-US" sz="3200" dirty="0"/>
          </a:p>
        </p:txBody>
      </p:sp>
    </p:spTree>
    <p:extLst>
      <p:ext uri="{BB962C8B-B14F-4D97-AF65-F5344CB8AC3E}">
        <p14:creationId xmlns:p14="http://schemas.microsoft.com/office/powerpoint/2010/main" val="3308570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Textbook (Optional)</a:t>
            </a:r>
          </a:p>
        </p:txBody>
      </p:sp>
      <p:sp>
        <p:nvSpPr>
          <p:cNvPr id="3" name="Content Placeholder 2"/>
          <p:cNvSpPr>
            <a:spLocks noGrp="1"/>
          </p:cNvSpPr>
          <p:nvPr>
            <p:ph idx="1"/>
          </p:nvPr>
        </p:nvSpPr>
        <p:spPr>
          <a:xfrm>
            <a:off x="4351021" y="1874520"/>
            <a:ext cx="6918959" cy="4046220"/>
          </a:xfrm>
        </p:spPr>
        <p:txBody>
          <a:bodyPr>
            <a:normAutofit/>
          </a:bodyPr>
          <a:lstStyle/>
          <a:p>
            <a:pPr marL="0" indent="0">
              <a:buNone/>
            </a:pPr>
            <a:r>
              <a:rPr lang="en-CA" dirty="0"/>
              <a:t> </a:t>
            </a:r>
          </a:p>
          <a:p>
            <a:pPr marL="0" indent="0" algn="ctr">
              <a:buNone/>
            </a:pPr>
            <a:r>
              <a:rPr lang="en-US" sz="2800" dirty="0"/>
              <a:t>Philips, Dusty. (2018)</a:t>
            </a:r>
            <a:r>
              <a:rPr lang="en-US" sz="2800" i="1" dirty="0"/>
              <a:t> </a:t>
            </a:r>
            <a:r>
              <a:rPr lang="en-US" sz="2800" b="1" i="1" dirty="0"/>
              <a:t>Python 3 Object Oriented Programming </a:t>
            </a:r>
            <a:r>
              <a:rPr lang="en-US" sz="2800" i="1" dirty="0"/>
              <a:t>3rd Edition</a:t>
            </a:r>
            <a:r>
              <a:rPr lang="en-US" sz="2800" dirty="0"/>
              <a:t>. </a:t>
            </a:r>
            <a:r>
              <a:rPr lang="en-US" sz="2800" dirty="0" err="1"/>
              <a:t>Packt</a:t>
            </a:r>
            <a:r>
              <a:rPr lang="en-US" sz="2800" dirty="0"/>
              <a:t> Publishing;</a:t>
            </a:r>
          </a:p>
          <a:p>
            <a:pPr marL="0" indent="0">
              <a:buNone/>
            </a:pPr>
            <a:endParaRPr lang="en-CA" dirty="0"/>
          </a:p>
          <a:p>
            <a:pPr>
              <a:buFont typeface="Wingdings" panose="05000000000000000000" pitchFamily="2" charset="2"/>
              <a:buChar char="§"/>
            </a:pPr>
            <a:r>
              <a:rPr lang="en-CA" sz="2400" dirty="0"/>
              <a:t> The text is available as an eBook via the BCIT Library and is a great supplemental read. </a:t>
            </a:r>
          </a:p>
          <a:p>
            <a:pPr>
              <a:buFont typeface="Wingdings" panose="05000000000000000000" pitchFamily="2" charset="2"/>
              <a:buChar char="§"/>
            </a:pPr>
            <a:r>
              <a:rPr lang="en-CA" sz="2400" dirty="0"/>
              <a:t> There is a real shortage of tutorials and materials on advanced OOP in Python. This is a good one.</a:t>
            </a:r>
          </a:p>
        </p:txBody>
      </p:sp>
      <p:pic>
        <p:nvPicPr>
          <p:cNvPr id="1026" name="Picture 2" descr="Image result for Python 3 Object Oriented Programming 3rd Edition">
            <a:extLst>
              <a:ext uri="{FF2B5EF4-FFF2-40B4-BE49-F238E27FC236}">
                <a16:creationId xmlns:a16="http://schemas.microsoft.com/office/drawing/2014/main" id="{DD8A30F0-8A3C-41AE-BDCF-9128CEF2D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270" y="2167833"/>
            <a:ext cx="2766060" cy="3423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4543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Online Resources</a:t>
            </a:r>
          </a:p>
        </p:txBody>
      </p:sp>
      <p:sp>
        <p:nvSpPr>
          <p:cNvPr id="3" name="Content Placeholder 2"/>
          <p:cNvSpPr>
            <a:spLocks noGrp="1"/>
          </p:cNvSpPr>
          <p:nvPr>
            <p:ph idx="1"/>
          </p:nvPr>
        </p:nvSpPr>
        <p:spPr>
          <a:xfrm>
            <a:off x="1097281" y="1874520"/>
            <a:ext cx="10172700" cy="4046220"/>
          </a:xfrm>
        </p:spPr>
        <p:txBody>
          <a:bodyPr>
            <a:normAutofit lnSpcReduction="10000"/>
          </a:bodyPr>
          <a:lstStyle/>
          <a:p>
            <a:pPr>
              <a:buFont typeface="Wingdings" panose="05000000000000000000" pitchFamily="2" charset="2"/>
              <a:buChar char="§"/>
            </a:pPr>
            <a:r>
              <a:rPr lang="en-CA" sz="2400"/>
              <a:t> ChatGPT cheat sheets. </a:t>
            </a:r>
          </a:p>
          <a:p>
            <a:pPr lvl="1">
              <a:buFont typeface="Wingdings" panose="05000000000000000000" pitchFamily="2" charset="2"/>
              <a:buChar char="§"/>
            </a:pPr>
            <a:r>
              <a:rPr lang="en-CA" sz="2200"/>
              <a:t>Try “Python strings cheat sheets”</a:t>
            </a:r>
          </a:p>
          <a:p>
            <a:pPr lvl="1">
              <a:buFont typeface="Wingdings" panose="05000000000000000000" pitchFamily="2" charset="2"/>
              <a:buChar char="§"/>
            </a:pPr>
            <a:r>
              <a:rPr lang="en-CA" sz="2200"/>
              <a:t>Or “</a:t>
            </a:r>
            <a:r>
              <a:rPr lang="en-US" sz="2400"/>
              <a:t>Differences between f-strings, format(), and % formatting in Python.”</a:t>
            </a:r>
            <a:endParaRPr lang="en-CA" sz="2200"/>
          </a:p>
          <a:p>
            <a:pPr>
              <a:buFont typeface="Wingdings" panose="05000000000000000000" pitchFamily="2" charset="2"/>
              <a:buChar char="§"/>
            </a:pPr>
            <a:r>
              <a:rPr lang="en-CA" sz="2400">
                <a:hlinkClick r:id="rId2"/>
              </a:rPr>
              <a:t> https</a:t>
            </a:r>
            <a:r>
              <a:rPr lang="en-CA" sz="2400" dirty="0">
                <a:hlinkClick r:id="rId2"/>
              </a:rPr>
              <a:t>://www.geeksforgeeks.org/python-programming-language/</a:t>
            </a:r>
            <a:endParaRPr lang="en-CA" sz="2400" dirty="0"/>
          </a:p>
          <a:p>
            <a:pPr>
              <a:buFont typeface="Wingdings" panose="05000000000000000000" pitchFamily="2" charset="2"/>
              <a:buChar char="§"/>
            </a:pPr>
            <a:r>
              <a:rPr lang="en-CA" sz="2400" dirty="0"/>
              <a:t> </a:t>
            </a:r>
            <a:r>
              <a:rPr lang="en-CA" sz="2400" dirty="0">
                <a:hlinkClick r:id="rId3"/>
              </a:rPr>
              <a:t>https://www.tutorialspoint.com/python/index.htm</a:t>
            </a:r>
            <a:endParaRPr lang="en-CA" sz="2400" dirty="0"/>
          </a:p>
          <a:p>
            <a:pPr>
              <a:buFont typeface="Wingdings" panose="05000000000000000000" pitchFamily="2" charset="2"/>
              <a:buChar char="§"/>
            </a:pPr>
            <a:endParaRPr lang="en-CA" sz="2400" dirty="0"/>
          </a:p>
          <a:p>
            <a:pPr>
              <a:buFont typeface="Wingdings" panose="05000000000000000000" pitchFamily="2" charset="2"/>
              <a:buChar char="§"/>
            </a:pPr>
            <a:r>
              <a:rPr lang="en-CA" sz="2400" dirty="0"/>
              <a:t> Or search for specific topic:</a:t>
            </a:r>
          </a:p>
          <a:p>
            <a:pPr marL="457200" indent="-457200">
              <a:buFont typeface="+mj-lt"/>
              <a:buAutoNum type="arabicPeriod"/>
            </a:pPr>
            <a:r>
              <a:rPr lang="en-CA" sz="2400" dirty="0"/>
              <a:t> “</a:t>
            </a:r>
            <a:r>
              <a:rPr lang="en-CA" sz="2400" dirty="0" err="1"/>
              <a:t>tutorialspoint</a:t>
            </a:r>
            <a:r>
              <a:rPr lang="en-CA" sz="2400" dirty="0"/>
              <a:t> python </a:t>
            </a:r>
            <a:r>
              <a:rPr lang="en-CA" sz="2400" dirty="0" err="1"/>
              <a:t>dunders</a:t>
            </a:r>
            <a:r>
              <a:rPr lang="en-CA" sz="2400" dirty="0"/>
              <a:t>”</a:t>
            </a:r>
          </a:p>
          <a:p>
            <a:pPr marL="457200" indent="-457200">
              <a:buFont typeface="+mj-lt"/>
              <a:buAutoNum type="arabicPeriod"/>
            </a:pPr>
            <a:r>
              <a:rPr lang="en-CA" sz="2400" dirty="0"/>
              <a:t> “</a:t>
            </a:r>
            <a:r>
              <a:rPr lang="en-CA" sz="2400" dirty="0" err="1"/>
              <a:t>geeksforgeeks</a:t>
            </a:r>
            <a:r>
              <a:rPr lang="en-CA" sz="2400" dirty="0"/>
              <a:t> python </a:t>
            </a:r>
            <a:r>
              <a:rPr lang="en-CA" sz="2400" dirty="0" err="1"/>
              <a:t>dunders</a:t>
            </a:r>
            <a:r>
              <a:rPr lang="en-CA" sz="2400" dirty="0"/>
              <a:t>”</a:t>
            </a:r>
          </a:p>
        </p:txBody>
      </p:sp>
    </p:spTree>
    <p:extLst>
      <p:ext uri="{BB962C8B-B14F-4D97-AF65-F5344CB8AC3E}">
        <p14:creationId xmlns:p14="http://schemas.microsoft.com/office/powerpoint/2010/main" val="1422436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9686"/>
            <a:ext cx="10058400" cy="1450757"/>
          </a:xfrm>
        </p:spPr>
        <p:txBody>
          <a:bodyPr/>
          <a:lstStyle/>
          <a:p>
            <a:r>
              <a:rPr lang="en-US" b="1" dirty="0"/>
              <a:t>The Learning Hub</a:t>
            </a:r>
          </a:p>
        </p:txBody>
      </p:sp>
      <p:sp>
        <p:nvSpPr>
          <p:cNvPr id="3" name="Content Placeholder 2"/>
          <p:cNvSpPr>
            <a:spLocks noGrp="1"/>
          </p:cNvSpPr>
          <p:nvPr>
            <p:ph idx="1"/>
          </p:nvPr>
        </p:nvSpPr>
        <p:spPr>
          <a:xfrm>
            <a:off x="838200" y="1825625"/>
            <a:ext cx="10515600" cy="1512887"/>
          </a:xfrm>
        </p:spPr>
        <p:txBody>
          <a:bodyPr>
            <a:normAutofit/>
          </a:bodyPr>
          <a:lstStyle/>
          <a:p>
            <a:pPr marL="514350" marR="0" lvl="0" indent="-514350" defTabSz="914400" eaLnBrk="1" fontAlgn="auto" latinLnBrk="0" hangingPunct="1">
              <a:lnSpc>
                <a:spcPct val="100000"/>
              </a:lnSpc>
              <a:spcBef>
                <a:spcPts val="0"/>
              </a:spcBef>
              <a:spcAft>
                <a:spcPts val="0"/>
              </a:spcAft>
              <a:buClrTx/>
              <a:buSzTx/>
              <a:buFont typeface="+mj-lt"/>
              <a:buNone/>
              <a:tabLst/>
              <a:defRPr/>
            </a:pPr>
            <a:r>
              <a:rPr lang="en-US" sz="3200" dirty="0"/>
              <a:t>Will use for grades and posting lecture notes/labs/assignments</a:t>
            </a:r>
          </a:p>
        </p:txBody>
      </p:sp>
      <p:sp>
        <p:nvSpPr>
          <p:cNvPr id="4" name="Title 1"/>
          <p:cNvSpPr txBox="1">
            <a:spLocks/>
          </p:cNvSpPr>
          <p:nvPr/>
        </p:nvSpPr>
        <p:spPr>
          <a:xfrm>
            <a:off x="807720" y="270254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err="1"/>
              <a:t>Github</a:t>
            </a:r>
            <a:r>
              <a:rPr lang="en-US" b="1" dirty="0"/>
              <a:t> classroom</a:t>
            </a:r>
          </a:p>
        </p:txBody>
      </p:sp>
      <p:sp>
        <p:nvSpPr>
          <p:cNvPr id="5" name="Content Placeholder 2"/>
          <p:cNvSpPr txBox="1">
            <a:spLocks/>
          </p:cNvSpPr>
          <p:nvPr/>
        </p:nvSpPr>
        <p:spPr>
          <a:xfrm>
            <a:off x="838200" y="3606418"/>
            <a:ext cx="10515600" cy="1512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514350" indent="-514350">
              <a:lnSpc>
                <a:spcPct val="100000"/>
              </a:lnSpc>
              <a:spcBef>
                <a:spcPts val="0"/>
              </a:spcBef>
              <a:buFont typeface="+mj-lt"/>
              <a:buNone/>
            </a:pPr>
            <a:r>
              <a:rPr lang="en-US" sz="3200" dirty="0"/>
              <a:t>Will use for submitting labs/assignments </a:t>
            </a:r>
          </a:p>
        </p:txBody>
      </p:sp>
      <p:sp>
        <p:nvSpPr>
          <p:cNvPr id="6" name="Title 1"/>
          <p:cNvSpPr txBox="1">
            <a:spLocks/>
          </p:cNvSpPr>
          <p:nvPr/>
        </p:nvSpPr>
        <p:spPr>
          <a:xfrm>
            <a:off x="838200" y="44250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IDE</a:t>
            </a:r>
          </a:p>
        </p:txBody>
      </p:sp>
      <p:sp>
        <p:nvSpPr>
          <p:cNvPr id="7" name="Content Placeholder 2"/>
          <p:cNvSpPr txBox="1">
            <a:spLocks/>
          </p:cNvSpPr>
          <p:nvPr/>
        </p:nvSpPr>
        <p:spPr>
          <a:xfrm>
            <a:off x="838200" y="5449384"/>
            <a:ext cx="10515600" cy="1512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514350" indent="-514350">
              <a:lnSpc>
                <a:spcPct val="100000"/>
              </a:lnSpc>
              <a:spcBef>
                <a:spcPts val="0"/>
              </a:spcBef>
              <a:buFont typeface="+mj-lt"/>
              <a:buNone/>
            </a:pPr>
            <a:r>
              <a:rPr lang="en-US" sz="3200" dirty="0" err="1"/>
              <a:t>Pycharm</a:t>
            </a:r>
            <a:r>
              <a:rPr lang="en-US" sz="3200" dirty="0"/>
              <a:t> and/or VS Code</a:t>
            </a:r>
          </a:p>
        </p:txBody>
      </p:sp>
    </p:spTree>
    <p:extLst>
      <p:ext uri="{BB962C8B-B14F-4D97-AF65-F5344CB8AC3E}">
        <p14:creationId xmlns:p14="http://schemas.microsoft.com/office/powerpoint/2010/main" val="782233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D0E37-9D5F-479B-A2B3-991C954A5D02}"/>
              </a:ext>
            </a:extLst>
          </p:cNvPr>
          <p:cNvSpPr>
            <a:spLocks noGrp="1"/>
          </p:cNvSpPr>
          <p:nvPr>
            <p:ph type="title"/>
          </p:nvPr>
        </p:nvSpPr>
        <p:spPr/>
        <p:txBody>
          <a:bodyPr/>
          <a:lstStyle/>
          <a:p>
            <a:r>
              <a:rPr lang="en-CA" dirty="0"/>
              <a:t>Communication</a:t>
            </a:r>
          </a:p>
        </p:txBody>
      </p:sp>
      <p:sp>
        <p:nvSpPr>
          <p:cNvPr id="3" name="Content Placeholder 2">
            <a:extLst>
              <a:ext uri="{FF2B5EF4-FFF2-40B4-BE49-F238E27FC236}">
                <a16:creationId xmlns:a16="http://schemas.microsoft.com/office/drawing/2014/main" id="{D84DCF10-F6EB-40F0-A985-04F0D94727A1}"/>
              </a:ext>
            </a:extLst>
          </p:cNvPr>
          <p:cNvSpPr>
            <a:spLocks noGrp="1"/>
          </p:cNvSpPr>
          <p:nvPr>
            <p:ph idx="1"/>
          </p:nvPr>
        </p:nvSpPr>
        <p:spPr/>
        <p:txBody>
          <a:bodyPr>
            <a:normAutofit/>
          </a:bodyPr>
          <a:lstStyle/>
          <a:p>
            <a:r>
              <a:rPr lang="en-US" dirty="0"/>
              <a:t>Communication with Discord! </a:t>
            </a:r>
          </a:p>
          <a:p>
            <a:pPr marL="0" indent="0">
              <a:buNone/>
            </a:pPr>
            <a:r>
              <a:rPr lang="en-US" dirty="0"/>
              <a:t>	- </a:t>
            </a:r>
            <a:r>
              <a:rPr lang="en-CA" dirty="0"/>
              <a:t>Check out the news post on the learning hub for the link</a:t>
            </a:r>
          </a:p>
          <a:p>
            <a:pPr marL="0" indent="0">
              <a:buNone/>
            </a:pPr>
            <a:endParaRPr lang="en-US" dirty="0"/>
          </a:p>
          <a:p>
            <a:r>
              <a:rPr lang="en-US" i="1" u="sng" dirty="0"/>
              <a:t>Use Discord for all communication. If it is something important, send me an email as well.</a:t>
            </a:r>
          </a:p>
          <a:p>
            <a:r>
              <a:rPr lang="en-US" dirty="0"/>
              <a:t>	</a:t>
            </a:r>
          </a:p>
          <a:p>
            <a:r>
              <a:rPr lang="en-CA" dirty="0"/>
              <a:t>Responses may be delayed after school hours/weekends</a:t>
            </a:r>
          </a:p>
          <a:p>
            <a:endParaRPr lang="en-CA" dirty="0"/>
          </a:p>
        </p:txBody>
      </p:sp>
    </p:spTree>
    <p:extLst>
      <p:ext uri="{BB962C8B-B14F-4D97-AF65-F5344CB8AC3E}">
        <p14:creationId xmlns:p14="http://schemas.microsoft.com/office/powerpoint/2010/main" val="2526314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Assessments</a:t>
            </a:r>
          </a:p>
        </p:txBody>
      </p:sp>
      <p:sp>
        <p:nvSpPr>
          <p:cNvPr id="3" name="Content Placeholder 2"/>
          <p:cNvSpPr>
            <a:spLocks noGrp="1"/>
          </p:cNvSpPr>
          <p:nvPr>
            <p:ph idx="1"/>
          </p:nvPr>
        </p:nvSpPr>
        <p:spPr>
          <a:xfrm>
            <a:off x="1097280" y="2028614"/>
            <a:ext cx="10058400" cy="3657600"/>
          </a:xfrm>
        </p:spPr>
        <p:txBody>
          <a:bodyPr>
            <a:normAutofit lnSpcReduction="10000"/>
          </a:bodyPr>
          <a:lstStyle/>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sz="2400" dirty="0"/>
              <a:t>Quizzes 			10% </a:t>
            </a:r>
          </a:p>
          <a:p>
            <a:pPr marL="742950" lvl="1" indent="-285750">
              <a:buFont typeface="Arial" panose="020B0604020202020204" pitchFamily="34" charset="0"/>
              <a:buChar char="•"/>
            </a:pPr>
            <a:r>
              <a:rPr lang="en-US" sz="2400" dirty="0"/>
              <a:t>Labs 			10%	</a:t>
            </a:r>
          </a:p>
          <a:p>
            <a:pPr marL="742950" lvl="1" indent="-285750">
              <a:buFont typeface="Arial" panose="020B0604020202020204" pitchFamily="34" charset="0"/>
              <a:buChar char="•"/>
            </a:pPr>
            <a:r>
              <a:rPr lang="en-US" sz="2400" dirty="0"/>
              <a:t>Assignments 		30%  </a:t>
            </a:r>
          </a:p>
          <a:p>
            <a:pPr marL="742950" lvl="1" indent="-285750">
              <a:buFont typeface="Arial" panose="020B0604020202020204" pitchFamily="34" charset="0"/>
              <a:buChar char="•"/>
            </a:pPr>
            <a:r>
              <a:rPr lang="en-US" sz="2400" dirty="0"/>
              <a:t>Midterm		20%</a:t>
            </a:r>
          </a:p>
          <a:p>
            <a:pPr marL="742950" lvl="1" indent="-285750">
              <a:buFont typeface="Arial" panose="020B0604020202020204" pitchFamily="34" charset="0"/>
              <a:buChar char="•"/>
            </a:pPr>
            <a:r>
              <a:rPr lang="en-US" sz="2400" dirty="0"/>
              <a:t>Final exam		30% </a:t>
            </a:r>
          </a:p>
          <a:p>
            <a:r>
              <a:rPr lang="en-US" b="1" dirty="0"/>
              <a:t>To Pass:</a:t>
            </a:r>
            <a:br>
              <a:rPr lang="en-US" b="1" dirty="0"/>
            </a:br>
            <a:r>
              <a:rPr lang="en-US" b="1" dirty="0"/>
              <a:t>	50% overall</a:t>
            </a:r>
            <a:br>
              <a:rPr lang="en-US" b="1" dirty="0"/>
            </a:br>
            <a:r>
              <a:rPr lang="en-US" b="1" dirty="0"/>
              <a:t>	50% weighted average between the Midterm and Final Exam</a:t>
            </a:r>
          </a:p>
          <a:p>
            <a:r>
              <a:rPr lang="en-US" dirty="0"/>
              <a:t>Please aim higher (obviously)!</a:t>
            </a:r>
          </a:p>
        </p:txBody>
      </p:sp>
    </p:spTree>
    <p:extLst>
      <p:ext uri="{BB962C8B-B14F-4D97-AF65-F5344CB8AC3E}">
        <p14:creationId xmlns:p14="http://schemas.microsoft.com/office/powerpoint/2010/main" val="317468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13178-8B1E-1773-E5DB-7247CE8E31DE}"/>
              </a:ext>
            </a:extLst>
          </p:cNvPr>
          <p:cNvSpPr>
            <a:spLocks noGrp="1"/>
          </p:cNvSpPr>
          <p:nvPr>
            <p:ph type="title"/>
          </p:nvPr>
        </p:nvSpPr>
        <p:spPr/>
        <p:txBody>
          <a:bodyPr/>
          <a:lstStyle/>
          <a:p>
            <a:r>
              <a:rPr lang="en-CA"/>
              <a:t>Practice OOP &amp; DP with Games </a:t>
            </a:r>
          </a:p>
        </p:txBody>
      </p:sp>
      <p:pic>
        <p:nvPicPr>
          <p:cNvPr id="5" name="Picture 4">
            <a:extLst>
              <a:ext uri="{FF2B5EF4-FFF2-40B4-BE49-F238E27FC236}">
                <a16:creationId xmlns:a16="http://schemas.microsoft.com/office/drawing/2014/main" id="{2ED6D262-7176-AA09-23E8-ACC7F5A149EC}"/>
              </a:ext>
            </a:extLst>
          </p:cNvPr>
          <p:cNvPicPr>
            <a:picLocks noChangeAspect="1"/>
          </p:cNvPicPr>
          <p:nvPr/>
        </p:nvPicPr>
        <p:blipFill>
          <a:blip r:embed="rId3"/>
          <a:stretch>
            <a:fillRect/>
          </a:stretch>
        </p:blipFill>
        <p:spPr>
          <a:xfrm>
            <a:off x="4421776" y="2026767"/>
            <a:ext cx="3087189" cy="3998520"/>
          </a:xfrm>
          <a:prstGeom prst="rect">
            <a:avLst/>
          </a:prstGeom>
        </p:spPr>
      </p:pic>
      <p:pic>
        <p:nvPicPr>
          <p:cNvPr id="7" name="Picture 6">
            <a:extLst>
              <a:ext uri="{FF2B5EF4-FFF2-40B4-BE49-F238E27FC236}">
                <a16:creationId xmlns:a16="http://schemas.microsoft.com/office/drawing/2014/main" id="{1ED8E8E0-2F69-7D8D-2861-08EBEE15FCCD}"/>
              </a:ext>
            </a:extLst>
          </p:cNvPr>
          <p:cNvPicPr>
            <a:picLocks noChangeAspect="1"/>
          </p:cNvPicPr>
          <p:nvPr/>
        </p:nvPicPr>
        <p:blipFill>
          <a:blip r:embed="rId4"/>
          <a:stretch>
            <a:fillRect/>
          </a:stretch>
        </p:blipFill>
        <p:spPr>
          <a:xfrm>
            <a:off x="724988" y="2197665"/>
            <a:ext cx="3023223" cy="3164638"/>
          </a:xfrm>
          <a:prstGeom prst="rect">
            <a:avLst/>
          </a:prstGeom>
        </p:spPr>
      </p:pic>
      <p:pic>
        <p:nvPicPr>
          <p:cNvPr id="9" name="Picture 8" descr="A game with a blue maze&#10;&#10;Description automatically generated">
            <a:extLst>
              <a:ext uri="{FF2B5EF4-FFF2-40B4-BE49-F238E27FC236}">
                <a16:creationId xmlns:a16="http://schemas.microsoft.com/office/drawing/2014/main" id="{F4F137D4-89CE-C3CD-4D52-4E173E2DEFF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909562" y="2938499"/>
            <a:ext cx="3720736" cy="2325460"/>
          </a:xfrm>
          <a:prstGeom prst="rect">
            <a:avLst/>
          </a:prstGeom>
        </p:spPr>
      </p:pic>
      <p:sp>
        <p:nvSpPr>
          <p:cNvPr id="10" name="TextBox 9">
            <a:extLst>
              <a:ext uri="{FF2B5EF4-FFF2-40B4-BE49-F238E27FC236}">
                <a16:creationId xmlns:a16="http://schemas.microsoft.com/office/drawing/2014/main" id="{CF4C31C6-06E3-C134-4820-88BEA355F956}"/>
              </a:ext>
            </a:extLst>
          </p:cNvPr>
          <p:cNvSpPr txBox="1"/>
          <p:nvPr/>
        </p:nvSpPr>
        <p:spPr>
          <a:xfrm>
            <a:off x="9517296" y="2026767"/>
            <a:ext cx="505267" cy="923330"/>
          </a:xfrm>
          <a:prstGeom prst="rect">
            <a:avLst/>
          </a:prstGeom>
          <a:noFill/>
        </p:spPr>
        <p:txBody>
          <a:bodyPr wrap="none" rtlCol="0">
            <a:spAutoFit/>
          </a:bodyPr>
          <a:lstStyle/>
          <a:p>
            <a:r>
              <a:rPr lang="en-CA" sz="5400"/>
              <a:t>?</a:t>
            </a:r>
          </a:p>
        </p:txBody>
      </p:sp>
      <p:pic>
        <p:nvPicPr>
          <p:cNvPr id="8" name="Picture 7">
            <a:extLst>
              <a:ext uri="{FF2B5EF4-FFF2-40B4-BE49-F238E27FC236}">
                <a16:creationId xmlns:a16="http://schemas.microsoft.com/office/drawing/2014/main" id="{8A958CD6-E399-070B-D1A3-551F08F9FE29}"/>
              </a:ext>
            </a:extLst>
          </p:cNvPr>
          <p:cNvPicPr>
            <a:picLocks noChangeAspect="1"/>
          </p:cNvPicPr>
          <p:nvPr/>
        </p:nvPicPr>
        <p:blipFill>
          <a:blip r:embed="rId7"/>
          <a:stretch>
            <a:fillRect/>
          </a:stretch>
        </p:blipFill>
        <p:spPr>
          <a:xfrm>
            <a:off x="2003357" y="2950097"/>
            <a:ext cx="4470117" cy="2705597"/>
          </a:xfrm>
          <a:prstGeom prst="rect">
            <a:avLst/>
          </a:prstGeom>
        </p:spPr>
      </p:pic>
      <p:pic>
        <p:nvPicPr>
          <p:cNvPr id="14" name="Picture 13">
            <a:extLst>
              <a:ext uri="{FF2B5EF4-FFF2-40B4-BE49-F238E27FC236}">
                <a16:creationId xmlns:a16="http://schemas.microsoft.com/office/drawing/2014/main" id="{4EC6AFE2-9313-5BA1-3313-4C96BE41258D}"/>
              </a:ext>
            </a:extLst>
          </p:cNvPr>
          <p:cNvPicPr>
            <a:picLocks noChangeAspect="1"/>
          </p:cNvPicPr>
          <p:nvPr/>
        </p:nvPicPr>
        <p:blipFill>
          <a:blip r:embed="rId8"/>
          <a:stretch>
            <a:fillRect/>
          </a:stretch>
        </p:blipFill>
        <p:spPr>
          <a:xfrm>
            <a:off x="6355416" y="1823363"/>
            <a:ext cx="3552683" cy="4405327"/>
          </a:xfrm>
          <a:prstGeom prst="rect">
            <a:avLst/>
          </a:prstGeom>
        </p:spPr>
      </p:pic>
    </p:spTree>
    <p:extLst>
      <p:ext uri="{BB962C8B-B14F-4D97-AF65-F5344CB8AC3E}">
        <p14:creationId xmlns:p14="http://schemas.microsoft.com/office/powerpoint/2010/main" val="83422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Lay Down Some Ground Rules…</a:t>
            </a:r>
          </a:p>
        </p:txBody>
      </p:sp>
      <p:sp>
        <p:nvSpPr>
          <p:cNvPr id="3" name="Content Placeholder 2"/>
          <p:cNvSpPr>
            <a:spLocks noGrp="1"/>
          </p:cNvSpPr>
          <p:nvPr>
            <p:ph idx="1"/>
          </p:nvPr>
        </p:nvSpPr>
        <p:spPr>
          <a:xfrm>
            <a:off x="1097280" y="2028614"/>
            <a:ext cx="10058400" cy="3657600"/>
          </a:xfrm>
        </p:spPr>
        <p:txBody>
          <a:bodyPr>
            <a:normAutofit fontScale="92500" lnSpcReduction="10000"/>
          </a:bodyPr>
          <a:lstStyle/>
          <a:p>
            <a:pPr>
              <a:buFont typeface="Arial" panose="020B0604020202020204" pitchFamily="34" charset="0"/>
              <a:buChar char="•"/>
            </a:pPr>
            <a:r>
              <a:rPr lang="en-CA" dirty="0"/>
              <a:t> Be on time. Let me know if you can’t make it. Attendance will be taken each lab. (There is an attendance requirement).</a:t>
            </a:r>
          </a:p>
          <a:p>
            <a:pPr>
              <a:buFont typeface="Arial" panose="020B0604020202020204" pitchFamily="34" charset="0"/>
              <a:buChar char="•"/>
            </a:pPr>
            <a:r>
              <a:rPr lang="en-CA" dirty="0"/>
              <a:t> Be professional. Let’s make our class a safe space with no judgements. </a:t>
            </a:r>
          </a:p>
          <a:p>
            <a:pPr>
              <a:buFont typeface="Arial" panose="020B0604020202020204" pitchFamily="34" charset="0"/>
              <a:buChar char="•"/>
            </a:pPr>
            <a:r>
              <a:rPr lang="en-CA" dirty="0"/>
              <a:t>Assignments should be submitted on time. No late submissions (barring emergencies, medical reasons, or any such special circumstance).</a:t>
            </a:r>
            <a:endParaRPr lang="en-CA" dirty="0">
              <a:sym typeface="Wingdings" panose="05000000000000000000" pitchFamily="2" charset="2"/>
            </a:endParaRPr>
          </a:p>
          <a:p>
            <a:pPr algn="just">
              <a:buFont typeface="Arial" panose="020B0604020202020204" pitchFamily="34" charset="0"/>
              <a:buChar char="•"/>
            </a:pPr>
            <a:r>
              <a:rPr lang="en-CA" dirty="0"/>
              <a:t> Plagiarism and cheating </a:t>
            </a:r>
            <a:r>
              <a:rPr lang="en-CA" b="1" u="sng" dirty="0"/>
              <a:t>won’t be tolerated</a:t>
            </a:r>
            <a:r>
              <a:rPr lang="en-CA" dirty="0"/>
              <a:t>. If you submit work that is not yours, it </a:t>
            </a:r>
            <a:r>
              <a:rPr lang="en-CA" b="1" u="sng" dirty="0"/>
              <a:t>NEEDS</a:t>
            </a:r>
            <a:r>
              <a:rPr lang="en-CA" dirty="0"/>
              <a:t> to be accredited. Work is to be submitted individually unless they explicitly require you to work in groups. If you are found in infringement of these policies, this will result in a grade of </a:t>
            </a:r>
            <a:r>
              <a:rPr lang="en-CA" b="1" u="sng" dirty="0"/>
              <a:t>ZERO</a:t>
            </a:r>
            <a:r>
              <a:rPr lang="en-CA" dirty="0"/>
              <a:t>! (BCIT Plagiarism Policy: </a:t>
            </a:r>
            <a:r>
              <a:rPr lang="en-CA" dirty="0">
                <a:hlinkClick r:id="rId2"/>
              </a:rPr>
              <a:t>https://www.bcit.ca/files/pdf/policies/5104.pdf</a:t>
            </a:r>
            <a:r>
              <a:rPr lang="en-CA" dirty="0"/>
              <a:t> )</a:t>
            </a:r>
          </a:p>
          <a:p>
            <a:pPr>
              <a:buFont typeface="Arial" panose="020B0604020202020204" pitchFamily="34" charset="0"/>
              <a:buChar char="•"/>
            </a:pPr>
            <a:r>
              <a:rPr lang="en-CA" dirty="0"/>
              <a:t> That being said, don’t hesitate to discuss concepts introduced in class and help each other understand them. If you are in doubt, err on the side of caution. Ask me if you’re not sure!</a:t>
            </a:r>
          </a:p>
        </p:txBody>
      </p:sp>
    </p:spTree>
    <p:extLst>
      <p:ext uri="{BB962C8B-B14F-4D97-AF65-F5344CB8AC3E}">
        <p14:creationId xmlns:p14="http://schemas.microsoft.com/office/powerpoint/2010/main" val="3890321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Lay Down Some Ground Rules…</a:t>
            </a:r>
          </a:p>
        </p:txBody>
      </p:sp>
      <p:sp>
        <p:nvSpPr>
          <p:cNvPr id="3" name="Content Placeholder 2"/>
          <p:cNvSpPr>
            <a:spLocks noGrp="1"/>
          </p:cNvSpPr>
          <p:nvPr>
            <p:ph idx="1"/>
          </p:nvPr>
        </p:nvSpPr>
        <p:spPr>
          <a:xfrm>
            <a:off x="1097280" y="2028614"/>
            <a:ext cx="10058400" cy="3657600"/>
          </a:xfrm>
        </p:spPr>
        <p:txBody>
          <a:bodyPr>
            <a:normAutofit/>
          </a:bodyPr>
          <a:lstStyle/>
          <a:p>
            <a:pPr>
              <a:buFont typeface="Arial" panose="020B0604020202020204" pitchFamily="34" charset="0"/>
              <a:buChar char="•"/>
            </a:pPr>
            <a:r>
              <a:rPr lang="en-CA" dirty="0"/>
              <a:t> You are responsible for your own learning. Ask questions, come to office hours, reach out for assistance if you are falling behind and are stressed out. </a:t>
            </a:r>
          </a:p>
          <a:p>
            <a:pPr>
              <a:buFont typeface="Arial" panose="020B0604020202020204" pitchFamily="34" charset="0"/>
              <a:buChar char="•"/>
            </a:pPr>
            <a:r>
              <a:rPr lang="en-CA" dirty="0"/>
              <a:t> Phones should be on Silent and put away.</a:t>
            </a:r>
          </a:p>
          <a:p>
            <a:pPr>
              <a:buFont typeface="Arial" panose="020B0604020202020204" pitchFamily="34" charset="0"/>
              <a:buChar char="•"/>
            </a:pPr>
            <a:r>
              <a:rPr lang="en-CA" dirty="0"/>
              <a:t> Support your peers and know when to ask for help! Your class mates are your support network and will be your contacts in the industry in the future. Be nice </a:t>
            </a:r>
            <a:r>
              <a:rPr lang="en-CA" dirty="0">
                <a:sym typeface="Wingdings" panose="05000000000000000000" pitchFamily="2" charset="2"/>
              </a:rPr>
              <a:t></a:t>
            </a:r>
            <a:endParaRPr lang="en-CA" dirty="0"/>
          </a:p>
          <a:p>
            <a:pPr>
              <a:buFont typeface="Arial" panose="020B0604020202020204" pitchFamily="34" charset="0"/>
              <a:buChar char="•"/>
            </a:pPr>
            <a:r>
              <a:rPr lang="en-CA" dirty="0"/>
              <a:t> Again, ask questions if in doubt! </a:t>
            </a:r>
            <a:r>
              <a:rPr lang="en-CA" u="sng" dirty="0"/>
              <a:t>There are no stupid questions</a:t>
            </a:r>
            <a:r>
              <a:rPr lang="en-CA" dirty="0"/>
              <a:t>, and I will reiterate, </a:t>
            </a:r>
            <a:r>
              <a:rPr lang="en-CA" u="sng" dirty="0"/>
              <a:t>this is a judgement free safe space</a:t>
            </a:r>
            <a:r>
              <a:rPr lang="en-CA" dirty="0"/>
              <a:t>. You are here to learn. If you want to chat privately or are outside of class, shoot me a message/email!</a:t>
            </a:r>
          </a:p>
          <a:p>
            <a:pPr>
              <a:buFont typeface="Arial" panose="020B0604020202020204" pitchFamily="34" charset="0"/>
              <a:buChar char="•"/>
            </a:pPr>
            <a:r>
              <a:rPr lang="en-CA" dirty="0"/>
              <a:t> Most importantly, </a:t>
            </a:r>
            <a:r>
              <a:rPr lang="en-CA" b="1" u="sng" dirty="0"/>
              <a:t>have fun!</a:t>
            </a:r>
            <a:r>
              <a:rPr lang="en-CA" dirty="0"/>
              <a:t> Enjoy the learning process.</a:t>
            </a:r>
          </a:p>
        </p:txBody>
      </p:sp>
    </p:spTree>
    <p:extLst>
      <p:ext uri="{BB962C8B-B14F-4D97-AF65-F5344CB8AC3E}">
        <p14:creationId xmlns:p14="http://schemas.microsoft.com/office/powerpoint/2010/main" val="1081637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BB50-952D-491A-8D59-920D28311365}"/>
              </a:ext>
            </a:extLst>
          </p:cNvPr>
          <p:cNvSpPr>
            <a:spLocks noGrp="1"/>
          </p:cNvSpPr>
          <p:nvPr>
            <p:ph type="title"/>
          </p:nvPr>
        </p:nvSpPr>
        <p:spPr/>
        <p:txBody>
          <a:bodyPr/>
          <a:lstStyle/>
          <a:p>
            <a:r>
              <a:rPr lang="en-US" dirty="0"/>
              <a:t>Intro to Python</a:t>
            </a:r>
            <a:endParaRPr lang="en-CA" dirty="0"/>
          </a:p>
        </p:txBody>
      </p:sp>
      <p:sp>
        <p:nvSpPr>
          <p:cNvPr id="3" name="Text Placeholder 2">
            <a:extLst>
              <a:ext uri="{FF2B5EF4-FFF2-40B4-BE49-F238E27FC236}">
                <a16:creationId xmlns:a16="http://schemas.microsoft.com/office/drawing/2014/main" id="{78C26B9B-B322-43C9-A1CB-7BDC79465752}"/>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2782516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5282AB-251D-46A6-8310-A7C3074AFBC1}"/>
              </a:ext>
            </a:extLst>
          </p:cNvPr>
          <p:cNvSpPr>
            <a:spLocks noGrp="1"/>
          </p:cNvSpPr>
          <p:nvPr>
            <p:ph type="title"/>
          </p:nvPr>
        </p:nvSpPr>
        <p:spPr/>
        <p:txBody>
          <a:bodyPr/>
          <a:lstStyle/>
          <a:p>
            <a:r>
              <a:rPr lang="en-US" dirty="0"/>
              <a:t>Why Python?</a:t>
            </a:r>
            <a:endParaRPr lang="en-CA" dirty="0"/>
          </a:p>
        </p:txBody>
      </p:sp>
      <p:sp>
        <p:nvSpPr>
          <p:cNvPr id="5" name="Content Placeholder 4">
            <a:extLst>
              <a:ext uri="{FF2B5EF4-FFF2-40B4-BE49-F238E27FC236}">
                <a16:creationId xmlns:a16="http://schemas.microsoft.com/office/drawing/2014/main" id="{1381549E-C983-4C74-9704-D2C7CE0A8C76}"/>
              </a:ext>
            </a:extLst>
          </p:cNvPr>
          <p:cNvSpPr>
            <a:spLocks noGrp="1"/>
          </p:cNvSpPr>
          <p:nvPr>
            <p:ph idx="1"/>
          </p:nvPr>
        </p:nvSpPr>
        <p:spPr/>
        <p:txBody>
          <a:bodyPr/>
          <a:lstStyle/>
          <a:p>
            <a:r>
              <a:rPr lang="en-US" dirty="0"/>
              <a:t>Modern (released in 1991, updated every few months)</a:t>
            </a:r>
          </a:p>
          <a:p>
            <a:r>
              <a:rPr lang="en-US" b="1" dirty="0"/>
              <a:t>Easy</a:t>
            </a:r>
            <a:r>
              <a:rPr lang="en-US" dirty="0"/>
              <a:t> to learn</a:t>
            </a:r>
          </a:p>
          <a:p>
            <a:r>
              <a:rPr lang="en-US" dirty="0"/>
              <a:t>Lots of </a:t>
            </a:r>
            <a:r>
              <a:rPr lang="en-US" b="1" dirty="0"/>
              <a:t>support</a:t>
            </a:r>
            <a:r>
              <a:rPr lang="en-US" dirty="0"/>
              <a:t> on the net</a:t>
            </a:r>
          </a:p>
          <a:p>
            <a:r>
              <a:rPr lang="en-US" dirty="0"/>
              <a:t>Large and comprehensive standard </a:t>
            </a:r>
            <a:r>
              <a:rPr lang="en-US" b="1" dirty="0"/>
              <a:t>library</a:t>
            </a:r>
          </a:p>
          <a:p>
            <a:r>
              <a:rPr lang="en-US" dirty="0"/>
              <a:t>Supports multiple programming paradigms like </a:t>
            </a:r>
            <a:r>
              <a:rPr lang="en-US" b="1" dirty="0"/>
              <a:t>OOP</a:t>
            </a:r>
            <a:r>
              <a:rPr lang="en-US" dirty="0"/>
              <a:t>, functional, and procedural</a:t>
            </a:r>
          </a:p>
          <a:p>
            <a:r>
              <a:rPr lang="en-US" dirty="0"/>
              <a:t>It’s an </a:t>
            </a:r>
            <a:r>
              <a:rPr lang="en-US" b="1" dirty="0"/>
              <a:t>interpreted</a:t>
            </a:r>
            <a:r>
              <a:rPr lang="en-US" dirty="0"/>
              <a:t> (not compiled) language</a:t>
            </a:r>
          </a:p>
          <a:p>
            <a:r>
              <a:rPr lang="en-US" dirty="0"/>
              <a:t>Python is dynamically typed and strongly typed</a:t>
            </a:r>
          </a:p>
          <a:p>
            <a:r>
              <a:rPr lang="en-US" dirty="0"/>
              <a:t>We say that batteries are included: there is a large standard library with GREAT documentation (see python.org)</a:t>
            </a:r>
          </a:p>
          <a:p>
            <a:endParaRPr lang="en-CA" dirty="0"/>
          </a:p>
        </p:txBody>
      </p:sp>
    </p:spTree>
    <p:extLst>
      <p:ext uri="{BB962C8B-B14F-4D97-AF65-F5344CB8AC3E}">
        <p14:creationId xmlns:p14="http://schemas.microsoft.com/office/powerpoint/2010/main" val="2642462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09EF-D633-471E-A46F-2402F6C5D79F}"/>
              </a:ext>
            </a:extLst>
          </p:cNvPr>
          <p:cNvSpPr>
            <a:spLocks noGrp="1"/>
          </p:cNvSpPr>
          <p:nvPr>
            <p:ph type="title"/>
          </p:nvPr>
        </p:nvSpPr>
        <p:spPr/>
        <p:txBody>
          <a:bodyPr/>
          <a:lstStyle/>
          <a:p>
            <a:r>
              <a:rPr lang="en-US" dirty="0"/>
              <a:t>Python and Comp 3522</a:t>
            </a:r>
            <a:endParaRPr lang="en-CA" dirty="0"/>
          </a:p>
        </p:txBody>
      </p:sp>
      <p:sp>
        <p:nvSpPr>
          <p:cNvPr id="3" name="Content Placeholder 2">
            <a:extLst>
              <a:ext uri="{FF2B5EF4-FFF2-40B4-BE49-F238E27FC236}">
                <a16:creationId xmlns:a16="http://schemas.microsoft.com/office/drawing/2014/main" id="{F2EDC16B-A48E-4F72-91EC-1D0CD1857C20}"/>
              </a:ext>
            </a:extLst>
          </p:cNvPr>
          <p:cNvSpPr>
            <a:spLocks noGrp="1"/>
          </p:cNvSpPr>
          <p:nvPr>
            <p:ph idx="1"/>
          </p:nvPr>
        </p:nvSpPr>
        <p:spPr/>
        <p:txBody>
          <a:bodyPr/>
          <a:lstStyle/>
          <a:p>
            <a:r>
              <a:rPr lang="en-US" dirty="0"/>
              <a:t>This is a second course in OOP</a:t>
            </a:r>
          </a:p>
          <a:p>
            <a:r>
              <a:rPr lang="en-US" dirty="0"/>
              <a:t>The concepts you learn here will be largely language agnostic</a:t>
            </a:r>
          </a:p>
          <a:p>
            <a:r>
              <a:rPr lang="en-US" dirty="0"/>
              <a:t>We can teach this course in C++ or Java or any other object oriented language</a:t>
            </a:r>
          </a:p>
          <a:p>
            <a:r>
              <a:rPr lang="en-US" dirty="0"/>
              <a:t>But Python is in the ascendant and is a leading language that implements the OOP Paradigm</a:t>
            </a:r>
          </a:p>
          <a:p>
            <a:r>
              <a:rPr lang="en-US" dirty="0"/>
              <a:t>According to the TIOBE index, Python is the most popular programming language!</a:t>
            </a:r>
          </a:p>
          <a:p>
            <a:r>
              <a:rPr lang="en-US" dirty="0">
                <a:hlinkClick r:id="rId2"/>
              </a:rPr>
              <a:t>https://www.tiobe.com/tiobe-index/</a:t>
            </a:r>
            <a:r>
              <a:rPr lang="en-US" dirty="0"/>
              <a:t> *</a:t>
            </a:r>
          </a:p>
        </p:txBody>
      </p:sp>
      <p:pic>
        <p:nvPicPr>
          <p:cNvPr id="4" name="Picture 3">
            <a:extLst>
              <a:ext uri="{FF2B5EF4-FFF2-40B4-BE49-F238E27FC236}">
                <a16:creationId xmlns:a16="http://schemas.microsoft.com/office/drawing/2014/main" id="{092D7148-42D4-40C6-B426-04232F4BCE5C}"/>
              </a:ext>
            </a:extLst>
          </p:cNvPr>
          <p:cNvPicPr>
            <a:picLocks noChangeAspect="1"/>
          </p:cNvPicPr>
          <p:nvPr/>
        </p:nvPicPr>
        <p:blipFill>
          <a:blip r:embed="rId3"/>
          <a:stretch>
            <a:fillRect/>
          </a:stretch>
        </p:blipFill>
        <p:spPr>
          <a:xfrm>
            <a:off x="0" y="4709808"/>
            <a:ext cx="12192000" cy="1861589"/>
          </a:xfrm>
          <a:prstGeom prst="rect">
            <a:avLst/>
          </a:prstGeom>
        </p:spPr>
      </p:pic>
    </p:spTree>
    <p:extLst>
      <p:ext uri="{BB962C8B-B14F-4D97-AF65-F5344CB8AC3E}">
        <p14:creationId xmlns:p14="http://schemas.microsoft.com/office/powerpoint/2010/main" val="1855050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E6119-86E4-46AF-9C99-A5CAA4929996}"/>
              </a:ext>
            </a:extLst>
          </p:cNvPr>
          <p:cNvSpPr>
            <a:spLocks noGrp="1"/>
          </p:cNvSpPr>
          <p:nvPr>
            <p:ph type="title"/>
          </p:nvPr>
        </p:nvSpPr>
        <p:spPr>
          <a:xfrm>
            <a:off x="1097280" y="758952"/>
            <a:ext cx="10058400" cy="3566160"/>
          </a:xfrm>
        </p:spPr>
        <p:txBody>
          <a:bodyPr/>
          <a:lstStyle/>
          <a:p>
            <a:r>
              <a:rPr lang="en-US" dirty="0"/>
              <a:t>Hello World</a:t>
            </a:r>
            <a:endParaRPr lang="en-CA" dirty="0"/>
          </a:p>
        </p:txBody>
      </p:sp>
      <p:sp>
        <p:nvSpPr>
          <p:cNvPr id="3" name="Text Placeholder 2">
            <a:extLst>
              <a:ext uri="{FF2B5EF4-FFF2-40B4-BE49-F238E27FC236}">
                <a16:creationId xmlns:a16="http://schemas.microsoft.com/office/drawing/2014/main" id="{29186F47-12FD-4325-AB8E-3178142528B0}"/>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378767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My first Python program</a:t>
            </a:r>
            <a:endParaRPr lang="en-CA" dirty="0"/>
          </a:p>
        </p:txBody>
      </p:sp>
      <p:sp>
        <p:nvSpPr>
          <p:cNvPr id="3" name="Content Placeholder 2">
            <a:extLst>
              <a:ext uri="{FF2B5EF4-FFF2-40B4-BE49-F238E27FC236}">
                <a16:creationId xmlns:a16="http://schemas.microsoft.com/office/drawing/2014/main" id="{AA0CF49E-B281-42A2-AFF4-7D15F6DDA473}"/>
              </a:ext>
            </a:extLst>
          </p:cNvPr>
          <p:cNvSpPr>
            <a:spLocks noGrp="1"/>
          </p:cNvSpPr>
          <p:nvPr>
            <p:ph idx="1"/>
          </p:nvPr>
        </p:nvSpPr>
        <p:spPr>
          <a:xfrm>
            <a:off x="1097280" y="1845734"/>
            <a:ext cx="10058400" cy="691983"/>
          </a:xfrm>
        </p:spPr>
        <p:txBody>
          <a:bodyPr>
            <a:normAutofit lnSpcReduction="10000"/>
          </a:bodyPr>
          <a:lstStyle/>
          <a:p>
            <a:pPr marL="0" lvl="0" indent="0" eaLnBrk="0" fontAlgn="base" hangingPunct="0">
              <a:lnSpc>
                <a:spcPct val="100000"/>
              </a:lnSpc>
              <a:spcBef>
                <a:spcPct val="0"/>
              </a:spcBef>
              <a:spcAft>
                <a:spcPct val="0"/>
              </a:spcAft>
              <a:buClrTx/>
              <a:buSzTx/>
              <a:buNone/>
            </a:pPr>
            <a:endParaRPr lang="en-US" altLang="en-US" dirty="0">
              <a:solidFill>
                <a:schemeClr val="tx1"/>
              </a:solidFill>
              <a:latin typeface="Consolas" panose="020B0609020204030204" pitchFamily="49" charset="0"/>
            </a:endParaRPr>
          </a:p>
          <a:p>
            <a:pPr marL="0" lvl="0" indent="0" eaLnBrk="0" fontAlgn="base" hangingPunct="0">
              <a:lnSpc>
                <a:spcPct val="100000"/>
              </a:lnSpc>
              <a:spcBef>
                <a:spcPct val="0"/>
              </a:spcBef>
              <a:spcAft>
                <a:spcPct val="0"/>
              </a:spcAft>
              <a:buClrTx/>
              <a:buSzTx/>
              <a:buNone/>
            </a:pPr>
            <a:r>
              <a:rPr lang="en-US" altLang="en-US" dirty="0">
                <a:solidFill>
                  <a:schemeClr val="tx1"/>
                </a:solidFill>
                <a:latin typeface="Consolas" panose="020B0609020204030204" pitchFamily="49" charset="0"/>
              </a:rPr>
              <a:t>print('hello world')</a:t>
            </a:r>
            <a:endParaRPr lang="en-US" altLang="en-US" sz="4800" dirty="0">
              <a:solidFill>
                <a:schemeClr val="tx1"/>
              </a:solidFill>
              <a:latin typeface="Consolas" panose="020B0609020204030204" pitchFamily="49" charset="0"/>
            </a:endParaRPr>
          </a:p>
          <a:p>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2917860"/>
            <a:ext cx="6443207" cy="260963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
            </a:pPr>
            <a:r>
              <a:rPr lang="en-US" dirty="0"/>
              <a:t> Seriously, that’s it!</a:t>
            </a:r>
          </a:p>
          <a:p>
            <a:pPr>
              <a:buFont typeface="Wingdings" panose="05000000000000000000" pitchFamily="2" charset="2"/>
              <a:buChar char="§"/>
            </a:pPr>
            <a:r>
              <a:rPr lang="en-US" dirty="0"/>
              <a:t> Notice there’s no semicolon </a:t>
            </a:r>
            <a:r>
              <a:rPr lang="en-US" b="1" dirty="0"/>
              <a:t>;</a:t>
            </a:r>
          </a:p>
          <a:p>
            <a:pPr>
              <a:buFont typeface="Wingdings" panose="05000000000000000000" pitchFamily="2" charset="2"/>
              <a:buChar char="§"/>
            </a:pPr>
            <a:r>
              <a:rPr lang="en-US" dirty="0"/>
              <a:t> Python executes whatever code that’s in the file, even without a main function. Code is interpreted top to bottom </a:t>
            </a:r>
          </a:p>
          <a:p>
            <a:pPr>
              <a:buFont typeface="Wingdings" panose="05000000000000000000" pitchFamily="2" charset="2"/>
              <a:buChar char="§"/>
            </a:pPr>
            <a:r>
              <a:rPr lang="en-US" dirty="0"/>
              <a:t> Where’s the main function??? </a:t>
            </a:r>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509918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My first Python program</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
            </a:pPr>
            <a:r>
              <a:rPr lang="en-US" dirty="0"/>
              <a:t> Need to add some code to the bottom of the file</a:t>
            </a:r>
          </a:p>
          <a:p>
            <a:pPr marL="0" indent="0">
              <a:buNone/>
            </a:pPr>
            <a:endParaRPr lang="en-US" sz="1700" b="1" dirty="0">
              <a:latin typeface="Courier"/>
            </a:endParaRPr>
          </a:p>
          <a:p>
            <a:pPr marL="0" indent="0">
              <a:buNone/>
            </a:pPr>
            <a:r>
              <a:rPr lang="en-US" sz="1700" b="1" dirty="0">
                <a:latin typeface="Consolas" panose="020B0609020204030204" pitchFamily="49" charset="0"/>
              </a:rPr>
              <a:t>if </a:t>
            </a:r>
            <a:r>
              <a:rPr lang="en-US" sz="1700" b="1" dirty="0">
                <a:solidFill>
                  <a:srgbClr val="FF0000"/>
                </a:solidFill>
                <a:latin typeface="Consolas" panose="020B0609020204030204" pitchFamily="49" charset="0"/>
              </a:rPr>
              <a:t>__name__ </a:t>
            </a:r>
            <a:r>
              <a:rPr lang="en-US" sz="1700" b="1" dirty="0">
                <a:latin typeface="Consolas" panose="020B0609020204030204" pitchFamily="49" charset="0"/>
              </a:rPr>
              <a:t>== ‘__main__’:</a:t>
            </a:r>
          </a:p>
          <a:p>
            <a:pPr marL="0" indent="0">
              <a:buNone/>
            </a:pPr>
            <a:r>
              <a:rPr lang="en-US" sz="1700" b="1" dirty="0">
                <a:latin typeface="Consolas" panose="020B0609020204030204" pitchFamily="49" charset="0"/>
              </a:rPr>
              <a:t>    main() </a:t>
            </a:r>
            <a:r>
              <a:rPr lang="en-US" sz="1700" dirty="0">
                <a:latin typeface="Consolas" panose="020B0609020204030204" pitchFamily="49" charset="0"/>
              </a:rPr>
              <a:t>#main is a function we’ll write</a:t>
            </a:r>
          </a:p>
          <a:p>
            <a:pPr marL="0" indent="0">
              <a:buNone/>
            </a:pPr>
            <a:r>
              <a:rPr lang="en-US" dirty="0"/>
              <a:t> </a:t>
            </a:r>
          </a:p>
          <a:p>
            <a:pPr>
              <a:buFont typeface="Wingdings" panose="05000000000000000000" pitchFamily="2" charset="2"/>
              <a:buChar char="§"/>
            </a:pPr>
            <a:r>
              <a:rPr lang="en-US" dirty="0">
                <a:solidFill>
                  <a:srgbClr val="FF0000"/>
                </a:solidFill>
              </a:rPr>
              <a:t> __name__ </a:t>
            </a:r>
            <a:r>
              <a:rPr lang="en-US" dirty="0"/>
              <a:t>is a special Python variable </a:t>
            </a:r>
          </a:p>
          <a:p>
            <a:pPr>
              <a:buFont typeface="Wingdings" panose="05000000000000000000" pitchFamily="2" charset="2"/>
              <a:buChar char="§"/>
            </a:pPr>
            <a:r>
              <a:rPr lang="en-US" dirty="0"/>
              <a:t> Its value is automatically set by Python </a:t>
            </a:r>
          </a:p>
          <a:p>
            <a:pPr lvl="1">
              <a:buFont typeface="Wingdings" panose="05000000000000000000" pitchFamily="2" charset="2"/>
              <a:buChar char="§"/>
            </a:pPr>
            <a:r>
              <a:rPr lang="en-US" dirty="0"/>
              <a:t>__name__ is set to ‘__main__’ if the code begins running from a script</a:t>
            </a:r>
          </a:p>
          <a:p>
            <a:pPr lvl="1">
              <a:buFont typeface="Wingdings" panose="05000000000000000000" pitchFamily="2" charset="2"/>
              <a:buChar char="§"/>
            </a:pPr>
            <a:r>
              <a:rPr lang="en-US" dirty="0"/>
              <a:t>__name__ is set to the module filename if the code started running from a different script</a:t>
            </a:r>
          </a:p>
          <a:p>
            <a:pPr>
              <a:buFont typeface="Wingdings" panose="05000000000000000000" pitchFamily="2" charset="2"/>
              <a:buChar char="§"/>
            </a:pPr>
            <a:endParaRPr lang="en-US" dirty="0"/>
          </a:p>
          <a:p>
            <a:pPr marL="0" indent="0">
              <a:buFont typeface="Calibri" panose="020F0502020204030204" pitchFamily="34" charset="0"/>
              <a:buNone/>
            </a:pPr>
            <a:endParaRPr lang="en-CA" dirty="0"/>
          </a:p>
        </p:txBody>
      </p:sp>
      <p:sp>
        <p:nvSpPr>
          <p:cNvPr id="4" name="Rectangle 3">
            <a:extLst>
              <a:ext uri="{FF2B5EF4-FFF2-40B4-BE49-F238E27FC236}">
                <a16:creationId xmlns:a16="http://schemas.microsoft.com/office/drawing/2014/main" id="{672A9704-023B-40B3-A045-D249F7E170C1}"/>
              </a:ext>
            </a:extLst>
          </p:cNvPr>
          <p:cNvSpPr/>
          <p:nvPr/>
        </p:nvSpPr>
        <p:spPr>
          <a:xfrm>
            <a:off x="10058399" y="5790922"/>
            <a:ext cx="1904104" cy="369332"/>
          </a:xfrm>
          <a:prstGeom prst="rect">
            <a:avLst/>
          </a:prstGeom>
        </p:spPr>
        <p:txBody>
          <a:bodyPr wrap="square">
            <a:spAutoFit/>
          </a:bodyPr>
          <a:lstStyle/>
          <a:p>
            <a:r>
              <a:rPr lang="en-CA" dirty="0">
                <a:solidFill>
                  <a:srgbClr val="0070C0"/>
                </a:solidFill>
              </a:rPr>
              <a:t>file_1.py, file_2.py</a:t>
            </a:r>
          </a:p>
        </p:txBody>
      </p:sp>
    </p:spTree>
    <p:extLst>
      <p:ext uri="{BB962C8B-B14F-4D97-AF65-F5344CB8AC3E}">
        <p14:creationId xmlns:p14="http://schemas.microsoft.com/office/powerpoint/2010/main" val="3810626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My first Python program</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1700" dirty="0">
                <a:latin typeface="Consolas" panose="020B0609020204030204" pitchFamily="49" charset="0"/>
              </a:rPr>
              <a:t>def main():</a:t>
            </a:r>
          </a:p>
          <a:p>
            <a:pPr marL="0" indent="0">
              <a:buNone/>
            </a:pPr>
            <a:r>
              <a:rPr lang="en-US" sz="1700" dirty="0">
                <a:latin typeface="Consolas" panose="020B0609020204030204" pitchFamily="49" charset="0"/>
              </a:rPr>
              <a:t>    print(‘hello world’)</a:t>
            </a:r>
          </a:p>
          <a:p>
            <a:pPr marL="0" indent="0">
              <a:buNone/>
            </a:pPr>
            <a:endParaRPr lang="en-US" sz="1700" dirty="0">
              <a:latin typeface="Consolas" panose="020B0609020204030204" pitchFamily="49" charset="0"/>
            </a:endParaRPr>
          </a:p>
          <a:p>
            <a:pPr marL="0" indent="0">
              <a:buNone/>
            </a:pPr>
            <a:r>
              <a:rPr lang="en-US" sz="1700" b="1" dirty="0">
                <a:latin typeface="Consolas" panose="020B0609020204030204" pitchFamily="49" charset="0"/>
              </a:rPr>
              <a:t>if </a:t>
            </a:r>
            <a:r>
              <a:rPr lang="en-US" sz="1700" b="1" dirty="0">
                <a:solidFill>
                  <a:srgbClr val="FF0000"/>
                </a:solidFill>
                <a:latin typeface="Consolas" panose="020B0609020204030204" pitchFamily="49" charset="0"/>
              </a:rPr>
              <a:t>__name__ </a:t>
            </a:r>
            <a:r>
              <a:rPr lang="en-US" sz="1700" b="1" dirty="0">
                <a:latin typeface="Consolas" panose="020B0609020204030204" pitchFamily="49" charset="0"/>
              </a:rPr>
              <a:t>== ‘__main__’:</a:t>
            </a:r>
          </a:p>
          <a:p>
            <a:pPr marL="0" indent="0">
              <a:buNone/>
            </a:pPr>
            <a:r>
              <a:rPr lang="en-US" sz="1700" b="1" dirty="0">
                <a:latin typeface="Consolas" panose="020B0609020204030204" pitchFamily="49" charset="0"/>
              </a:rPr>
              <a:t>    main() </a:t>
            </a:r>
            <a:r>
              <a:rPr lang="en-US" sz="1700" dirty="0">
                <a:latin typeface="Consolas" panose="020B0609020204030204" pitchFamily="49" charset="0"/>
              </a:rPr>
              <a:t>#calls main function to print hello world</a:t>
            </a:r>
          </a:p>
          <a:p>
            <a:pPr marL="0" indent="0">
              <a:buNone/>
            </a:pPr>
            <a:r>
              <a:rPr lang="en-US" dirty="0"/>
              <a:t> </a:t>
            </a:r>
          </a:p>
          <a:p>
            <a:pPr>
              <a:buFont typeface="Wingdings" panose="05000000000000000000" pitchFamily="2" charset="2"/>
              <a:buChar char="§"/>
            </a:pPr>
            <a:r>
              <a:rPr lang="en-US" dirty="0">
                <a:solidFill>
                  <a:schemeClr val="tx1"/>
                </a:solidFill>
              </a:rPr>
              <a:t> This is the complete code to print out hello world, with a main function </a:t>
            </a:r>
          </a:p>
          <a:p>
            <a:pPr>
              <a:buFont typeface="Wingdings" panose="05000000000000000000" pitchFamily="2" charset="2"/>
              <a:buChar char="§"/>
            </a:pPr>
            <a:r>
              <a:rPr lang="en-US" dirty="0">
                <a:solidFill>
                  <a:schemeClr val="tx1"/>
                </a:solidFill>
              </a:rPr>
              <a:t> What this code is saying is “if we’re running code starting from this script, call a main function”</a:t>
            </a:r>
          </a:p>
          <a:p>
            <a:pPr>
              <a:buFont typeface="Wingdings" panose="05000000000000000000" pitchFamily="2" charset="2"/>
              <a:buChar char="§"/>
            </a:pPr>
            <a:endParaRPr lang="en-US" dirty="0"/>
          </a:p>
          <a:p>
            <a:pPr marL="0" indent="0">
              <a:buFont typeface="Calibri" panose="020F0502020204030204" pitchFamily="34" charset="0"/>
              <a:buNone/>
            </a:pPr>
            <a:endParaRPr lang="en-CA" dirty="0"/>
          </a:p>
        </p:txBody>
      </p:sp>
      <p:sp>
        <p:nvSpPr>
          <p:cNvPr id="3" name="Rectangle 2">
            <a:extLst>
              <a:ext uri="{FF2B5EF4-FFF2-40B4-BE49-F238E27FC236}">
                <a16:creationId xmlns:a16="http://schemas.microsoft.com/office/drawing/2014/main" id="{44653A63-BDF8-AEC7-49F6-0CB04D0C7901}"/>
              </a:ext>
            </a:extLst>
          </p:cNvPr>
          <p:cNvSpPr/>
          <p:nvPr/>
        </p:nvSpPr>
        <p:spPr>
          <a:xfrm>
            <a:off x="9206753" y="5317586"/>
            <a:ext cx="1904104" cy="369332"/>
          </a:xfrm>
          <a:prstGeom prst="rect">
            <a:avLst/>
          </a:prstGeom>
        </p:spPr>
        <p:txBody>
          <a:bodyPr wrap="square">
            <a:spAutoFit/>
          </a:bodyPr>
          <a:lstStyle/>
          <a:p>
            <a:r>
              <a:rPr lang="en-CA">
                <a:solidFill>
                  <a:srgbClr val="0070C0"/>
                </a:solidFill>
              </a:rPr>
              <a:t>Hello_world2.py</a:t>
            </a:r>
            <a:endParaRPr lang="en-CA" dirty="0">
              <a:solidFill>
                <a:srgbClr val="0070C0"/>
              </a:solidFill>
            </a:endParaRPr>
          </a:p>
        </p:txBody>
      </p:sp>
    </p:spTree>
    <p:extLst>
      <p:ext uri="{BB962C8B-B14F-4D97-AF65-F5344CB8AC3E}">
        <p14:creationId xmlns:p14="http://schemas.microsoft.com/office/powerpoint/2010/main" val="2051776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My first Python program</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1700" dirty="0">
                <a:latin typeface="Consolas" panose="020B0609020204030204" pitchFamily="49" charset="0"/>
              </a:rPr>
              <a:t>def jeff():</a:t>
            </a:r>
          </a:p>
          <a:p>
            <a:pPr marL="0" indent="0">
              <a:buNone/>
            </a:pPr>
            <a:r>
              <a:rPr lang="en-US" sz="1700" dirty="0">
                <a:latin typeface="Consolas" panose="020B0609020204030204" pitchFamily="49" charset="0"/>
              </a:rPr>
              <a:t>    print(‘hello world’)</a:t>
            </a:r>
          </a:p>
          <a:p>
            <a:pPr marL="0" indent="0">
              <a:buNone/>
            </a:pPr>
            <a:endParaRPr lang="en-US" sz="1700" dirty="0">
              <a:latin typeface="Consolas" panose="020B0609020204030204" pitchFamily="49" charset="0"/>
            </a:endParaRPr>
          </a:p>
          <a:p>
            <a:pPr marL="0" indent="0">
              <a:buNone/>
            </a:pPr>
            <a:r>
              <a:rPr lang="en-US" sz="1700" b="1" dirty="0">
                <a:latin typeface="Consolas" panose="020B0609020204030204" pitchFamily="49" charset="0"/>
              </a:rPr>
              <a:t>if </a:t>
            </a:r>
            <a:r>
              <a:rPr lang="en-US" sz="1700" b="1" dirty="0">
                <a:solidFill>
                  <a:srgbClr val="FF0000"/>
                </a:solidFill>
                <a:latin typeface="Consolas" panose="020B0609020204030204" pitchFamily="49" charset="0"/>
              </a:rPr>
              <a:t>__name__ </a:t>
            </a:r>
            <a:r>
              <a:rPr lang="en-US" sz="1700" b="1" dirty="0">
                <a:latin typeface="Consolas" panose="020B0609020204030204" pitchFamily="49" charset="0"/>
              </a:rPr>
              <a:t>== ‘__main__’:</a:t>
            </a:r>
          </a:p>
          <a:p>
            <a:pPr marL="0" indent="0">
              <a:buNone/>
            </a:pPr>
            <a:r>
              <a:rPr lang="en-US" sz="1700" b="1" dirty="0">
                <a:latin typeface="Consolas" panose="020B0609020204030204" pitchFamily="49" charset="0"/>
              </a:rPr>
              <a:t>    jeff() </a:t>
            </a:r>
            <a:r>
              <a:rPr lang="en-US" sz="1700" dirty="0">
                <a:latin typeface="Consolas" panose="020B0609020204030204" pitchFamily="49" charset="0"/>
              </a:rPr>
              <a:t>#does the same thing as the previous slide</a:t>
            </a:r>
          </a:p>
          <a:p>
            <a:pPr marL="0" indent="0">
              <a:buNone/>
            </a:pPr>
            <a:r>
              <a:rPr lang="en-US" dirty="0"/>
              <a:t> </a:t>
            </a:r>
          </a:p>
          <a:p>
            <a:pPr>
              <a:buFont typeface="Wingdings" panose="05000000000000000000" pitchFamily="2" charset="2"/>
              <a:buChar char="§"/>
            </a:pPr>
            <a:r>
              <a:rPr lang="en-US" dirty="0">
                <a:solidFill>
                  <a:schemeClr val="tx1"/>
                </a:solidFill>
              </a:rPr>
              <a:t> Notice there’s nothing special about the naming of the main function</a:t>
            </a:r>
          </a:p>
          <a:p>
            <a:pPr>
              <a:buFont typeface="Wingdings" panose="05000000000000000000" pitchFamily="2" charset="2"/>
              <a:buChar char="§"/>
            </a:pPr>
            <a:r>
              <a:rPr lang="en-US" dirty="0">
                <a:solidFill>
                  <a:schemeClr val="tx1"/>
                </a:solidFill>
              </a:rPr>
              <a:t> I’ve changed the function to jeff and it behaves the same</a:t>
            </a:r>
          </a:p>
          <a:p>
            <a:pPr>
              <a:buFont typeface="Wingdings" panose="05000000000000000000" pitchFamily="2" charset="2"/>
              <a:buChar char="§"/>
            </a:pPr>
            <a:endParaRPr lang="en-US" dirty="0"/>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105761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Intro to Variables and Functions</a:t>
            </a:r>
          </a:p>
        </p:txBody>
      </p:sp>
      <p:sp>
        <p:nvSpPr>
          <p:cNvPr id="3" name="Subtitle 2"/>
          <p:cNvSpPr>
            <a:spLocks noGrp="1"/>
          </p:cNvSpPr>
          <p:nvPr>
            <p:ph type="subTitle" idx="1"/>
          </p:nvPr>
        </p:nvSpPr>
        <p:spPr/>
        <p:txBody>
          <a:bodyPr/>
          <a:lstStyle/>
          <a:p>
            <a:endParaRPr lang="en-CA"/>
          </a:p>
        </p:txBody>
      </p:sp>
    </p:spTree>
    <p:extLst>
      <p:ext uri="{BB962C8B-B14F-4D97-AF65-F5344CB8AC3E}">
        <p14:creationId xmlns:p14="http://schemas.microsoft.com/office/powerpoint/2010/main" val="1668572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Intro to Variables and Functions</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None/>
            </a:pPr>
            <a:r>
              <a:rPr lang="en-US" altLang="en-US" sz="1800" b="1" dirty="0">
                <a:solidFill>
                  <a:schemeClr val="tx1"/>
                </a:solidFill>
                <a:latin typeface="Consolas" panose="020B0609020204030204" pitchFamily="49" charset="0"/>
              </a:rPr>
              <a:t>def add(a, b)</a:t>
            </a:r>
            <a:r>
              <a:rPr lang="en-US" altLang="en-US" sz="1800" b="1" dirty="0">
                <a:solidFill>
                  <a:srgbClr val="FF0000"/>
                </a:solidFill>
                <a:latin typeface="Consolas" panose="020B0609020204030204" pitchFamily="49" charset="0"/>
              </a:rPr>
              <a:t>:</a:t>
            </a:r>
            <a:br>
              <a:rPr lang="en-US" altLang="en-US" sz="1800" b="1" dirty="0">
                <a:solidFill>
                  <a:schemeClr val="tx1"/>
                </a:solidFill>
                <a:latin typeface="Consolas" panose="020B0609020204030204" pitchFamily="49" charset="0"/>
              </a:rPr>
            </a:br>
            <a:r>
              <a:rPr lang="en-US" altLang="en-US" sz="1800" b="1" dirty="0">
                <a:solidFill>
                  <a:schemeClr val="tx1"/>
                </a:solidFill>
                <a:latin typeface="Consolas" panose="020B0609020204030204" pitchFamily="49" charset="0"/>
              </a:rPr>
              <a:t>    return a + b</a:t>
            </a:r>
            <a:br>
              <a:rPr lang="en-US" altLang="en-US" sz="1800" dirty="0">
                <a:solidFill>
                  <a:schemeClr val="tx1"/>
                </a:solidFill>
                <a:latin typeface="Consolas" panose="020B0609020204030204" pitchFamily="49" charset="0"/>
              </a:rPr>
            </a:b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num1 = input(‘Enter a number’)</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num2 = input(‘Enter a second number’)</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print(add(num1,num2))</a:t>
            </a:r>
            <a:endParaRPr lang="en-US" altLang="en-US" sz="4400" dirty="0">
              <a:solidFill>
                <a:schemeClr val="tx1"/>
              </a:solidFill>
              <a:latin typeface="Arial" panose="020B0604020202020204" pitchFamily="34" charset="0"/>
            </a:endParaRPr>
          </a:p>
          <a:p>
            <a:pPr marL="0" indent="0">
              <a:buNone/>
            </a:pPr>
            <a:r>
              <a:rPr lang="en-US" dirty="0"/>
              <a:t> </a:t>
            </a:r>
          </a:p>
          <a:p>
            <a:pPr>
              <a:buFont typeface="Wingdings" panose="05000000000000000000" pitchFamily="2" charset="2"/>
              <a:buChar char="§"/>
            </a:pPr>
            <a:r>
              <a:rPr lang="en-US" dirty="0">
                <a:solidFill>
                  <a:schemeClr val="tx1"/>
                </a:solidFill>
              </a:rPr>
              <a:t> Function bodies begin after the </a:t>
            </a:r>
            <a:r>
              <a:rPr lang="en-US" sz="2500" dirty="0">
                <a:solidFill>
                  <a:srgbClr val="FF0000"/>
                </a:solidFill>
              </a:rPr>
              <a:t>:</a:t>
            </a:r>
          </a:p>
          <a:p>
            <a:pPr>
              <a:buFont typeface="Wingdings" panose="05000000000000000000" pitchFamily="2" charset="2"/>
              <a:buChar char="§"/>
            </a:pPr>
            <a:r>
              <a:rPr lang="en-US" dirty="0">
                <a:solidFill>
                  <a:srgbClr val="FF0000"/>
                </a:solidFill>
              </a:rPr>
              <a:t> </a:t>
            </a:r>
            <a:r>
              <a:rPr lang="en-US" dirty="0">
                <a:solidFill>
                  <a:schemeClr val="tx1"/>
                </a:solidFill>
              </a:rPr>
              <a:t>Notice how there are no curly braces</a:t>
            </a:r>
          </a:p>
          <a:p>
            <a:pPr>
              <a:buFont typeface="Wingdings" panose="05000000000000000000" pitchFamily="2" charset="2"/>
              <a:buChar char="§"/>
            </a:pPr>
            <a:r>
              <a:rPr lang="en-US" dirty="0">
                <a:solidFill>
                  <a:schemeClr val="tx1"/>
                </a:solidFill>
              </a:rPr>
              <a:t> Code sections are separated by indentation. Notice the indent before ‘return a + b’</a:t>
            </a:r>
          </a:p>
          <a:p>
            <a:pPr>
              <a:buFont typeface="Wingdings" panose="05000000000000000000" pitchFamily="2" charset="2"/>
              <a:buChar char="§"/>
            </a:pPr>
            <a:r>
              <a:rPr lang="en-US" dirty="0">
                <a:solidFill>
                  <a:schemeClr val="tx1"/>
                </a:solidFill>
              </a:rPr>
              <a:t> That’s not just for readability, python requires indentation to separate code sections</a:t>
            </a:r>
            <a:endParaRPr lang="en-US" dirty="0">
              <a:solidFill>
                <a:srgbClr val="FF0000"/>
              </a:solidFill>
            </a:endParaRPr>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850843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Intro to Variables and Functions</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Consolas" panose="020B0609020204030204" pitchFamily="49" charset="0"/>
              </a:rPr>
              <a:t>def add(a, b)</a:t>
            </a:r>
            <a:r>
              <a:rPr lang="en-US" altLang="en-US" sz="1800" dirty="0">
                <a:solidFill>
                  <a:srgbClr val="FF0000"/>
                </a:solidFill>
                <a:latin typeface="Consolas" panose="020B0609020204030204" pitchFamily="49" charset="0"/>
              </a:rPr>
              <a:t>:</a:t>
            </a:r>
            <a:br>
              <a:rPr lang="en-US" altLang="en-US" sz="1800" dirty="0">
                <a:solidFill>
                  <a:schemeClr val="tx1"/>
                </a:solidFill>
                <a:latin typeface="Consolas" panose="020B0609020204030204" pitchFamily="49" charset="0"/>
              </a:rPr>
            </a:br>
            <a:r>
              <a:rPr lang="en-US" altLang="en-US" sz="1800" b="1" dirty="0">
                <a:solidFill>
                  <a:schemeClr val="tx1"/>
                </a:solidFill>
                <a:latin typeface="Consolas" panose="020B0609020204030204" pitchFamily="49" charset="0"/>
              </a:rPr>
              <a:t>return a + b</a:t>
            </a:r>
            <a:br>
              <a:rPr lang="en-US" altLang="en-US" sz="1800" dirty="0">
                <a:solidFill>
                  <a:schemeClr val="tx1"/>
                </a:solidFill>
                <a:latin typeface="Consolas" panose="020B0609020204030204" pitchFamily="49" charset="0"/>
              </a:rPr>
            </a:b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num1 = input(‘Enter a number’)</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num2 = input(‘Enter a second number’)</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print(add(num1,num2))</a:t>
            </a:r>
            <a:endParaRPr lang="en-US" altLang="en-US" sz="4400" dirty="0">
              <a:solidFill>
                <a:schemeClr val="tx1"/>
              </a:solidFill>
              <a:latin typeface="Arial" panose="020B0604020202020204" pitchFamily="34" charset="0"/>
            </a:endParaRPr>
          </a:p>
          <a:p>
            <a:pPr marL="0" indent="0">
              <a:buNone/>
            </a:pPr>
            <a:r>
              <a:rPr lang="en-US" dirty="0"/>
              <a:t> </a:t>
            </a:r>
          </a:p>
          <a:p>
            <a:pPr marL="0" indent="0">
              <a:buNone/>
            </a:pPr>
            <a:endParaRPr lang="en-US" dirty="0">
              <a:solidFill>
                <a:schemeClr val="tx1"/>
              </a:solidFill>
            </a:endParaRPr>
          </a:p>
          <a:p>
            <a:pPr marL="0" indent="0">
              <a:buNone/>
            </a:pPr>
            <a:r>
              <a:rPr lang="en-US" dirty="0">
                <a:solidFill>
                  <a:schemeClr val="tx1"/>
                </a:solidFill>
              </a:rPr>
              <a:t> </a:t>
            </a:r>
          </a:p>
          <a:p>
            <a:pPr>
              <a:buFont typeface="Wingdings" panose="05000000000000000000" pitchFamily="2" charset="2"/>
              <a:buChar char="§"/>
            </a:pPr>
            <a:r>
              <a:rPr lang="en-US" dirty="0">
                <a:solidFill>
                  <a:schemeClr val="tx1"/>
                </a:solidFill>
              </a:rPr>
              <a:t> Compiler error if there’s no indent for function. This applies for if/else, for, while </a:t>
            </a:r>
            <a:r>
              <a:rPr lang="en-US" dirty="0" err="1">
                <a:solidFill>
                  <a:schemeClr val="tx1"/>
                </a:solidFill>
              </a:rPr>
              <a:t>etc</a:t>
            </a:r>
            <a:endParaRPr lang="en-US" dirty="0">
              <a:solidFill>
                <a:schemeClr val="tx1"/>
              </a:solidFill>
            </a:endParaRPr>
          </a:p>
          <a:p>
            <a:pPr>
              <a:buFont typeface="Wingdings" panose="05000000000000000000" pitchFamily="2" charset="2"/>
              <a:buChar char="§"/>
            </a:pPr>
            <a:r>
              <a:rPr lang="en-US" dirty="0">
                <a:solidFill>
                  <a:schemeClr val="tx1"/>
                </a:solidFill>
              </a:rPr>
              <a:t> Think of where you’d normally have curly braces in Java, and that’s where you’d indent</a:t>
            </a:r>
            <a:endParaRPr lang="en-US" dirty="0">
              <a:solidFill>
                <a:srgbClr val="FF0000"/>
              </a:solidFill>
            </a:endParaRPr>
          </a:p>
          <a:p>
            <a:pPr marL="0" indent="0">
              <a:buFont typeface="Calibri" panose="020F0502020204030204" pitchFamily="34" charset="0"/>
              <a:buNone/>
            </a:pPr>
            <a:endParaRPr lang="en-CA" dirty="0"/>
          </a:p>
        </p:txBody>
      </p:sp>
      <p:pic>
        <p:nvPicPr>
          <p:cNvPr id="3" name="Picture 2">
            <a:extLst>
              <a:ext uri="{FF2B5EF4-FFF2-40B4-BE49-F238E27FC236}">
                <a16:creationId xmlns:a16="http://schemas.microsoft.com/office/drawing/2014/main" id="{866C86FD-90B5-4178-BA8C-D32D70A3BCD0}"/>
              </a:ext>
            </a:extLst>
          </p:cNvPr>
          <p:cNvPicPr>
            <a:picLocks noChangeAspect="1"/>
          </p:cNvPicPr>
          <p:nvPr/>
        </p:nvPicPr>
        <p:blipFill>
          <a:blip r:embed="rId2"/>
          <a:stretch>
            <a:fillRect/>
          </a:stretch>
        </p:blipFill>
        <p:spPr>
          <a:xfrm>
            <a:off x="1097280" y="3773949"/>
            <a:ext cx="6169846" cy="1034357"/>
          </a:xfrm>
          <a:prstGeom prst="rect">
            <a:avLst/>
          </a:prstGeom>
        </p:spPr>
      </p:pic>
      <p:cxnSp>
        <p:nvCxnSpPr>
          <p:cNvPr id="5" name="Straight Arrow Connector 4">
            <a:extLst>
              <a:ext uri="{FF2B5EF4-FFF2-40B4-BE49-F238E27FC236}">
                <a16:creationId xmlns:a16="http://schemas.microsoft.com/office/drawing/2014/main" id="{1A71EC39-1BCF-4396-B3AD-98E16D1B42B5}"/>
              </a:ext>
            </a:extLst>
          </p:cNvPr>
          <p:cNvCxnSpPr>
            <a:cxnSpLocks/>
          </p:cNvCxnSpPr>
          <p:nvPr/>
        </p:nvCxnSpPr>
        <p:spPr>
          <a:xfrm flipH="1">
            <a:off x="801384" y="2486346"/>
            <a:ext cx="295897" cy="410966"/>
          </a:xfrm>
          <a:prstGeom prst="straightConnector1">
            <a:avLst/>
          </a:prstGeom>
          <a:ln w="63500">
            <a:headEnd type="triangl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17908DA-6F54-433F-B246-001D1F86D896}"/>
              </a:ext>
            </a:extLst>
          </p:cNvPr>
          <p:cNvSpPr/>
          <p:nvPr/>
        </p:nvSpPr>
        <p:spPr>
          <a:xfrm>
            <a:off x="-50984" y="2897312"/>
            <a:ext cx="1148263" cy="276999"/>
          </a:xfrm>
          <a:prstGeom prst="rect">
            <a:avLst/>
          </a:prstGeom>
        </p:spPr>
        <p:txBody>
          <a:bodyPr wrap="none">
            <a:spAutoFit/>
          </a:bodyPr>
          <a:lstStyle/>
          <a:p>
            <a:r>
              <a:rPr lang="en-US" sz="1200" dirty="0">
                <a:solidFill>
                  <a:srgbClr val="FF0000"/>
                </a:solidFill>
              </a:rPr>
              <a:t>Missing indent!</a:t>
            </a:r>
          </a:p>
        </p:txBody>
      </p:sp>
    </p:spTree>
    <p:extLst>
      <p:ext uri="{BB962C8B-B14F-4D97-AF65-F5344CB8AC3E}">
        <p14:creationId xmlns:p14="http://schemas.microsoft.com/office/powerpoint/2010/main" val="370265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Intro to Variables and Functions</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Consolas" panose="020B0609020204030204" pitchFamily="49" charset="0"/>
              </a:rPr>
              <a:t>def add(a, b):</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    return a + b</a:t>
            </a:r>
            <a:br>
              <a:rPr lang="en-US" altLang="en-US" sz="1800" dirty="0">
                <a:solidFill>
                  <a:schemeClr val="tx1"/>
                </a:solidFill>
                <a:latin typeface="Consolas" panose="020B0609020204030204" pitchFamily="49" charset="0"/>
              </a:rPr>
            </a:br>
            <a:br>
              <a:rPr lang="en-US" altLang="en-US" sz="1800" dirty="0">
                <a:solidFill>
                  <a:schemeClr val="tx1"/>
                </a:solidFill>
                <a:latin typeface="Consolas" panose="020B0609020204030204" pitchFamily="49" charset="0"/>
              </a:rPr>
            </a:br>
            <a:r>
              <a:rPr lang="en-US" altLang="en-US" sz="1800" dirty="0">
                <a:solidFill>
                  <a:srgbClr val="FF0000"/>
                </a:solidFill>
                <a:latin typeface="Consolas" panose="020B0609020204030204" pitchFamily="49" charset="0"/>
              </a:rPr>
              <a:t>num1 = 5</a:t>
            </a:r>
            <a:br>
              <a:rPr lang="en-US" altLang="en-US" sz="1800" dirty="0">
                <a:solidFill>
                  <a:srgbClr val="FF0000"/>
                </a:solidFill>
                <a:latin typeface="Consolas" panose="020B0609020204030204" pitchFamily="49" charset="0"/>
              </a:rPr>
            </a:br>
            <a:r>
              <a:rPr lang="en-US" altLang="en-US" sz="1800" dirty="0">
                <a:solidFill>
                  <a:srgbClr val="FF0000"/>
                </a:solidFill>
                <a:latin typeface="Consolas" panose="020B0609020204030204" pitchFamily="49" charset="0"/>
              </a:rPr>
              <a:t>num2 = 10</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print(add(num1,num2))</a:t>
            </a:r>
            <a:endParaRPr lang="en-US" altLang="en-US" sz="4400" dirty="0">
              <a:solidFill>
                <a:schemeClr val="tx1"/>
              </a:solidFill>
              <a:latin typeface="Arial" panose="020B0604020202020204" pitchFamily="34" charset="0"/>
            </a:endParaRPr>
          </a:p>
          <a:p>
            <a:pPr marL="0" indent="0">
              <a:buNone/>
            </a:pPr>
            <a:r>
              <a:rPr lang="en-US" dirty="0"/>
              <a:t> </a:t>
            </a:r>
          </a:p>
          <a:p>
            <a:pPr>
              <a:buFont typeface="Wingdings" panose="05000000000000000000" pitchFamily="2" charset="2"/>
              <a:buChar char="§"/>
            </a:pPr>
            <a:r>
              <a:rPr lang="en-US" dirty="0">
                <a:solidFill>
                  <a:schemeClr val="tx1"/>
                </a:solidFill>
              </a:rPr>
              <a:t> Python is a dynamically typed language. </a:t>
            </a:r>
          </a:p>
          <a:p>
            <a:pPr>
              <a:buFont typeface="Wingdings" panose="05000000000000000000" pitchFamily="2" charset="2"/>
              <a:buChar char="§"/>
            </a:pPr>
            <a:r>
              <a:rPr lang="en-US" dirty="0">
                <a:solidFill>
                  <a:schemeClr val="tx1"/>
                </a:solidFill>
              </a:rPr>
              <a:t> Notice how there’s no type (int) in front of </a:t>
            </a:r>
            <a:r>
              <a:rPr lang="en-US" dirty="0">
                <a:solidFill>
                  <a:srgbClr val="FF0000"/>
                </a:solidFill>
              </a:rPr>
              <a:t>num1 and num2</a:t>
            </a:r>
            <a:r>
              <a:rPr lang="en-US" dirty="0">
                <a:solidFill>
                  <a:schemeClr val="tx1"/>
                </a:solidFill>
              </a:rPr>
              <a:t>. Types are inferred</a:t>
            </a:r>
            <a:endParaRPr lang="en-US" dirty="0"/>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570813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Intro to Variables and Functions</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Consolas" panose="020B0609020204030204" pitchFamily="49" charset="0"/>
              </a:rPr>
              <a:t>def add(</a:t>
            </a:r>
            <a:r>
              <a:rPr lang="en-US" altLang="en-US" sz="1800" dirty="0">
                <a:solidFill>
                  <a:srgbClr val="FF0000"/>
                </a:solidFill>
                <a:latin typeface="Consolas" panose="020B0609020204030204" pitchFamily="49" charset="0"/>
              </a:rPr>
              <a:t>a, b</a:t>
            </a:r>
            <a:r>
              <a:rPr lang="en-US" altLang="en-US" sz="1800" dirty="0">
                <a:solidFill>
                  <a:schemeClr val="tx1"/>
                </a:solidFill>
                <a:latin typeface="Consolas" panose="020B0609020204030204" pitchFamily="49" charset="0"/>
              </a:rPr>
              <a:t>):</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    return a + b</a:t>
            </a:r>
            <a:br>
              <a:rPr lang="en-US" altLang="en-US" sz="1800" dirty="0">
                <a:solidFill>
                  <a:schemeClr val="tx1"/>
                </a:solidFill>
                <a:latin typeface="Consolas" panose="020B0609020204030204" pitchFamily="49" charset="0"/>
              </a:rPr>
            </a:b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num1 = 5</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num2 = 10</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print(add(num1,num2))</a:t>
            </a:r>
            <a:endParaRPr lang="en-US" altLang="en-US" sz="4400" dirty="0">
              <a:solidFill>
                <a:schemeClr val="tx1"/>
              </a:solidFill>
              <a:latin typeface="Arial" panose="020B0604020202020204" pitchFamily="34" charset="0"/>
            </a:endParaRPr>
          </a:p>
          <a:p>
            <a:pPr marL="0" indent="0">
              <a:buNone/>
            </a:pPr>
            <a:r>
              <a:rPr lang="en-US" dirty="0"/>
              <a:t> </a:t>
            </a:r>
          </a:p>
          <a:p>
            <a:pPr>
              <a:buFont typeface="Wingdings" panose="05000000000000000000" pitchFamily="2" charset="2"/>
              <a:buChar char="§"/>
            </a:pPr>
            <a:r>
              <a:rPr lang="en-US" dirty="0">
                <a:solidFill>
                  <a:schemeClr val="tx1"/>
                </a:solidFill>
              </a:rPr>
              <a:t> Same as </a:t>
            </a:r>
            <a:r>
              <a:rPr lang="en-US" dirty="0">
                <a:solidFill>
                  <a:srgbClr val="FF0000"/>
                </a:solidFill>
              </a:rPr>
              <a:t>parameters</a:t>
            </a:r>
            <a:r>
              <a:rPr lang="en-US" dirty="0">
                <a:solidFill>
                  <a:schemeClr val="tx1"/>
                </a:solidFill>
              </a:rPr>
              <a:t> in a function, notice how types are not specified</a:t>
            </a:r>
            <a:endParaRPr lang="en-US" dirty="0"/>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57569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Intro to Variables and Functions</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Consolas" panose="020B0609020204030204" pitchFamily="49" charset="0"/>
              </a:rPr>
              <a:t>def add(</a:t>
            </a:r>
            <a:r>
              <a:rPr lang="en-US" altLang="en-US" sz="1800" dirty="0">
                <a:solidFill>
                  <a:srgbClr val="FF0000"/>
                </a:solidFill>
                <a:latin typeface="Consolas" panose="020B0609020204030204" pitchFamily="49" charset="0"/>
              </a:rPr>
              <a:t>a </a:t>
            </a:r>
            <a:r>
              <a:rPr lang="en-US" altLang="en-US" sz="1800">
                <a:solidFill>
                  <a:srgbClr val="FF0000"/>
                </a:solidFill>
                <a:latin typeface="Consolas" panose="020B0609020204030204" pitchFamily="49" charset="0"/>
              </a:rPr>
              <a:t>: int, </a:t>
            </a:r>
            <a:r>
              <a:rPr lang="en-US" altLang="en-US" sz="1800" dirty="0">
                <a:solidFill>
                  <a:srgbClr val="FF0000"/>
                </a:solidFill>
                <a:latin typeface="Consolas" panose="020B0609020204030204" pitchFamily="49" charset="0"/>
              </a:rPr>
              <a:t>b : int</a:t>
            </a:r>
            <a:r>
              <a:rPr lang="en-US" altLang="en-US" sz="1800" dirty="0">
                <a:solidFill>
                  <a:schemeClr val="tx1"/>
                </a:solidFill>
                <a:latin typeface="Consolas" panose="020B0609020204030204" pitchFamily="49" charset="0"/>
              </a:rPr>
              <a:t>):</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    return a + b</a:t>
            </a:r>
            <a:br>
              <a:rPr lang="en-US" altLang="en-US" sz="1800" dirty="0">
                <a:solidFill>
                  <a:schemeClr val="tx1"/>
                </a:solidFill>
                <a:latin typeface="Consolas" panose="020B0609020204030204" pitchFamily="49" charset="0"/>
              </a:rPr>
            </a:b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num1 = 5</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num2 = 10</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print(add(num1,num2))</a:t>
            </a:r>
            <a:endParaRPr lang="en-US" altLang="en-US" sz="4400" dirty="0">
              <a:solidFill>
                <a:schemeClr val="tx1"/>
              </a:solidFill>
              <a:latin typeface="Arial" panose="020B0604020202020204" pitchFamily="34" charset="0"/>
            </a:endParaRPr>
          </a:p>
          <a:p>
            <a:pPr marL="0" indent="0">
              <a:buNone/>
            </a:pPr>
            <a:r>
              <a:rPr lang="en-US" dirty="0"/>
              <a:t> </a:t>
            </a:r>
          </a:p>
          <a:p>
            <a:pPr>
              <a:buFont typeface="Wingdings" panose="05000000000000000000" pitchFamily="2" charset="2"/>
              <a:buChar char="§"/>
            </a:pPr>
            <a:r>
              <a:rPr lang="en-US" dirty="0">
                <a:solidFill>
                  <a:schemeClr val="tx1"/>
                </a:solidFill>
              </a:rPr>
              <a:t> Can add : type after the parameter to indicate type</a:t>
            </a:r>
          </a:p>
          <a:p>
            <a:pPr>
              <a:buFont typeface="Wingdings" panose="05000000000000000000" pitchFamily="2" charset="2"/>
              <a:buChar char="§"/>
            </a:pPr>
            <a:r>
              <a:rPr lang="en-US" dirty="0">
                <a:solidFill>
                  <a:schemeClr val="tx1"/>
                </a:solidFill>
              </a:rPr>
              <a:t> But this is just for programmer intention/readability and it doesn’t change functionality</a:t>
            </a:r>
          </a:p>
          <a:p>
            <a:pPr>
              <a:buFont typeface="Wingdings" panose="05000000000000000000" pitchFamily="2" charset="2"/>
              <a:buChar char="§"/>
            </a:pPr>
            <a:r>
              <a:rPr lang="en-US" dirty="0">
                <a:solidFill>
                  <a:schemeClr val="tx1"/>
                </a:solidFill>
              </a:rPr>
              <a:t> Can still pass in types other than int into function and it will work</a:t>
            </a:r>
            <a:endParaRPr lang="en-US" dirty="0"/>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1234360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Intro to Variables and Functions</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None/>
            </a:pPr>
            <a:r>
              <a:rPr lang="en-US" altLang="en-US" sz="1800" dirty="0">
                <a:solidFill>
                  <a:srgbClr val="FF0000"/>
                </a:solidFill>
                <a:latin typeface="Consolas" panose="020B0609020204030204" pitchFamily="49" charset="0"/>
              </a:rPr>
              <a:t>def</a:t>
            </a:r>
            <a:r>
              <a:rPr lang="en-US" altLang="en-US" sz="1800" dirty="0">
                <a:solidFill>
                  <a:schemeClr val="tx1"/>
                </a:solidFill>
                <a:latin typeface="Consolas" panose="020B0609020204030204" pitchFamily="49" charset="0"/>
              </a:rPr>
              <a:t> add(a, b):</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    return a + b</a:t>
            </a:r>
            <a:br>
              <a:rPr lang="en-US" altLang="en-US" sz="1800" dirty="0">
                <a:solidFill>
                  <a:schemeClr val="tx1"/>
                </a:solidFill>
                <a:latin typeface="Consolas" panose="020B0609020204030204" pitchFamily="49" charset="0"/>
              </a:rPr>
            </a:b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num1 = 5</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num2 = 10</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print(add(num1,num2))</a:t>
            </a:r>
            <a:endParaRPr lang="en-US" altLang="en-US" sz="4400" dirty="0">
              <a:solidFill>
                <a:schemeClr val="tx1"/>
              </a:solidFill>
              <a:latin typeface="Arial" panose="020B0604020202020204" pitchFamily="34" charset="0"/>
            </a:endParaRPr>
          </a:p>
          <a:p>
            <a:pPr marL="0" indent="0">
              <a:buNone/>
            </a:pPr>
            <a:r>
              <a:rPr lang="en-US" dirty="0"/>
              <a:t> </a:t>
            </a:r>
          </a:p>
          <a:p>
            <a:pPr>
              <a:buFont typeface="Wingdings" panose="05000000000000000000" pitchFamily="2" charset="2"/>
              <a:buChar char="§"/>
            </a:pPr>
            <a:r>
              <a:rPr lang="en-US" dirty="0">
                <a:solidFill>
                  <a:schemeClr val="tx1"/>
                </a:solidFill>
              </a:rPr>
              <a:t> Functions begin with </a:t>
            </a:r>
            <a:r>
              <a:rPr lang="en-US" dirty="0">
                <a:solidFill>
                  <a:srgbClr val="FF0000"/>
                </a:solidFill>
              </a:rPr>
              <a:t>def</a:t>
            </a:r>
            <a:endParaRPr lang="en-US" dirty="0">
              <a:solidFill>
                <a:schemeClr val="tx1"/>
              </a:solidFill>
            </a:endParaRPr>
          </a:p>
          <a:p>
            <a:pPr>
              <a:buFont typeface="Wingdings" panose="05000000000000000000" pitchFamily="2" charset="2"/>
              <a:buChar char="§"/>
            </a:pPr>
            <a:r>
              <a:rPr lang="en-US" dirty="0">
                <a:solidFill>
                  <a:schemeClr val="tx1"/>
                </a:solidFill>
              </a:rPr>
              <a:t> def is used in place of void or return types you’re used to in Java </a:t>
            </a:r>
          </a:p>
          <a:p>
            <a:pPr>
              <a:buFont typeface="Wingdings" panose="05000000000000000000" pitchFamily="2" charset="2"/>
              <a:buChar char="§"/>
            </a:pPr>
            <a:r>
              <a:rPr lang="en-US" dirty="0">
                <a:solidFill>
                  <a:schemeClr val="tx1"/>
                </a:solidFill>
              </a:rPr>
              <a:t> No need to specify a function is void if it doesn’t return anything, or a return type if it does return something</a:t>
            </a:r>
            <a:endParaRPr lang="en-US" dirty="0"/>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3337102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Intro to Variables and Functions</a:t>
            </a:r>
            <a:endParaRPr lang="en-CA" dirty="0"/>
          </a:p>
        </p:txBody>
      </p:sp>
      <p:sp>
        <p:nvSpPr>
          <p:cNvPr id="7" name="Content Placeholder 2">
            <a:extLst>
              <a:ext uri="{FF2B5EF4-FFF2-40B4-BE49-F238E27FC236}">
                <a16:creationId xmlns:a16="http://schemas.microsoft.com/office/drawing/2014/main" id="{7F5BAC5D-58A1-4D50-A2C5-AAFD91597058}"/>
              </a:ext>
            </a:extLst>
          </p:cNvPr>
          <p:cNvSpPr txBox="1">
            <a:spLocks/>
          </p:cNvSpPr>
          <p:nvPr/>
        </p:nvSpPr>
        <p:spPr>
          <a:xfrm>
            <a:off x="1097280" y="1921267"/>
            <a:ext cx="10058400" cy="4181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Consolas" panose="020B0609020204030204" pitchFamily="49" charset="0"/>
              </a:rPr>
              <a:t>def add(a, b) </a:t>
            </a:r>
            <a:r>
              <a:rPr lang="en-US" altLang="en-US" sz="1800" dirty="0">
                <a:solidFill>
                  <a:srgbClr val="FF0000"/>
                </a:solidFill>
                <a:latin typeface="Consolas" panose="020B0609020204030204" pitchFamily="49" charset="0"/>
              </a:rPr>
              <a:t>-&gt; int</a:t>
            </a:r>
            <a:r>
              <a:rPr lang="en-US" altLang="en-US" sz="1800" dirty="0">
                <a:solidFill>
                  <a:schemeClr val="tx1"/>
                </a:solidFill>
                <a:latin typeface="Consolas" panose="020B0609020204030204" pitchFamily="49" charset="0"/>
              </a:rPr>
              <a:t>:</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    return a + b</a:t>
            </a:r>
            <a:br>
              <a:rPr lang="en-US" altLang="en-US" sz="1800" dirty="0">
                <a:solidFill>
                  <a:schemeClr val="tx1"/>
                </a:solidFill>
                <a:latin typeface="Consolas" panose="020B0609020204030204" pitchFamily="49" charset="0"/>
              </a:rPr>
            </a:b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num1 = 5</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num2 = 10</a:t>
            </a:r>
            <a:br>
              <a:rPr lang="en-US" altLang="en-US" sz="1800" dirty="0">
                <a:solidFill>
                  <a:schemeClr val="tx1"/>
                </a:solidFill>
                <a:latin typeface="Consolas" panose="020B0609020204030204" pitchFamily="49" charset="0"/>
              </a:rPr>
            </a:br>
            <a:r>
              <a:rPr lang="en-US" altLang="en-US" sz="1800" dirty="0">
                <a:solidFill>
                  <a:schemeClr val="tx1"/>
                </a:solidFill>
                <a:latin typeface="Consolas" panose="020B0609020204030204" pitchFamily="49" charset="0"/>
              </a:rPr>
              <a:t>print(add(num1,num2))</a:t>
            </a:r>
            <a:endParaRPr lang="en-US" altLang="en-US" sz="4400" dirty="0">
              <a:solidFill>
                <a:schemeClr val="tx1"/>
              </a:solidFill>
              <a:latin typeface="Arial" panose="020B0604020202020204" pitchFamily="34" charset="0"/>
            </a:endParaRPr>
          </a:p>
          <a:p>
            <a:pPr marL="0" indent="0">
              <a:buNone/>
            </a:pPr>
            <a:r>
              <a:rPr lang="en-US" dirty="0"/>
              <a:t> </a:t>
            </a:r>
          </a:p>
          <a:p>
            <a:pPr>
              <a:buFont typeface="Wingdings" panose="05000000000000000000" pitchFamily="2" charset="2"/>
              <a:buChar char="§"/>
            </a:pPr>
            <a:r>
              <a:rPr lang="en-US" dirty="0">
                <a:solidFill>
                  <a:schemeClr val="tx1"/>
                </a:solidFill>
              </a:rPr>
              <a:t> Can add </a:t>
            </a:r>
            <a:r>
              <a:rPr lang="en-US" dirty="0">
                <a:solidFill>
                  <a:srgbClr val="FF0000"/>
                </a:solidFill>
              </a:rPr>
              <a:t>-&gt; type </a:t>
            </a:r>
            <a:r>
              <a:rPr lang="en-US" dirty="0">
                <a:solidFill>
                  <a:schemeClr val="tx1"/>
                </a:solidFill>
              </a:rPr>
              <a:t>after the function header to indicate return type</a:t>
            </a:r>
          </a:p>
          <a:p>
            <a:pPr>
              <a:buFont typeface="Wingdings" panose="05000000000000000000" pitchFamily="2" charset="2"/>
              <a:buChar char="§"/>
            </a:pPr>
            <a:r>
              <a:rPr lang="en-US" dirty="0">
                <a:solidFill>
                  <a:schemeClr val="tx1"/>
                </a:solidFill>
              </a:rPr>
              <a:t> But this is just for programmer intention/readability and it doesn’t change functionality</a:t>
            </a:r>
          </a:p>
          <a:p>
            <a:pPr>
              <a:buFont typeface="Wingdings" panose="05000000000000000000" pitchFamily="2" charset="2"/>
              <a:buChar char="§"/>
            </a:pPr>
            <a:r>
              <a:rPr lang="en-US" dirty="0">
                <a:solidFill>
                  <a:schemeClr val="tx1"/>
                </a:solidFill>
              </a:rPr>
              <a:t> Function can still return non-int types</a:t>
            </a:r>
            <a:endParaRPr lang="en-US" dirty="0"/>
          </a:p>
          <a:p>
            <a:pPr marL="0" indent="0">
              <a:buFont typeface="Calibri" panose="020F0502020204030204" pitchFamily="34" charset="0"/>
              <a:buNone/>
            </a:pPr>
            <a:endParaRPr lang="en-CA" dirty="0"/>
          </a:p>
        </p:txBody>
      </p:sp>
    </p:spTree>
    <p:extLst>
      <p:ext uri="{BB962C8B-B14F-4D97-AF65-F5344CB8AC3E}">
        <p14:creationId xmlns:p14="http://schemas.microsoft.com/office/powerpoint/2010/main" val="3993317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If Statement</a:t>
            </a:r>
          </a:p>
        </p:txBody>
      </p:sp>
      <p:sp>
        <p:nvSpPr>
          <p:cNvPr id="3" name="Subtitle 2"/>
          <p:cNvSpPr>
            <a:spLocks noGrp="1"/>
          </p:cNvSpPr>
          <p:nvPr>
            <p:ph type="subTitle" idx="1"/>
          </p:nvPr>
        </p:nvSpPr>
        <p:spPr/>
        <p:txBody>
          <a:bodyPr/>
          <a:lstStyle/>
          <a:p>
            <a:endParaRPr lang="en-CA"/>
          </a:p>
        </p:txBody>
      </p:sp>
    </p:spTree>
    <p:extLst>
      <p:ext uri="{BB962C8B-B14F-4D97-AF65-F5344CB8AC3E}">
        <p14:creationId xmlns:p14="http://schemas.microsoft.com/office/powerpoint/2010/main" val="34025575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EB35-5696-F149-B89A-C4CDB02149B4}"/>
              </a:ext>
            </a:extLst>
          </p:cNvPr>
          <p:cNvSpPr>
            <a:spLocks noGrp="1"/>
          </p:cNvSpPr>
          <p:nvPr>
            <p:ph type="title"/>
          </p:nvPr>
        </p:nvSpPr>
        <p:spPr/>
        <p:txBody>
          <a:bodyPr/>
          <a:lstStyle/>
          <a:p>
            <a:r>
              <a:rPr lang="en-US" dirty="0"/>
              <a:t>The if statement</a:t>
            </a:r>
          </a:p>
        </p:txBody>
      </p:sp>
      <p:sp>
        <p:nvSpPr>
          <p:cNvPr id="3" name="Content Placeholder 2">
            <a:extLst>
              <a:ext uri="{FF2B5EF4-FFF2-40B4-BE49-F238E27FC236}">
                <a16:creationId xmlns:a16="http://schemas.microsoft.com/office/drawing/2014/main" id="{B7CF0E6D-FD6E-9244-BFA2-98F80560E513}"/>
              </a:ext>
            </a:extLst>
          </p:cNvPr>
          <p:cNvSpPr>
            <a:spLocks noGrp="1"/>
          </p:cNvSpPr>
          <p:nvPr>
            <p:ph idx="1"/>
          </p:nvPr>
        </p:nvSpPr>
        <p:spPr>
          <a:xfrm>
            <a:off x="838200" y="2412123"/>
            <a:ext cx="10515600" cy="3764839"/>
          </a:xfrm>
        </p:spPr>
        <p:txBody>
          <a:bodyPr/>
          <a:lstStyle/>
          <a:p>
            <a:pPr marL="0" indent="0">
              <a:buNone/>
            </a:pPr>
            <a:r>
              <a:rPr lang="en-US" dirty="0" err="1">
                <a:latin typeface="Courier" pitchFamily="2" charset="0"/>
              </a:rPr>
              <a:t>if_stmt</a:t>
            </a:r>
            <a:r>
              <a:rPr lang="en-US" dirty="0">
                <a:latin typeface="Courier" pitchFamily="2" charset="0"/>
              </a:rPr>
              <a:t> ::=  "</a:t>
            </a:r>
            <a:r>
              <a:rPr lang="en-US" b="1" dirty="0">
                <a:latin typeface="Courier" pitchFamily="2" charset="0"/>
              </a:rPr>
              <a:t>if</a:t>
            </a:r>
            <a:r>
              <a:rPr lang="en-US" dirty="0">
                <a:latin typeface="Courier" pitchFamily="2" charset="0"/>
              </a:rPr>
              <a:t>" expression ":" suite</a:t>
            </a:r>
          </a:p>
          <a:p>
            <a:pPr marL="0" indent="0">
              <a:buNone/>
            </a:pPr>
            <a:r>
              <a:rPr lang="en-US" dirty="0">
                <a:latin typeface="Courier" pitchFamily="2" charset="0"/>
              </a:rPr>
              <a:t>             ("</a:t>
            </a:r>
            <a:r>
              <a:rPr lang="en-US" b="1" dirty="0" err="1">
                <a:latin typeface="Courier" pitchFamily="2" charset="0"/>
              </a:rPr>
              <a:t>elif</a:t>
            </a:r>
            <a:r>
              <a:rPr lang="en-US" dirty="0">
                <a:latin typeface="Courier" pitchFamily="2" charset="0"/>
              </a:rPr>
              <a:t>" expression "</a:t>
            </a:r>
            <a:r>
              <a:rPr lang="en-US" b="1" dirty="0">
                <a:latin typeface="Courier" pitchFamily="2" charset="0"/>
              </a:rPr>
              <a:t>:</a:t>
            </a:r>
            <a:r>
              <a:rPr lang="en-US" dirty="0">
                <a:latin typeface="Courier" pitchFamily="2" charset="0"/>
              </a:rPr>
              <a:t>" suite)</a:t>
            </a:r>
          </a:p>
          <a:p>
            <a:pPr marL="0" indent="0">
              <a:buNone/>
            </a:pPr>
            <a:r>
              <a:rPr lang="en-US" dirty="0">
                <a:latin typeface="Courier" pitchFamily="2" charset="0"/>
              </a:rPr>
              <a:t>             ["</a:t>
            </a:r>
            <a:r>
              <a:rPr lang="en-US" b="1" dirty="0">
                <a:latin typeface="Courier" pitchFamily="2" charset="0"/>
              </a:rPr>
              <a:t>else</a:t>
            </a:r>
            <a:r>
              <a:rPr lang="en-US" dirty="0">
                <a:latin typeface="Courier" pitchFamily="2" charset="0"/>
              </a:rPr>
              <a:t>" "</a:t>
            </a:r>
            <a:r>
              <a:rPr lang="en-US" b="1" dirty="0">
                <a:latin typeface="Courier" pitchFamily="2" charset="0"/>
              </a:rPr>
              <a:t>:</a:t>
            </a:r>
            <a:r>
              <a:rPr lang="en-US" dirty="0">
                <a:latin typeface="Courier" pitchFamily="2" charset="0"/>
              </a:rPr>
              <a:t>" suite]</a:t>
            </a:r>
          </a:p>
          <a:p>
            <a:pPr marL="0" indent="0">
              <a:buNone/>
            </a:pPr>
            <a:endParaRPr lang="en-US" dirty="0">
              <a:latin typeface="Courier" pitchFamily="2" charset="0"/>
            </a:endParaRPr>
          </a:p>
          <a:p>
            <a:pPr marL="0" indent="0">
              <a:buNone/>
            </a:pPr>
            <a:endParaRPr lang="en-US" dirty="0">
              <a:latin typeface="Courier" pitchFamily="2" charset="0"/>
            </a:endParaRPr>
          </a:p>
        </p:txBody>
      </p:sp>
    </p:spTree>
    <p:extLst>
      <p:ext uri="{BB962C8B-B14F-4D97-AF65-F5344CB8AC3E}">
        <p14:creationId xmlns:p14="http://schemas.microsoft.com/office/powerpoint/2010/main" val="1032978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8A6CB-4C04-B34E-8D83-88E47EE0D4C7}"/>
              </a:ext>
            </a:extLst>
          </p:cNvPr>
          <p:cNvSpPr>
            <a:spLocks noGrp="1"/>
          </p:cNvSpPr>
          <p:nvPr>
            <p:ph type="title"/>
          </p:nvPr>
        </p:nvSpPr>
        <p:spPr/>
        <p:txBody>
          <a:bodyPr/>
          <a:lstStyle/>
          <a:p>
            <a:r>
              <a:rPr lang="en-US" dirty="0"/>
              <a:t>Branching: if</a:t>
            </a:r>
          </a:p>
        </p:txBody>
      </p:sp>
      <p:sp>
        <p:nvSpPr>
          <p:cNvPr id="3" name="Content Placeholder 2">
            <a:extLst>
              <a:ext uri="{FF2B5EF4-FFF2-40B4-BE49-F238E27FC236}">
                <a16:creationId xmlns:a16="http://schemas.microsoft.com/office/drawing/2014/main" id="{3E4614EE-4EB6-4C4F-BF25-63AA7B496AF2}"/>
              </a:ext>
            </a:extLst>
          </p:cNvPr>
          <p:cNvSpPr>
            <a:spLocks noGrp="1"/>
          </p:cNvSpPr>
          <p:nvPr>
            <p:ph idx="1"/>
          </p:nvPr>
        </p:nvSpPr>
        <p:spPr/>
        <p:txBody>
          <a:bodyPr>
            <a:normAutofit/>
          </a:bodyPr>
          <a:lstStyle/>
          <a:p>
            <a:r>
              <a:rPr lang="en-US" dirty="0"/>
              <a:t>A branch in a program is </a:t>
            </a:r>
            <a:r>
              <a:rPr lang="en-US" b="1" dirty="0"/>
              <a:t>only taken if an expression’s value is true</a:t>
            </a:r>
          </a:p>
          <a:p>
            <a:r>
              <a:rPr lang="en-US" dirty="0"/>
              <a:t>This is known as an if-branch:</a:t>
            </a:r>
          </a:p>
          <a:p>
            <a:endParaRPr lang="en-US" dirty="0"/>
          </a:p>
          <a:p>
            <a:pPr marL="1371600" lvl="3" indent="0">
              <a:buNone/>
            </a:pPr>
            <a:r>
              <a:rPr lang="en-US" sz="2800" dirty="0">
                <a:latin typeface="Consolas" panose="020B0609020204030204" pitchFamily="49" charset="0"/>
              </a:rPr>
              <a:t>def calculate(salary, </a:t>
            </a:r>
            <a:r>
              <a:rPr lang="en-US" sz="2800" dirty="0" err="1">
                <a:latin typeface="Consolas" panose="020B0609020204030204" pitchFamily="49" charset="0"/>
              </a:rPr>
              <a:t>earned_bonus</a:t>
            </a:r>
            <a:r>
              <a:rPr lang="en-US" sz="2800" dirty="0">
                <a:latin typeface="Consolas" panose="020B0609020204030204" pitchFamily="49" charset="0"/>
              </a:rPr>
              <a:t>):</a:t>
            </a:r>
          </a:p>
          <a:p>
            <a:pPr marL="1371600" lvl="3" indent="0">
              <a:buNone/>
            </a:pPr>
            <a:r>
              <a:rPr lang="en-US" sz="2800" dirty="0">
                <a:latin typeface="Consolas" panose="020B0609020204030204" pitchFamily="49" charset="0"/>
              </a:rPr>
              <a:t>    </a:t>
            </a:r>
            <a:r>
              <a:rPr lang="en-US" sz="2800" b="1" dirty="0">
                <a:latin typeface="Consolas" panose="020B0609020204030204" pitchFamily="49" charset="0"/>
              </a:rPr>
              <a:t>if</a:t>
            </a:r>
            <a:r>
              <a:rPr lang="en-US" sz="2800" dirty="0">
                <a:latin typeface="Consolas" panose="020B0609020204030204" pitchFamily="49" charset="0"/>
              </a:rPr>
              <a:t> </a:t>
            </a:r>
            <a:r>
              <a:rPr lang="en-US" sz="2800" dirty="0" err="1">
                <a:latin typeface="Consolas" panose="020B0609020204030204" pitchFamily="49" charset="0"/>
              </a:rPr>
              <a:t>earned_bonus</a:t>
            </a:r>
            <a:r>
              <a:rPr lang="en-US" sz="2800" dirty="0">
                <a:latin typeface="Consolas" panose="020B0609020204030204" pitchFamily="49" charset="0"/>
              </a:rPr>
              <a:t> == True</a:t>
            </a:r>
            <a:r>
              <a:rPr lang="en-US" sz="2800" b="1" dirty="0">
                <a:latin typeface="Consolas" panose="020B0609020204030204" pitchFamily="49" charset="0"/>
              </a:rPr>
              <a:t>:</a:t>
            </a:r>
          </a:p>
          <a:p>
            <a:pPr marL="1371600" lvl="3" indent="0">
              <a:buNone/>
            </a:pPr>
            <a:r>
              <a:rPr lang="en-US" sz="2800" dirty="0">
                <a:latin typeface="Consolas" panose="020B0609020204030204" pitchFamily="49" charset="0"/>
              </a:rPr>
              <a:t>        salary = salary * 1.2</a:t>
            </a:r>
          </a:p>
          <a:p>
            <a:pPr marL="1371600" lvl="3" indent="0">
              <a:buNone/>
            </a:pPr>
            <a:r>
              <a:rPr lang="en-US" sz="2800" dirty="0">
                <a:latin typeface="Consolas" panose="020B0609020204030204" pitchFamily="49" charset="0"/>
              </a:rPr>
              <a:t>    return salary</a:t>
            </a:r>
          </a:p>
        </p:txBody>
      </p:sp>
    </p:spTree>
    <p:extLst>
      <p:ext uri="{BB962C8B-B14F-4D97-AF65-F5344CB8AC3E}">
        <p14:creationId xmlns:p14="http://schemas.microsoft.com/office/powerpoint/2010/main" val="4045382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D6C8E-ADFF-8B4C-AB47-34BC0F1451AE}"/>
              </a:ext>
            </a:extLst>
          </p:cNvPr>
          <p:cNvSpPr>
            <a:spLocks noGrp="1"/>
          </p:cNvSpPr>
          <p:nvPr>
            <p:ph type="title"/>
          </p:nvPr>
        </p:nvSpPr>
        <p:spPr/>
        <p:txBody>
          <a:bodyPr/>
          <a:lstStyle/>
          <a:p>
            <a:r>
              <a:rPr lang="en-US" dirty="0"/>
              <a:t>Branching: if-else</a:t>
            </a:r>
          </a:p>
        </p:txBody>
      </p:sp>
      <p:sp>
        <p:nvSpPr>
          <p:cNvPr id="3" name="Content Placeholder 2">
            <a:extLst>
              <a:ext uri="{FF2B5EF4-FFF2-40B4-BE49-F238E27FC236}">
                <a16:creationId xmlns:a16="http://schemas.microsoft.com/office/drawing/2014/main" id="{F713CEF9-CDF2-664E-8919-F8ED94C75E0E}"/>
              </a:ext>
            </a:extLst>
          </p:cNvPr>
          <p:cNvSpPr>
            <a:spLocks noGrp="1"/>
          </p:cNvSpPr>
          <p:nvPr>
            <p:ph idx="1"/>
          </p:nvPr>
        </p:nvSpPr>
        <p:spPr/>
        <p:txBody>
          <a:bodyPr>
            <a:normAutofit lnSpcReduction="10000"/>
          </a:bodyPr>
          <a:lstStyle/>
          <a:p>
            <a:r>
              <a:rPr lang="en-US" sz="3000" dirty="0"/>
              <a:t>An if-else structure has two branches:</a:t>
            </a:r>
          </a:p>
          <a:p>
            <a:pPr marL="914400" lvl="1" indent="-457200">
              <a:buFont typeface="+mj-lt"/>
              <a:buAutoNum type="arabicPeriod"/>
            </a:pPr>
            <a:r>
              <a:rPr lang="en-US" sz="3000" dirty="0"/>
              <a:t>The first branch is executed if the testing expression is true</a:t>
            </a:r>
          </a:p>
          <a:p>
            <a:pPr marL="914400" lvl="1" indent="-457200">
              <a:buFont typeface="+mj-lt"/>
              <a:buAutoNum type="arabicPeriod"/>
            </a:pPr>
            <a:r>
              <a:rPr lang="en-US" sz="3000" dirty="0"/>
              <a:t>The second branch is executed if the testing expression is false</a:t>
            </a:r>
            <a:endParaRPr lang="en-US" dirty="0"/>
          </a:p>
          <a:p>
            <a:pPr marL="2743200" lvl="6" indent="0">
              <a:buNone/>
            </a:pPr>
            <a:r>
              <a:rPr lang="en-US" sz="2800" dirty="0">
                <a:latin typeface="Consolas" panose="020B0609020204030204" pitchFamily="49" charset="0"/>
              </a:rPr>
              <a:t>def positive(number):</a:t>
            </a:r>
          </a:p>
          <a:p>
            <a:pPr marL="2743200" lvl="6" indent="0">
              <a:buNone/>
            </a:pPr>
            <a:r>
              <a:rPr lang="en-US" sz="2800" dirty="0">
                <a:latin typeface="Consolas" panose="020B0609020204030204" pitchFamily="49" charset="0"/>
              </a:rPr>
              <a:t>    </a:t>
            </a:r>
            <a:r>
              <a:rPr lang="en-US" sz="2800" b="1" dirty="0">
                <a:latin typeface="Consolas" panose="020B0609020204030204" pitchFamily="49" charset="0"/>
              </a:rPr>
              <a:t>if</a:t>
            </a:r>
            <a:r>
              <a:rPr lang="en-US" sz="2800" dirty="0">
                <a:latin typeface="Consolas" panose="020B0609020204030204" pitchFamily="49" charset="0"/>
              </a:rPr>
              <a:t> number &lt; 0</a:t>
            </a:r>
            <a:r>
              <a:rPr lang="en-US" sz="2800" b="1" dirty="0">
                <a:latin typeface="Consolas" panose="020B0609020204030204" pitchFamily="49" charset="0"/>
              </a:rPr>
              <a:t>:</a:t>
            </a:r>
          </a:p>
          <a:p>
            <a:pPr marL="2743200" lvl="6" indent="0">
              <a:buNone/>
            </a:pPr>
            <a:r>
              <a:rPr lang="en-US" sz="2800" dirty="0">
                <a:latin typeface="Consolas" panose="020B0609020204030204" pitchFamily="49" charset="0"/>
              </a:rPr>
              <a:t>        return False</a:t>
            </a:r>
          </a:p>
          <a:p>
            <a:pPr marL="2743200" lvl="6" indent="0">
              <a:buNone/>
            </a:pPr>
            <a:r>
              <a:rPr lang="en-US" sz="2800" dirty="0">
                <a:latin typeface="Consolas" panose="020B0609020204030204" pitchFamily="49" charset="0"/>
              </a:rPr>
              <a:t>    </a:t>
            </a:r>
            <a:r>
              <a:rPr lang="en-US" sz="2800" b="1" dirty="0">
                <a:latin typeface="Consolas" panose="020B0609020204030204" pitchFamily="49" charset="0"/>
              </a:rPr>
              <a:t>else:</a:t>
            </a:r>
          </a:p>
          <a:p>
            <a:pPr marL="2743200" lvl="6" indent="0">
              <a:buNone/>
            </a:pPr>
            <a:r>
              <a:rPr lang="en-US" sz="2800" dirty="0">
                <a:latin typeface="Consolas" panose="020B0609020204030204" pitchFamily="49" charset="0"/>
              </a:rPr>
              <a:t>        return True</a:t>
            </a:r>
          </a:p>
          <a:p>
            <a:endParaRPr lang="en-US" dirty="0"/>
          </a:p>
          <a:p>
            <a:endParaRPr lang="en-US" dirty="0"/>
          </a:p>
        </p:txBody>
      </p:sp>
    </p:spTree>
    <p:extLst>
      <p:ext uri="{BB962C8B-B14F-4D97-AF65-F5344CB8AC3E}">
        <p14:creationId xmlns:p14="http://schemas.microsoft.com/office/powerpoint/2010/main" val="2971821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1534D-EB37-9D46-846C-6C1C9880B801}"/>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08774204-D7F4-2B48-8692-4889090E51E4}"/>
              </a:ext>
            </a:extLst>
          </p:cNvPr>
          <p:cNvSpPr>
            <a:spLocks noGrp="1"/>
          </p:cNvSpPr>
          <p:nvPr>
            <p:ph idx="1"/>
          </p:nvPr>
        </p:nvSpPr>
        <p:spPr/>
        <p:txBody>
          <a:bodyPr/>
          <a:lstStyle/>
          <a:p>
            <a:pPr marL="0" indent="0">
              <a:buNone/>
            </a:pPr>
            <a:r>
              <a:rPr lang="en-US" dirty="0">
                <a:latin typeface="Consolas" panose="020B0609020204030204" pitchFamily="49" charset="0"/>
              </a:rPr>
              <a:t>password = input("Enter your password: ")</a:t>
            </a:r>
          </a:p>
          <a:p>
            <a:pPr marL="0" indent="0">
              <a:buNone/>
            </a:pPr>
            <a:endParaRPr lang="en-US" dirty="0">
              <a:latin typeface="Consolas" panose="020B0609020204030204" pitchFamily="49" charset="0"/>
            </a:endParaRPr>
          </a:p>
          <a:p>
            <a:pPr marL="0" indent="0">
              <a:buNone/>
            </a:pPr>
            <a:r>
              <a:rPr lang="en-US" b="1" dirty="0">
                <a:latin typeface="Consolas" panose="020B0609020204030204" pitchFamily="49" charset="0"/>
              </a:rPr>
              <a:t>if</a:t>
            </a:r>
            <a:r>
              <a:rPr lang="en-US" dirty="0">
                <a:latin typeface="Consolas" panose="020B0609020204030204" pitchFamily="49" charset="0"/>
              </a:rPr>
              <a:t> password == "1234" :</a:t>
            </a:r>
          </a:p>
          <a:p>
            <a:pPr marL="0" indent="0">
              <a:buNone/>
            </a:pPr>
            <a:r>
              <a:rPr lang="en-US" dirty="0">
                <a:latin typeface="Consolas" panose="020B0609020204030204" pitchFamily="49" charset="0"/>
              </a:rPr>
              <a:t>	print("Unacceptable password")</a:t>
            </a:r>
          </a:p>
          <a:p>
            <a:pPr marL="0" indent="0">
              <a:buNone/>
            </a:pPr>
            <a:r>
              <a:rPr lang="en-US" b="1" dirty="0">
                <a:latin typeface="Consolas" panose="020B0609020204030204" pitchFamily="49" charset="0"/>
              </a:rPr>
              <a:t>else</a:t>
            </a:r>
            <a:r>
              <a:rPr lang="en-US" dirty="0">
                <a:latin typeface="Consolas" panose="020B0609020204030204" pitchFamily="49" charset="0"/>
              </a:rPr>
              <a:t>:</a:t>
            </a:r>
          </a:p>
          <a:p>
            <a:pPr marL="0" indent="0">
              <a:buNone/>
            </a:pPr>
            <a:r>
              <a:rPr lang="en-US" dirty="0">
                <a:latin typeface="Consolas" panose="020B0609020204030204" pitchFamily="49" charset="0"/>
              </a:rPr>
              <a:t>	print("Thank you")</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print("End of program")</a:t>
            </a:r>
          </a:p>
          <a:p>
            <a:pPr marL="0" indent="0">
              <a:buNone/>
            </a:pPr>
            <a:endParaRPr lang="en-US" dirty="0">
              <a:latin typeface="Courier" pitchFamily="2" charset="0"/>
            </a:endParaRPr>
          </a:p>
        </p:txBody>
      </p:sp>
    </p:spTree>
    <p:extLst>
      <p:ext uri="{BB962C8B-B14F-4D97-AF65-F5344CB8AC3E}">
        <p14:creationId xmlns:p14="http://schemas.microsoft.com/office/powerpoint/2010/main" val="41083849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C0E90-C702-134B-B393-8FC1EAB44271}"/>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5D838432-B8B8-9848-8BEE-DB57D0722EA5}"/>
              </a:ext>
            </a:extLst>
          </p:cNvPr>
          <p:cNvSpPr>
            <a:spLocks noGrp="1"/>
          </p:cNvSpPr>
          <p:nvPr>
            <p:ph idx="1"/>
          </p:nvPr>
        </p:nvSpPr>
        <p:spPr/>
        <p:txBody>
          <a:bodyPr/>
          <a:lstStyle/>
          <a:p>
            <a:pPr marL="0" indent="0">
              <a:buNone/>
            </a:pPr>
            <a:r>
              <a:rPr lang="en-US" dirty="0"/>
              <a:t>Getting the maximum of two numbers:</a:t>
            </a:r>
          </a:p>
          <a:p>
            <a:endParaRPr lang="en-US" dirty="0"/>
          </a:p>
          <a:p>
            <a:pPr marL="914400" lvl="2" indent="0">
              <a:buNone/>
            </a:pPr>
            <a:r>
              <a:rPr lang="en-US" sz="3200" dirty="0">
                <a:latin typeface="Consolas" panose="020B0609020204030204" pitchFamily="49" charset="0"/>
              </a:rPr>
              <a:t>def max(first, second):</a:t>
            </a:r>
          </a:p>
          <a:p>
            <a:pPr marL="914400" lvl="2" indent="0">
              <a:buNone/>
            </a:pPr>
            <a:r>
              <a:rPr lang="en-US" sz="3200" dirty="0">
                <a:latin typeface="Consolas" panose="020B0609020204030204" pitchFamily="49" charset="0"/>
              </a:rPr>
              <a:t>    if first &gt;= second:</a:t>
            </a:r>
          </a:p>
          <a:p>
            <a:pPr marL="914400" lvl="2" indent="0">
              <a:buNone/>
            </a:pPr>
            <a:r>
              <a:rPr lang="en-US" sz="3200" dirty="0">
                <a:latin typeface="Consolas" panose="020B0609020204030204" pitchFamily="49" charset="0"/>
              </a:rPr>
              <a:t>        </a:t>
            </a:r>
            <a:r>
              <a:rPr lang="en-US" sz="3200" dirty="0" err="1">
                <a:latin typeface="Consolas" panose="020B0609020204030204" pitchFamily="49" charset="0"/>
              </a:rPr>
              <a:t>max_value</a:t>
            </a:r>
            <a:r>
              <a:rPr lang="en-US" sz="3200" dirty="0">
                <a:latin typeface="Consolas" panose="020B0609020204030204" pitchFamily="49" charset="0"/>
              </a:rPr>
              <a:t> = first</a:t>
            </a:r>
          </a:p>
          <a:p>
            <a:pPr marL="914400" lvl="2" indent="0">
              <a:buNone/>
            </a:pPr>
            <a:r>
              <a:rPr lang="en-US" sz="3200" dirty="0">
                <a:latin typeface="Consolas" panose="020B0609020204030204" pitchFamily="49" charset="0"/>
              </a:rPr>
              <a:t>    else:</a:t>
            </a:r>
          </a:p>
          <a:p>
            <a:pPr marL="914400" lvl="2" indent="0">
              <a:buNone/>
            </a:pPr>
            <a:r>
              <a:rPr lang="en-US" sz="3200" dirty="0">
                <a:latin typeface="Consolas" panose="020B0609020204030204" pitchFamily="49" charset="0"/>
              </a:rPr>
              <a:t>        </a:t>
            </a:r>
            <a:r>
              <a:rPr lang="en-US" sz="3200" dirty="0" err="1">
                <a:latin typeface="Consolas" panose="020B0609020204030204" pitchFamily="49" charset="0"/>
              </a:rPr>
              <a:t>max_value</a:t>
            </a:r>
            <a:r>
              <a:rPr lang="en-US" sz="3200" dirty="0">
                <a:latin typeface="Consolas" panose="020B0609020204030204" pitchFamily="49" charset="0"/>
              </a:rPr>
              <a:t> = second</a:t>
            </a:r>
          </a:p>
          <a:p>
            <a:pPr marL="914400" lvl="2" indent="0">
              <a:buNone/>
            </a:pPr>
            <a:r>
              <a:rPr lang="en-US" sz="3200" dirty="0">
                <a:latin typeface="Consolas" panose="020B0609020204030204" pitchFamily="49" charset="0"/>
              </a:rPr>
              <a:t>    return </a:t>
            </a:r>
            <a:r>
              <a:rPr lang="en-US" sz="3200" dirty="0" err="1">
                <a:latin typeface="Consolas" panose="020B0609020204030204" pitchFamily="49" charset="0"/>
              </a:rPr>
              <a:t>max_value</a:t>
            </a:r>
            <a:endParaRPr lang="en-US" sz="3200" dirty="0">
              <a:latin typeface="Consolas" panose="020B0609020204030204" pitchFamily="49" charset="0"/>
            </a:endParaRPr>
          </a:p>
        </p:txBody>
      </p:sp>
    </p:spTree>
    <p:extLst>
      <p:ext uri="{BB962C8B-B14F-4D97-AF65-F5344CB8AC3E}">
        <p14:creationId xmlns:p14="http://schemas.microsoft.com/office/powerpoint/2010/main" val="822276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1209F-0CBF-1244-A101-7686F9347D9F}"/>
              </a:ext>
            </a:extLst>
          </p:cNvPr>
          <p:cNvSpPr>
            <a:spLocks noGrp="1"/>
          </p:cNvSpPr>
          <p:nvPr>
            <p:ph type="title"/>
          </p:nvPr>
        </p:nvSpPr>
        <p:spPr/>
        <p:txBody>
          <a:bodyPr/>
          <a:lstStyle/>
          <a:p>
            <a:r>
              <a:rPr lang="en-US" dirty="0"/>
              <a:t>Be careful with your indentation!</a:t>
            </a:r>
          </a:p>
        </p:txBody>
      </p:sp>
      <p:sp>
        <p:nvSpPr>
          <p:cNvPr id="3" name="Content Placeholder 2">
            <a:extLst>
              <a:ext uri="{FF2B5EF4-FFF2-40B4-BE49-F238E27FC236}">
                <a16:creationId xmlns:a16="http://schemas.microsoft.com/office/drawing/2014/main" id="{D2ECBD7B-A34F-2A47-98C4-80CB7A379013}"/>
              </a:ext>
            </a:extLst>
          </p:cNvPr>
          <p:cNvSpPr>
            <a:spLocks noGrp="1"/>
          </p:cNvSpPr>
          <p:nvPr>
            <p:ph idx="1"/>
          </p:nvPr>
        </p:nvSpPr>
        <p:spPr/>
        <p:txBody>
          <a:bodyPr>
            <a:normAutofit lnSpcReduction="10000"/>
          </a:bodyPr>
          <a:lstStyle/>
          <a:p>
            <a:pPr marL="914400" lvl="2" indent="0">
              <a:buNone/>
            </a:pPr>
            <a:r>
              <a:rPr lang="en-US" sz="3000" dirty="0">
                <a:latin typeface="Consolas" panose="020B0609020204030204" pitchFamily="49" charset="0"/>
              </a:rPr>
              <a:t>def positive(number):</a:t>
            </a:r>
          </a:p>
          <a:p>
            <a:pPr marL="914400" lvl="2" indent="0">
              <a:buNone/>
            </a:pPr>
            <a:r>
              <a:rPr lang="en-US" sz="3000" dirty="0">
                <a:latin typeface="Consolas" panose="020B0609020204030204" pitchFamily="49" charset="0"/>
              </a:rPr>
              <a:t>    if number &lt; 0:</a:t>
            </a:r>
          </a:p>
          <a:p>
            <a:pPr marL="914400" lvl="2" indent="0">
              <a:buNone/>
            </a:pPr>
            <a:r>
              <a:rPr lang="en-US" sz="3000" dirty="0">
                <a:latin typeface="Consolas" panose="020B0609020204030204" pitchFamily="49" charset="0"/>
              </a:rPr>
              <a:t>        print(”Negative”)</a:t>
            </a:r>
          </a:p>
          <a:p>
            <a:pPr marL="914400" lvl="2" indent="0">
              <a:buNone/>
            </a:pPr>
            <a:r>
              <a:rPr lang="en-US" sz="3000" dirty="0">
                <a:latin typeface="Consolas" panose="020B0609020204030204" pitchFamily="49" charset="0"/>
              </a:rPr>
              <a:t>        return False</a:t>
            </a:r>
          </a:p>
          <a:p>
            <a:pPr marL="914400" lvl="2" indent="0">
              <a:buNone/>
            </a:pPr>
            <a:r>
              <a:rPr lang="en-US" sz="3000" dirty="0">
                <a:latin typeface="Consolas" panose="020B0609020204030204" pitchFamily="49" charset="0"/>
              </a:rPr>
              <a:t>    else:</a:t>
            </a:r>
          </a:p>
          <a:p>
            <a:pPr marL="914400" lvl="2" indent="0">
              <a:buNone/>
            </a:pPr>
            <a:r>
              <a:rPr lang="en-US" sz="3000" dirty="0">
                <a:latin typeface="Consolas" panose="020B0609020204030204" pitchFamily="49" charset="0"/>
              </a:rPr>
              <a:t>        print(”Positive”)</a:t>
            </a:r>
          </a:p>
          <a:p>
            <a:pPr marL="914400" lvl="2" indent="0">
              <a:buNone/>
            </a:pPr>
            <a:r>
              <a:rPr lang="en-US" sz="3000" dirty="0">
                <a:latin typeface="Consolas" panose="020B0609020204030204" pitchFamily="49" charset="0"/>
              </a:rPr>
              <a:t>        return True</a:t>
            </a:r>
          </a:p>
          <a:p>
            <a:pPr marL="0" indent="0">
              <a:buNone/>
            </a:pPr>
            <a:endParaRPr lang="en-US" dirty="0"/>
          </a:p>
          <a:p>
            <a:pPr marL="0" indent="0">
              <a:buNone/>
            </a:pPr>
            <a:r>
              <a:rPr lang="en-US" dirty="0"/>
              <a:t>We can insert a </a:t>
            </a:r>
            <a:r>
              <a:rPr lang="en-US" b="1" dirty="0"/>
              <a:t>group (block) of statements </a:t>
            </a:r>
            <a:r>
              <a:rPr lang="en-US" dirty="0"/>
              <a:t>after if and else</a:t>
            </a:r>
          </a:p>
        </p:txBody>
      </p:sp>
    </p:spTree>
    <p:extLst>
      <p:ext uri="{BB962C8B-B14F-4D97-AF65-F5344CB8AC3E}">
        <p14:creationId xmlns:p14="http://schemas.microsoft.com/office/powerpoint/2010/main" val="24182097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5EAD2-4FFE-B54A-AA23-34C857EFB664}"/>
              </a:ext>
            </a:extLst>
          </p:cNvPr>
          <p:cNvSpPr>
            <a:spLocks noGrp="1"/>
          </p:cNvSpPr>
          <p:nvPr>
            <p:ph type="title"/>
          </p:nvPr>
        </p:nvSpPr>
        <p:spPr/>
        <p:txBody>
          <a:bodyPr/>
          <a:lstStyle/>
          <a:p>
            <a:r>
              <a:rPr lang="en-US" dirty="0"/>
              <a:t>Multi-branch if-else</a:t>
            </a:r>
          </a:p>
        </p:txBody>
      </p:sp>
      <p:sp>
        <p:nvSpPr>
          <p:cNvPr id="3" name="Content Placeholder 2">
            <a:extLst>
              <a:ext uri="{FF2B5EF4-FFF2-40B4-BE49-F238E27FC236}">
                <a16:creationId xmlns:a16="http://schemas.microsoft.com/office/drawing/2014/main" id="{3AA8C1F1-6432-044F-842B-95D001AA253E}"/>
              </a:ext>
            </a:extLst>
          </p:cNvPr>
          <p:cNvSpPr>
            <a:spLocks noGrp="1"/>
          </p:cNvSpPr>
          <p:nvPr>
            <p:ph idx="1"/>
          </p:nvPr>
        </p:nvSpPr>
        <p:spPr/>
        <p:txBody>
          <a:bodyPr>
            <a:normAutofit fontScale="85000" lnSpcReduction="20000"/>
          </a:bodyPr>
          <a:lstStyle/>
          <a:p>
            <a:pPr marL="0" indent="0">
              <a:buNone/>
            </a:pPr>
            <a:r>
              <a:rPr lang="en-US" dirty="0">
                <a:latin typeface="Consolas" panose="020B0609020204030204" pitchFamily="49" charset="0"/>
              </a:rPr>
              <a:t>if expression1:</a:t>
            </a:r>
          </a:p>
          <a:p>
            <a:pPr marL="0" indent="0">
              <a:buNone/>
            </a:pPr>
            <a:r>
              <a:rPr lang="en-US" dirty="0">
                <a:solidFill>
                  <a:srgbClr val="00B050"/>
                </a:solidFill>
                <a:latin typeface="Consolas" panose="020B0609020204030204" pitchFamily="49" charset="0"/>
              </a:rPr>
              <a:t>    # Statements that execute when expression1 is true</a:t>
            </a:r>
          </a:p>
          <a:p>
            <a:pPr marL="0" indent="0">
              <a:buNone/>
            </a:pPr>
            <a:r>
              <a:rPr lang="en-US" dirty="0">
                <a:solidFill>
                  <a:srgbClr val="00B050"/>
                </a:solidFill>
                <a:latin typeface="Consolas" panose="020B0609020204030204" pitchFamily="49" charset="0"/>
              </a:rPr>
              <a:t>    # (first branch)</a:t>
            </a:r>
          </a:p>
          <a:p>
            <a:pPr marL="0" indent="0">
              <a:buNone/>
            </a:pPr>
            <a:r>
              <a:rPr lang="en-US" b="1" dirty="0" err="1">
                <a:latin typeface="Consolas" panose="020B0609020204030204" pitchFamily="49" charset="0"/>
              </a:rPr>
              <a:t>elif</a:t>
            </a:r>
            <a:r>
              <a:rPr lang="en-US" dirty="0">
                <a:latin typeface="Consolas" panose="020B0609020204030204" pitchFamily="49" charset="0"/>
              </a:rPr>
              <a:t> expression2:</a:t>
            </a:r>
          </a:p>
          <a:p>
            <a:pPr marL="0" indent="0">
              <a:buNone/>
            </a:pPr>
            <a:r>
              <a:rPr lang="en-US" dirty="0">
                <a:solidFill>
                  <a:srgbClr val="00B050"/>
                </a:solidFill>
                <a:latin typeface="Consolas" panose="020B0609020204030204" pitchFamily="49" charset="0"/>
              </a:rPr>
              <a:t>    # Statements that execute when expression1 is false</a:t>
            </a:r>
          </a:p>
          <a:p>
            <a:pPr marL="0" indent="0">
              <a:buNone/>
            </a:pPr>
            <a:r>
              <a:rPr lang="en-US" dirty="0">
                <a:solidFill>
                  <a:srgbClr val="00B050"/>
                </a:solidFill>
                <a:latin typeface="Consolas" panose="020B0609020204030204" pitchFamily="49" charset="0"/>
              </a:rPr>
              <a:t>    # and expression2 is true</a:t>
            </a:r>
          </a:p>
          <a:p>
            <a:pPr marL="0" indent="0">
              <a:buNone/>
            </a:pPr>
            <a:r>
              <a:rPr lang="en-US" dirty="0">
                <a:solidFill>
                  <a:srgbClr val="00B050"/>
                </a:solidFill>
                <a:latin typeface="Consolas" panose="020B0609020204030204" pitchFamily="49" charset="0"/>
              </a:rPr>
              <a:t>    # (second branch)</a:t>
            </a:r>
          </a:p>
          <a:p>
            <a:pPr marL="0" indent="0">
              <a:buNone/>
            </a:pPr>
            <a:r>
              <a:rPr lang="en-US" dirty="0">
                <a:latin typeface="Consolas" panose="020B0609020204030204" pitchFamily="49" charset="0"/>
              </a:rPr>
              <a:t>else:</a:t>
            </a:r>
          </a:p>
          <a:p>
            <a:pPr marL="0" indent="0">
              <a:buNone/>
            </a:pPr>
            <a:r>
              <a:rPr lang="en-US" dirty="0">
                <a:solidFill>
                  <a:srgbClr val="00B050"/>
                </a:solidFill>
                <a:latin typeface="Consolas" panose="020B0609020204030204" pitchFamily="49" charset="0"/>
              </a:rPr>
              <a:t>    # Statements that execute when expression1 is false</a:t>
            </a:r>
          </a:p>
          <a:p>
            <a:pPr marL="0" indent="0">
              <a:buNone/>
            </a:pPr>
            <a:r>
              <a:rPr lang="en-US" dirty="0">
                <a:solidFill>
                  <a:srgbClr val="00B050"/>
                </a:solidFill>
                <a:latin typeface="Consolas" panose="020B0609020204030204" pitchFamily="49" charset="0"/>
              </a:rPr>
              <a:t>    # and expression2 is false</a:t>
            </a:r>
          </a:p>
          <a:p>
            <a:pPr marL="0" indent="0">
              <a:buNone/>
            </a:pPr>
            <a:r>
              <a:rPr lang="en-US" dirty="0">
                <a:solidFill>
                  <a:srgbClr val="00B050"/>
                </a:solidFill>
                <a:latin typeface="Consolas" panose="020B0609020204030204" pitchFamily="49" charset="0"/>
              </a:rPr>
              <a:t>    # (third branch)</a:t>
            </a:r>
          </a:p>
        </p:txBody>
      </p:sp>
    </p:spTree>
    <p:extLst>
      <p:ext uri="{BB962C8B-B14F-4D97-AF65-F5344CB8AC3E}">
        <p14:creationId xmlns:p14="http://schemas.microsoft.com/office/powerpoint/2010/main" val="21388537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1534D-EB37-9D46-846C-6C1C9880B801}"/>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08774204-D7F4-2B48-8692-4889090E51E4}"/>
              </a:ext>
            </a:extLst>
          </p:cNvPr>
          <p:cNvSpPr>
            <a:spLocks noGrp="1"/>
          </p:cNvSpPr>
          <p:nvPr>
            <p:ph idx="1"/>
          </p:nvPr>
        </p:nvSpPr>
        <p:spPr/>
        <p:txBody>
          <a:bodyPr>
            <a:normAutofit fontScale="92500" lnSpcReduction="10000"/>
          </a:bodyPr>
          <a:lstStyle/>
          <a:p>
            <a:pPr marL="0" indent="0">
              <a:buNone/>
            </a:pPr>
            <a:r>
              <a:rPr lang="en-US" dirty="0">
                <a:latin typeface="Consolas" panose="020B0609020204030204" pitchFamily="49" charset="0"/>
              </a:rPr>
              <a:t>password = input("Enter your password: ")</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if password == "1234":</a:t>
            </a:r>
          </a:p>
          <a:p>
            <a:pPr marL="0" indent="0">
              <a:buNone/>
            </a:pPr>
            <a:r>
              <a:rPr lang="en-US" dirty="0">
                <a:latin typeface="Consolas" panose="020B0609020204030204" pitchFamily="49" charset="0"/>
              </a:rPr>
              <a:t>	print("Unacceptable password")</a:t>
            </a:r>
          </a:p>
          <a:p>
            <a:pPr marL="0" indent="0">
              <a:buNone/>
            </a:pPr>
            <a:r>
              <a:rPr lang="en-US" b="1" dirty="0" err="1">
                <a:latin typeface="Consolas" panose="020B0609020204030204" pitchFamily="49" charset="0"/>
              </a:rPr>
              <a:t>elif</a:t>
            </a:r>
            <a:r>
              <a:rPr lang="en-US" b="1" dirty="0">
                <a:latin typeface="Consolas" panose="020B0609020204030204" pitchFamily="49" charset="0"/>
              </a:rPr>
              <a:t> password == "</a:t>
            </a:r>
            <a:r>
              <a:rPr lang="en-US" b="1" dirty="0" err="1">
                <a:latin typeface="Consolas" panose="020B0609020204030204" pitchFamily="49" charset="0"/>
              </a:rPr>
              <a:t>abcd</a:t>
            </a:r>
            <a:r>
              <a:rPr lang="en-US" b="1" dirty="0">
                <a:latin typeface="Consolas" panose="020B0609020204030204" pitchFamily="49" charset="0"/>
              </a:rPr>
              <a:t>”:</a:t>
            </a:r>
          </a:p>
          <a:p>
            <a:pPr marL="0" indent="0">
              <a:buNone/>
            </a:pPr>
            <a:r>
              <a:rPr lang="en-US" b="1" dirty="0">
                <a:latin typeface="Consolas" panose="020B0609020204030204" pitchFamily="49" charset="0"/>
              </a:rPr>
              <a:t>	print("Dude, come on")</a:t>
            </a:r>
          </a:p>
          <a:p>
            <a:pPr marL="0" indent="0">
              <a:buNone/>
            </a:pPr>
            <a:r>
              <a:rPr lang="en-US" dirty="0">
                <a:latin typeface="Consolas" panose="020B0609020204030204" pitchFamily="49" charset="0"/>
              </a:rPr>
              <a:t>else:</a:t>
            </a:r>
          </a:p>
          <a:p>
            <a:pPr marL="0" indent="0">
              <a:buNone/>
            </a:pPr>
            <a:r>
              <a:rPr lang="en-US" dirty="0">
                <a:latin typeface="Consolas" panose="020B0609020204030204" pitchFamily="49" charset="0"/>
              </a:rPr>
              <a:t>	print("Thank you")</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print("End of program")</a:t>
            </a:r>
          </a:p>
        </p:txBody>
      </p:sp>
    </p:spTree>
    <p:extLst>
      <p:ext uri="{BB962C8B-B14F-4D97-AF65-F5344CB8AC3E}">
        <p14:creationId xmlns:p14="http://schemas.microsoft.com/office/powerpoint/2010/main" val="26682420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8FBC-D2BF-414E-83BF-92FB46C0BF53}"/>
              </a:ext>
            </a:extLst>
          </p:cNvPr>
          <p:cNvSpPr>
            <a:spLocks noGrp="1"/>
          </p:cNvSpPr>
          <p:nvPr>
            <p:ph type="title"/>
          </p:nvPr>
        </p:nvSpPr>
        <p:spPr/>
        <p:txBody>
          <a:bodyPr/>
          <a:lstStyle/>
          <a:p>
            <a:r>
              <a:rPr lang="en-US" dirty="0"/>
              <a:t>Nested if-else statements</a:t>
            </a:r>
          </a:p>
        </p:txBody>
      </p:sp>
      <p:sp>
        <p:nvSpPr>
          <p:cNvPr id="3" name="Content Placeholder 2">
            <a:extLst>
              <a:ext uri="{FF2B5EF4-FFF2-40B4-BE49-F238E27FC236}">
                <a16:creationId xmlns:a16="http://schemas.microsoft.com/office/drawing/2014/main" id="{87AEC062-0F19-CA41-BD11-76952780FA1C}"/>
              </a:ext>
            </a:extLst>
          </p:cNvPr>
          <p:cNvSpPr>
            <a:spLocks noGrp="1"/>
          </p:cNvSpPr>
          <p:nvPr>
            <p:ph idx="1"/>
          </p:nvPr>
        </p:nvSpPr>
        <p:spPr/>
        <p:txBody>
          <a:bodyPr>
            <a:normAutofit/>
          </a:bodyPr>
          <a:lstStyle/>
          <a:p>
            <a:r>
              <a:rPr lang="en-US" dirty="0"/>
              <a:t>A branch’s statements can include any valid statements, including </a:t>
            </a:r>
            <a:r>
              <a:rPr lang="en-US" b="1" dirty="0"/>
              <a:t>another if-else statement</a:t>
            </a:r>
          </a:p>
          <a:p>
            <a:endParaRPr lang="en-US" dirty="0"/>
          </a:p>
          <a:p>
            <a:pPr marL="0" indent="0">
              <a:buNone/>
            </a:pPr>
            <a:r>
              <a:rPr lang="en-US" dirty="0">
                <a:latin typeface="Consolas" panose="020B0609020204030204" pitchFamily="49" charset="0"/>
              </a:rPr>
              <a:t>if </a:t>
            </a:r>
            <a:r>
              <a:rPr lang="en-US" dirty="0" err="1">
                <a:latin typeface="Consolas" panose="020B0609020204030204" pitchFamily="49" charset="0"/>
              </a:rPr>
              <a:t>sales_type</a:t>
            </a:r>
            <a:r>
              <a:rPr lang="en-US" dirty="0">
                <a:latin typeface="Consolas" panose="020B0609020204030204" pitchFamily="49" charset="0"/>
              </a:rPr>
              <a:t> == 2:</a:t>
            </a:r>
          </a:p>
          <a:p>
            <a:pPr marL="0" indent="0">
              <a:buNone/>
            </a:pPr>
            <a:r>
              <a:rPr lang="en-US" b="1" dirty="0">
                <a:latin typeface="Consolas" panose="020B0609020204030204" pitchFamily="49" charset="0"/>
              </a:rPr>
              <a:t>   if </a:t>
            </a:r>
            <a:r>
              <a:rPr lang="en-US" b="1" dirty="0" err="1">
                <a:latin typeface="Consolas" panose="020B0609020204030204" pitchFamily="49" charset="0"/>
              </a:rPr>
              <a:t>sales_bonus</a:t>
            </a:r>
            <a:r>
              <a:rPr lang="en-US" b="1" dirty="0">
                <a:latin typeface="Consolas" panose="020B0609020204030204" pitchFamily="49" charset="0"/>
              </a:rPr>
              <a:t> &lt; 5:</a:t>
            </a:r>
          </a:p>
          <a:p>
            <a:pPr marL="0" indent="0">
              <a:buNone/>
            </a:pPr>
            <a:r>
              <a:rPr lang="en-US" b="1" dirty="0">
                <a:latin typeface="Consolas" panose="020B0609020204030204" pitchFamily="49" charset="0"/>
              </a:rPr>
              <a:t>     </a:t>
            </a:r>
            <a:r>
              <a:rPr lang="en-US" b="1" dirty="0" err="1">
                <a:latin typeface="Consolas" panose="020B0609020204030204" pitchFamily="49" charset="0"/>
              </a:rPr>
              <a:t>sales_bonus</a:t>
            </a:r>
            <a:r>
              <a:rPr lang="en-US" b="1" dirty="0">
                <a:latin typeface="Consolas" panose="020B0609020204030204" pitchFamily="49" charset="0"/>
              </a:rPr>
              <a:t> = 10</a:t>
            </a:r>
          </a:p>
          <a:p>
            <a:pPr marL="0" indent="0">
              <a:buNone/>
            </a:pPr>
            <a:r>
              <a:rPr lang="en-US" b="1" dirty="0">
                <a:latin typeface="Consolas" panose="020B0609020204030204" pitchFamily="49" charset="0"/>
              </a:rPr>
              <a:t>   else:</a:t>
            </a:r>
          </a:p>
          <a:p>
            <a:pPr marL="0" indent="0">
              <a:buNone/>
            </a:pPr>
            <a:r>
              <a:rPr lang="en-US" b="1" dirty="0">
                <a:latin typeface="Consolas" panose="020B0609020204030204" pitchFamily="49" charset="0"/>
              </a:rPr>
              <a:t>      </a:t>
            </a:r>
            <a:r>
              <a:rPr lang="en-US" b="1" dirty="0" err="1">
                <a:latin typeface="Consolas" panose="020B0609020204030204" pitchFamily="49" charset="0"/>
              </a:rPr>
              <a:t>sales_bonus</a:t>
            </a:r>
            <a:r>
              <a:rPr lang="en-US" b="1" dirty="0">
                <a:latin typeface="Consolas" panose="020B0609020204030204" pitchFamily="49" charset="0"/>
              </a:rPr>
              <a:t> = </a:t>
            </a:r>
            <a:r>
              <a:rPr lang="en-US" b="1" dirty="0" err="1">
                <a:latin typeface="Consolas" panose="020B0609020204030204" pitchFamily="49" charset="0"/>
              </a:rPr>
              <a:t>sales_bonus</a:t>
            </a:r>
            <a:r>
              <a:rPr lang="en-US" b="1" dirty="0">
                <a:latin typeface="Consolas" panose="020B0609020204030204" pitchFamily="49" charset="0"/>
              </a:rPr>
              <a:t> + 2</a:t>
            </a:r>
          </a:p>
          <a:p>
            <a:pPr marL="0" indent="0">
              <a:buNone/>
            </a:pPr>
            <a:r>
              <a:rPr lang="en-US" dirty="0">
                <a:latin typeface="Consolas" panose="020B0609020204030204" pitchFamily="49" charset="0"/>
              </a:rPr>
              <a:t>else:</a:t>
            </a:r>
          </a:p>
          <a:p>
            <a:pPr marL="0" indent="0">
              <a:buNone/>
            </a:pPr>
            <a:r>
              <a:rPr lang="en-US" dirty="0">
                <a:latin typeface="Consolas" panose="020B0609020204030204" pitchFamily="49" charset="0"/>
              </a:rPr>
              <a:t>   </a:t>
            </a:r>
            <a:r>
              <a:rPr lang="en-US" dirty="0" err="1">
                <a:latin typeface="Consolas" panose="020B0609020204030204" pitchFamily="49" charset="0"/>
              </a:rPr>
              <a:t>sales_bonus</a:t>
            </a:r>
            <a:r>
              <a:rPr lang="en-US" dirty="0">
                <a:latin typeface="Consolas" panose="020B0609020204030204" pitchFamily="49" charset="0"/>
              </a:rPr>
              <a:t> = </a:t>
            </a:r>
            <a:r>
              <a:rPr lang="en-US" dirty="0" err="1">
                <a:latin typeface="Consolas" panose="020B0609020204030204" pitchFamily="49" charset="0"/>
              </a:rPr>
              <a:t>sales_bonus</a:t>
            </a:r>
            <a:r>
              <a:rPr lang="en-US" dirty="0">
                <a:latin typeface="Consolas" panose="020B0609020204030204" pitchFamily="49" charset="0"/>
              </a:rPr>
              <a:t> + 1</a:t>
            </a:r>
          </a:p>
        </p:txBody>
      </p:sp>
    </p:spTree>
    <p:extLst>
      <p:ext uri="{BB962C8B-B14F-4D97-AF65-F5344CB8AC3E}">
        <p14:creationId xmlns:p14="http://schemas.microsoft.com/office/powerpoint/2010/main" val="10446303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97098-CA99-2840-ABAB-F631ED23E694}"/>
              </a:ext>
            </a:extLst>
          </p:cNvPr>
          <p:cNvSpPr>
            <a:spLocks noGrp="1"/>
          </p:cNvSpPr>
          <p:nvPr>
            <p:ph type="title"/>
          </p:nvPr>
        </p:nvSpPr>
        <p:spPr/>
        <p:txBody>
          <a:bodyPr/>
          <a:lstStyle/>
          <a:p>
            <a:r>
              <a:rPr lang="en-US" dirty="0"/>
              <a:t>We can use multiple sequential ifs</a:t>
            </a:r>
          </a:p>
        </p:txBody>
      </p:sp>
      <p:sp>
        <p:nvSpPr>
          <p:cNvPr id="3" name="Content Placeholder 2">
            <a:extLst>
              <a:ext uri="{FF2B5EF4-FFF2-40B4-BE49-F238E27FC236}">
                <a16:creationId xmlns:a16="http://schemas.microsoft.com/office/drawing/2014/main" id="{28FC5965-F8D3-594B-9F90-EB64987CA7BA}"/>
              </a:ext>
            </a:extLst>
          </p:cNvPr>
          <p:cNvSpPr>
            <a:spLocks noGrp="1"/>
          </p:cNvSpPr>
          <p:nvPr>
            <p:ph idx="1"/>
          </p:nvPr>
        </p:nvSpPr>
        <p:spPr>
          <a:xfrm>
            <a:off x="838199" y="1825625"/>
            <a:ext cx="11183911" cy="4020539"/>
          </a:xfrm>
        </p:spPr>
        <p:txBody>
          <a:bodyPr>
            <a:normAutofit fontScale="92500" lnSpcReduction="20000"/>
          </a:bodyPr>
          <a:lstStyle/>
          <a:p>
            <a:r>
              <a:rPr lang="en-US" dirty="0"/>
              <a:t>Sometimes we can use multiple if statements in sequence</a:t>
            </a:r>
          </a:p>
          <a:p>
            <a:r>
              <a:rPr lang="en-US" b="1" u="sng" dirty="0"/>
              <a:t>Each if statement is independent</a:t>
            </a:r>
          </a:p>
          <a:p>
            <a:r>
              <a:rPr lang="en-US" dirty="0"/>
              <a:t>More than one can execute:</a:t>
            </a:r>
          </a:p>
          <a:p>
            <a:pPr marL="0" indent="0">
              <a:buNone/>
            </a:pPr>
            <a:r>
              <a:rPr lang="en-US" dirty="0">
                <a:latin typeface="Courier" pitchFamily="2" charset="0"/>
              </a:rPr>
              <a:t>    </a:t>
            </a:r>
            <a:r>
              <a:rPr lang="en-US" dirty="0" err="1">
                <a:latin typeface="Courier" pitchFamily="2" charset="0"/>
              </a:rPr>
              <a:t>user_age</a:t>
            </a:r>
            <a:r>
              <a:rPr lang="en-US" dirty="0">
                <a:latin typeface="Courier" pitchFamily="2" charset="0"/>
              </a:rPr>
              <a:t> = </a:t>
            </a:r>
            <a:r>
              <a:rPr lang="en-US" dirty="0" err="1">
                <a:latin typeface="Courier" pitchFamily="2" charset="0"/>
              </a:rPr>
              <a:t>int</a:t>
            </a:r>
            <a:r>
              <a:rPr lang="en-US" dirty="0">
                <a:latin typeface="Courier" pitchFamily="2" charset="0"/>
              </a:rPr>
              <a:t>(input('Enter age: ‘))</a:t>
            </a:r>
          </a:p>
          <a:p>
            <a:pPr marL="0" indent="0">
              <a:buNone/>
            </a:pPr>
            <a:r>
              <a:rPr lang="en-US" dirty="0">
                <a:latin typeface="Courier" pitchFamily="2" charset="0"/>
              </a:rPr>
              <a:t>    </a:t>
            </a:r>
            <a:r>
              <a:rPr lang="en-US" b="1" dirty="0">
                <a:latin typeface="Courier" pitchFamily="2" charset="0"/>
              </a:rPr>
              <a:t>if </a:t>
            </a:r>
            <a:r>
              <a:rPr lang="en-US" b="1" dirty="0" err="1">
                <a:latin typeface="Courier" pitchFamily="2" charset="0"/>
              </a:rPr>
              <a:t>user_age</a:t>
            </a:r>
            <a:r>
              <a:rPr lang="en-US" b="1" dirty="0">
                <a:latin typeface="Courier" pitchFamily="2" charset="0"/>
              </a:rPr>
              <a:t> &gt;= 16:</a:t>
            </a:r>
          </a:p>
          <a:p>
            <a:pPr marL="0" indent="0">
              <a:buNone/>
            </a:pPr>
            <a:r>
              <a:rPr lang="en-US" b="1" dirty="0">
                <a:latin typeface="Courier" pitchFamily="2" charset="0"/>
              </a:rPr>
              <a:t>       print('You are old enough to drive.')</a:t>
            </a:r>
          </a:p>
          <a:p>
            <a:pPr marL="0" indent="0">
              <a:buNone/>
            </a:pPr>
            <a:r>
              <a:rPr lang="en-US" b="1" dirty="0">
                <a:latin typeface="Courier" pitchFamily="2" charset="0"/>
              </a:rPr>
              <a:t>    if </a:t>
            </a:r>
            <a:r>
              <a:rPr lang="en-US" b="1" dirty="0" err="1">
                <a:latin typeface="Courier" pitchFamily="2" charset="0"/>
              </a:rPr>
              <a:t>user_age</a:t>
            </a:r>
            <a:r>
              <a:rPr lang="en-US" b="1" dirty="0">
                <a:latin typeface="Courier" pitchFamily="2" charset="0"/>
              </a:rPr>
              <a:t> &lt; 25:</a:t>
            </a:r>
          </a:p>
          <a:p>
            <a:pPr marL="0" indent="0">
              <a:buNone/>
            </a:pPr>
            <a:r>
              <a:rPr lang="en-US" b="1" dirty="0">
                <a:latin typeface="Courier" pitchFamily="2" charset="0"/>
              </a:rPr>
              <a:t>       print('Enjoy your early years.')   </a:t>
            </a:r>
          </a:p>
          <a:p>
            <a:pPr marL="0" indent="0">
              <a:buNone/>
            </a:pPr>
            <a:r>
              <a:rPr lang="en-US" b="1" dirty="0">
                <a:latin typeface="Courier" pitchFamily="2" charset="0"/>
              </a:rPr>
              <a:t>    if </a:t>
            </a:r>
            <a:r>
              <a:rPr lang="en-US" b="1" dirty="0" err="1">
                <a:latin typeface="Courier" pitchFamily="2" charset="0"/>
              </a:rPr>
              <a:t>user_age</a:t>
            </a:r>
            <a:r>
              <a:rPr lang="en-US" b="1" dirty="0">
                <a:latin typeface="Courier" pitchFamily="2" charset="0"/>
              </a:rPr>
              <a:t> &gt; 25:</a:t>
            </a:r>
          </a:p>
          <a:p>
            <a:pPr marL="0" indent="0">
              <a:buNone/>
            </a:pPr>
            <a:r>
              <a:rPr lang="en-US" b="1" dirty="0">
                <a:latin typeface="Courier" pitchFamily="2" charset="0"/>
              </a:rPr>
              <a:t>       print('Most car rental companies will rent to you.')</a:t>
            </a:r>
          </a:p>
        </p:txBody>
      </p:sp>
    </p:spTree>
    <p:extLst>
      <p:ext uri="{BB962C8B-B14F-4D97-AF65-F5344CB8AC3E}">
        <p14:creationId xmlns:p14="http://schemas.microsoft.com/office/powerpoint/2010/main" val="4901553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E6119-86E4-46AF-9C99-A5CAA4929996}"/>
              </a:ext>
            </a:extLst>
          </p:cNvPr>
          <p:cNvSpPr>
            <a:spLocks noGrp="1"/>
          </p:cNvSpPr>
          <p:nvPr>
            <p:ph type="title"/>
          </p:nvPr>
        </p:nvSpPr>
        <p:spPr>
          <a:xfrm>
            <a:off x="1097280" y="758952"/>
            <a:ext cx="10058400" cy="3566160"/>
          </a:xfrm>
        </p:spPr>
        <p:txBody>
          <a:bodyPr/>
          <a:lstStyle/>
          <a:p>
            <a:r>
              <a:rPr lang="en-US" dirty="0"/>
              <a:t>Comments and Docstrings</a:t>
            </a:r>
            <a:endParaRPr lang="en-CA" dirty="0"/>
          </a:p>
        </p:txBody>
      </p:sp>
      <p:sp>
        <p:nvSpPr>
          <p:cNvPr id="3" name="Text Placeholder 2">
            <a:extLst>
              <a:ext uri="{FF2B5EF4-FFF2-40B4-BE49-F238E27FC236}">
                <a16:creationId xmlns:a16="http://schemas.microsoft.com/office/drawing/2014/main" id="{29186F47-12FD-4325-AB8E-3178142528B0}"/>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478922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A48C4-12A0-486F-90EC-ECA12A0B56FE}"/>
              </a:ext>
            </a:extLst>
          </p:cNvPr>
          <p:cNvSpPr>
            <a:spLocks noGrp="1"/>
          </p:cNvSpPr>
          <p:nvPr>
            <p:ph type="title"/>
          </p:nvPr>
        </p:nvSpPr>
        <p:spPr/>
        <p:txBody>
          <a:bodyPr/>
          <a:lstStyle/>
          <a:p>
            <a:r>
              <a:rPr lang="en-US" dirty="0"/>
              <a:t># Good Comments &amp; Readable Code</a:t>
            </a:r>
            <a:endParaRPr lang="en-CA" dirty="0"/>
          </a:p>
        </p:txBody>
      </p:sp>
      <p:sp>
        <p:nvSpPr>
          <p:cNvPr id="3" name="Content Placeholder 2">
            <a:extLst>
              <a:ext uri="{FF2B5EF4-FFF2-40B4-BE49-F238E27FC236}">
                <a16:creationId xmlns:a16="http://schemas.microsoft.com/office/drawing/2014/main" id="{CC5E42AA-582D-46EE-83B3-3F744E2444EE}"/>
              </a:ext>
            </a:extLst>
          </p:cNvPr>
          <p:cNvSpPr>
            <a:spLocks noGrp="1"/>
          </p:cNvSpPr>
          <p:nvPr>
            <p:ph idx="1"/>
          </p:nvPr>
        </p:nvSpPr>
        <p:spPr>
          <a:xfrm>
            <a:off x="1097280" y="1845734"/>
            <a:ext cx="6443207" cy="4023360"/>
          </a:xfrm>
        </p:spPr>
        <p:txBody>
          <a:bodyPr/>
          <a:lstStyle/>
          <a:p>
            <a:pPr>
              <a:buFont typeface="Wingdings" panose="05000000000000000000" pitchFamily="2" charset="2"/>
              <a:buChar char="§"/>
            </a:pPr>
            <a:r>
              <a:rPr lang="en-US" dirty="0"/>
              <a:t> Why do we comment? </a:t>
            </a:r>
          </a:p>
          <a:p>
            <a:pPr>
              <a:buFont typeface="Wingdings" panose="05000000000000000000" pitchFamily="2" charset="2"/>
              <a:buChar char="§"/>
            </a:pPr>
            <a:r>
              <a:rPr lang="en-US" dirty="0"/>
              <a:t> We strive to make our code self-documenting by using descriptive identifiers for functions, variables, etc. </a:t>
            </a:r>
          </a:p>
          <a:p>
            <a:pPr>
              <a:buFont typeface="Wingdings" panose="05000000000000000000" pitchFamily="2" charset="2"/>
              <a:buChar char="§"/>
            </a:pPr>
            <a:r>
              <a:rPr lang="en-US" dirty="0"/>
              <a:t> Good code should be self explanatory (right?)</a:t>
            </a:r>
          </a:p>
          <a:p>
            <a:pPr>
              <a:buFont typeface="Wingdings" panose="05000000000000000000" pitchFamily="2" charset="2"/>
              <a:buChar char="§"/>
            </a:pPr>
            <a:r>
              <a:rPr lang="en-US" dirty="0"/>
              <a:t> Python Comments </a:t>
            </a:r>
          </a:p>
          <a:p>
            <a:pPr lvl="1">
              <a:buFont typeface="Wingdings" panose="05000000000000000000" pitchFamily="2" charset="2"/>
              <a:buChar char="§"/>
            </a:pPr>
            <a:r>
              <a:rPr lang="en-US" dirty="0"/>
              <a:t>In line comments that start with # </a:t>
            </a:r>
          </a:p>
          <a:p>
            <a:pPr lvl="1">
              <a:buFont typeface="Wingdings" panose="05000000000000000000" pitchFamily="2" charset="2"/>
              <a:buChar char="§"/>
            </a:pPr>
            <a:r>
              <a:rPr lang="en-US" dirty="0" err="1"/>
              <a:t>Docstrings</a:t>
            </a:r>
            <a:r>
              <a:rPr lang="en-US" dirty="0"/>
              <a:t>. Think Javadoc</a:t>
            </a:r>
          </a:p>
          <a:p>
            <a:pPr marL="0" indent="0">
              <a:buNone/>
            </a:pPr>
            <a:endParaRPr lang="en-CA" dirty="0"/>
          </a:p>
          <a:p>
            <a:pPr marL="0" indent="0">
              <a:buNone/>
            </a:pPr>
            <a:r>
              <a:rPr lang="en-CA" dirty="0"/>
              <a:t>// single line comment in java</a:t>
            </a:r>
          </a:p>
          <a:p>
            <a:pPr marL="0" indent="0">
              <a:buNone/>
            </a:pPr>
            <a:r>
              <a:rPr lang="en-CA" dirty="0"/>
              <a:t># single line comment in python</a:t>
            </a:r>
          </a:p>
        </p:txBody>
      </p:sp>
      <p:pic>
        <p:nvPicPr>
          <p:cNvPr id="9218" name="Picture 2" descr="Image result for comment code meme">
            <a:extLst>
              <a:ext uri="{FF2B5EF4-FFF2-40B4-BE49-F238E27FC236}">
                <a16:creationId xmlns:a16="http://schemas.microsoft.com/office/drawing/2014/main" id="{8F03D53C-1A7D-40B1-B199-607721FEF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6668" y="3093539"/>
            <a:ext cx="4477438" cy="2994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5280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1184A-E0AD-4213-8750-5870E5206AD5}"/>
              </a:ext>
            </a:extLst>
          </p:cNvPr>
          <p:cNvSpPr>
            <a:spLocks noGrp="1"/>
          </p:cNvSpPr>
          <p:nvPr>
            <p:ph type="title"/>
          </p:nvPr>
        </p:nvSpPr>
        <p:spPr/>
        <p:txBody>
          <a:bodyPr/>
          <a:lstStyle/>
          <a:p>
            <a:r>
              <a:rPr lang="en-US" dirty="0"/>
              <a:t>Docstrings</a:t>
            </a:r>
            <a:endParaRPr lang="en-CA" dirty="0"/>
          </a:p>
        </p:txBody>
      </p:sp>
      <p:sp>
        <p:nvSpPr>
          <p:cNvPr id="3" name="Content Placeholder 2">
            <a:extLst>
              <a:ext uri="{FF2B5EF4-FFF2-40B4-BE49-F238E27FC236}">
                <a16:creationId xmlns:a16="http://schemas.microsoft.com/office/drawing/2014/main" id="{C8C023EB-16FB-4C54-B8F7-D3A64E6396DE}"/>
              </a:ext>
            </a:extLst>
          </p:cNvPr>
          <p:cNvSpPr>
            <a:spLocks noGrp="1"/>
          </p:cNvSpPr>
          <p:nvPr>
            <p:ph idx="1"/>
          </p:nvPr>
        </p:nvSpPr>
        <p:spPr/>
        <p:txBody>
          <a:bodyPr>
            <a:normAutofit fontScale="92500" lnSpcReduction="10000"/>
          </a:bodyPr>
          <a:lstStyle/>
          <a:p>
            <a:r>
              <a:rPr lang="en-US" sz="3600" dirty="0"/>
              <a:t>A special kind of comment</a:t>
            </a:r>
          </a:p>
          <a:p>
            <a:r>
              <a:rPr lang="en-US" sz="3600" dirty="0"/>
              <a:t>A string literal that describes a chunk of code</a:t>
            </a:r>
          </a:p>
          <a:p>
            <a:r>
              <a:rPr lang="en-US" dirty="0"/>
              <a:t>Implemented as the first statement inside a:</a:t>
            </a:r>
          </a:p>
          <a:p>
            <a:pPr lvl="1"/>
            <a:r>
              <a:rPr lang="en-US" dirty="0"/>
              <a:t>Module (file)</a:t>
            </a:r>
          </a:p>
          <a:p>
            <a:pPr lvl="1"/>
            <a:r>
              <a:rPr lang="en-US" dirty="0"/>
              <a:t>Function</a:t>
            </a:r>
          </a:p>
          <a:p>
            <a:pPr lvl="1"/>
            <a:r>
              <a:rPr lang="en-US" dirty="0"/>
              <a:t>Class</a:t>
            </a:r>
          </a:p>
          <a:p>
            <a:pPr lvl="1"/>
            <a:r>
              <a:rPr lang="en-US" dirty="0"/>
              <a:t>Method definition.</a:t>
            </a:r>
          </a:p>
          <a:p>
            <a:r>
              <a:rPr lang="en-US" dirty="0"/>
              <a:t>Used to create “official” documentation</a:t>
            </a:r>
          </a:p>
          <a:p>
            <a:r>
              <a:rPr lang="en-US" dirty="0"/>
              <a:t>Wrap with triple-quotes to span multiple lines</a:t>
            </a:r>
          </a:p>
          <a:p>
            <a:r>
              <a:rPr lang="en-US" dirty="0"/>
              <a:t>Python can use this to generate documentation</a:t>
            </a:r>
          </a:p>
        </p:txBody>
      </p:sp>
    </p:spTree>
    <p:extLst>
      <p:ext uri="{BB962C8B-B14F-4D97-AF65-F5344CB8AC3E}">
        <p14:creationId xmlns:p14="http://schemas.microsoft.com/office/powerpoint/2010/main" val="23494438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703B-67CE-4FC3-99CB-B1EF8EB91DE4}"/>
              </a:ext>
            </a:extLst>
          </p:cNvPr>
          <p:cNvSpPr>
            <a:spLocks noGrp="1"/>
          </p:cNvSpPr>
          <p:nvPr>
            <p:ph type="title"/>
          </p:nvPr>
        </p:nvSpPr>
        <p:spPr/>
        <p:txBody>
          <a:bodyPr/>
          <a:lstStyle/>
          <a:p>
            <a:r>
              <a:rPr lang="en-US" dirty="0"/>
              <a:t>Docstring Example</a:t>
            </a:r>
            <a:endParaRPr lang="en-CA" dirty="0"/>
          </a:p>
        </p:txBody>
      </p:sp>
      <p:sp>
        <p:nvSpPr>
          <p:cNvPr id="3" name="Content Placeholder 2">
            <a:extLst>
              <a:ext uri="{FF2B5EF4-FFF2-40B4-BE49-F238E27FC236}">
                <a16:creationId xmlns:a16="http://schemas.microsoft.com/office/drawing/2014/main" id="{AA0CF49E-B281-42A2-AFF4-7D15F6DDA473}"/>
              </a:ext>
            </a:extLst>
          </p:cNvPr>
          <p:cNvSpPr>
            <a:spLocks noGrp="1"/>
          </p:cNvSpPr>
          <p:nvPr>
            <p:ph idx="1"/>
          </p:nvPr>
        </p:nvSpPr>
        <p:spPr>
          <a:xfrm>
            <a:off x="1097280" y="1845734"/>
            <a:ext cx="10058400" cy="4436732"/>
          </a:xfrm>
        </p:spPr>
        <p:txBody>
          <a:bodyPr>
            <a:normAutofit fontScale="92500" lnSpcReduction="20000"/>
          </a:bodyPr>
          <a:lstStyle/>
          <a:p>
            <a:pPr marL="0" indent="0">
              <a:buNone/>
            </a:pPr>
            <a:r>
              <a:rPr lang="en-CA" dirty="0">
                <a:latin typeface="Courier" pitchFamily="2" charset="0"/>
              </a:rPr>
              <a:t>def </a:t>
            </a:r>
            <a:r>
              <a:rPr lang="en-CA" dirty="0" err="1">
                <a:latin typeface="Courier" pitchFamily="2" charset="0"/>
              </a:rPr>
              <a:t>add_ints</a:t>
            </a:r>
            <a:r>
              <a:rPr lang="en-CA" dirty="0">
                <a:latin typeface="Courier" pitchFamily="2" charset="0"/>
              </a:rPr>
              <a:t>(a, b):</a:t>
            </a:r>
          </a:p>
          <a:p>
            <a:pPr marL="0" indent="0">
              <a:buNone/>
            </a:pPr>
            <a:r>
              <a:rPr lang="en-CA" dirty="0">
                <a:solidFill>
                  <a:srgbClr val="00B050"/>
                </a:solidFill>
                <a:latin typeface="Courier" pitchFamily="2" charset="0"/>
              </a:rPr>
              <a:t>    </a:t>
            </a:r>
            <a:r>
              <a:rPr lang="en-CA" b="1" dirty="0">
                <a:solidFill>
                  <a:srgbClr val="00B050"/>
                </a:solidFill>
                <a:latin typeface="Courier" pitchFamily="2" charset="0"/>
              </a:rPr>
              <a:t>”””</a:t>
            </a:r>
          </a:p>
          <a:p>
            <a:pPr marL="0" indent="0">
              <a:buNone/>
            </a:pPr>
            <a:r>
              <a:rPr lang="en-CA" dirty="0">
                <a:solidFill>
                  <a:srgbClr val="00B050"/>
                </a:solidFill>
                <a:latin typeface="Courier" pitchFamily="2" charset="0"/>
              </a:rPr>
              <a:t>    Return the sum of the two arguments.</a:t>
            </a:r>
          </a:p>
          <a:p>
            <a:pPr marL="0" indent="0">
              <a:buNone/>
            </a:pPr>
            <a:endParaRPr lang="en-CA" dirty="0">
              <a:solidFill>
                <a:srgbClr val="00B050"/>
              </a:solidFill>
              <a:latin typeface="Courier" pitchFamily="2" charset="0"/>
            </a:endParaRPr>
          </a:p>
          <a:p>
            <a:pPr marL="0" indent="0">
              <a:buNone/>
            </a:pPr>
            <a:r>
              <a:rPr lang="en-CA" dirty="0">
                <a:solidFill>
                  <a:srgbClr val="00B050"/>
                </a:solidFill>
                <a:latin typeface="Courier" pitchFamily="2" charset="0"/>
              </a:rPr>
              <a:t>    :param a: an int</a:t>
            </a:r>
          </a:p>
          <a:p>
            <a:pPr marL="0" indent="0">
              <a:buNone/>
            </a:pPr>
            <a:r>
              <a:rPr lang="en-CA" dirty="0">
                <a:solidFill>
                  <a:srgbClr val="00B050"/>
                </a:solidFill>
                <a:latin typeface="Courier" pitchFamily="2" charset="0"/>
              </a:rPr>
              <a:t>    :param b: an int</a:t>
            </a:r>
          </a:p>
          <a:p>
            <a:pPr marL="0" indent="0">
              <a:buNone/>
            </a:pPr>
            <a:r>
              <a:rPr lang="en-CA" dirty="0">
                <a:solidFill>
                  <a:srgbClr val="00B050"/>
                </a:solidFill>
                <a:latin typeface="Courier" pitchFamily="2" charset="0"/>
              </a:rPr>
              <a:t>    :precondition: a must be an int</a:t>
            </a:r>
          </a:p>
          <a:p>
            <a:pPr marL="0" indent="0">
              <a:buNone/>
            </a:pPr>
            <a:r>
              <a:rPr lang="en-CA" dirty="0">
                <a:solidFill>
                  <a:srgbClr val="00B050"/>
                </a:solidFill>
                <a:latin typeface="Courier" pitchFamily="2" charset="0"/>
              </a:rPr>
              <a:t>    :precondition: b must be an int</a:t>
            </a:r>
          </a:p>
          <a:p>
            <a:pPr marL="0" indent="0">
              <a:buNone/>
            </a:pPr>
            <a:r>
              <a:rPr lang="en-CA" dirty="0">
                <a:solidFill>
                  <a:srgbClr val="00B050"/>
                </a:solidFill>
                <a:latin typeface="Courier" pitchFamily="2" charset="0"/>
              </a:rPr>
              <a:t>    :return: the sum of the </a:t>
            </a:r>
            <a:r>
              <a:rPr lang="en-CA" dirty="0" err="1">
                <a:solidFill>
                  <a:srgbClr val="00B050"/>
                </a:solidFill>
                <a:latin typeface="Courier" pitchFamily="2" charset="0"/>
              </a:rPr>
              <a:t>ints</a:t>
            </a:r>
            <a:endParaRPr lang="en-CA" dirty="0">
              <a:solidFill>
                <a:srgbClr val="00B050"/>
              </a:solidFill>
              <a:latin typeface="Courier" pitchFamily="2" charset="0"/>
            </a:endParaRPr>
          </a:p>
          <a:p>
            <a:pPr marL="0" indent="0">
              <a:buNone/>
            </a:pPr>
            <a:r>
              <a:rPr lang="en-CA" dirty="0">
                <a:solidFill>
                  <a:srgbClr val="00B050"/>
                </a:solidFill>
                <a:latin typeface="Courier" pitchFamily="2" charset="0"/>
              </a:rPr>
              <a:t>    </a:t>
            </a:r>
            <a:r>
              <a:rPr lang="en-CA" b="1" dirty="0">
                <a:solidFill>
                  <a:srgbClr val="00B050"/>
                </a:solidFill>
                <a:latin typeface="Courier" pitchFamily="2" charset="0"/>
              </a:rPr>
              <a:t>”””</a:t>
            </a:r>
          </a:p>
          <a:p>
            <a:pPr marL="0" indent="0">
              <a:buNone/>
            </a:pPr>
            <a:r>
              <a:rPr lang="en-CA" dirty="0">
                <a:latin typeface="Courier" pitchFamily="2" charset="0"/>
              </a:rPr>
              <a:t>    return a + b</a:t>
            </a:r>
            <a:endParaRPr lang="en-US" dirty="0">
              <a:latin typeface="Courier" pitchFamily="2" charset="0"/>
            </a:endParaRPr>
          </a:p>
          <a:p>
            <a:endParaRPr lang="en-CA" dirty="0"/>
          </a:p>
        </p:txBody>
      </p:sp>
    </p:spTree>
    <p:extLst>
      <p:ext uri="{BB962C8B-B14F-4D97-AF65-F5344CB8AC3E}">
        <p14:creationId xmlns:p14="http://schemas.microsoft.com/office/powerpoint/2010/main" val="16038287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AF2F7-75D5-4031-9045-38EA9830E778}"/>
              </a:ext>
            </a:extLst>
          </p:cNvPr>
          <p:cNvSpPr>
            <a:spLocks noGrp="1"/>
          </p:cNvSpPr>
          <p:nvPr>
            <p:ph type="title"/>
          </p:nvPr>
        </p:nvSpPr>
        <p:spPr/>
        <p:txBody>
          <a:bodyPr/>
          <a:lstStyle/>
          <a:p>
            <a:r>
              <a:rPr lang="en-US" dirty="0"/>
              <a:t>Docstring Formatting</a:t>
            </a:r>
            <a:endParaRPr lang="en-CA" dirty="0"/>
          </a:p>
        </p:txBody>
      </p:sp>
      <p:sp>
        <p:nvSpPr>
          <p:cNvPr id="3" name="Content Placeholder 2">
            <a:extLst>
              <a:ext uri="{FF2B5EF4-FFF2-40B4-BE49-F238E27FC236}">
                <a16:creationId xmlns:a16="http://schemas.microsoft.com/office/drawing/2014/main" id="{F35C3ECF-1819-409F-87A4-0BB0DABF711A}"/>
              </a:ext>
            </a:extLst>
          </p:cNvPr>
          <p:cNvSpPr>
            <a:spLocks noGrp="1"/>
          </p:cNvSpPr>
          <p:nvPr>
            <p:ph idx="1"/>
          </p:nvPr>
        </p:nvSpPr>
        <p:spPr/>
        <p:txBody>
          <a:bodyPr>
            <a:normAutofit fontScale="92500" lnSpcReduction="10000"/>
          </a:bodyPr>
          <a:lstStyle/>
          <a:p>
            <a:r>
              <a:rPr lang="en-US" dirty="0"/>
              <a:t>Ensure you use a </a:t>
            </a:r>
            <a:r>
              <a:rPr lang="en-US" u="sng" dirty="0"/>
              <a:t>phrase that ends in a period</a:t>
            </a:r>
            <a:r>
              <a:rPr lang="en-US" dirty="0"/>
              <a:t>.</a:t>
            </a:r>
          </a:p>
          <a:p>
            <a:r>
              <a:rPr lang="en-US" dirty="0"/>
              <a:t>Describe the function’s effect as a command, i.e., ‘‘‘</a:t>
            </a:r>
            <a:r>
              <a:rPr lang="en-US" b="1" dirty="0"/>
              <a:t>Do</a:t>
            </a:r>
            <a:r>
              <a:rPr lang="en-US" dirty="0"/>
              <a:t> this.’’’ or ‘‘‘ </a:t>
            </a:r>
            <a:r>
              <a:rPr lang="en-US" b="1" dirty="0"/>
              <a:t>Return</a:t>
            </a:r>
            <a:r>
              <a:rPr lang="en-US" dirty="0"/>
              <a:t> that.’’’</a:t>
            </a:r>
          </a:p>
          <a:p>
            <a:r>
              <a:rPr lang="en-US" dirty="0"/>
              <a:t>A multi-line docstring must start with a one-line summary, followed by a blank line, followed by the details of the description.</a:t>
            </a:r>
          </a:p>
          <a:p>
            <a:r>
              <a:rPr lang="en-US" dirty="0"/>
              <a:t>Suppose we have a program called my_module.py.  The first statement in the file must be a triple-quote wrapped string, which will become the my_module.py module’s docstring when the file is imported and used by another project.</a:t>
            </a:r>
          </a:p>
          <a:p>
            <a:pPr marL="0" indent="0">
              <a:buNone/>
            </a:pPr>
            <a:endParaRPr lang="en-US" dirty="0"/>
          </a:p>
          <a:p>
            <a:pPr marL="1828800" lvl="4" indent="0">
              <a:buNone/>
            </a:pPr>
            <a:r>
              <a:rPr lang="en-US" sz="3000" dirty="0">
                <a:latin typeface="Courier" pitchFamily="2" charset="0"/>
                <a:cs typeface="Futura Medium" panose="020B0602020204020303" pitchFamily="34" charset="-79"/>
              </a:rPr>
              <a:t>&gt;&gt;&gt; import </a:t>
            </a:r>
            <a:r>
              <a:rPr lang="en-US" sz="3000" dirty="0" err="1">
                <a:latin typeface="Courier" pitchFamily="2" charset="0"/>
                <a:cs typeface="Futura Medium" panose="020B0602020204020303" pitchFamily="34" charset="-79"/>
              </a:rPr>
              <a:t>my_module</a:t>
            </a:r>
            <a:endParaRPr lang="en-US" sz="3000" dirty="0">
              <a:latin typeface="Courier" pitchFamily="2" charset="0"/>
              <a:cs typeface="Futura Medium" panose="020B0602020204020303" pitchFamily="34" charset="-79"/>
            </a:endParaRPr>
          </a:p>
          <a:p>
            <a:pPr marL="1828800" lvl="4" indent="0">
              <a:buNone/>
            </a:pPr>
            <a:r>
              <a:rPr lang="en-US" sz="3000" dirty="0">
                <a:latin typeface="Courier" pitchFamily="2" charset="0"/>
                <a:cs typeface="Futura Medium" panose="020B0602020204020303" pitchFamily="34" charset="-79"/>
              </a:rPr>
              <a:t>&gt;&gt;&gt; help(</a:t>
            </a:r>
            <a:r>
              <a:rPr lang="en-US" sz="3000" dirty="0" err="1">
                <a:latin typeface="Courier" pitchFamily="2" charset="0"/>
                <a:cs typeface="Futura Medium" panose="020B0602020204020303" pitchFamily="34" charset="-79"/>
              </a:rPr>
              <a:t>my_module</a:t>
            </a:r>
            <a:r>
              <a:rPr lang="en-US" sz="3000" dirty="0">
                <a:latin typeface="Courier" pitchFamily="2" charset="0"/>
                <a:cs typeface="Futura Medium" panose="020B0602020204020303" pitchFamily="34" charset="-79"/>
              </a:rPr>
              <a:t>)</a:t>
            </a:r>
          </a:p>
          <a:p>
            <a:pPr marL="1828800" lvl="4" indent="0">
              <a:buNone/>
            </a:pPr>
            <a:r>
              <a:rPr lang="en-US" sz="3000" dirty="0">
                <a:latin typeface="Courier" pitchFamily="2" charset="0"/>
                <a:cs typeface="Futura Medium" panose="020B0602020204020303" pitchFamily="34" charset="-79"/>
              </a:rPr>
              <a:t>&gt;&gt;&gt; help(</a:t>
            </a:r>
            <a:r>
              <a:rPr lang="en-US" sz="3000" dirty="0" err="1">
                <a:latin typeface="Courier" pitchFamily="2" charset="0"/>
                <a:cs typeface="Futura Medium" panose="020B0602020204020303" pitchFamily="34" charset="-79"/>
              </a:rPr>
              <a:t>my_module.my_function</a:t>
            </a:r>
            <a:r>
              <a:rPr lang="en-US" sz="3000" dirty="0">
                <a:latin typeface="Courier" pitchFamily="2" charset="0"/>
                <a:cs typeface="Futura Medium" panose="020B0602020204020303" pitchFamily="34" charset="-79"/>
              </a:rPr>
              <a:t>)</a:t>
            </a:r>
          </a:p>
          <a:p>
            <a:endParaRPr lang="en-CA" dirty="0"/>
          </a:p>
        </p:txBody>
      </p:sp>
    </p:spTree>
    <p:extLst>
      <p:ext uri="{BB962C8B-B14F-4D97-AF65-F5344CB8AC3E}">
        <p14:creationId xmlns:p14="http://schemas.microsoft.com/office/powerpoint/2010/main" val="24203041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88A2-67B5-4B0E-B5BA-F9B151AD435A}"/>
              </a:ext>
            </a:extLst>
          </p:cNvPr>
          <p:cNvSpPr>
            <a:spLocks noGrp="1"/>
          </p:cNvSpPr>
          <p:nvPr>
            <p:ph type="title"/>
          </p:nvPr>
        </p:nvSpPr>
        <p:spPr/>
        <p:txBody>
          <a:bodyPr/>
          <a:lstStyle/>
          <a:p>
            <a:r>
              <a:rPr lang="en-US" dirty="0"/>
              <a:t>Styling Your Code</a:t>
            </a:r>
            <a:endParaRPr lang="en-CA" dirty="0"/>
          </a:p>
        </p:txBody>
      </p:sp>
      <p:sp>
        <p:nvSpPr>
          <p:cNvPr id="3" name="Text Placeholder 2">
            <a:extLst>
              <a:ext uri="{FF2B5EF4-FFF2-40B4-BE49-F238E27FC236}">
                <a16:creationId xmlns:a16="http://schemas.microsoft.com/office/drawing/2014/main" id="{7C0D2A00-89ED-4F5E-A45D-FD217BF9E46B}"/>
              </a:ext>
            </a:extLst>
          </p:cNvPr>
          <p:cNvSpPr>
            <a:spLocks noGrp="1"/>
          </p:cNvSpPr>
          <p:nvPr>
            <p:ph type="body" idx="1"/>
          </p:nvPr>
        </p:nvSpPr>
        <p:spPr/>
        <p:txBody>
          <a:bodyPr/>
          <a:lstStyle/>
          <a:p>
            <a:r>
              <a:rPr lang="en-US" dirty="0"/>
              <a:t>Fashion Police</a:t>
            </a:r>
            <a:endParaRPr lang="en-CA" dirty="0"/>
          </a:p>
        </p:txBody>
      </p:sp>
      <p:pic>
        <p:nvPicPr>
          <p:cNvPr id="10242" name="Picture 2" descr="Image result for outrageous fashion">
            <a:extLst>
              <a:ext uri="{FF2B5EF4-FFF2-40B4-BE49-F238E27FC236}">
                <a16:creationId xmlns:a16="http://schemas.microsoft.com/office/drawing/2014/main" id="{CFB3A9C8-067D-4E1A-898B-3C4E278F4B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671" r="23671"/>
          <a:stretch/>
        </p:blipFill>
        <p:spPr bwMode="auto">
          <a:xfrm>
            <a:off x="8680175" y="932986"/>
            <a:ext cx="3207026" cy="4663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4830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9462CC-86A0-40D9-B6EA-5496C2B5AE18}"/>
              </a:ext>
            </a:extLst>
          </p:cNvPr>
          <p:cNvSpPr>
            <a:spLocks noGrp="1"/>
          </p:cNvSpPr>
          <p:nvPr>
            <p:ph type="title"/>
          </p:nvPr>
        </p:nvSpPr>
        <p:spPr/>
        <p:txBody>
          <a:bodyPr/>
          <a:lstStyle/>
          <a:p>
            <a:r>
              <a:rPr lang="en-US" dirty="0"/>
              <a:t>PEP 8 Style Guide</a:t>
            </a:r>
            <a:endParaRPr lang="en-CA" dirty="0"/>
          </a:p>
        </p:txBody>
      </p:sp>
      <p:sp>
        <p:nvSpPr>
          <p:cNvPr id="5" name="Content Placeholder 4">
            <a:extLst>
              <a:ext uri="{FF2B5EF4-FFF2-40B4-BE49-F238E27FC236}">
                <a16:creationId xmlns:a16="http://schemas.microsoft.com/office/drawing/2014/main" id="{2DCCCF0A-DA6C-4701-862D-4515887D6C65}"/>
              </a:ext>
            </a:extLst>
          </p:cNvPr>
          <p:cNvSpPr>
            <a:spLocks noGrp="1"/>
          </p:cNvSpPr>
          <p:nvPr>
            <p:ph idx="1"/>
          </p:nvPr>
        </p:nvSpPr>
        <p:spPr/>
        <p:txBody>
          <a:bodyPr>
            <a:normAutofit lnSpcReduction="10000"/>
          </a:bodyPr>
          <a:lstStyle/>
          <a:p>
            <a:pPr marL="0" indent="0">
              <a:buNone/>
            </a:pPr>
            <a:r>
              <a:rPr lang="en-CA" dirty="0">
                <a:hlinkClick r:id="rId3"/>
              </a:rPr>
              <a:t>https://www.python.org/dev/peps/pep-0008/</a:t>
            </a:r>
            <a:endParaRPr lang="en-CA" dirty="0"/>
          </a:p>
          <a:p>
            <a:pPr marL="0" indent="0">
              <a:buNone/>
            </a:pPr>
            <a:endParaRPr lang="en-CA" dirty="0"/>
          </a:p>
          <a:p>
            <a:pPr>
              <a:buFont typeface="Wingdings" panose="05000000000000000000" pitchFamily="2" charset="2"/>
              <a:buChar char="§"/>
            </a:pPr>
            <a:r>
              <a:rPr lang="en-CA" dirty="0"/>
              <a:t> The </a:t>
            </a:r>
            <a:r>
              <a:rPr lang="en-CA" dirty="0" err="1"/>
              <a:t>defacto</a:t>
            </a:r>
            <a:r>
              <a:rPr lang="en-CA" dirty="0"/>
              <a:t> accepted standard for formatting your Python code.</a:t>
            </a:r>
          </a:p>
          <a:p>
            <a:pPr>
              <a:buFont typeface="Wingdings" panose="05000000000000000000" pitchFamily="2" charset="2"/>
              <a:buChar char="§"/>
            </a:pPr>
            <a:r>
              <a:rPr lang="en-CA" dirty="0"/>
              <a:t> At some point everyone here should go through it.</a:t>
            </a:r>
          </a:p>
          <a:p>
            <a:pPr>
              <a:buFont typeface="Wingdings" panose="05000000000000000000" pitchFamily="2" charset="2"/>
              <a:buChar char="§"/>
            </a:pPr>
            <a:r>
              <a:rPr lang="en-CA" dirty="0"/>
              <a:t> There are a lot of rules but it eventually becomes second nature.</a:t>
            </a:r>
          </a:p>
          <a:p>
            <a:pPr>
              <a:buFont typeface="Wingdings" panose="05000000000000000000" pitchFamily="2" charset="2"/>
              <a:buChar char="§"/>
            </a:pPr>
            <a:r>
              <a:rPr lang="en-CA" dirty="0"/>
              <a:t> Another website that summarized the PEP 8 guide (An easier read): </a:t>
            </a:r>
            <a:r>
              <a:rPr lang="en-CA" dirty="0">
                <a:hlinkClick r:id="rId4"/>
              </a:rPr>
              <a:t>https://realpython.com/python-pep8/</a:t>
            </a:r>
            <a:endParaRPr lang="en-CA" dirty="0"/>
          </a:p>
          <a:p>
            <a:pPr marL="0" indent="0" algn="ctr">
              <a:buNone/>
            </a:pPr>
            <a:endParaRPr lang="en-CA" sz="3600" dirty="0"/>
          </a:p>
          <a:p>
            <a:pPr marL="0" indent="0" algn="ctr">
              <a:buNone/>
            </a:pPr>
            <a:r>
              <a:rPr lang="en-CA" sz="3600" dirty="0"/>
              <a:t>Why does this matter? </a:t>
            </a:r>
          </a:p>
        </p:txBody>
      </p:sp>
    </p:spTree>
    <p:extLst>
      <p:ext uri="{BB962C8B-B14F-4D97-AF65-F5344CB8AC3E}">
        <p14:creationId xmlns:p14="http://schemas.microsoft.com/office/powerpoint/2010/main" val="8690355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E46F0-1E46-4543-9DED-24ABE422A237}"/>
              </a:ext>
            </a:extLst>
          </p:cNvPr>
          <p:cNvSpPr>
            <a:spLocks noGrp="1"/>
          </p:cNvSpPr>
          <p:nvPr>
            <p:ph type="title"/>
          </p:nvPr>
        </p:nvSpPr>
        <p:spPr/>
        <p:txBody>
          <a:bodyPr/>
          <a:lstStyle/>
          <a:p>
            <a:r>
              <a:rPr lang="en-US" dirty="0"/>
              <a:t>PEP 8 Style Guide</a:t>
            </a:r>
            <a:endParaRPr lang="en-CA" dirty="0"/>
          </a:p>
        </p:txBody>
      </p:sp>
      <p:sp>
        <p:nvSpPr>
          <p:cNvPr id="3" name="Content Placeholder 2">
            <a:extLst>
              <a:ext uri="{FF2B5EF4-FFF2-40B4-BE49-F238E27FC236}">
                <a16:creationId xmlns:a16="http://schemas.microsoft.com/office/drawing/2014/main" id="{B744CABB-9AAD-499F-9506-30BEA7DD5621}"/>
              </a:ext>
            </a:extLst>
          </p:cNvPr>
          <p:cNvSpPr>
            <a:spLocks noGrp="1"/>
          </p:cNvSpPr>
          <p:nvPr>
            <p:ph idx="1"/>
          </p:nvPr>
        </p:nvSpPr>
        <p:spPr/>
        <p:txBody>
          <a:bodyPr>
            <a:normAutofit/>
          </a:bodyPr>
          <a:lstStyle/>
          <a:p>
            <a:pPr algn="ctr"/>
            <a:r>
              <a:rPr lang="en-US" sz="3600" dirty="0"/>
              <a:t>Consistency</a:t>
            </a:r>
          </a:p>
          <a:p>
            <a:pPr algn="ctr"/>
            <a:r>
              <a:rPr lang="en-CA" sz="3600" dirty="0"/>
              <a:t>Readability</a:t>
            </a:r>
          </a:p>
          <a:p>
            <a:pPr algn="ctr"/>
            <a:r>
              <a:rPr lang="en-CA" sz="3600" dirty="0"/>
              <a:t>Parsing</a:t>
            </a:r>
          </a:p>
          <a:p>
            <a:pPr algn="ctr"/>
            <a:r>
              <a:rPr lang="en-CA" sz="3600" dirty="0"/>
              <a:t>Efficient and Ease While Coding</a:t>
            </a:r>
          </a:p>
          <a:p>
            <a:pPr algn="ctr"/>
            <a:r>
              <a:rPr lang="en-CA" sz="3600" dirty="0"/>
              <a:t>Collaboration</a:t>
            </a:r>
          </a:p>
        </p:txBody>
      </p:sp>
    </p:spTree>
    <p:extLst>
      <p:ext uri="{BB962C8B-B14F-4D97-AF65-F5344CB8AC3E}">
        <p14:creationId xmlns:p14="http://schemas.microsoft.com/office/powerpoint/2010/main" val="22925169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0E9A6-E28F-4D3F-B804-68F523154D46}"/>
              </a:ext>
            </a:extLst>
          </p:cNvPr>
          <p:cNvSpPr>
            <a:spLocks noGrp="1"/>
          </p:cNvSpPr>
          <p:nvPr>
            <p:ph type="title"/>
          </p:nvPr>
        </p:nvSpPr>
        <p:spPr/>
        <p:txBody>
          <a:bodyPr/>
          <a:lstStyle/>
          <a:p>
            <a:r>
              <a:rPr lang="en-US" dirty="0"/>
              <a:t>Naming Conventions</a:t>
            </a:r>
            <a:endParaRPr lang="en-CA" dirty="0"/>
          </a:p>
        </p:txBody>
      </p:sp>
      <p:graphicFrame>
        <p:nvGraphicFramePr>
          <p:cNvPr id="4" name="Content Placeholder 3">
            <a:extLst>
              <a:ext uri="{FF2B5EF4-FFF2-40B4-BE49-F238E27FC236}">
                <a16:creationId xmlns:a16="http://schemas.microsoft.com/office/drawing/2014/main" id="{E1A38BCC-5E9D-4551-9FF6-1D0E7A69FFE1}"/>
              </a:ext>
            </a:extLst>
          </p:cNvPr>
          <p:cNvGraphicFramePr>
            <a:graphicFrameLocks noGrp="1"/>
          </p:cNvGraphicFramePr>
          <p:nvPr>
            <p:ph idx="1"/>
            <p:extLst>
              <p:ext uri="{D42A27DB-BD31-4B8C-83A1-F6EECF244321}">
                <p14:modId xmlns:p14="http://schemas.microsoft.com/office/powerpoint/2010/main" val="1141576708"/>
              </p:ext>
            </p:extLst>
          </p:nvPr>
        </p:nvGraphicFramePr>
        <p:xfrm>
          <a:off x="966083" y="185530"/>
          <a:ext cx="10259833" cy="5950340"/>
        </p:xfrm>
        <a:graphic>
          <a:graphicData uri="http://schemas.openxmlformats.org/drawingml/2006/table">
            <a:tbl>
              <a:tblPr/>
              <a:tblGrid>
                <a:gridCol w="1897711">
                  <a:extLst>
                    <a:ext uri="{9D8B030D-6E8A-4147-A177-3AD203B41FA5}">
                      <a16:colId xmlns:a16="http://schemas.microsoft.com/office/drawing/2014/main" val="3843038713"/>
                    </a:ext>
                  </a:extLst>
                </a:gridCol>
                <a:gridCol w="5393635">
                  <a:extLst>
                    <a:ext uri="{9D8B030D-6E8A-4147-A177-3AD203B41FA5}">
                      <a16:colId xmlns:a16="http://schemas.microsoft.com/office/drawing/2014/main" val="911517091"/>
                    </a:ext>
                  </a:extLst>
                </a:gridCol>
                <a:gridCol w="2968487">
                  <a:extLst>
                    <a:ext uri="{9D8B030D-6E8A-4147-A177-3AD203B41FA5}">
                      <a16:colId xmlns:a16="http://schemas.microsoft.com/office/drawing/2014/main" val="725309089"/>
                    </a:ext>
                  </a:extLst>
                </a:gridCol>
              </a:tblGrid>
              <a:tr h="296489">
                <a:tc>
                  <a:txBody>
                    <a:bodyPr/>
                    <a:lstStyle/>
                    <a:p>
                      <a:pPr algn="l" fontAlgn="b"/>
                      <a:r>
                        <a:rPr lang="en-CA" sz="1800" b="1" dirty="0">
                          <a:effectLst/>
                        </a:rPr>
                        <a:t>Type</a:t>
                      </a:r>
                    </a:p>
                  </a:txBody>
                  <a:tcPr marL="31428" marR="31428" marT="15714" marB="15714"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algn="l" fontAlgn="b"/>
                      <a:r>
                        <a:rPr lang="en-CA" sz="1800" b="1" dirty="0">
                          <a:effectLst/>
                        </a:rPr>
                        <a:t>Naming</a:t>
                      </a:r>
                      <a:r>
                        <a:rPr lang="en-CA" sz="1800" dirty="0">
                          <a:effectLst/>
                        </a:rPr>
                        <a:t> </a:t>
                      </a:r>
                      <a:r>
                        <a:rPr lang="en-CA" sz="1800" b="1" dirty="0">
                          <a:effectLst/>
                        </a:rPr>
                        <a:t>Convention</a:t>
                      </a:r>
                    </a:p>
                  </a:txBody>
                  <a:tcPr marL="31428" marR="31428" marT="15714" marB="15714"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algn="l" fontAlgn="b"/>
                      <a:r>
                        <a:rPr lang="en-CA" sz="1800" b="1" dirty="0">
                          <a:effectLst/>
                        </a:rPr>
                        <a:t>Examples</a:t>
                      </a:r>
                    </a:p>
                  </a:txBody>
                  <a:tcPr marL="31428" marR="31428" marT="15714" marB="15714"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770660522"/>
                  </a:ext>
                </a:extLst>
              </a:tr>
              <a:tr h="681360">
                <a:tc>
                  <a:txBody>
                    <a:bodyPr/>
                    <a:lstStyle/>
                    <a:p>
                      <a:pPr fontAlgn="t"/>
                      <a:r>
                        <a:rPr lang="en-CA" sz="1800">
                          <a:effectLst/>
                        </a:rPr>
                        <a:t>Function</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dirty="0">
                          <a:effectLst/>
                        </a:rPr>
                        <a:t>Use a lowercase word or words. Separate words by underscores to improve readability.</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CA" sz="1800">
                          <a:effectLst/>
                        </a:rPr>
                        <a:t>function, my_function</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75057487"/>
                  </a:ext>
                </a:extLst>
              </a:tr>
              <a:tr h="900128">
                <a:tc>
                  <a:txBody>
                    <a:bodyPr/>
                    <a:lstStyle/>
                    <a:p>
                      <a:pPr fontAlgn="t"/>
                      <a:r>
                        <a:rPr lang="en-CA" sz="1800">
                          <a:effectLst/>
                        </a:rPr>
                        <a:t>Variable</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dirty="0">
                          <a:effectLst/>
                        </a:rPr>
                        <a:t>Use a lowercase single letter, word, or words. Separate words with underscores to improve readability.</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CA" sz="1800">
                          <a:effectLst/>
                        </a:rPr>
                        <a:t>x, var, my_variable</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42187346"/>
                  </a:ext>
                </a:extLst>
              </a:tr>
              <a:tr h="900128">
                <a:tc>
                  <a:txBody>
                    <a:bodyPr/>
                    <a:lstStyle/>
                    <a:p>
                      <a:pPr fontAlgn="t"/>
                      <a:r>
                        <a:rPr lang="en-CA" sz="1800" dirty="0">
                          <a:effectLst/>
                        </a:rPr>
                        <a:t>Class</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dirty="0">
                          <a:effectLst/>
                        </a:rPr>
                        <a:t>Start each word with a capital letter. Do not separate words with underscores. This style is called camel case.</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CA" sz="1800">
                          <a:effectLst/>
                        </a:rPr>
                        <a:t>Model, MyClass</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383049128"/>
                  </a:ext>
                </a:extLst>
              </a:tr>
              <a:tr h="681360">
                <a:tc>
                  <a:txBody>
                    <a:bodyPr/>
                    <a:lstStyle/>
                    <a:p>
                      <a:pPr fontAlgn="t"/>
                      <a:r>
                        <a:rPr lang="en-CA" sz="1800">
                          <a:effectLst/>
                        </a:rPr>
                        <a:t>Method</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a:effectLst/>
                        </a:rPr>
                        <a:t>Use a lowercase word or words. Separate words with underscores to improve readability.</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CA" sz="1800">
                          <a:effectLst/>
                        </a:rPr>
                        <a:t>class_method, method</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64894365"/>
                  </a:ext>
                </a:extLst>
              </a:tr>
              <a:tr h="900128">
                <a:tc>
                  <a:txBody>
                    <a:bodyPr/>
                    <a:lstStyle/>
                    <a:p>
                      <a:pPr fontAlgn="t"/>
                      <a:r>
                        <a:rPr lang="en-CA" sz="1800">
                          <a:effectLst/>
                        </a:rPr>
                        <a:t>Constant</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a:effectLst/>
                        </a:rPr>
                        <a:t>Use an uppercase single letter, word, or words. Separate words with underscores to improve readability.</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a:effectLst/>
                        </a:rPr>
                        <a:t>CONSTANT, MY_CONSTANT, MY_LONG_CONSTANT</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814117643"/>
                  </a:ext>
                </a:extLst>
              </a:tr>
              <a:tr h="900128">
                <a:tc>
                  <a:txBody>
                    <a:bodyPr/>
                    <a:lstStyle/>
                    <a:p>
                      <a:pPr fontAlgn="t"/>
                      <a:r>
                        <a:rPr lang="en-CA" sz="1800">
                          <a:effectLst/>
                        </a:rPr>
                        <a:t>Module</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dirty="0">
                          <a:effectLst/>
                        </a:rPr>
                        <a:t>Use a short, lowercase word or words. Separate words with underscores to improve readability.</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sz="1800">
                          <a:effectLst/>
                        </a:rPr>
                        <a:t>module.py, my_module.py</a:t>
                      </a:r>
                    </a:p>
                  </a:txBody>
                  <a:tcPr marL="31428" marR="31428" marT="15714" marB="15714">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74609291"/>
                  </a:ext>
                </a:extLst>
              </a:tr>
              <a:tr h="681360">
                <a:tc>
                  <a:txBody>
                    <a:bodyPr/>
                    <a:lstStyle/>
                    <a:p>
                      <a:pPr fontAlgn="t"/>
                      <a:r>
                        <a:rPr lang="en-CA" sz="1800">
                          <a:effectLst/>
                        </a:rPr>
                        <a:t>Package</a:t>
                      </a:r>
                    </a:p>
                  </a:txBody>
                  <a:tcPr marL="31428" marR="31428" marT="15714" marB="15714">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r>
                        <a:rPr lang="en-US" sz="1800">
                          <a:effectLst/>
                        </a:rPr>
                        <a:t>Use a short, lowercase word or words. Do not separate words with underscores.</a:t>
                      </a:r>
                    </a:p>
                  </a:txBody>
                  <a:tcPr marL="31428" marR="31428" marT="15714" marB="15714">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r>
                        <a:rPr lang="en-CA" sz="1800" dirty="0">
                          <a:effectLst/>
                        </a:rPr>
                        <a:t>package, </a:t>
                      </a:r>
                      <a:r>
                        <a:rPr lang="en-CA" sz="1800" dirty="0" err="1">
                          <a:effectLst/>
                        </a:rPr>
                        <a:t>mypackage</a:t>
                      </a:r>
                      <a:endParaRPr lang="en-CA" sz="1800" dirty="0">
                        <a:effectLst/>
                      </a:endParaRPr>
                    </a:p>
                  </a:txBody>
                  <a:tcPr marL="31428" marR="31428" marT="15714" marB="15714">
                    <a:lnL>
                      <a:noFill/>
                    </a:lnL>
                    <a:lnR>
                      <a:noFill/>
                    </a:lnR>
                    <a:lnT w="9525" cap="flat" cmpd="sng" algn="ctr">
                      <a:solidFill>
                        <a:srgbClr val="DEE2E6"/>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903994267"/>
                  </a:ext>
                </a:extLst>
              </a:tr>
            </a:tbl>
          </a:graphicData>
        </a:graphic>
      </p:graphicFrame>
    </p:spTree>
    <p:extLst>
      <p:ext uri="{BB962C8B-B14F-4D97-AF65-F5344CB8AC3E}">
        <p14:creationId xmlns:p14="http://schemas.microsoft.com/office/powerpoint/2010/main" val="2943141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027611" y="2590224"/>
            <a:ext cx="10197738" cy="133714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dirty="0"/>
              <a:t>There a lot more rules that I won’t reiterate here. Check out the links!</a:t>
            </a:r>
            <a:endParaRPr lang="en-CA" dirty="0"/>
          </a:p>
        </p:txBody>
      </p:sp>
    </p:spTree>
    <p:extLst>
      <p:ext uri="{BB962C8B-B14F-4D97-AF65-F5344CB8AC3E}">
        <p14:creationId xmlns:p14="http://schemas.microsoft.com/office/powerpoint/2010/main" val="36379578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88A2-67B5-4B0E-B5BA-F9B151AD435A}"/>
              </a:ext>
            </a:extLst>
          </p:cNvPr>
          <p:cNvSpPr>
            <a:spLocks noGrp="1"/>
          </p:cNvSpPr>
          <p:nvPr>
            <p:ph type="title"/>
          </p:nvPr>
        </p:nvSpPr>
        <p:spPr/>
        <p:txBody>
          <a:bodyPr/>
          <a:lstStyle/>
          <a:p>
            <a:r>
              <a:rPr lang="en-US" dirty="0"/>
              <a:t>Strings</a:t>
            </a:r>
            <a:endParaRPr lang="en-CA" dirty="0"/>
          </a:p>
        </p:txBody>
      </p:sp>
      <p:sp>
        <p:nvSpPr>
          <p:cNvPr id="3" name="Text Placeholder 2">
            <a:extLst>
              <a:ext uri="{FF2B5EF4-FFF2-40B4-BE49-F238E27FC236}">
                <a16:creationId xmlns:a16="http://schemas.microsoft.com/office/drawing/2014/main" id="{7C0D2A00-89ED-4F5E-A45D-FD217BF9E46B}"/>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20812643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E2CFA8-C02A-4F3B-8B6E-BA35EC5F9470}"/>
              </a:ext>
            </a:extLst>
          </p:cNvPr>
          <p:cNvSpPr>
            <a:spLocks noGrp="1"/>
          </p:cNvSpPr>
          <p:nvPr>
            <p:ph type="title"/>
          </p:nvPr>
        </p:nvSpPr>
        <p:spPr/>
        <p:txBody>
          <a:bodyPr/>
          <a:lstStyle/>
          <a:p>
            <a:r>
              <a:rPr lang="en-US" dirty="0"/>
              <a:t>Python String</a:t>
            </a:r>
            <a:endParaRPr lang="en-CA" dirty="0"/>
          </a:p>
        </p:txBody>
      </p:sp>
      <p:sp>
        <p:nvSpPr>
          <p:cNvPr id="5" name="Content Placeholder 4">
            <a:extLst>
              <a:ext uri="{FF2B5EF4-FFF2-40B4-BE49-F238E27FC236}">
                <a16:creationId xmlns:a16="http://schemas.microsoft.com/office/drawing/2014/main" id="{6CF6732C-3A12-49BE-AB4F-D7EABC8FD215}"/>
              </a:ext>
            </a:extLst>
          </p:cNvPr>
          <p:cNvSpPr>
            <a:spLocks noGrp="1"/>
          </p:cNvSpPr>
          <p:nvPr>
            <p:ph idx="1"/>
          </p:nvPr>
        </p:nvSpPr>
        <p:spPr/>
        <p:txBody>
          <a:bodyPr>
            <a:normAutofit fontScale="92500" lnSpcReduction="20000"/>
          </a:bodyPr>
          <a:lstStyle/>
          <a:p>
            <a:r>
              <a:rPr lang="en-US" dirty="0"/>
              <a:t>A </a:t>
            </a:r>
            <a:r>
              <a:rPr lang="en-US" sz="3200" b="1" dirty="0"/>
              <a:t>string</a:t>
            </a:r>
            <a:r>
              <a:rPr lang="en-US" dirty="0"/>
              <a:t> is an immutable sequence (or string) of Unicode (UTF-8) codepoints</a:t>
            </a:r>
          </a:p>
          <a:p>
            <a:r>
              <a:rPr lang="en-US" dirty="0"/>
              <a:t>We can bind a string object to a variable</a:t>
            </a:r>
          </a:p>
          <a:p>
            <a:endParaRPr lang="en-US" dirty="0"/>
          </a:p>
          <a:p>
            <a:r>
              <a:rPr lang="en-US" dirty="0"/>
              <a:t>A </a:t>
            </a:r>
            <a:r>
              <a:rPr lang="en-US" sz="3200" b="1" dirty="0"/>
              <a:t>string literal </a:t>
            </a:r>
            <a:r>
              <a:rPr lang="en-US" dirty="0"/>
              <a:t>is the value of a string</a:t>
            </a:r>
          </a:p>
          <a:p>
            <a:r>
              <a:rPr lang="en-US" dirty="0"/>
              <a:t>We create a string literal using double- </a:t>
            </a:r>
            <a:r>
              <a:rPr lang="en-US" b="1" u="sng" dirty="0"/>
              <a:t>or</a:t>
            </a:r>
            <a:r>
              <a:rPr lang="en-US" dirty="0"/>
              <a:t> single-quotes:</a:t>
            </a:r>
          </a:p>
          <a:p>
            <a:r>
              <a:rPr lang="en-CA" dirty="0"/>
              <a:t>May contain letters, numbers, spaces, or symbols like @ or #. </a:t>
            </a:r>
          </a:p>
          <a:p>
            <a:pPr marL="0" indent="0">
              <a:buNone/>
            </a:pPr>
            <a:br>
              <a:rPr lang="en-CA" dirty="0"/>
            </a:br>
            <a:endParaRPr lang="en-US" dirty="0"/>
          </a:p>
          <a:p>
            <a:pPr marL="0" indent="0" algn="ctr">
              <a:buNone/>
            </a:pPr>
            <a:r>
              <a:rPr lang="en-US" dirty="0"/>
              <a:t>“BCIT CST grads are the best”</a:t>
            </a:r>
          </a:p>
          <a:p>
            <a:pPr marL="0" indent="0" algn="ctr">
              <a:buNone/>
            </a:pPr>
            <a:r>
              <a:rPr lang="en-US" dirty="0"/>
              <a:t>‘BCIT CST grads make the most money’</a:t>
            </a:r>
          </a:p>
          <a:p>
            <a:endParaRPr lang="en-CA" dirty="0"/>
          </a:p>
        </p:txBody>
      </p:sp>
    </p:spTree>
    <p:extLst>
      <p:ext uri="{BB962C8B-B14F-4D97-AF65-F5344CB8AC3E}">
        <p14:creationId xmlns:p14="http://schemas.microsoft.com/office/powerpoint/2010/main" val="10804235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8155-FD3A-4932-8C28-1FD02D99BAB0}"/>
              </a:ext>
            </a:extLst>
          </p:cNvPr>
          <p:cNvSpPr>
            <a:spLocks noGrp="1"/>
          </p:cNvSpPr>
          <p:nvPr>
            <p:ph type="title"/>
          </p:nvPr>
        </p:nvSpPr>
        <p:spPr/>
        <p:txBody>
          <a:bodyPr/>
          <a:lstStyle/>
          <a:p>
            <a:r>
              <a:rPr lang="en-US" dirty="0"/>
              <a:t>Python Strings are a Sequence Type </a:t>
            </a:r>
            <a:endParaRPr lang="en-CA" dirty="0"/>
          </a:p>
        </p:txBody>
      </p:sp>
      <p:sp>
        <p:nvSpPr>
          <p:cNvPr id="3" name="Content Placeholder 2">
            <a:extLst>
              <a:ext uri="{FF2B5EF4-FFF2-40B4-BE49-F238E27FC236}">
                <a16:creationId xmlns:a16="http://schemas.microsoft.com/office/drawing/2014/main" id="{94B15BF0-311D-43FF-9421-45103F234FF7}"/>
              </a:ext>
            </a:extLst>
          </p:cNvPr>
          <p:cNvSpPr>
            <a:spLocks noGrp="1"/>
          </p:cNvSpPr>
          <p:nvPr>
            <p:ph idx="1"/>
          </p:nvPr>
        </p:nvSpPr>
        <p:spPr/>
        <p:txBody>
          <a:bodyPr/>
          <a:lstStyle/>
          <a:p>
            <a:r>
              <a:rPr lang="en-US" dirty="0"/>
              <a:t>A string’s letters (characters) are kept in order from first to last</a:t>
            </a:r>
          </a:p>
          <a:p>
            <a:r>
              <a:rPr lang="en-US" dirty="0"/>
              <a:t>A character’s position in a string is called its index</a:t>
            </a:r>
          </a:p>
          <a:p>
            <a:r>
              <a:rPr lang="en-US" dirty="0"/>
              <a:t>The plural of index is indices</a:t>
            </a:r>
          </a:p>
          <a:p>
            <a:r>
              <a:rPr lang="en-US" dirty="0"/>
              <a:t>Indices start at 0</a:t>
            </a:r>
          </a:p>
          <a:p>
            <a:endParaRPr lang="en-US" dirty="0"/>
          </a:p>
          <a:p>
            <a:pPr marL="0" indent="0">
              <a:buNone/>
            </a:pPr>
            <a:endParaRPr lang="en-US" dirty="0"/>
          </a:p>
          <a:p>
            <a:r>
              <a:rPr lang="en-US" dirty="0"/>
              <a:t>An empty Python string has zero elements and is created like this:</a:t>
            </a:r>
          </a:p>
          <a:p>
            <a:pPr marL="0" indent="0">
              <a:buNone/>
            </a:pPr>
            <a:r>
              <a:rPr lang="en-US" dirty="0"/>
              <a:t>	</a:t>
            </a:r>
            <a:r>
              <a:rPr lang="en-US" dirty="0" err="1"/>
              <a:t>my_empty_string</a:t>
            </a:r>
            <a:r>
              <a:rPr lang="en-US" dirty="0"/>
              <a:t> = ‘’</a:t>
            </a:r>
          </a:p>
          <a:p>
            <a:endParaRPr lang="en-CA" dirty="0"/>
          </a:p>
        </p:txBody>
      </p:sp>
      <p:pic>
        <p:nvPicPr>
          <p:cNvPr id="4" name="Picture 3">
            <a:extLst>
              <a:ext uri="{FF2B5EF4-FFF2-40B4-BE49-F238E27FC236}">
                <a16:creationId xmlns:a16="http://schemas.microsoft.com/office/drawing/2014/main" id="{25841B6E-539F-4E90-977B-03811A6E6F80}"/>
              </a:ext>
            </a:extLst>
          </p:cNvPr>
          <p:cNvPicPr>
            <a:picLocks noChangeAspect="1"/>
          </p:cNvPicPr>
          <p:nvPr/>
        </p:nvPicPr>
        <p:blipFill>
          <a:blip r:embed="rId2"/>
          <a:stretch>
            <a:fillRect/>
          </a:stretch>
        </p:blipFill>
        <p:spPr>
          <a:xfrm>
            <a:off x="4746029" y="2902554"/>
            <a:ext cx="5456393" cy="1609483"/>
          </a:xfrm>
          <a:prstGeom prst="rect">
            <a:avLst/>
          </a:prstGeom>
        </p:spPr>
      </p:pic>
    </p:spTree>
    <p:extLst>
      <p:ext uri="{BB962C8B-B14F-4D97-AF65-F5344CB8AC3E}">
        <p14:creationId xmlns:p14="http://schemas.microsoft.com/office/powerpoint/2010/main" val="21977909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9C78F-B5A8-497E-B0F4-E489A30EE121}"/>
              </a:ext>
            </a:extLst>
          </p:cNvPr>
          <p:cNvSpPr>
            <a:spLocks noGrp="1"/>
          </p:cNvSpPr>
          <p:nvPr>
            <p:ph type="title"/>
          </p:nvPr>
        </p:nvSpPr>
        <p:spPr/>
        <p:txBody>
          <a:bodyPr/>
          <a:lstStyle/>
          <a:p>
            <a:r>
              <a:rPr lang="en-US" dirty="0"/>
              <a:t>Unicode</a:t>
            </a:r>
            <a:endParaRPr lang="en-CA" dirty="0"/>
          </a:p>
        </p:txBody>
      </p:sp>
      <p:sp>
        <p:nvSpPr>
          <p:cNvPr id="3" name="Content Placeholder 2">
            <a:extLst>
              <a:ext uri="{FF2B5EF4-FFF2-40B4-BE49-F238E27FC236}">
                <a16:creationId xmlns:a16="http://schemas.microsoft.com/office/drawing/2014/main" id="{0B79810F-2945-4E9D-B6DB-E9EEED4021D1}"/>
              </a:ext>
            </a:extLst>
          </p:cNvPr>
          <p:cNvSpPr>
            <a:spLocks noGrp="1"/>
          </p:cNvSpPr>
          <p:nvPr>
            <p:ph idx="1"/>
          </p:nvPr>
        </p:nvSpPr>
        <p:spPr/>
        <p:txBody>
          <a:bodyPr>
            <a:normAutofit lnSpcReduction="10000"/>
          </a:bodyPr>
          <a:lstStyle/>
          <a:p>
            <a:r>
              <a:rPr lang="en-CA" dirty="0"/>
              <a:t>Python uses Unicode to represent every possible character as a unique integer, known as a </a:t>
            </a:r>
            <a:r>
              <a:rPr lang="en-CA" sz="2800" b="1" dirty="0"/>
              <a:t>code point</a:t>
            </a:r>
            <a:endParaRPr lang="en-CA" dirty="0"/>
          </a:p>
          <a:p>
            <a:r>
              <a:rPr lang="en-CA" dirty="0"/>
              <a:t>For example, the character ‘A' has the code point value of 65</a:t>
            </a:r>
          </a:p>
          <a:p>
            <a:r>
              <a:rPr lang="en-CA" dirty="0"/>
              <a:t>Sometimes converting between a text character and the encoded code point integer is useful. (Easier to process numerical data, especially when analyzing large sets or during encryption).</a:t>
            </a:r>
          </a:p>
          <a:p>
            <a:r>
              <a:rPr lang="en-CA" dirty="0"/>
              <a:t>The built-in function </a:t>
            </a:r>
            <a:r>
              <a:rPr lang="en-CA" b="1" dirty="0" err="1"/>
              <a:t>ord</a:t>
            </a:r>
            <a:r>
              <a:rPr lang="en-CA" b="1" dirty="0"/>
              <a:t>( )</a:t>
            </a:r>
            <a:r>
              <a:rPr lang="en-CA" dirty="0"/>
              <a:t> returns the encoded code point integer for a string of length one (a Unicode character).</a:t>
            </a:r>
          </a:p>
          <a:p>
            <a:pPr lvl="1"/>
            <a:r>
              <a:rPr lang="en-CA" dirty="0" err="1"/>
              <a:t>ord</a:t>
            </a:r>
            <a:r>
              <a:rPr lang="en-CA" dirty="0"/>
              <a:t>(‘A’) return 65</a:t>
            </a:r>
          </a:p>
          <a:p>
            <a:r>
              <a:rPr lang="en-CA" dirty="0"/>
              <a:t>The built-in function </a:t>
            </a:r>
            <a:r>
              <a:rPr lang="en-CA" b="1" dirty="0" err="1"/>
              <a:t>chr</a:t>
            </a:r>
            <a:r>
              <a:rPr lang="en-CA" b="1" dirty="0"/>
              <a:t>( )</a:t>
            </a:r>
            <a:r>
              <a:rPr lang="en-CA" dirty="0"/>
              <a:t> returns the one-character string for a code point passed as an argument.</a:t>
            </a:r>
          </a:p>
          <a:p>
            <a:pPr lvl="1"/>
            <a:r>
              <a:rPr lang="en-CA" dirty="0" err="1"/>
              <a:t>chr</a:t>
            </a:r>
            <a:r>
              <a:rPr lang="en-CA" dirty="0"/>
              <a:t>(65) returns ‘A’</a:t>
            </a:r>
          </a:p>
          <a:p>
            <a:endParaRPr lang="en-US" dirty="0"/>
          </a:p>
        </p:txBody>
      </p:sp>
    </p:spTree>
    <p:extLst>
      <p:ext uri="{BB962C8B-B14F-4D97-AF65-F5344CB8AC3E}">
        <p14:creationId xmlns:p14="http://schemas.microsoft.com/office/powerpoint/2010/main" val="25095038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61E096C0-8F19-4A30-9576-E9A8E5238C5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3737" y="145774"/>
            <a:ext cx="9195968" cy="6111954"/>
          </a:xfrm>
          <a:prstGeom prst="rect">
            <a:avLst/>
          </a:prstGeom>
        </p:spPr>
      </p:pic>
    </p:spTree>
    <p:extLst>
      <p:ext uri="{BB962C8B-B14F-4D97-AF65-F5344CB8AC3E}">
        <p14:creationId xmlns:p14="http://schemas.microsoft.com/office/powerpoint/2010/main" val="28505173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66D3-2C02-49AE-B9A2-CBAFD97C7887}"/>
              </a:ext>
            </a:extLst>
          </p:cNvPr>
          <p:cNvSpPr>
            <a:spLocks noGrp="1"/>
          </p:cNvSpPr>
          <p:nvPr>
            <p:ph type="title"/>
          </p:nvPr>
        </p:nvSpPr>
        <p:spPr/>
        <p:txBody>
          <a:bodyPr/>
          <a:lstStyle/>
          <a:p>
            <a:r>
              <a:rPr lang="en-US" dirty="0"/>
              <a:t>Escape sequences</a:t>
            </a:r>
            <a:endParaRPr lang="en-CA" dirty="0"/>
          </a:p>
        </p:txBody>
      </p:sp>
      <p:sp>
        <p:nvSpPr>
          <p:cNvPr id="3" name="Content Placeholder 2">
            <a:extLst>
              <a:ext uri="{FF2B5EF4-FFF2-40B4-BE49-F238E27FC236}">
                <a16:creationId xmlns:a16="http://schemas.microsoft.com/office/drawing/2014/main" id="{FD88EB39-585C-421F-9348-7B4F9FC94A82}"/>
              </a:ext>
            </a:extLst>
          </p:cNvPr>
          <p:cNvSpPr>
            <a:spLocks noGrp="1"/>
          </p:cNvSpPr>
          <p:nvPr>
            <p:ph idx="1"/>
          </p:nvPr>
        </p:nvSpPr>
        <p:spPr>
          <a:xfrm>
            <a:off x="1097279" y="1845734"/>
            <a:ext cx="3726511" cy="4023360"/>
          </a:xfrm>
        </p:spPr>
        <p:txBody>
          <a:bodyPr>
            <a:normAutofit/>
          </a:bodyPr>
          <a:lstStyle/>
          <a:p>
            <a:r>
              <a:rPr lang="en-US" dirty="0"/>
              <a:t>They’re the </a:t>
            </a:r>
            <a:r>
              <a:rPr lang="en-US" b="1" i="1" dirty="0"/>
              <a:t>same</a:t>
            </a:r>
            <a:r>
              <a:rPr lang="en-US" dirty="0"/>
              <a:t> as everywhere else</a:t>
            </a:r>
            <a:endParaRPr lang="en-US" b="1" dirty="0"/>
          </a:p>
          <a:p>
            <a:r>
              <a:rPr lang="en-US" dirty="0"/>
              <a:t>Another way to print quotation marks is to wrap the string around different quotes as opposed to its content</a:t>
            </a:r>
          </a:p>
          <a:p>
            <a:r>
              <a:rPr lang="en-CA" dirty="0" err="1"/>
              <a:t>Eg</a:t>
            </a:r>
            <a:r>
              <a:rPr lang="en-CA" dirty="0"/>
              <a:t>: print(</a:t>
            </a:r>
            <a:r>
              <a:rPr lang="en-US" dirty="0"/>
              <a:t>“That</a:t>
            </a:r>
            <a:r>
              <a:rPr lang="en-US" sz="3200" b="1" dirty="0"/>
              <a:t>’</a:t>
            </a:r>
            <a:r>
              <a:rPr lang="en-US" dirty="0"/>
              <a:t>s skipping an unnecessary \’ .”)</a:t>
            </a:r>
          </a:p>
          <a:p>
            <a:endParaRPr lang="en-CA" dirty="0"/>
          </a:p>
        </p:txBody>
      </p:sp>
      <p:graphicFrame>
        <p:nvGraphicFramePr>
          <p:cNvPr id="4" name="Table 3">
            <a:extLst>
              <a:ext uri="{FF2B5EF4-FFF2-40B4-BE49-F238E27FC236}">
                <a16:creationId xmlns:a16="http://schemas.microsoft.com/office/drawing/2014/main" id="{5CDAE233-CF24-4584-9792-4CEB49768FCD}"/>
              </a:ext>
            </a:extLst>
          </p:cNvPr>
          <p:cNvGraphicFramePr>
            <a:graphicFrameLocks noGrp="1"/>
          </p:cNvGraphicFramePr>
          <p:nvPr>
            <p:extLst>
              <p:ext uri="{D42A27DB-BD31-4B8C-83A1-F6EECF244321}">
                <p14:modId xmlns:p14="http://schemas.microsoft.com/office/powerpoint/2010/main" val="2295415850"/>
              </p:ext>
            </p:extLst>
          </p:nvPr>
        </p:nvGraphicFramePr>
        <p:xfrm>
          <a:off x="5425030" y="1955731"/>
          <a:ext cx="5524501" cy="4023360"/>
        </p:xfrm>
        <a:graphic>
          <a:graphicData uri="http://schemas.openxmlformats.org/drawingml/2006/table">
            <a:tbl>
              <a:tblPr firstRow="1" bandRow="1">
                <a:tableStyleId>{7E9639D4-E3E2-4D34-9284-5A2195B3D0D7}</a:tableStyleId>
              </a:tblPr>
              <a:tblGrid>
                <a:gridCol w="2452914">
                  <a:extLst>
                    <a:ext uri="{9D8B030D-6E8A-4147-A177-3AD203B41FA5}">
                      <a16:colId xmlns:a16="http://schemas.microsoft.com/office/drawing/2014/main" val="1516493247"/>
                    </a:ext>
                  </a:extLst>
                </a:gridCol>
                <a:gridCol w="3071587">
                  <a:extLst>
                    <a:ext uri="{9D8B030D-6E8A-4147-A177-3AD203B41FA5}">
                      <a16:colId xmlns:a16="http://schemas.microsoft.com/office/drawing/2014/main" val="1044683919"/>
                    </a:ext>
                  </a:extLst>
                </a:gridCol>
              </a:tblGrid>
              <a:tr h="370840">
                <a:tc>
                  <a:txBody>
                    <a:bodyPr/>
                    <a:lstStyle/>
                    <a:p>
                      <a:pPr algn="ctr"/>
                      <a:r>
                        <a:rPr lang="en-US" sz="2400" dirty="0">
                          <a:solidFill>
                            <a:schemeClr val="bg1"/>
                          </a:solidFill>
                        </a:rPr>
                        <a:t>Escape Sequence</a:t>
                      </a:r>
                      <a:endParaRPr lang="en-US" sz="2400" dirty="0">
                        <a:solidFill>
                          <a:schemeClr val="bg1"/>
                        </a:solidFill>
                        <a:latin typeface="Rockwell" panose="02060603020205020403" pitchFamily="18" charset="77"/>
                      </a:endParaRPr>
                    </a:p>
                  </a:txBody>
                  <a:tcPr/>
                </a:tc>
                <a:tc>
                  <a:txBody>
                    <a:bodyPr/>
                    <a:lstStyle/>
                    <a:p>
                      <a:pPr algn="ctr"/>
                      <a:r>
                        <a:rPr lang="en-US" sz="2400" dirty="0">
                          <a:solidFill>
                            <a:schemeClr val="bg1"/>
                          </a:solidFill>
                        </a:rPr>
                        <a:t>Meaning</a:t>
                      </a:r>
                      <a:endParaRPr lang="en-US" sz="2400" dirty="0">
                        <a:solidFill>
                          <a:schemeClr val="bg1"/>
                        </a:solidFill>
                        <a:latin typeface="Rockwell" panose="02060603020205020403" pitchFamily="18" charset="77"/>
                      </a:endParaRPr>
                    </a:p>
                  </a:txBody>
                  <a:tcPr anchor="ctr"/>
                </a:tc>
                <a:extLst>
                  <a:ext uri="{0D108BD9-81ED-4DB2-BD59-A6C34878D82A}">
                    <a16:rowId xmlns:a16="http://schemas.microsoft.com/office/drawing/2014/main" val="1358537201"/>
                  </a:ext>
                </a:extLst>
              </a:tr>
              <a:tr h="370840">
                <a:tc>
                  <a:txBody>
                    <a:bodyPr/>
                    <a:lstStyle/>
                    <a:p>
                      <a:pPr algn="ctr"/>
                      <a:r>
                        <a:rPr lang="en-US" sz="2400" dirty="0">
                          <a:solidFill>
                            <a:schemeClr val="tx1"/>
                          </a:solidFill>
                        </a:rPr>
                        <a:t>\’</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Single quote (‘)</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334364041"/>
                  </a:ext>
                </a:extLst>
              </a:tr>
              <a:tr h="370840">
                <a:tc>
                  <a:txBody>
                    <a:bodyPr/>
                    <a:lstStyle/>
                    <a:p>
                      <a:pPr algn="ctr"/>
                      <a:r>
                        <a:rPr lang="en-US" sz="2400" dirty="0">
                          <a:solidFill>
                            <a:schemeClr val="tx1"/>
                          </a:solidFill>
                        </a:rPr>
                        <a:t>\”</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Double quote (“)</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3018845964"/>
                  </a:ext>
                </a:extLst>
              </a:tr>
              <a:tr h="370840">
                <a:tc>
                  <a:txBody>
                    <a:bodyPr/>
                    <a:lstStyle/>
                    <a:p>
                      <a:pPr algn="ctr"/>
                      <a:r>
                        <a:rPr lang="en-US" sz="2400" dirty="0">
                          <a:solidFill>
                            <a:schemeClr val="tx1"/>
                          </a:solidFill>
                        </a:rPr>
                        <a:t>\t</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Horizontal tab</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646845198"/>
                  </a:ext>
                </a:extLst>
              </a:tr>
              <a:tr h="370840">
                <a:tc>
                  <a:txBody>
                    <a:bodyPr/>
                    <a:lstStyle/>
                    <a:p>
                      <a:pPr algn="ctr"/>
                      <a:r>
                        <a:rPr lang="en-US" sz="2400" dirty="0">
                          <a:solidFill>
                            <a:schemeClr val="tx1"/>
                          </a:solidFill>
                        </a:rPr>
                        <a:t>\a</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Bell (please don’t do this)</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826049034"/>
                  </a:ext>
                </a:extLst>
              </a:tr>
              <a:tr h="370840">
                <a:tc>
                  <a:txBody>
                    <a:bodyPr/>
                    <a:lstStyle/>
                    <a:p>
                      <a:pPr algn="ctr"/>
                      <a:r>
                        <a:rPr lang="en-US" sz="2400" dirty="0">
                          <a:solidFill>
                            <a:schemeClr val="tx1"/>
                          </a:solidFill>
                        </a:rPr>
                        <a:t>\b</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Backspace</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427799303"/>
                  </a:ext>
                </a:extLst>
              </a:tr>
              <a:tr h="370840">
                <a:tc>
                  <a:txBody>
                    <a:bodyPr/>
                    <a:lstStyle/>
                    <a:p>
                      <a:pPr algn="ctr"/>
                      <a:r>
                        <a:rPr lang="en-US" sz="2400" dirty="0">
                          <a:solidFill>
                            <a:schemeClr val="tx1"/>
                          </a:solidFill>
                        </a:rPr>
                        <a:t>\r</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Carriage return</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1813804883"/>
                  </a:ext>
                </a:extLst>
              </a:tr>
              <a:tr h="370840">
                <a:tc>
                  <a:txBody>
                    <a:bodyPr/>
                    <a:lstStyle/>
                    <a:p>
                      <a:pPr algn="ctr"/>
                      <a:r>
                        <a:rPr lang="en-US" sz="2400" dirty="0">
                          <a:solidFill>
                            <a:schemeClr val="tx1"/>
                          </a:solidFill>
                        </a:rPr>
                        <a:t>\n</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New line (line feed)</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3049989771"/>
                  </a:ext>
                </a:extLst>
              </a:tr>
            </a:tbl>
          </a:graphicData>
        </a:graphic>
      </p:graphicFrame>
      <p:sp>
        <p:nvSpPr>
          <p:cNvPr id="5" name="Rectangle 1">
            <a:extLst>
              <a:ext uri="{FF2B5EF4-FFF2-40B4-BE49-F238E27FC236}">
                <a16:creationId xmlns:a16="http://schemas.microsoft.com/office/drawing/2014/main" id="{9F670936-EC36-4B0B-91F1-F7A6F7295A4B}"/>
              </a:ext>
            </a:extLst>
          </p:cNvPr>
          <p:cNvSpPr>
            <a:spLocks noChangeArrowheads="1"/>
          </p:cNvSpPr>
          <p:nvPr/>
        </p:nvSpPr>
        <p:spPr bwMode="auto">
          <a:xfrm>
            <a:off x="1097279" y="4784428"/>
            <a:ext cx="2837723" cy="707886"/>
          </a:xfrm>
          <a:prstGeom prst="rect">
            <a:avLst/>
          </a:prstGeom>
          <a:solidFill>
            <a:schemeClr val="tx1">
              <a:alpha val="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88C6"/>
                </a:solidFill>
                <a:effectLst/>
                <a:latin typeface="Consolas" panose="020B0609020204030204" pitchFamily="49" charset="0"/>
              </a:rPr>
              <a:t>print</a:t>
            </a:r>
            <a:r>
              <a:rPr kumimoji="0" lang="en-US" altLang="en-US" sz="2000" b="0" i="0" u="none" strike="noStrike" cap="none" normalizeH="0" baseline="0" dirty="0">
                <a:ln>
                  <a:noFill/>
                </a:ln>
                <a:solidFill>
                  <a:srgbClr val="A9B7C6"/>
                </a:solidFill>
                <a:effectLst/>
                <a:latin typeface="Consolas" panose="020B0609020204030204" pitchFamily="49" charset="0"/>
              </a:rPr>
              <a:t>(</a:t>
            </a:r>
            <a:r>
              <a:rPr kumimoji="0" lang="en-US" altLang="en-US" sz="2000" b="0" i="0" u="none" strike="noStrike" cap="none" normalizeH="0" baseline="0" dirty="0">
                <a:ln>
                  <a:noFill/>
                </a:ln>
                <a:solidFill>
                  <a:srgbClr val="6A8759"/>
                </a:solidFill>
                <a:effectLst/>
                <a:latin typeface="Consolas" panose="020B0609020204030204" pitchFamily="49" charset="0"/>
              </a:rPr>
              <a:t>"hello'"</a:t>
            </a:r>
            <a:r>
              <a:rPr kumimoji="0" lang="en-US" altLang="en-US" sz="2000" b="0" i="0" u="none" strike="noStrike" cap="none" normalizeH="0" baseline="0" dirty="0">
                <a:ln>
                  <a:noFill/>
                </a:ln>
                <a:solidFill>
                  <a:srgbClr val="A9B7C6"/>
                </a:solidFill>
                <a:effectLst/>
                <a:latin typeface="Consolas" panose="020B0609020204030204" pitchFamily="49" charset="0"/>
              </a:rPr>
              <a:t>)</a:t>
            </a:r>
            <a:br>
              <a:rPr kumimoji="0" lang="en-US" altLang="en-US" sz="2000" b="0" i="0" u="none" strike="noStrike" cap="none" normalizeH="0" baseline="0" dirty="0">
                <a:ln>
                  <a:noFill/>
                </a:ln>
                <a:solidFill>
                  <a:srgbClr val="A9B7C6"/>
                </a:solidFill>
                <a:effectLst/>
                <a:latin typeface="Consolas" panose="020B0609020204030204" pitchFamily="49" charset="0"/>
              </a:rPr>
            </a:br>
            <a:r>
              <a:rPr kumimoji="0" lang="en-US" altLang="en-US" sz="2000" b="0" i="0" u="none" strike="noStrike" cap="none" normalizeH="0" baseline="0" dirty="0">
                <a:ln>
                  <a:noFill/>
                </a:ln>
                <a:solidFill>
                  <a:srgbClr val="8888C6"/>
                </a:solidFill>
                <a:effectLst/>
                <a:latin typeface="Consolas" panose="020B0609020204030204" pitchFamily="49" charset="0"/>
              </a:rPr>
              <a:t>print</a:t>
            </a:r>
            <a:r>
              <a:rPr kumimoji="0" lang="en-US" altLang="en-US" sz="2000" b="0" i="0" u="none" strike="noStrike" cap="none" normalizeH="0" baseline="0" dirty="0">
                <a:ln>
                  <a:noFill/>
                </a:ln>
                <a:solidFill>
                  <a:srgbClr val="A9B7C6"/>
                </a:solidFill>
                <a:effectLst/>
                <a:latin typeface="Consolas" panose="020B0609020204030204" pitchFamily="49" charset="0"/>
              </a:rPr>
              <a:t>(</a:t>
            </a:r>
            <a:r>
              <a:rPr kumimoji="0" lang="en-US" altLang="en-US" sz="2000" b="0" i="0" u="none" strike="noStrike" cap="none" normalizeH="0" baseline="0" dirty="0">
                <a:ln>
                  <a:noFill/>
                </a:ln>
                <a:solidFill>
                  <a:srgbClr val="6A8759"/>
                </a:solidFill>
                <a:effectLst/>
                <a:latin typeface="Consolas" panose="020B0609020204030204" pitchFamily="49" charset="0"/>
              </a:rPr>
              <a:t>'hello"'</a:t>
            </a:r>
            <a:r>
              <a:rPr kumimoji="0" lang="en-US" altLang="en-US" sz="2000" b="0" i="0" u="none" strike="noStrike" cap="none" normalizeH="0" baseline="0" dirty="0">
                <a:ln>
                  <a:noFill/>
                </a:ln>
                <a:solidFill>
                  <a:srgbClr val="A9B7C6"/>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60982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B663C-FA86-4E9F-BB30-246522F15076}"/>
              </a:ext>
            </a:extLst>
          </p:cNvPr>
          <p:cNvSpPr>
            <a:spLocks noGrp="1"/>
          </p:cNvSpPr>
          <p:nvPr>
            <p:ph type="title"/>
          </p:nvPr>
        </p:nvSpPr>
        <p:spPr/>
        <p:txBody>
          <a:bodyPr/>
          <a:lstStyle/>
          <a:p>
            <a:r>
              <a:rPr lang="en-US" dirty="0"/>
              <a:t>Raw Strings</a:t>
            </a:r>
            <a:endParaRPr lang="en-CA" dirty="0"/>
          </a:p>
        </p:txBody>
      </p:sp>
      <p:sp>
        <p:nvSpPr>
          <p:cNvPr id="4" name="Content Placeholder 2">
            <a:extLst>
              <a:ext uri="{FF2B5EF4-FFF2-40B4-BE49-F238E27FC236}">
                <a16:creationId xmlns:a16="http://schemas.microsoft.com/office/drawing/2014/main" id="{312B9E41-7647-48AB-9829-3E542ADD973E}"/>
              </a:ext>
            </a:extLst>
          </p:cNvPr>
          <p:cNvSpPr>
            <a:spLocks noGrp="1"/>
          </p:cNvSpPr>
          <p:nvPr>
            <p:ph idx="1"/>
          </p:nvPr>
        </p:nvSpPr>
        <p:spPr>
          <a:xfrm>
            <a:off x="1096963" y="1846263"/>
            <a:ext cx="10058400" cy="4022725"/>
          </a:xfrm>
        </p:spPr>
        <p:txBody>
          <a:bodyPr>
            <a:normAutofit/>
          </a:bodyPr>
          <a:lstStyle/>
          <a:p>
            <a:r>
              <a:rPr lang="en-US" dirty="0"/>
              <a:t>If we do not want to use escape characters we can create a raw string</a:t>
            </a:r>
          </a:p>
          <a:p>
            <a:r>
              <a:rPr lang="en-US" dirty="0"/>
              <a:t>A raw string is prefixed by the letter </a:t>
            </a:r>
            <a:r>
              <a:rPr lang="en-US" b="1" dirty="0"/>
              <a:t>r</a:t>
            </a:r>
            <a:r>
              <a:rPr lang="en-US" dirty="0"/>
              <a:t> or </a:t>
            </a:r>
            <a:r>
              <a:rPr lang="en-US" b="1" dirty="0"/>
              <a:t>R</a:t>
            </a:r>
          </a:p>
          <a:p>
            <a:r>
              <a:rPr lang="en-US" dirty="0"/>
              <a:t>Python raw strings treat the backslash as a literal character</a:t>
            </a:r>
          </a:p>
          <a:p>
            <a:r>
              <a:rPr lang="en-US" dirty="0"/>
              <a:t>This is useful if we have a string that contains backslashes that should be interpreted as backslashes</a:t>
            </a:r>
          </a:p>
          <a:p>
            <a:r>
              <a:rPr lang="en-US" dirty="0"/>
              <a:t>Compare:</a:t>
            </a:r>
          </a:p>
          <a:p>
            <a:pPr lvl="1"/>
            <a:r>
              <a:rPr lang="en-US" dirty="0">
                <a:latin typeface="Consolas" panose="020B0609020204030204" pitchFamily="49" charset="0"/>
              </a:rPr>
              <a:t>print(“Hello\</a:t>
            </a:r>
            <a:r>
              <a:rPr lang="en-US" dirty="0" err="1">
                <a:latin typeface="Consolas" panose="020B0609020204030204" pitchFamily="49" charset="0"/>
              </a:rPr>
              <a:t>nworld</a:t>
            </a:r>
            <a:r>
              <a:rPr lang="en-US" dirty="0">
                <a:latin typeface="Consolas" panose="020B0609020204030204" pitchFamily="49" charset="0"/>
              </a:rPr>
              <a:t>”)</a:t>
            </a:r>
          </a:p>
          <a:p>
            <a:pPr marL="384048" lvl="2" indent="0">
              <a:buNone/>
            </a:pPr>
            <a:r>
              <a:rPr lang="en-US" dirty="0">
                <a:latin typeface="Consolas" panose="020B0609020204030204" pitchFamily="49" charset="0"/>
              </a:rPr>
              <a:t>	Hello</a:t>
            </a:r>
          </a:p>
          <a:p>
            <a:pPr marL="384048" lvl="2" indent="0">
              <a:buNone/>
            </a:pPr>
            <a:r>
              <a:rPr lang="en-US" dirty="0">
                <a:latin typeface="Consolas" panose="020B0609020204030204" pitchFamily="49" charset="0"/>
              </a:rPr>
              <a:t>	World</a:t>
            </a:r>
          </a:p>
          <a:p>
            <a:pPr lvl="1"/>
            <a:r>
              <a:rPr lang="en-US" dirty="0">
                <a:latin typeface="Consolas" panose="020B0609020204030204" pitchFamily="49" charset="0"/>
              </a:rPr>
              <a:t>print(</a:t>
            </a:r>
            <a:r>
              <a:rPr lang="en-US" dirty="0" err="1">
                <a:latin typeface="Consolas" panose="020B0609020204030204" pitchFamily="49" charset="0"/>
              </a:rPr>
              <a:t>r“Hello</a:t>
            </a:r>
            <a:r>
              <a:rPr lang="en-US" dirty="0">
                <a:latin typeface="Consolas" panose="020B0609020204030204" pitchFamily="49" charset="0"/>
              </a:rPr>
              <a:t>\</a:t>
            </a:r>
            <a:r>
              <a:rPr lang="en-US" dirty="0" err="1">
                <a:latin typeface="Consolas" panose="020B0609020204030204" pitchFamily="49" charset="0"/>
              </a:rPr>
              <a:t>nworld</a:t>
            </a:r>
            <a:r>
              <a:rPr lang="en-US" dirty="0">
                <a:latin typeface="Consolas" panose="020B0609020204030204" pitchFamily="49" charset="0"/>
              </a:rPr>
              <a:t>”)</a:t>
            </a:r>
          </a:p>
          <a:p>
            <a:pPr marL="384048" lvl="2" indent="0">
              <a:buNone/>
            </a:pPr>
            <a:r>
              <a:rPr lang="en-US" dirty="0">
                <a:latin typeface="Consolas" panose="020B0609020204030204" pitchFamily="49" charset="0"/>
              </a:rPr>
              <a:t>	Hello\</a:t>
            </a:r>
            <a:r>
              <a:rPr lang="en-US" dirty="0" err="1">
                <a:latin typeface="Consolas" panose="020B0609020204030204" pitchFamily="49" charset="0"/>
              </a:rPr>
              <a:t>nworld</a:t>
            </a:r>
            <a:endParaRPr lang="en-US" dirty="0">
              <a:latin typeface="Consolas" panose="020B0609020204030204" pitchFamily="49" charset="0"/>
            </a:endParaRPr>
          </a:p>
        </p:txBody>
      </p:sp>
    </p:spTree>
    <p:extLst>
      <p:ext uri="{BB962C8B-B14F-4D97-AF65-F5344CB8AC3E}">
        <p14:creationId xmlns:p14="http://schemas.microsoft.com/office/powerpoint/2010/main" val="17932968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D271-4E89-41C4-AFBE-9BFADB77653C}"/>
              </a:ext>
            </a:extLst>
          </p:cNvPr>
          <p:cNvSpPr>
            <a:spLocks noGrp="1"/>
          </p:cNvSpPr>
          <p:nvPr>
            <p:ph type="title"/>
          </p:nvPr>
        </p:nvSpPr>
        <p:spPr/>
        <p:txBody>
          <a:bodyPr/>
          <a:lstStyle/>
          <a:p>
            <a:r>
              <a:rPr lang="en-US" dirty="0"/>
              <a:t>Some Common String Methods, Functions and Features</a:t>
            </a:r>
            <a:endParaRPr lang="en-CA" dirty="0"/>
          </a:p>
        </p:txBody>
      </p:sp>
      <p:sp>
        <p:nvSpPr>
          <p:cNvPr id="3" name="Content Placeholder 2">
            <a:extLst>
              <a:ext uri="{FF2B5EF4-FFF2-40B4-BE49-F238E27FC236}">
                <a16:creationId xmlns:a16="http://schemas.microsoft.com/office/drawing/2014/main" id="{48B41D36-F6BE-4344-93B3-418BC1DCB32A}"/>
              </a:ext>
            </a:extLst>
          </p:cNvPr>
          <p:cNvSpPr>
            <a:spLocks noGrp="1"/>
          </p:cNvSpPr>
          <p:nvPr>
            <p:ph idx="1"/>
          </p:nvPr>
        </p:nvSpPr>
        <p:spPr>
          <a:xfrm>
            <a:off x="1097279" y="1845734"/>
            <a:ext cx="4485939" cy="4023360"/>
          </a:xfrm>
        </p:spPr>
        <p:txBody>
          <a:bodyPr>
            <a:normAutofit fontScale="85000" lnSpcReduction="20000"/>
          </a:bodyPr>
          <a:lstStyle/>
          <a:p>
            <a:r>
              <a:rPr lang="en-US" dirty="0"/>
              <a:t>Try them out now in a python console</a:t>
            </a:r>
          </a:p>
          <a:p>
            <a:pPr>
              <a:buFont typeface="Wingdings" panose="05000000000000000000" pitchFamily="2" charset="2"/>
              <a:buChar char="§"/>
            </a:pPr>
            <a:r>
              <a:rPr lang="en-CA" dirty="0">
                <a:latin typeface="Courier"/>
              </a:rPr>
              <a:t> “</a:t>
            </a:r>
            <a:r>
              <a:rPr lang="en-CA" dirty="0" err="1">
                <a:latin typeface="Courier"/>
              </a:rPr>
              <a:t>string”.title</a:t>
            </a:r>
            <a:r>
              <a:rPr lang="en-CA" dirty="0">
                <a:latin typeface="Courier"/>
              </a:rPr>
              <a:t>()</a:t>
            </a:r>
          </a:p>
          <a:p>
            <a:pPr>
              <a:buFont typeface="Wingdings" panose="05000000000000000000" pitchFamily="2" charset="2"/>
              <a:buChar char="§"/>
            </a:pPr>
            <a:r>
              <a:rPr lang="en-CA" dirty="0">
                <a:latin typeface="Courier"/>
              </a:rPr>
              <a:t> </a:t>
            </a:r>
            <a:r>
              <a:rPr lang="en-CA" dirty="0" err="1">
                <a:latin typeface="Courier"/>
              </a:rPr>
              <a:t>my_string</a:t>
            </a:r>
            <a:r>
              <a:rPr lang="en-CA" dirty="0">
                <a:latin typeface="Courier"/>
              </a:rPr>
              <a:t> = “Comp 3522”</a:t>
            </a:r>
          </a:p>
          <a:p>
            <a:pPr>
              <a:buFont typeface="Wingdings" panose="05000000000000000000" pitchFamily="2" charset="2"/>
              <a:buChar char="§"/>
            </a:pPr>
            <a:r>
              <a:rPr lang="en-CA" dirty="0">
                <a:latin typeface="Courier"/>
              </a:rPr>
              <a:t> </a:t>
            </a:r>
            <a:r>
              <a:rPr lang="en-CA" dirty="0" err="1">
                <a:latin typeface="Courier"/>
              </a:rPr>
              <a:t>my_string.upper</a:t>
            </a:r>
            <a:r>
              <a:rPr lang="en-CA" dirty="0">
                <a:latin typeface="Courier"/>
              </a:rPr>
              <a:t>()</a:t>
            </a:r>
          </a:p>
          <a:p>
            <a:pPr>
              <a:buFont typeface="Wingdings" panose="05000000000000000000" pitchFamily="2" charset="2"/>
              <a:buChar char="§"/>
            </a:pPr>
            <a:r>
              <a:rPr lang="en-CA" dirty="0">
                <a:latin typeface="Courier"/>
              </a:rPr>
              <a:t> </a:t>
            </a:r>
            <a:r>
              <a:rPr lang="en-CA" dirty="0" err="1">
                <a:latin typeface="Courier"/>
              </a:rPr>
              <a:t>my_string.lower</a:t>
            </a:r>
            <a:r>
              <a:rPr lang="en-CA" dirty="0">
                <a:latin typeface="Courier"/>
              </a:rPr>
              <a:t>()</a:t>
            </a:r>
          </a:p>
          <a:p>
            <a:pPr>
              <a:buFont typeface="Wingdings" panose="05000000000000000000" pitchFamily="2" charset="2"/>
              <a:buChar char="§"/>
            </a:pPr>
            <a:r>
              <a:rPr lang="en-CA" dirty="0">
                <a:latin typeface="Courier"/>
              </a:rPr>
              <a:t> </a:t>
            </a:r>
            <a:r>
              <a:rPr lang="en-CA" dirty="0" err="1">
                <a:latin typeface="Courier"/>
              </a:rPr>
              <a:t>len</a:t>
            </a:r>
            <a:r>
              <a:rPr lang="en-CA" dirty="0">
                <a:latin typeface="Courier"/>
              </a:rPr>
              <a:t>(</a:t>
            </a:r>
            <a:r>
              <a:rPr lang="en-CA" dirty="0" err="1">
                <a:latin typeface="Courier"/>
              </a:rPr>
              <a:t>my_string</a:t>
            </a:r>
            <a:r>
              <a:rPr lang="en-CA" dirty="0">
                <a:latin typeface="Courier"/>
              </a:rPr>
              <a:t>)</a:t>
            </a:r>
          </a:p>
          <a:p>
            <a:pPr>
              <a:buFont typeface="Wingdings" panose="05000000000000000000" pitchFamily="2" charset="2"/>
              <a:buChar char="§"/>
            </a:pPr>
            <a:r>
              <a:rPr lang="en-CA" dirty="0">
                <a:latin typeface="Courier"/>
              </a:rPr>
              <a:t> </a:t>
            </a:r>
            <a:r>
              <a:rPr lang="en-CA" dirty="0" err="1">
                <a:latin typeface="Courier"/>
              </a:rPr>
              <a:t>my_string</a:t>
            </a:r>
            <a:r>
              <a:rPr lang="en-CA" dirty="0">
                <a:latin typeface="Courier"/>
              </a:rPr>
              <a:t>[3]</a:t>
            </a:r>
          </a:p>
          <a:p>
            <a:pPr>
              <a:buFont typeface="Wingdings" panose="05000000000000000000" pitchFamily="2" charset="2"/>
              <a:buChar char="§"/>
            </a:pPr>
            <a:r>
              <a:rPr lang="en-CA" dirty="0">
                <a:latin typeface="Courier"/>
              </a:rPr>
              <a:t> </a:t>
            </a:r>
            <a:r>
              <a:rPr lang="en-CA" dirty="0" err="1">
                <a:latin typeface="Courier"/>
              </a:rPr>
              <a:t>my_string</a:t>
            </a:r>
            <a:r>
              <a:rPr lang="en-CA" dirty="0">
                <a:latin typeface="Courier"/>
              </a:rPr>
              <a:t>[0]</a:t>
            </a:r>
          </a:p>
          <a:p>
            <a:pPr>
              <a:buFont typeface="Wingdings" panose="05000000000000000000" pitchFamily="2" charset="2"/>
              <a:buChar char="§"/>
            </a:pPr>
            <a:r>
              <a:rPr lang="en-CA" dirty="0">
                <a:latin typeface="Courier"/>
              </a:rPr>
              <a:t> </a:t>
            </a:r>
            <a:r>
              <a:rPr lang="en-CA" dirty="0" err="1">
                <a:latin typeface="Courier"/>
              </a:rPr>
              <a:t>my_string</a:t>
            </a:r>
            <a:r>
              <a:rPr lang="en-CA" dirty="0">
                <a:latin typeface="Courier"/>
              </a:rPr>
              <a:t>[-</a:t>
            </a:r>
            <a:r>
              <a:rPr lang="en-CA">
                <a:latin typeface="Courier"/>
              </a:rPr>
              <a:t>2]</a:t>
            </a:r>
          </a:p>
          <a:p>
            <a:pPr>
              <a:buFont typeface="Wingdings" panose="05000000000000000000" pitchFamily="2" charset="2"/>
              <a:buChar char="§"/>
            </a:pPr>
            <a:r>
              <a:rPr lang="en-CA">
                <a:latin typeface="Courier"/>
              </a:rPr>
              <a:t> my_string.find(“2”)</a:t>
            </a:r>
          </a:p>
          <a:p>
            <a:pPr>
              <a:buFont typeface="Wingdings" panose="05000000000000000000" pitchFamily="2" charset="2"/>
              <a:buChar char="§"/>
            </a:pPr>
            <a:r>
              <a:rPr lang="en-US">
                <a:latin typeface="Courier"/>
              </a:rPr>
              <a:t> my_string.split(“ “, 0)</a:t>
            </a:r>
            <a:endParaRPr lang="en-US" dirty="0">
              <a:latin typeface="Courier"/>
            </a:endParaRPr>
          </a:p>
        </p:txBody>
      </p:sp>
      <p:sp>
        <p:nvSpPr>
          <p:cNvPr id="5" name="Rectangle 4">
            <a:extLst>
              <a:ext uri="{FF2B5EF4-FFF2-40B4-BE49-F238E27FC236}">
                <a16:creationId xmlns:a16="http://schemas.microsoft.com/office/drawing/2014/main" id="{901A2866-56E7-4380-88FB-D571144BA694}"/>
              </a:ext>
            </a:extLst>
          </p:cNvPr>
          <p:cNvSpPr/>
          <p:nvPr/>
        </p:nvSpPr>
        <p:spPr>
          <a:xfrm>
            <a:off x="4998720" y="2551837"/>
            <a:ext cx="6096000" cy="1754326"/>
          </a:xfrm>
          <a:prstGeom prst="rect">
            <a:avLst/>
          </a:prstGeom>
        </p:spPr>
        <p:txBody>
          <a:bodyPr>
            <a:spAutoFit/>
          </a:bodyPr>
          <a:lstStyle/>
          <a:p>
            <a:r>
              <a:rPr lang="en-US" sz="3600" b="1" dirty="0"/>
              <a:t>Question: if we invoke these methods, does the original string change?</a:t>
            </a:r>
          </a:p>
        </p:txBody>
      </p:sp>
    </p:spTree>
    <p:extLst>
      <p:ext uri="{BB962C8B-B14F-4D97-AF65-F5344CB8AC3E}">
        <p14:creationId xmlns:p14="http://schemas.microsoft.com/office/powerpoint/2010/main" val="7048523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D271-4E89-41C4-AFBE-9BFADB77653C}"/>
              </a:ext>
            </a:extLst>
          </p:cNvPr>
          <p:cNvSpPr>
            <a:spLocks noGrp="1"/>
          </p:cNvSpPr>
          <p:nvPr>
            <p:ph type="title"/>
          </p:nvPr>
        </p:nvSpPr>
        <p:spPr/>
        <p:txBody>
          <a:bodyPr/>
          <a:lstStyle/>
          <a:p>
            <a:r>
              <a:rPr lang="en-US" dirty="0"/>
              <a:t>Some Common String Methods, Functions and Features</a:t>
            </a:r>
            <a:endParaRPr lang="en-CA" dirty="0"/>
          </a:p>
        </p:txBody>
      </p:sp>
      <p:sp>
        <p:nvSpPr>
          <p:cNvPr id="5" name="Rectangle 4">
            <a:extLst>
              <a:ext uri="{FF2B5EF4-FFF2-40B4-BE49-F238E27FC236}">
                <a16:creationId xmlns:a16="http://schemas.microsoft.com/office/drawing/2014/main" id="{901A2866-56E7-4380-88FB-D571144BA694}"/>
              </a:ext>
            </a:extLst>
          </p:cNvPr>
          <p:cNvSpPr/>
          <p:nvPr/>
        </p:nvSpPr>
        <p:spPr>
          <a:xfrm>
            <a:off x="2785608" y="2426253"/>
            <a:ext cx="6096000" cy="2862322"/>
          </a:xfrm>
          <a:prstGeom prst="rect">
            <a:avLst/>
          </a:prstGeom>
        </p:spPr>
        <p:txBody>
          <a:bodyPr>
            <a:spAutoFit/>
          </a:bodyPr>
          <a:lstStyle/>
          <a:p>
            <a:pPr algn="ctr"/>
            <a:r>
              <a:rPr lang="en-US" sz="3600" b="1" dirty="0"/>
              <a:t>Question: if we invoke these methods, does the original string change?</a:t>
            </a:r>
          </a:p>
          <a:p>
            <a:pPr algn="ctr"/>
            <a:endParaRPr lang="en-US" sz="3600" b="1" dirty="0"/>
          </a:p>
          <a:p>
            <a:pPr algn="ctr"/>
            <a:r>
              <a:rPr lang="en-US" sz="3600" b="1" dirty="0"/>
              <a:t>NO!</a:t>
            </a:r>
          </a:p>
        </p:txBody>
      </p:sp>
    </p:spTree>
    <p:extLst>
      <p:ext uri="{BB962C8B-B14F-4D97-AF65-F5344CB8AC3E}">
        <p14:creationId xmlns:p14="http://schemas.microsoft.com/office/powerpoint/2010/main" val="35883450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EE947-697F-46B0-BF8F-3EA40F97B937}"/>
              </a:ext>
            </a:extLst>
          </p:cNvPr>
          <p:cNvSpPr>
            <a:spLocks noGrp="1"/>
          </p:cNvSpPr>
          <p:nvPr>
            <p:ph type="title"/>
          </p:nvPr>
        </p:nvSpPr>
        <p:spPr/>
        <p:txBody>
          <a:bodyPr/>
          <a:lstStyle/>
          <a:p>
            <a:r>
              <a:rPr lang="en-US" dirty="0"/>
              <a:t>Some Common String Methods, Functions and Features</a:t>
            </a:r>
            <a:endParaRPr lang="en-CA" dirty="0"/>
          </a:p>
        </p:txBody>
      </p:sp>
      <p:sp>
        <p:nvSpPr>
          <p:cNvPr id="3" name="Content Placeholder 2">
            <a:extLst>
              <a:ext uri="{FF2B5EF4-FFF2-40B4-BE49-F238E27FC236}">
                <a16:creationId xmlns:a16="http://schemas.microsoft.com/office/drawing/2014/main" id="{41609B58-9C13-4357-9E3A-74C4FE80D30B}"/>
              </a:ext>
            </a:extLst>
          </p:cNvPr>
          <p:cNvSpPr>
            <a:spLocks noGrp="1"/>
          </p:cNvSpPr>
          <p:nvPr>
            <p:ph idx="1"/>
          </p:nvPr>
        </p:nvSpPr>
        <p:spPr/>
        <p:txBody>
          <a:bodyPr>
            <a:normAutofit/>
          </a:bodyPr>
          <a:lstStyle/>
          <a:p>
            <a:pPr marL="514350" indent="-514350">
              <a:buFont typeface="+mj-lt"/>
              <a:buAutoNum type="arabicPeriod"/>
            </a:pPr>
            <a:r>
              <a:rPr lang="en-US" dirty="0"/>
              <a:t>capitalize</a:t>
            </a:r>
          </a:p>
          <a:p>
            <a:pPr marL="514350" indent="-514350">
              <a:buFont typeface="+mj-lt"/>
              <a:buAutoNum type="arabicPeriod"/>
            </a:pPr>
            <a:r>
              <a:rPr lang="en-US" dirty="0"/>
              <a:t>replace</a:t>
            </a:r>
          </a:p>
          <a:p>
            <a:pPr marL="514350" indent="-514350">
              <a:buFont typeface="+mj-lt"/>
              <a:buAutoNum type="arabicPeriod"/>
            </a:pPr>
            <a:r>
              <a:rPr lang="en-US" dirty="0" err="1"/>
              <a:t>isalpha</a:t>
            </a:r>
            <a:endParaRPr lang="en-US" dirty="0"/>
          </a:p>
          <a:p>
            <a:pPr marL="514350" indent="-514350">
              <a:buFont typeface="+mj-lt"/>
              <a:buAutoNum type="arabicPeriod"/>
            </a:pPr>
            <a:r>
              <a:rPr lang="en-US" dirty="0" err="1"/>
              <a:t>isdigit</a:t>
            </a:r>
            <a:endParaRPr lang="en-US" dirty="0"/>
          </a:p>
          <a:p>
            <a:pPr marL="514350" indent="-514350">
              <a:buFont typeface="+mj-lt"/>
              <a:buAutoNum type="arabicPeriod"/>
            </a:pPr>
            <a:r>
              <a:rPr lang="en-US" dirty="0"/>
              <a:t>split</a:t>
            </a:r>
          </a:p>
          <a:p>
            <a:pPr marL="514350" indent="-514350">
              <a:buFont typeface="+mj-lt"/>
              <a:buAutoNum type="arabicPeriod"/>
            </a:pPr>
            <a:r>
              <a:rPr lang="en-US" dirty="0"/>
              <a:t>join</a:t>
            </a:r>
          </a:p>
          <a:p>
            <a:pPr lvl="1"/>
            <a:r>
              <a:rPr lang="en-US" dirty="0"/>
              <a:t>this is faster than concatenation using += because no temp strings are created</a:t>
            </a:r>
          </a:p>
          <a:p>
            <a:pPr lvl="1"/>
            <a:r>
              <a:rPr lang="en-US" dirty="0"/>
              <a:t>This is an important and fast way to concatenate strings</a:t>
            </a:r>
          </a:p>
          <a:p>
            <a:pPr marL="0" indent="0">
              <a:buNone/>
            </a:pPr>
            <a:r>
              <a:rPr lang="en-US" dirty="0">
                <a:hlinkClick r:id="rId2"/>
              </a:rPr>
              <a:t>https://docs.python.org/3.7/library/stdtypes.html#string-methods</a:t>
            </a:r>
            <a:r>
              <a:rPr lang="en-US" dirty="0"/>
              <a:t> </a:t>
            </a:r>
          </a:p>
          <a:p>
            <a:endParaRPr lang="en-CA" dirty="0"/>
          </a:p>
        </p:txBody>
      </p:sp>
    </p:spTree>
    <p:extLst>
      <p:ext uri="{BB962C8B-B14F-4D97-AF65-F5344CB8AC3E}">
        <p14:creationId xmlns:p14="http://schemas.microsoft.com/office/powerpoint/2010/main" val="23879605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EE947-697F-46B0-BF8F-3EA40F97B937}"/>
              </a:ext>
            </a:extLst>
          </p:cNvPr>
          <p:cNvSpPr>
            <a:spLocks noGrp="1"/>
          </p:cNvSpPr>
          <p:nvPr>
            <p:ph type="title"/>
          </p:nvPr>
        </p:nvSpPr>
        <p:spPr/>
        <p:txBody>
          <a:bodyPr/>
          <a:lstStyle/>
          <a:p>
            <a:r>
              <a:rPr lang="en-US" dirty="0"/>
              <a:t>Some Common String Methods, Functions and Features</a:t>
            </a:r>
            <a:endParaRPr lang="en-CA" dirty="0"/>
          </a:p>
        </p:txBody>
      </p:sp>
      <p:sp>
        <p:nvSpPr>
          <p:cNvPr id="3" name="Content Placeholder 2">
            <a:extLst>
              <a:ext uri="{FF2B5EF4-FFF2-40B4-BE49-F238E27FC236}">
                <a16:creationId xmlns:a16="http://schemas.microsoft.com/office/drawing/2014/main" id="{41609B58-9C13-4357-9E3A-74C4FE80D30B}"/>
              </a:ext>
            </a:extLst>
          </p:cNvPr>
          <p:cNvSpPr>
            <a:spLocks noGrp="1"/>
          </p:cNvSpPr>
          <p:nvPr>
            <p:ph idx="1"/>
          </p:nvPr>
        </p:nvSpPr>
        <p:spPr>
          <a:xfrm>
            <a:off x="1097280" y="1845734"/>
            <a:ext cx="5767347" cy="4023360"/>
          </a:xfrm>
        </p:spPr>
        <p:txBody>
          <a:bodyPr>
            <a:normAutofit fontScale="92500" lnSpcReduction="10000"/>
          </a:bodyPr>
          <a:lstStyle/>
          <a:p>
            <a:pPr marL="514350" indent="-514350">
              <a:buFont typeface="+mj-lt"/>
              <a:buAutoNum type="arabicPeriod"/>
            </a:pPr>
            <a:r>
              <a:rPr lang="en-US" dirty="0"/>
              <a:t>capitalize</a:t>
            </a:r>
          </a:p>
          <a:p>
            <a:pPr marL="514350" indent="-514350">
              <a:buFont typeface="+mj-lt"/>
              <a:buAutoNum type="arabicPeriod"/>
            </a:pPr>
            <a:r>
              <a:rPr lang="en-US" dirty="0"/>
              <a:t>replace</a:t>
            </a:r>
          </a:p>
          <a:p>
            <a:pPr marL="514350" indent="-514350">
              <a:buFont typeface="+mj-lt"/>
              <a:buAutoNum type="arabicPeriod"/>
            </a:pPr>
            <a:r>
              <a:rPr lang="en-US" dirty="0" err="1"/>
              <a:t>isalpha</a:t>
            </a:r>
            <a:endParaRPr lang="en-US" dirty="0"/>
          </a:p>
          <a:p>
            <a:pPr marL="514350" indent="-514350">
              <a:buFont typeface="+mj-lt"/>
              <a:buAutoNum type="arabicPeriod"/>
            </a:pPr>
            <a:r>
              <a:rPr lang="en-US" dirty="0" err="1"/>
              <a:t>isdigit</a:t>
            </a:r>
            <a:endParaRPr lang="en-US" dirty="0"/>
          </a:p>
          <a:p>
            <a:pPr marL="514350" indent="-514350">
              <a:buFont typeface="+mj-lt"/>
              <a:buAutoNum type="arabicPeriod"/>
            </a:pPr>
            <a:r>
              <a:rPr lang="en-US" dirty="0"/>
              <a:t>split</a:t>
            </a:r>
          </a:p>
          <a:p>
            <a:pPr marL="514350" indent="-514350">
              <a:buFont typeface="+mj-lt"/>
              <a:buAutoNum type="arabicPeriod"/>
            </a:pPr>
            <a:r>
              <a:rPr lang="en-US" dirty="0"/>
              <a:t>join</a:t>
            </a:r>
          </a:p>
          <a:p>
            <a:pPr lvl="1"/>
            <a:r>
              <a:rPr lang="en-US" dirty="0"/>
              <a:t>this is faster than concatenation using += because no temp strings are created</a:t>
            </a:r>
          </a:p>
          <a:p>
            <a:pPr lvl="1"/>
            <a:r>
              <a:rPr lang="en-US" dirty="0"/>
              <a:t>This is an important and fast way to concatenate strings</a:t>
            </a:r>
          </a:p>
          <a:p>
            <a:pPr marL="0" indent="0">
              <a:buNone/>
            </a:pPr>
            <a:r>
              <a:rPr lang="en-US" dirty="0">
                <a:hlinkClick r:id="rId3"/>
              </a:rPr>
              <a:t>https://docs.python.org/3.7/library/stdtypes.html#string-methods</a:t>
            </a:r>
            <a:r>
              <a:rPr lang="en-US" dirty="0"/>
              <a:t> </a:t>
            </a:r>
          </a:p>
          <a:p>
            <a:endParaRPr lang="en-CA" dirty="0"/>
          </a:p>
        </p:txBody>
      </p:sp>
      <p:sp>
        <p:nvSpPr>
          <p:cNvPr id="4" name="TextBox 3">
            <a:extLst>
              <a:ext uri="{FF2B5EF4-FFF2-40B4-BE49-F238E27FC236}">
                <a16:creationId xmlns:a16="http://schemas.microsoft.com/office/drawing/2014/main" id="{9AB362DF-FA96-4532-AD5B-4FD227A9B25B}"/>
              </a:ext>
            </a:extLst>
          </p:cNvPr>
          <p:cNvSpPr txBox="1"/>
          <p:nvPr/>
        </p:nvSpPr>
        <p:spPr>
          <a:xfrm>
            <a:off x="6864627" y="1845734"/>
            <a:ext cx="5097877" cy="4401205"/>
          </a:xfrm>
          <a:prstGeom prst="rect">
            <a:avLst/>
          </a:prstGeom>
          <a:noFill/>
        </p:spPr>
        <p:txBody>
          <a:bodyPr wrap="square" rtlCol="0">
            <a:spAutoFit/>
          </a:bodyPr>
          <a:lstStyle/>
          <a:p>
            <a:r>
              <a:rPr lang="en-US" sz="2800" b="1" u="sng" dirty="0"/>
              <a:t>REMEMBER: </a:t>
            </a:r>
            <a:r>
              <a:rPr lang="en-US" sz="2800" dirty="0"/>
              <a:t>You can always type</a:t>
            </a:r>
          </a:p>
          <a:p>
            <a:pPr marL="457200" indent="-457200">
              <a:buFont typeface="Arial" panose="020B0604020202020204" pitchFamily="34" charset="0"/>
              <a:buChar char="•"/>
            </a:pPr>
            <a:r>
              <a:rPr lang="en-US" sz="2800" b="1" dirty="0"/>
              <a:t>help</a:t>
            </a:r>
            <a:r>
              <a:rPr lang="en-US" sz="2800" dirty="0"/>
              <a:t>(function name) to read the documentation</a:t>
            </a:r>
          </a:p>
          <a:p>
            <a:pPr marL="457200" indent="-457200">
              <a:buFont typeface="Arial" panose="020B0604020202020204" pitchFamily="34" charset="0"/>
              <a:buChar char="•"/>
            </a:pPr>
            <a:r>
              <a:rPr lang="en-US" sz="2800" b="1" dirty="0" err="1"/>
              <a:t>dir</a:t>
            </a:r>
            <a:r>
              <a:rPr lang="en-US" sz="2800" dirty="0"/>
              <a:t>(object) to read the </a:t>
            </a:r>
            <a:r>
              <a:rPr lang="en-CA" sz="2800" dirty="0"/>
              <a:t>properties and methods of the specified object</a:t>
            </a:r>
            <a:endParaRPr lang="en-US" sz="2800" dirty="0"/>
          </a:p>
          <a:p>
            <a:endParaRPr lang="en-US" sz="2800" dirty="0"/>
          </a:p>
          <a:p>
            <a:r>
              <a:rPr lang="en-US" sz="2800" dirty="0" err="1"/>
              <a:t>Eg</a:t>
            </a:r>
            <a:r>
              <a:rPr lang="en-US" sz="2800" dirty="0"/>
              <a:t>: </a:t>
            </a:r>
          </a:p>
          <a:p>
            <a:r>
              <a:rPr lang="en-US" sz="2800" b="1" dirty="0">
                <a:latin typeface="Courier"/>
              </a:rPr>
              <a:t>help</a:t>
            </a:r>
            <a:r>
              <a:rPr lang="en-US" sz="2800" dirty="0">
                <a:latin typeface="Courier"/>
              </a:rPr>
              <a:t>(</a:t>
            </a:r>
            <a:r>
              <a:rPr lang="en-US" sz="2800" dirty="0" err="1">
                <a:latin typeface="Courier"/>
              </a:rPr>
              <a:t>str.isdigit</a:t>
            </a:r>
            <a:r>
              <a:rPr lang="en-US" sz="2800" dirty="0">
                <a:latin typeface="Courier"/>
              </a:rPr>
              <a:t>)</a:t>
            </a:r>
          </a:p>
          <a:p>
            <a:r>
              <a:rPr lang="en-US" sz="2800" dirty="0">
                <a:latin typeface="Courier"/>
              </a:rPr>
              <a:t>print(</a:t>
            </a:r>
            <a:r>
              <a:rPr lang="en-US" sz="2800" b="1" dirty="0" err="1">
                <a:latin typeface="Courier"/>
              </a:rPr>
              <a:t>dir</a:t>
            </a:r>
            <a:r>
              <a:rPr lang="en-US" sz="2800" dirty="0">
                <a:latin typeface="Courier"/>
              </a:rPr>
              <a:t>(</a:t>
            </a:r>
            <a:r>
              <a:rPr lang="en-US" sz="2800" dirty="0" err="1">
                <a:latin typeface="Courier"/>
              </a:rPr>
              <a:t>str</a:t>
            </a:r>
            <a:r>
              <a:rPr lang="en-US" sz="2800" dirty="0">
                <a:latin typeface="Courier"/>
              </a:rPr>
              <a:t>))</a:t>
            </a:r>
            <a:endParaRPr lang="en-CA" sz="2800" dirty="0"/>
          </a:p>
        </p:txBody>
      </p:sp>
    </p:spTree>
    <p:extLst>
      <p:ext uri="{BB962C8B-B14F-4D97-AF65-F5344CB8AC3E}">
        <p14:creationId xmlns:p14="http://schemas.microsoft.com/office/powerpoint/2010/main" val="547867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D271-4E89-41C4-AFBE-9BFADB77653C}"/>
              </a:ext>
            </a:extLst>
          </p:cNvPr>
          <p:cNvSpPr>
            <a:spLocks noGrp="1"/>
          </p:cNvSpPr>
          <p:nvPr>
            <p:ph type="title"/>
          </p:nvPr>
        </p:nvSpPr>
        <p:spPr/>
        <p:txBody>
          <a:bodyPr/>
          <a:lstStyle/>
          <a:p>
            <a:r>
              <a:rPr lang="en-US" dirty="0"/>
              <a:t>String Concatenation</a:t>
            </a:r>
            <a:endParaRPr lang="en-CA" dirty="0"/>
          </a:p>
        </p:txBody>
      </p:sp>
      <p:sp>
        <p:nvSpPr>
          <p:cNvPr id="3" name="Content Placeholder 2">
            <a:extLst>
              <a:ext uri="{FF2B5EF4-FFF2-40B4-BE49-F238E27FC236}">
                <a16:creationId xmlns:a16="http://schemas.microsoft.com/office/drawing/2014/main" id="{48B41D36-F6BE-4344-93B3-418BC1DCB32A}"/>
              </a:ext>
            </a:extLst>
          </p:cNvPr>
          <p:cNvSpPr>
            <a:spLocks noGrp="1"/>
          </p:cNvSpPr>
          <p:nvPr>
            <p:ph idx="1"/>
          </p:nvPr>
        </p:nvSpPr>
        <p:spPr>
          <a:xfrm>
            <a:off x="1097280" y="1737360"/>
            <a:ext cx="9663485" cy="4023360"/>
          </a:xfrm>
        </p:spPr>
        <p:txBody>
          <a:bodyPr>
            <a:normAutofit/>
          </a:bodyPr>
          <a:lstStyle/>
          <a:p>
            <a:r>
              <a:rPr lang="en-US" dirty="0"/>
              <a:t>What happens when you do this?</a:t>
            </a:r>
            <a:endParaRPr lang="en-US" dirty="0">
              <a:latin typeface="Courier"/>
            </a:endParaRPr>
          </a:p>
          <a:p>
            <a:endParaRPr lang="en-US" dirty="0">
              <a:latin typeface="Courier"/>
            </a:endParaRPr>
          </a:p>
          <a:p>
            <a:pPr algn="ctr"/>
            <a:r>
              <a:rPr lang="en-US" dirty="0" err="1">
                <a:latin typeface="Courier"/>
              </a:rPr>
              <a:t>pokemon_cast</a:t>
            </a:r>
            <a:r>
              <a:rPr lang="en-US" dirty="0">
                <a:latin typeface="Courier"/>
              </a:rPr>
              <a:t> = “</a:t>
            </a:r>
            <a:r>
              <a:rPr lang="en-US" dirty="0" err="1">
                <a:latin typeface="Courier"/>
              </a:rPr>
              <a:t>pikachu</a:t>
            </a:r>
            <a:r>
              <a:rPr lang="en-US" dirty="0">
                <a:latin typeface="Courier"/>
              </a:rPr>
              <a:t>”</a:t>
            </a:r>
          </a:p>
          <a:p>
            <a:pPr algn="ctr"/>
            <a:r>
              <a:rPr lang="en-US" dirty="0" err="1">
                <a:latin typeface="Courier"/>
              </a:rPr>
              <a:t>num_members</a:t>
            </a:r>
            <a:r>
              <a:rPr lang="en-US" dirty="0">
                <a:latin typeface="Courier"/>
              </a:rPr>
              <a:t> = 150</a:t>
            </a:r>
          </a:p>
          <a:p>
            <a:pPr algn="ctr"/>
            <a:r>
              <a:rPr lang="en-US" dirty="0">
                <a:latin typeface="Courier"/>
              </a:rPr>
              <a:t>print(</a:t>
            </a:r>
            <a:r>
              <a:rPr lang="en-US" dirty="0" err="1">
                <a:latin typeface="Courier"/>
              </a:rPr>
              <a:t>pokemon_cast</a:t>
            </a:r>
            <a:r>
              <a:rPr lang="en-US" dirty="0">
                <a:latin typeface="Courier"/>
              </a:rPr>
              <a:t> + “ and “ + </a:t>
            </a:r>
            <a:r>
              <a:rPr lang="en-US" dirty="0" err="1">
                <a:latin typeface="Courier"/>
              </a:rPr>
              <a:t>num_members</a:t>
            </a:r>
            <a:r>
              <a:rPr lang="en-US" dirty="0">
                <a:latin typeface="Courier"/>
              </a:rPr>
              <a:t> + “others”)</a:t>
            </a:r>
            <a:endParaRPr lang="en-US" dirty="0"/>
          </a:p>
        </p:txBody>
      </p:sp>
    </p:spTree>
    <p:extLst>
      <p:ext uri="{BB962C8B-B14F-4D97-AF65-F5344CB8AC3E}">
        <p14:creationId xmlns:p14="http://schemas.microsoft.com/office/powerpoint/2010/main" val="9934796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D271-4E89-41C4-AFBE-9BFADB77653C}"/>
              </a:ext>
            </a:extLst>
          </p:cNvPr>
          <p:cNvSpPr>
            <a:spLocks noGrp="1"/>
          </p:cNvSpPr>
          <p:nvPr>
            <p:ph type="title"/>
          </p:nvPr>
        </p:nvSpPr>
        <p:spPr/>
        <p:txBody>
          <a:bodyPr/>
          <a:lstStyle/>
          <a:p>
            <a:r>
              <a:rPr lang="en-US" dirty="0"/>
              <a:t>String Concatenation</a:t>
            </a:r>
            <a:endParaRPr lang="en-CA" dirty="0"/>
          </a:p>
        </p:txBody>
      </p:sp>
      <p:sp>
        <p:nvSpPr>
          <p:cNvPr id="3" name="Content Placeholder 2">
            <a:extLst>
              <a:ext uri="{FF2B5EF4-FFF2-40B4-BE49-F238E27FC236}">
                <a16:creationId xmlns:a16="http://schemas.microsoft.com/office/drawing/2014/main" id="{48B41D36-F6BE-4344-93B3-418BC1DCB32A}"/>
              </a:ext>
            </a:extLst>
          </p:cNvPr>
          <p:cNvSpPr>
            <a:spLocks noGrp="1"/>
          </p:cNvSpPr>
          <p:nvPr>
            <p:ph idx="1"/>
          </p:nvPr>
        </p:nvSpPr>
        <p:spPr>
          <a:xfrm>
            <a:off x="1097280" y="1737360"/>
            <a:ext cx="9663485" cy="4023360"/>
          </a:xfrm>
        </p:spPr>
        <p:txBody>
          <a:bodyPr>
            <a:normAutofit/>
          </a:bodyPr>
          <a:lstStyle/>
          <a:p>
            <a:r>
              <a:rPr lang="en-US" dirty="0"/>
              <a:t>What happens when you do this?</a:t>
            </a:r>
            <a:endParaRPr lang="en-US" dirty="0">
              <a:latin typeface="Courier"/>
            </a:endParaRPr>
          </a:p>
          <a:p>
            <a:endParaRPr lang="en-US" dirty="0">
              <a:latin typeface="Courier"/>
            </a:endParaRPr>
          </a:p>
          <a:p>
            <a:pPr algn="ctr"/>
            <a:r>
              <a:rPr lang="en-US" dirty="0" err="1">
                <a:latin typeface="Courier"/>
              </a:rPr>
              <a:t>pokemon_cast</a:t>
            </a:r>
            <a:r>
              <a:rPr lang="en-US" dirty="0">
                <a:latin typeface="Courier"/>
              </a:rPr>
              <a:t> = “</a:t>
            </a:r>
            <a:r>
              <a:rPr lang="en-US" dirty="0" err="1">
                <a:latin typeface="Courier"/>
              </a:rPr>
              <a:t>pikachu</a:t>
            </a:r>
            <a:r>
              <a:rPr lang="en-US" dirty="0">
                <a:latin typeface="Courier"/>
              </a:rPr>
              <a:t>”</a:t>
            </a:r>
          </a:p>
          <a:p>
            <a:pPr algn="ctr"/>
            <a:r>
              <a:rPr lang="en-US" dirty="0" err="1">
                <a:latin typeface="Courier"/>
              </a:rPr>
              <a:t>num_members</a:t>
            </a:r>
            <a:r>
              <a:rPr lang="en-US" dirty="0">
                <a:latin typeface="Courier"/>
              </a:rPr>
              <a:t> = 150</a:t>
            </a:r>
          </a:p>
          <a:p>
            <a:pPr algn="ctr"/>
            <a:r>
              <a:rPr lang="en-US" dirty="0">
                <a:latin typeface="Courier"/>
              </a:rPr>
              <a:t>print(</a:t>
            </a:r>
            <a:r>
              <a:rPr lang="en-US" dirty="0" err="1">
                <a:latin typeface="Courier"/>
              </a:rPr>
              <a:t>pokemon_cast</a:t>
            </a:r>
            <a:r>
              <a:rPr lang="en-US" dirty="0">
                <a:latin typeface="Courier"/>
              </a:rPr>
              <a:t> + “ and “ + </a:t>
            </a:r>
            <a:r>
              <a:rPr lang="en-US" b="1" dirty="0">
                <a:latin typeface="Courier"/>
              </a:rPr>
              <a:t>str(</a:t>
            </a:r>
            <a:r>
              <a:rPr lang="en-US" dirty="0" err="1">
                <a:latin typeface="Courier"/>
              </a:rPr>
              <a:t>num_members</a:t>
            </a:r>
            <a:r>
              <a:rPr lang="en-US" b="1" dirty="0">
                <a:latin typeface="Courier"/>
              </a:rPr>
              <a:t>)</a:t>
            </a:r>
            <a:r>
              <a:rPr lang="en-US" dirty="0">
                <a:latin typeface="Courier"/>
              </a:rPr>
              <a:t> + “others”)</a:t>
            </a:r>
          </a:p>
          <a:p>
            <a:pPr algn="ctr"/>
            <a:endParaRPr lang="en-US" dirty="0">
              <a:latin typeface="Courier"/>
            </a:endParaRPr>
          </a:p>
          <a:p>
            <a:r>
              <a:rPr lang="en-US" dirty="0"/>
              <a:t>NOTE: Try casting </a:t>
            </a:r>
            <a:r>
              <a:rPr lang="en-US" dirty="0" err="1"/>
              <a:t>num_members</a:t>
            </a:r>
            <a:r>
              <a:rPr lang="en-US" dirty="0"/>
              <a:t> to a string</a:t>
            </a:r>
          </a:p>
        </p:txBody>
      </p:sp>
    </p:spTree>
    <p:extLst>
      <p:ext uri="{BB962C8B-B14F-4D97-AF65-F5344CB8AC3E}">
        <p14:creationId xmlns:p14="http://schemas.microsoft.com/office/powerpoint/2010/main" val="23222160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DE28B-8B44-473C-890A-4B8FF17F4726}"/>
              </a:ext>
            </a:extLst>
          </p:cNvPr>
          <p:cNvSpPr>
            <a:spLocks noGrp="1"/>
          </p:cNvSpPr>
          <p:nvPr>
            <p:ph type="title"/>
          </p:nvPr>
        </p:nvSpPr>
        <p:spPr/>
        <p:txBody>
          <a:bodyPr/>
          <a:lstStyle/>
          <a:p>
            <a:r>
              <a:rPr lang="en-US" dirty="0"/>
              <a:t>Multi-line strings</a:t>
            </a:r>
            <a:endParaRPr lang="en-CA" dirty="0"/>
          </a:p>
        </p:txBody>
      </p:sp>
      <p:sp>
        <p:nvSpPr>
          <p:cNvPr id="3" name="Content Placeholder 2">
            <a:extLst>
              <a:ext uri="{FF2B5EF4-FFF2-40B4-BE49-F238E27FC236}">
                <a16:creationId xmlns:a16="http://schemas.microsoft.com/office/drawing/2014/main" id="{0733A7B5-6A50-44A7-8A37-71686CD6BE4B}"/>
              </a:ext>
            </a:extLst>
          </p:cNvPr>
          <p:cNvSpPr>
            <a:spLocks noGrp="1"/>
          </p:cNvSpPr>
          <p:nvPr>
            <p:ph idx="1"/>
          </p:nvPr>
        </p:nvSpPr>
        <p:spPr/>
        <p:txBody>
          <a:bodyPr/>
          <a:lstStyle/>
          <a:p>
            <a:pPr marL="0" indent="0">
              <a:buNone/>
            </a:pPr>
            <a:r>
              <a:rPr lang="en-US" sz="3200" dirty="0"/>
              <a:t>There are three ways we can do this:</a:t>
            </a:r>
          </a:p>
          <a:p>
            <a:pPr marL="0" indent="0">
              <a:buNone/>
            </a:pPr>
            <a:endParaRPr lang="en-US" dirty="0"/>
          </a:p>
          <a:p>
            <a:pPr marL="514350" indent="-514350">
              <a:buFont typeface="+mj-lt"/>
              <a:buAutoNum type="arabicPeriod"/>
            </a:pPr>
            <a:r>
              <a:rPr lang="en-US" dirty="0"/>
              <a:t>Break lines with the \ character:</a:t>
            </a:r>
          </a:p>
          <a:p>
            <a:pPr marL="0" indent="0">
              <a:buNone/>
            </a:pPr>
            <a:endParaRPr lang="en-US" dirty="0"/>
          </a:p>
          <a:p>
            <a:pPr marL="0" indent="0">
              <a:buNone/>
            </a:pPr>
            <a:r>
              <a:rPr lang="en-US" dirty="0" err="1">
                <a:latin typeface="Courier" pitchFamily="2" charset="0"/>
                <a:cs typeface="Futura Medium" panose="020B0602020204020303" pitchFamily="34" charset="-79"/>
              </a:rPr>
              <a:t>string_long</a:t>
            </a:r>
            <a:r>
              <a:rPr lang="en-US" dirty="0">
                <a:latin typeface="Courier" pitchFamily="2" charset="0"/>
                <a:cs typeface="Futura Medium" panose="020B0602020204020303" pitchFamily="34" charset="-79"/>
              </a:rPr>
              <a:t> = </a:t>
            </a:r>
            <a:r>
              <a:rPr lang="en-CA" dirty="0">
                <a:latin typeface="Courier" pitchFamily="2" charset="0"/>
                <a:cs typeface="Futura Medium" panose="020B0602020204020303" pitchFamily="34" charset="-79"/>
              </a:rPr>
              <a:t>"This is a very long string" \</a:t>
            </a:r>
          </a:p>
          <a:p>
            <a:pPr marL="0" indent="0">
              <a:buNone/>
            </a:pPr>
            <a:r>
              <a:rPr lang="en-CA" dirty="0">
                <a:latin typeface="Courier" pitchFamily="2" charset="0"/>
                <a:cs typeface="Futura Medium" panose="020B0602020204020303" pitchFamily="34" charset="-79"/>
              </a:rPr>
              <a:t> 		    " that I wrote to help somebody" \</a:t>
            </a:r>
          </a:p>
          <a:p>
            <a:pPr marL="0" indent="0">
              <a:buNone/>
            </a:pPr>
            <a:r>
              <a:rPr lang="en-CA" dirty="0">
                <a:latin typeface="Courier" pitchFamily="2" charset="0"/>
                <a:cs typeface="Futura Medium" panose="020B0602020204020303" pitchFamily="34" charset="-79"/>
              </a:rPr>
              <a:t>		    " who had a question about" \</a:t>
            </a:r>
          </a:p>
          <a:p>
            <a:pPr marL="0" indent="0">
              <a:buNone/>
            </a:pPr>
            <a:r>
              <a:rPr lang="en-CA" dirty="0">
                <a:latin typeface="Courier" pitchFamily="2" charset="0"/>
                <a:cs typeface="Futura Medium" panose="020B0602020204020303" pitchFamily="34" charset="-79"/>
              </a:rPr>
              <a:t>		    " writing long strings in Python"</a:t>
            </a:r>
            <a:endParaRPr lang="en-US" dirty="0">
              <a:latin typeface="Courier" pitchFamily="2" charset="0"/>
              <a:cs typeface="Futura Medium" panose="020B0602020204020303" pitchFamily="34" charset="-79"/>
            </a:endParaRPr>
          </a:p>
          <a:p>
            <a:endParaRPr lang="en-CA" dirty="0"/>
          </a:p>
        </p:txBody>
      </p:sp>
    </p:spTree>
    <p:extLst>
      <p:ext uri="{BB962C8B-B14F-4D97-AF65-F5344CB8AC3E}">
        <p14:creationId xmlns:p14="http://schemas.microsoft.com/office/powerpoint/2010/main" val="4184684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DE28B-8B44-473C-890A-4B8FF17F4726}"/>
              </a:ext>
            </a:extLst>
          </p:cNvPr>
          <p:cNvSpPr>
            <a:spLocks noGrp="1"/>
          </p:cNvSpPr>
          <p:nvPr>
            <p:ph type="title"/>
          </p:nvPr>
        </p:nvSpPr>
        <p:spPr/>
        <p:txBody>
          <a:bodyPr/>
          <a:lstStyle/>
          <a:p>
            <a:r>
              <a:rPr lang="en-US" dirty="0"/>
              <a:t>Multi-line strings</a:t>
            </a:r>
            <a:endParaRPr lang="en-CA" dirty="0"/>
          </a:p>
        </p:txBody>
      </p:sp>
      <p:sp>
        <p:nvSpPr>
          <p:cNvPr id="3" name="Content Placeholder 2">
            <a:extLst>
              <a:ext uri="{FF2B5EF4-FFF2-40B4-BE49-F238E27FC236}">
                <a16:creationId xmlns:a16="http://schemas.microsoft.com/office/drawing/2014/main" id="{0733A7B5-6A50-44A7-8A37-71686CD6BE4B}"/>
              </a:ext>
            </a:extLst>
          </p:cNvPr>
          <p:cNvSpPr>
            <a:spLocks noGrp="1"/>
          </p:cNvSpPr>
          <p:nvPr>
            <p:ph idx="1"/>
          </p:nvPr>
        </p:nvSpPr>
        <p:spPr/>
        <p:txBody>
          <a:bodyPr>
            <a:normAutofit/>
          </a:bodyPr>
          <a:lstStyle/>
          <a:p>
            <a:pPr marL="514350" indent="-514350">
              <a:buFont typeface="+mj-lt"/>
              <a:buAutoNum type="arabicPeriod" startAt="2"/>
            </a:pPr>
            <a:r>
              <a:rPr lang="en-US" sz="3200" dirty="0"/>
              <a:t>Use parentheses:</a:t>
            </a:r>
          </a:p>
          <a:p>
            <a:pPr marL="0" indent="0">
              <a:buNone/>
            </a:pPr>
            <a:endParaRPr lang="en-US" sz="3200" dirty="0"/>
          </a:p>
          <a:p>
            <a:pPr marL="0" indent="0">
              <a:buNone/>
            </a:pPr>
            <a:r>
              <a:rPr lang="en-US" sz="2400" dirty="0" err="1">
                <a:latin typeface="Courier" pitchFamily="2" charset="0"/>
                <a:cs typeface="Futura Medium" panose="020B0602020204020303" pitchFamily="34" charset="-79"/>
              </a:rPr>
              <a:t>string_long</a:t>
            </a:r>
            <a:r>
              <a:rPr lang="en-US" sz="2400" dirty="0">
                <a:latin typeface="Courier" pitchFamily="2" charset="0"/>
                <a:cs typeface="Futura Medium" panose="020B0602020204020303" pitchFamily="34" charset="-79"/>
              </a:rPr>
              <a:t> = (</a:t>
            </a:r>
            <a:r>
              <a:rPr lang="en-CA" sz="2400" dirty="0">
                <a:latin typeface="Courier" pitchFamily="2" charset="0"/>
                <a:cs typeface="Futura Medium" panose="020B0602020204020303" pitchFamily="34" charset="-79"/>
              </a:rPr>
              <a:t>"This is a very long string"</a:t>
            </a:r>
          </a:p>
          <a:p>
            <a:pPr marL="0" indent="0">
              <a:buNone/>
            </a:pPr>
            <a:r>
              <a:rPr lang="en-CA" sz="2400" dirty="0">
                <a:latin typeface="Courier" pitchFamily="2" charset="0"/>
                <a:cs typeface="Futura Medium" panose="020B0602020204020303" pitchFamily="34" charset="-79"/>
              </a:rPr>
              <a:t>               " that I wrote to help somebody"</a:t>
            </a:r>
          </a:p>
          <a:p>
            <a:pPr marL="0" indent="0">
              <a:buNone/>
            </a:pPr>
            <a:r>
              <a:rPr lang="en-CA" sz="2400" dirty="0">
                <a:latin typeface="Courier" pitchFamily="2" charset="0"/>
                <a:cs typeface="Futura Medium" panose="020B0602020204020303" pitchFamily="34" charset="-79"/>
              </a:rPr>
              <a:t>               " who had a question about”</a:t>
            </a:r>
          </a:p>
          <a:p>
            <a:pPr marL="0" indent="0">
              <a:buNone/>
            </a:pPr>
            <a:r>
              <a:rPr lang="en-CA" sz="2400" dirty="0">
                <a:latin typeface="Courier" pitchFamily="2" charset="0"/>
                <a:cs typeface="Futura Medium" panose="020B0602020204020303" pitchFamily="34" charset="-79"/>
              </a:rPr>
              <a:t>               " writing long strings in Python”)</a:t>
            </a:r>
            <a:endParaRPr lang="en-US" sz="2400" dirty="0">
              <a:latin typeface="Courier" pitchFamily="2" charset="0"/>
              <a:cs typeface="Futura Medium" panose="020B0602020204020303" pitchFamily="34" charset="-79"/>
            </a:endParaRPr>
          </a:p>
          <a:p>
            <a:pPr marL="0" indent="0">
              <a:buNone/>
            </a:pPr>
            <a:endParaRPr lang="en-US" sz="3200" dirty="0"/>
          </a:p>
        </p:txBody>
      </p:sp>
    </p:spTree>
    <p:extLst>
      <p:ext uri="{BB962C8B-B14F-4D97-AF65-F5344CB8AC3E}">
        <p14:creationId xmlns:p14="http://schemas.microsoft.com/office/powerpoint/2010/main" val="42367537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DE28B-8B44-473C-890A-4B8FF17F4726}"/>
              </a:ext>
            </a:extLst>
          </p:cNvPr>
          <p:cNvSpPr>
            <a:spLocks noGrp="1"/>
          </p:cNvSpPr>
          <p:nvPr>
            <p:ph type="title"/>
          </p:nvPr>
        </p:nvSpPr>
        <p:spPr/>
        <p:txBody>
          <a:bodyPr/>
          <a:lstStyle/>
          <a:p>
            <a:r>
              <a:rPr lang="en-US" dirty="0"/>
              <a:t>Multi-line strings</a:t>
            </a:r>
            <a:endParaRPr lang="en-CA" dirty="0"/>
          </a:p>
        </p:txBody>
      </p:sp>
      <p:sp>
        <p:nvSpPr>
          <p:cNvPr id="3" name="Content Placeholder 2">
            <a:extLst>
              <a:ext uri="{FF2B5EF4-FFF2-40B4-BE49-F238E27FC236}">
                <a16:creationId xmlns:a16="http://schemas.microsoft.com/office/drawing/2014/main" id="{0733A7B5-6A50-44A7-8A37-71686CD6BE4B}"/>
              </a:ext>
            </a:extLst>
          </p:cNvPr>
          <p:cNvSpPr>
            <a:spLocks noGrp="1"/>
          </p:cNvSpPr>
          <p:nvPr>
            <p:ph idx="1"/>
          </p:nvPr>
        </p:nvSpPr>
        <p:spPr/>
        <p:txBody>
          <a:bodyPr>
            <a:normAutofit lnSpcReduction="10000"/>
          </a:bodyPr>
          <a:lstStyle/>
          <a:p>
            <a:pPr marL="514350" indent="-514350">
              <a:buFont typeface="+mj-lt"/>
              <a:buAutoNum type="arabicPeriod" startAt="3"/>
            </a:pPr>
            <a:r>
              <a:rPr lang="en-US" sz="3200" dirty="0"/>
              <a:t>Use triple quotes:</a:t>
            </a:r>
          </a:p>
          <a:p>
            <a:pPr marL="0" indent="0">
              <a:buNone/>
            </a:pPr>
            <a:endParaRPr lang="en-US" sz="3200" dirty="0"/>
          </a:p>
          <a:p>
            <a:pPr marL="0" indent="0">
              <a:buNone/>
            </a:pPr>
            <a:r>
              <a:rPr lang="en-US" sz="2400" dirty="0" err="1">
                <a:latin typeface="Courier" pitchFamily="2" charset="0"/>
                <a:cs typeface="Futura Medium" panose="020B0602020204020303" pitchFamily="34" charset="-79"/>
              </a:rPr>
              <a:t>string_long</a:t>
            </a:r>
            <a:r>
              <a:rPr lang="en-US" sz="2400" dirty="0">
                <a:latin typeface="Courier" pitchFamily="2" charset="0"/>
                <a:cs typeface="Futura Medium" panose="020B0602020204020303" pitchFamily="34" charset="-79"/>
              </a:rPr>
              <a:t> = </a:t>
            </a:r>
            <a:r>
              <a:rPr lang="en-CA" sz="2400" dirty="0">
                <a:latin typeface="Courier" pitchFamily="2" charset="0"/>
                <a:cs typeface="Futura Medium" panose="020B0602020204020303" pitchFamily="34" charset="-79"/>
              </a:rPr>
              <a:t>"""This is a very long string</a:t>
            </a:r>
          </a:p>
          <a:p>
            <a:pPr marL="0" indent="0">
              <a:buNone/>
            </a:pPr>
            <a:r>
              <a:rPr lang="en-CA" sz="2400" dirty="0">
                <a:latin typeface="Courier" pitchFamily="2" charset="0"/>
                <a:cs typeface="Futura Medium" panose="020B0602020204020303" pitchFamily="34" charset="-79"/>
              </a:rPr>
              <a:t>			  that I wrote to help somebody</a:t>
            </a:r>
          </a:p>
          <a:p>
            <a:pPr marL="0" indent="0">
              <a:buNone/>
            </a:pPr>
            <a:r>
              <a:rPr lang="en-CA" sz="2400" dirty="0">
                <a:latin typeface="Courier" pitchFamily="2" charset="0"/>
                <a:cs typeface="Futura Medium" panose="020B0602020204020303" pitchFamily="34" charset="-79"/>
              </a:rPr>
              <a:t>		       who had a question about</a:t>
            </a:r>
          </a:p>
          <a:p>
            <a:pPr marL="0" indent="0">
              <a:buNone/>
            </a:pPr>
            <a:r>
              <a:rPr lang="en-CA" sz="2400" dirty="0">
                <a:latin typeface="Courier" pitchFamily="2" charset="0"/>
                <a:cs typeface="Futura Medium" panose="020B0602020204020303" pitchFamily="34" charset="-79"/>
              </a:rPr>
              <a:t>			  writing long strings in Python"""</a:t>
            </a:r>
          </a:p>
          <a:p>
            <a:pPr marL="0" indent="0">
              <a:buNone/>
            </a:pPr>
            <a:endParaRPr lang="en-CA" sz="2400" dirty="0">
              <a:latin typeface="Courier" pitchFamily="2" charset="0"/>
              <a:cs typeface="Futura Medium" panose="020B0602020204020303" pitchFamily="34" charset="-79"/>
            </a:endParaRPr>
          </a:p>
          <a:p>
            <a:pPr marL="0" indent="0">
              <a:buNone/>
            </a:pPr>
            <a:r>
              <a:rPr lang="en-CA" sz="2400" b="1" u="sng" dirty="0">
                <a:latin typeface="+mj-lt"/>
                <a:cs typeface="Futura Medium" panose="020B0602020204020303" pitchFamily="34" charset="-79"/>
              </a:rPr>
              <a:t>NOTE</a:t>
            </a:r>
            <a:r>
              <a:rPr lang="en-CA" sz="2400" dirty="0">
                <a:latin typeface="+mj-lt"/>
                <a:cs typeface="Futura Medium" panose="020B0602020204020303" pitchFamily="34" charset="-79"/>
              </a:rPr>
              <a:t>: PEP-8 has some thoughts about multi-line code too!</a:t>
            </a:r>
            <a:endParaRPr lang="en-US" sz="3200" dirty="0">
              <a:latin typeface="+mj-lt"/>
              <a:cs typeface="Futura Medium" panose="020B0602020204020303" pitchFamily="34" charset="-79"/>
            </a:endParaRPr>
          </a:p>
        </p:txBody>
      </p:sp>
    </p:spTree>
    <p:extLst>
      <p:ext uri="{BB962C8B-B14F-4D97-AF65-F5344CB8AC3E}">
        <p14:creationId xmlns:p14="http://schemas.microsoft.com/office/powerpoint/2010/main" val="12904955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13FED-4724-3D1E-AEDF-6AC72FAF6C9E}"/>
              </a:ext>
            </a:extLst>
          </p:cNvPr>
          <p:cNvSpPr>
            <a:spLocks noGrp="1"/>
          </p:cNvSpPr>
          <p:nvPr>
            <p:ph type="title"/>
          </p:nvPr>
        </p:nvSpPr>
        <p:spPr/>
        <p:txBody>
          <a:bodyPr/>
          <a:lstStyle/>
          <a:p>
            <a:r>
              <a:rPr lang="en-CA"/>
              <a:t>Test Your Understanding</a:t>
            </a:r>
          </a:p>
        </p:txBody>
      </p:sp>
      <p:sp>
        <p:nvSpPr>
          <p:cNvPr id="3" name="Content Placeholder 2">
            <a:extLst>
              <a:ext uri="{FF2B5EF4-FFF2-40B4-BE49-F238E27FC236}">
                <a16:creationId xmlns:a16="http://schemas.microsoft.com/office/drawing/2014/main" id="{883CA559-7408-6D07-31D4-C38D6F310954}"/>
              </a:ext>
            </a:extLst>
          </p:cNvPr>
          <p:cNvSpPr>
            <a:spLocks noGrp="1"/>
          </p:cNvSpPr>
          <p:nvPr>
            <p:ph idx="1"/>
          </p:nvPr>
        </p:nvSpPr>
        <p:spPr/>
        <p:txBody>
          <a:bodyPr/>
          <a:lstStyle/>
          <a:p>
            <a:r>
              <a:rPr lang="en-CA"/>
              <a:t>https://learn.bcit.ca/d2l/le/content/1192286/viewContent/12370933/View</a:t>
            </a:r>
          </a:p>
        </p:txBody>
      </p:sp>
      <p:pic>
        <p:nvPicPr>
          <p:cNvPr id="5" name="Picture 4">
            <a:hlinkClick r:id="rId2"/>
            <a:extLst>
              <a:ext uri="{FF2B5EF4-FFF2-40B4-BE49-F238E27FC236}">
                <a16:creationId xmlns:a16="http://schemas.microsoft.com/office/drawing/2014/main" id="{5DE7D9B8-1123-334A-FF6D-04C96C94F584}"/>
              </a:ext>
            </a:extLst>
          </p:cNvPr>
          <p:cNvPicPr>
            <a:picLocks noChangeAspect="1"/>
          </p:cNvPicPr>
          <p:nvPr/>
        </p:nvPicPr>
        <p:blipFill>
          <a:blip r:embed="rId3"/>
          <a:stretch>
            <a:fillRect/>
          </a:stretch>
        </p:blipFill>
        <p:spPr>
          <a:xfrm>
            <a:off x="939139" y="2275132"/>
            <a:ext cx="8994996" cy="1582282"/>
          </a:xfrm>
          <a:prstGeom prst="rect">
            <a:avLst/>
          </a:prstGeom>
        </p:spPr>
      </p:pic>
    </p:spTree>
    <p:extLst>
      <p:ext uri="{BB962C8B-B14F-4D97-AF65-F5344CB8AC3E}">
        <p14:creationId xmlns:p14="http://schemas.microsoft.com/office/powerpoint/2010/main" val="27902012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66552-580D-43F1-BDAC-A0A0F3CE96CE}"/>
              </a:ext>
            </a:extLst>
          </p:cNvPr>
          <p:cNvSpPr>
            <a:spLocks noGrp="1"/>
          </p:cNvSpPr>
          <p:nvPr>
            <p:ph type="title"/>
          </p:nvPr>
        </p:nvSpPr>
        <p:spPr/>
        <p:txBody>
          <a:bodyPr/>
          <a:lstStyle/>
          <a:p>
            <a:r>
              <a:rPr lang="en-US" dirty="0"/>
              <a:t>String Formatting</a:t>
            </a:r>
            <a:endParaRPr lang="en-CA" dirty="0"/>
          </a:p>
        </p:txBody>
      </p:sp>
      <p:sp>
        <p:nvSpPr>
          <p:cNvPr id="3" name="Text Placeholder 2">
            <a:extLst>
              <a:ext uri="{FF2B5EF4-FFF2-40B4-BE49-F238E27FC236}">
                <a16:creationId xmlns:a16="http://schemas.microsoft.com/office/drawing/2014/main" id="{4A08183A-759B-477A-A914-D40FA4E7CDC3}"/>
              </a:ext>
            </a:extLst>
          </p:cNvPr>
          <p:cNvSpPr>
            <a:spLocks noGrp="1"/>
          </p:cNvSpPr>
          <p:nvPr>
            <p:ph type="body" idx="1"/>
          </p:nvPr>
        </p:nvSpPr>
        <p:spPr/>
        <p:txBody>
          <a:bodyPr/>
          <a:lstStyle/>
          <a:p>
            <a:endParaRPr lang="en-CA"/>
          </a:p>
        </p:txBody>
      </p:sp>
    </p:spTree>
    <p:extLst>
      <p:ext uri="{BB962C8B-B14F-4D97-AF65-F5344CB8AC3E}">
        <p14:creationId xmlns:p14="http://schemas.microsoft.com/office/powerpoint/2010/main" val="2378584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6AFC85-7ED6-4D87-8E28-98E359E30729}"/>
              </a:ext>
            </a:extLst>
          </p:cNvPr>
          <p:cNvSpPr>
            <a:spLocks noGrp="1"/>
          </p:cNvSpPr>
          <p:nvPr>
            <p:ph type="title"/>
          </p:nvPr>
        </p:nvSpPr>
        <p:spPr/>
        <p:txBody>
          <a:bodyPr/>
          <a:lstStyle/>
          <a:p>
            <a:r>
              <a:rPr lang="en-US" dirty="0"/>
              <a:t>Formatting output</a:t>
            </a:r>
            <a:endParaRPr lang="en-CA" dirty="0"/>
          </a:p>
        </p:txBody>
      </p:sp>
      <p:sp>
        <p:nvSpPr>
          <p:cNvPr id="8" name="Content Placeholder 2">
            <a:extLst>
              <a:ext uri="{FF2B5EF4-FFF2-40B4-BE49-F238E27FC236}">
                <a16:creationId xmlns:a16="http://schemas.microsoft.com/office/drawing/2014/main" id="{458808E0-44DA-4A15-86B9-6FEE63ED92B3}"/>
              </a:ext>
            </a:extLst>
          </p:cNvPr>
          <p:cNvSpPr>
            <a:spLocks noGrp="1"/>
          </p:cNvSpPr>
          <p:nvPr>
            <p:ph idx="1"/>
          </p:nvPr>
        </p:nvSpPr>
        <p:spPr>
          <a:xfrm>
            <a:off x="1096963" y="1846263"/>
            <a:ext cx="10058400" cy="4022725"/>
          </a:xfrm>
        </p:spPr>
        <p:txBody>
          <a:bodyPr>
            <a:normAutofit lnSpcReduction="10000"/>
          </a:bodyPr>
          <a:lstStyle/>
          <a:p>
            <a:r>
              <a:rPr lang="en-US" sz="3200" dirty="0"/>
              <a:t>There are three easy ways to format output in Python</a:t>
            </a:r>
          </a:p>
          <a:p>
            <a:r>
              <a:rPr lang="en-US" sz="3200" dirty="0"/>
              <a:t>We can use:</a:t>
            </a:r>
          </a:p>
          <a:p>
            <a:pPr marL="914400" lvl="1" indent="-457200">
              <a:buFont typeface="+mj-lt"/>
              <a:buAutoNum type="arabicPeriod"/>
            </a:pPr>
            <a:r>
              <a:rPr lang="en-US" sz="3200" dirty="0"/>
              <a:t>the string format method</a:t>
            </a:r>
          </a:p>
          <a:p>
            <a:pPr marL="914400" lvl="1" indent="-457200">
              <a:buFont typeface="+mj-lt"/>
              <a:buAutoNum type="arabicPeriod"/>
            </a:pPr>
            <a:r>
              <a:rPr lang="en-US" sz="3200" dirty="0"/>
              <a:t>f-strings</a:t>
            </a:r>
          </a:p>
          <a:p>
            <a:pPr marL="914400" lvl="1" indent="-457200">
              <a:buFont typeface="+mj-lt"/>
              <a:buAutoNum type="arabicPeriod"/>
            </a:pPr>
            <a:r>
              <a:rPr lang="en-US" sz="3200" dirty="0"/>
              <a:t>% operator along with format specifiers</a:t>
            </a:r>
          </a:p>
          <a:p>
            <a:pPr marL="457200" lvl="1" indent="0">
              <a:buNone/>
            </a:pPr>
            <a:endParaRPr lang="en-US" sz="3200" dirty="0"/>
          </a:p>
          <a:p>
            <a:pPr marL="457200" lvl="1" indent="0">
              <a:buNone/>
            </a:pPr>
            <a:r>
              <a:rPr lang="en-US" sz="3200" dirty="0"/>
              <a:t>It is always better to format than to concatenate! Change your habits if you tend to use ‘+’ to display data</a:t>
            </a:r>
          </a:p>
        </p:txBody>
      </p:sp>
    </p:spTree>
    <p:extLst>
      <p:ext uri="{BB962C8B-B14F-4D97-AF65-F5344CB8AC3E}">
        <p14:creationId xmlns:p14="http://schemas.microsoft.com/office/powerpoint/2010/main" val="35637341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4FEB8-B185-45B3-8482-F253FDD16AEF}"/>
              </a:ext>
            </a:extLst>
          </p:cNvPr>
          <p:cNvSpPr>
            <a:spLocks noGrp="1"/>
          </p:cNvSpPr>
          <p:nvPr>
            <p:ph type="title"/>
          </p:nvPr>
        </p:nvSpPr>
        <p:spPr>
          <a:xfrm>
            <a:off x="1097280" y="286603"/>
            <a:ext cx="10058400" cy="1450757"/>
          </a:xfrm>
        </p:spPr>
        <p:txBody>
          <a:bodyPr>
            <a:normAutofit/>
          </a:bodyPr>
          <a:lstStyle/>
          <a:p>
            <a:r>
              <a:rPr lang="en-US" sz="4000" dirty="0"/>
              <a:t>The </a:t>
            </a:r>
            <a:r>
              <a:rPr lang="en-US" sz="4000" dirty="0" err="1"/>
              <a:t>str.format</a:t>
            </a:r>
            <a:r>
              <a:rPr lang="en-US" sz="4000" dirty="0"/>
              <a:t>() Method</a:t>
            </a:r>
            <a:endParaRPr lang="en-CA" sz="4000" dirty="0"/>
          </a:p>
        </p:txBody>
      </p:sp>
      <p:sp>
        <p:nvSpPr>
          <p:cNvPr id="4" name="Content Placeholder 2">
            <a:extLst>
              <a:ext uri="{FF2B5EF4-FFF2-40B4-BE49-F238E27FC236}">
                <a16:creationId xmlns:a16="http://schemas.microsoft.com/office/drawing/2014/main" id="{FBC841C8-396B-42F3-BEC4-CF4FD39C8E6D}"/>
              </a:ext>
            </a:extLst>
          </p:cNvPr>
          <p:cNvSpPr>
            <a:spLocks noGrp="1"/>
          </p:cNvSpPr>
          <p:nvPr>
            <p:ph idx="1"/>
          </p:nvPr>
        </p:nvSpPr>
        <p:spPr>
          <a:xfrm>
            <a:off x="556591" y="1846262"/>
            <a:ext cx="11033848" cy="4412843"/>
          </a:xfrm>
        </p:spPr>
        <p:txBody>
          <a:bodyPr>
            <a:normAutofit fontScale="92500" lnSpcReduction="20000"/>
          </a:bodyPr>
          <a:lstStyle/>
          <a:p>
            <a:endParaRPr lang="en-US" sz="2600" dirty="0"/>
          </a:p>
          <a:p>
            <a:r>
              <a:rPr lang="en-US" sz="2600" dirty="0"/>
              <a:t>The format method inserts values into strings</a:t>
            </a:r>
          </a:p>
          <a:p>
            <a:r>
              <a:rPr lang="en-US" sz="2600" dirty="0"/>
              <a:t>Replacement fields are delimited by curly braces:</a:t>
            </a:r>
          </a:p>
          <a:p>
            <a:endParaRPr lang="en-US" sz="2900" dirty="0">
              <a:latin typeface="Courier" pitchFamily="2" charset="0"/>
            </a:endParaRPr>
          </a:p>
          <a:p>
            <a:pPr marL="0" indent="0">
              <a:buNone/>
            </a:pPr>
            <a:r>
              <a:rPr lang="en-US" sz="2900" dirty="0">
                <a:latin typeface="Courier" pitchFamily="2" charset="0"/>
              </a:rPr>
              <a:t>“I earned </a:t>
            </a:r>
            <a:r>
              <a:rPr lang="en-US" sz="2900" dirty="0">
                <a:solidFill>
                  <a:srgbClr val="FF0000"/>
                </a:solidFill>
                <a:latin typeface="Courier" pitchFamily="2" charset="0"/>
              </a:rPr>
              <a:t>{0}</a:t>
            </a:r>
            <a:r>
              <a:rPr lang="en-US" sz="2900" dirty="0">
                <a:latin typeface="Courier" pitchFamily="2" charset="0"/>
              </a:rPr>
              <a:t> in </a:t>
            </a:r>
            <a:r>
              <a:rPr lang="en-US" sz="2900" dirty="0">
                <a:solidFill>
                  <a:srgbClr val="00B050"/>
                </a:solidFill>
                <a:latin typeface="Courier" pitchFamily="2" charset="0"/>
              </a:rPr>
              <a:t>{1}</a:t>
            </a:r>
            <a:r>
              <a:rPr lang="en-US" sz="2900" dirty="0">
                <a:latin typeface="Courier" pitchFamily="2" charset="0"/>
              </a:rPr>
              <a:t>”.format(</a:t>
            </a:r>
            <a:r>
              <a:rPr lang="en-US" sz="2900" dirty="0">
                <a:solidFill>
                  <a:srgbClr val="FF0000"/>
                </a:solidFill>
                <a:latin typeface="Courier" pitchFamily="2" charset="0"/>
              </a:rPr>
              <a:t>98.5</a:t>
            </a:r>
            <a:r>
              <a:rPr lang="en-US" sz="2900" dirty="0">
                <a:latin typeface="Courier" pitchFamily="2" charset="0"/>
              </a:rPr>
              <a:t>, </a:t>
            </a:r>
            <a:r>
              <a:rPr lang="en-US" sz="2900" dirty="0">
                <a:solidFill>
                  <a:srgbClr val="00B050"/>
                </a:solidFill>
                <a:latin typeface="Courier" pitchFamily="2" charset="0"/>
              </a:rPr>
              <a:t>“Architecture”</a:t>
            </a:r>
            <a:r>
              <a:rPr lang="en-US" sz="2900" dirty="0">
                <a:latin typeface="Courier" pitchFamily="2" charset="0"/>
              </a:rPr>
              <a:t>)</a:t>
            </a:r>
          </a:p>
          <a:p>
            <a:pPr marL="0" indent="0">
              <a:buNone/>
            </a:pPr>
            <a:r>
              <a:rPr lang="en-US" sz="2900" dirty="0">
                <a:latin typeface="Courier" pitchFamily="2" charset="0"/>
              </a:rPr>
              <a:t>“I earned </a:t>
            </a:r>
            <a:r>
              <a:rPr lang="en-US" sz="2900" dirty="0">
                <a:solidFill>
                  <a:srgbClr val="FF0000"/>
                </a:solidFill>
                <a:latin typeface="Courier" pitchFamily="2" charset="0"/>
              </a:rPr>
              <a:t>{}</a:t>
            </a:r>
            <a:r>
              <a:rPr lang="en-US" sz="2900" dirty="0">
                <a:latin typeface="Courier" pitchFamily="2" charset="0"/>
              </a:rPr>
              <a:t> in </a:t>
            </a:r>
            <a:r>
              <a:rPr lang="en-US" sz="2900" dirty="0">
                <a:solidFill>
                  <a:srgbClr val="00B050"/>
                </a:solidFill>
                <a:latin typeface="Courier" pitchFamily="2" charset="0"/>
              </a:rPr>
              <a:t>{}</a:t>
            </a:r>
            <a:r>
              <a:rPr lang="en-US" sz="2900" dirty="0">
                <a:latin typeface="Courier" pitchFamily="2" charset="0"/>
              </a:rPr>
              <a:t>”.format(</a:t>
            </a:r>
            <a:r>
              <a:rPr lang="en-US" sz="2900" dirty="0">
                <a:solidFill>
                  <a:srgbClr val="FF0000"/>
                </a:solidFill>
                <a:latin typeface="Courier" pitchFamily="2" charset="0"/>
              </a:rPr>
              <a:t>98.5</a:t>
            </a:r>
            <a:r>
              <a:rPr lang="en-US" sz="2900" dirty="0">
                <a:latin typeface="Courier" pitchFamily="2" charset="0"/>
              </a:rPr>
              <a:t>, </a:t>
            </a:r>
            <a:r>
              <a:rPr lang="en-US" sz="2900" dirty="0">
                <a:solidFill>
                  <a:srgbClr val="00B050"/>
                </a:solidFill>
                <a:latin typeface="Courier" pitchFamily="2" charset="0"/>
              </a:rPr>
              <a:t>“Architecture”</a:t>
            </a:r>
            <a:r>
              <a:rPr lang="en-US" sz="2900" dirty="0">
                <a:latin typeface="Courier" pitchFamily="2" charset="0"/>
              </a:rPr>
              <a:t>)</a:t>
            </a:r>
          </a:p>
          <a:p>
            <a:pPr marL="0" indent="0">
              <a:buNone/>
            </a:pPr>
            <a:r>
              <a:rPr lang="en-US" sz="2900" dirty="0">
                <a:latin typeface="Courier" pitchFamily="2" charset="0"/>
              </a:rPr>
              <a:t>“I earned </a:t>
            </a:r>
            <a:r>
              <a:rPr lang="en-US" sz="2900" dirty="0">
                <a:solidFill>
                  <a:srgbClr val="FF0000"/>
                </a:solidFill>
                <a:latin typeface="Courier" pitchFamily="2" charset="0"/>
              </a:rPr>
              <a:t>{0}</a:t>
            </a:r>
            <a:r>
              <a:rPr lang="en-US" sz="2900" dirty="0">
                <a:latin typeface="Courier" pitchFamily="2" charset="0"/>
              </a:rPr>
              <a:t> in </a:t>
            </a:r>
            <a:r>
              <a:rPr lang="en-US" sz="2900" dirty="0">
                <a:solidFill>
                  <a:srgbClr val="00B050"/>
                </a:solidFill>
                <a:latin typeface="Courier" pitchFamily="2" charset="0"/>
              </a:rPr>
              <a:t>{1}</a:t>
            </a:r>
            <a:r>
              <a:rPr lang="en-US" sz="2900" dirty="0">
                <a:latin typeface="Courier" pitchFamily="2" charset="0"/>
              </a:rPr>
              <a:t> and </a:t>
            </a:r>
            <a:r>
              <a:rPr lang="en-US" sz="2900" dirty="0">
                <a:solidFill>
                  <a:srgbClr val="FF0000"/>
                </a:solidFill>
                <a:latin typeface="Courier" pitchFamily="2" charset="0"/>
              </a:rPr>
              <a:t>{0}</a:t>
            </a:r>
            <a:r>
              <a:rPr lang="en-US" sz="2900" dirty="0">
                <a:latin typeface="Courier" pitchFamily="2" charset="0"/>
              </a:rPr>
              <a:t> in </a:t>
            </a:r>
            <a:r>
              <a:rPr lang="en-US" sz="2900" dirty="0">
                <a:solidFill>
                  <a:srgbClr val="00B0F0"/>
                </a:solidFill>
                <a:latin typeface="Courier" pitchFamily="2" charset="0"/>
              </a:rPr>
              <a:t>{2}</a:t>
            </a:r>
            <a:r>
              <a:rPr lang="en-US" sz="2900" dirty="0">
                <a:latin typeface="Courier" pitchFamily="2" charset="0"/>
              </a:rPr>
              <a:t>”.format(</a:t>
            </a:r>
            <a:r>
              <a:rPr lang="en-US" sz="2900" dirty="0">
                <a:solidFill>
                  <a:srgbClr val="FF0000"/>
                </a:solidFill>
                <a:latin typeface="Courier" pitchFamily="2" charset="0"/>
              </a:rPr>
              <a:t>65</a:t>
            </a:r>
            <a:r>
              <a:rPr lang="en-US" sz="2900" dirty="0">
                <a:latin typeface="Courier" pitchFamily="2" charset="0"/>
              </a:rPr>
              <a:t>, </a:t>
            </a:r>
            <a:r>
              <a:rPr lang="en-US" sz="2900" dirty="0">
                <a:solidFill>
                  <a:srgbClr val="00B050"/>
                </a:solidFill>
                <a:latin typeface="Courier" pitchFamily="2" charset="0"/>
              </a:rPr>
              <a:t>“Comm”</a:t>
            </a:r>
            <a:r>
              <a:rPr lang="en-US" sz="2900" dirty="0">
                <a:latin typeface="Courier" pitchFamily="2" charset="0"/>
              </a:rPr>
              <a:t>, </a:t>
            </a:r>
            <a:r>
              <a:rPr lang="en-US" sz="2900" dirty="0">
                <a:solidFill>
                  <a:srgbClr val="00B0F0"/>
                </a:solidFill>
                <a:latin typeface="Courier" pitchFamily="2" charset="0"/>
              </a:rPr>
              <a:t>“Math”</a:t>
            </a:r>
            <a:r>
              <a:rPr lang="en-US" sz="2900" dirty="0">
                <a:latin typeface="Courier" pitchFamily="2" charset="0"/>
              </a:rPr>
              <a:t>)</a:t>
            </a:r>
          </a:p>
          <a:p>
            <a:pPr marL="0" indent="0">
              <a:buNone/>
            </a:pPr>
            <a:r>
              <a:rPr lang="en-US" sz="2900" dirty="0">
                <a:latin typeface="Courier" pitchFamily="2" charset="0"/>
              </a:rPr>
              <a:t>“I earned </a:t>
            </a:r>
            <a:r>
              <a:rPr lang="en-US" sz="2900" dirty="0">
                <a:solidFill>
                  <a:srgbClr val="FF0000"/>
                </a:solidFill>
                <a:latin typeface="Courier" pitchFamily="2" charset="0"/>
              </a:rPr>
              <a:t>{grade} </a:t>
            </a:r>
            <a:r>
              <a:rPr lang="en-US" sz="2900" dirty="0">
                <a:latin typeface="Courier" pitchFamily="2" charset="0"/>
              </a:rPr>
              <a:t>in </a:t>
            </a:r>
            <a:r>
              <a:rPr lang="en-US" sz="2900" dirty="0">
                <a:solidFill>
                  <a:srgbClr val="00B050"/>
                </a:solidFill>
                <a:latin typeface="Courier" pitchFamily="2" charset="0"/>
              </a:rPr>
              <a:t>{course}</a:t>
            </a:r>
            <a:r>
              <a:rPr lang="en-US" sz="2900" dirty="0">
                <a:latin typeface="Courier" pitchFamily="2" charset="0"/>
              </a:rPr>
              <a:t>”.format(</a:t>
            </a:r>
            <a:r>
              <a:rPr lang="en-US" sz="2900" dirty="0">
                <a:solidFill>
                  <a:srgbClr val="FF0000"/>
                </a:solidFill>
                <a:latin typeface="Courier" pitchFamily="2" charset="0"/>
              </a:rPr>
              <a:t>grade=65</a:t>
            </a:r>
            <a:r>
              <a:rPr lang="en-US" sz="2900" dirty="0">
                <a:latin typeface="Courier" pitchFamily="2" charset="0"/>
              </a:rPr>
              <a:t>,</a:t>
            </a:r>
          </a:p>
          <a:p>
            <a:pPr marL="0" indent="0">
              <a:buNone/>
            </a:pPr>
            <a:r>
              <a:rPr lang="en-US" sz="2900" dirty="0">
                <a:latin typeface="Courier" pitchFamily="2" charset="0"/>
              </a:rPr>
              <a:t>                                      </a:t>
            </a:r>
            <a:r>
              <a:rPr lang="en-US" sz="2900" dirty="0">
                <a:solidFill>
                  <a:srgbClr val="00B050"/>
                </a:solidFill>
                <a:latin typeface="Courier" pitchFamily="2" charset="0"/>
              </a:rPr>
              <a:t>course=“Comm”</a:t>
            </a:r>
            <a:r>
              <a:rPr lang="en-US" sz="2900" dirty="0">
                <a:latin typeface="Courier" pitchFamily="2" charset="0"/>
              </a:rPr>
              <a:t>)</a:t>
            </a:r>
          </a:p>
          <a:p>
            <a:pPr marL="0" indent="0">
              <a:buNone/>
            </a:pPr>
            <a:endParaRPr lang="en-US" sz="2400" dirty="0">
              <a:latin typeface="Courier" pitchFamily="2" charset="0"/>
            </a:endParaRPr>
          </a:p>
          <a:p>
            <a:endParaRPr lang="en-US" dirty="0"/>
          </a:p>
        </p:txBody>
      </p:sp>
    </p:spTree>
    <p:extLst>
      <p:ext uri="{BB962C8B-B14F-4D97-AF65-F5344CB8AC3E}">
        <p14:creationId xmlns:p14="http://schemas.microsoft.com/office/powerpoint/2010/main" val="153358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BA67-CBAA-489B-840D-5B25DBA62119}"/>
              </a:ext>
            </a:extLst>
          </p:cNvPr>
          <p:cNvSpPr>
            <a:spLocks noGrp="1"/>
          </p:cNvSpPr>
          <p:nvPr>
            <p:ph type="title"/>
          </p:nvPr>
        </p:nvSpPr>
        <p:spPr/>
        <p:txBody>
          <a:bodyPr/>
          <a:lstStyle/>
          <a:p>
            <a:r>
              <a:rPr lang="en-US" dirty="0"/>
              <a:t>The </a:t>
            </a:r>
            <a:r>
              <a:rPr lang="en-US" dirty="0" err="1"/>
              <a:t>str.format</a:t>
            </a:r>
            <a:r>
              <a:rPr lang="en-US" dirty="0"/>
              <a:t>() Method</a:t>
            </a:r>
            <a:endParaRPr lang="en-CA" dirty="0"/>
          </a:p>
        </p:txBody>
      </p:sp>
      <p:sp>
        <p:nvSpPr>
          <p:cNvPr id="3" name="Content Placeholder 2">
            <a:extLst>
              <a:ext uri="{FF2B5EF4-FFF2-40B4-BE49-F238E27FC236}">
                <a16:creationId xmlns:a16="http://schemas.microsoft.com/office/drawing/2014/main" id="{810B8FB9-50B3-4F29-8258-31D0CFCEFF38}"/>
              </a:ext>
            </a:extLst>
          </p:cNvPr>
          <p:cNvSpPr>
            <a:spLocks noGrp="1"/>
          </p:cNvSpPr>
          <p:nvPr>
            <p:ph idx="1"/>
          </p:nvPr>
        </p:nvSpPr>
        <p:spPr/>
        <p:txBody>
          <a:bodyPr/>
          <a:lstStyle/>
          <a:p>
            <a:pPr marL="0" indent="0">
              <a:buNone/>
            </a:pPr>
            <a:r>
              <a:rPr lang="en-US" dirty="0" err="1">
                <a:latin typeface="Courier" pitchFamily="2" charset="0"/>
              </a:rPr>
              <a:t>Eg</a:t>
            </a:r>
            <a:r>
              <a:rPr lang="en-US" dirty="0">
                <a:latin typeface="Courier" pitchFamily="2" charset="0"/>
              </a:rPr>
              <a:t>: Try examples like these now!</a:t>
            </a:r>
          </a:p>
          <a:p>
            <a:pPr marL="0" indent="0">
              <a:buNone/>
            </a:pPr>
            <a:endParaRPr lang="en-US" dirty="0">
              <a:latin typeface="Courier" pitchFamily="2" charset="0"/>
            </a:endParaRPr>
          </a:p>
          <a:p>
            <a:pPr marL="0" indent="0">
              <a:buNone/>
            </a:pPr>
            <a:r>
              <a:rPr lang="en-US" dirty="0">
                <a:latin typeface="Courier" pitchFamily="2" charset="0"/>
              </a:rPr>
              <a:t>grades = (98.5, 65)</a:t>
            </a:r>
          </a:p>
          <a:p>
            <a:pPr marL="0" indent="0">
              <a:buNone/>
            </a:pPr>
            <a:r>
              <a:rPr lang="en-US" dirty="0">
                <a:latin typeface="Courier" pitchFamily="2" charset="0"/>
              </a:rPr>
              <a:t>“I earned {g[0]} and {g[1]}”.format(g = grades)</a:t>
            </a:r>
          </a:p>
          <a:p>
            <a:pPr marL="0" indent="0">
              <a:buNone/>
            </a:pPr>
            <a:r>
              <a:rPr lang="en-US" dirty="0">
                <a:latin typeface="Courier" pitchFamily="2" charset="0"/>
              </a:rPr>
              <a:t>import math </a:t>
            </a:r>
          </a:p>
          <a:p>
            <a:pPr marL="0" indent="0">
              <a:buNone/>
            </a:pPr>
            <a:r>
              <a:rPr lang="en-US" dirty="0">
                <a:latin typeface="Courier" pitchFamily="2" charset="0"/>
              </a:rPr>
              <a:t>“Pi equals {</a:t>
            </a:r>
            <a:r>
              <a:rPr lang="en-US" dirty="0" err="1">
                <a:latin typeface="Courier" pitchFamily="2" charset="0"/>
              </a:rPr>
              <a:t>m.pi</a:t>
            </a:r>
            <a:r>
              <a:rPr lang="en-US" dirty="0">
                <a:latin typeface="Courier" pitchFamily="2" charset="0"/>
              </a:rPr>
              <a:t>}”.format(m = math)</a:t>
            </a:r>
          </a:p>
          <a:p>
            <a:pPr marL="0" indent="0">
              <a:buNone/>
            </a:pPr>
            <a:r>
              <a:rPr lang="en-US" dirty="0">
                <a:latin typeface="Courier" pitchFamily="2" charset="0"/>
              </a:rPr>
              <a:t>“Pi equals {m.pi:.3f}”.format(m = math)</a:t>
            </a:r>
          </a:p>
          <a:p>
            <a:endParaRPr lang="en-CA" dirty="0"/>
          </a:p>
        </p:txBody>
      </p:sp>
    </p:spTree>
    <p:extLst>
      <p:ext uri="{BB962C8B-B14F-4D97-AF65-F5344CB8AC3E}">
        <p14:creationId xmlns:p14="http://schemas.microsoft.com/office/powerpoint/2010/main" val="42416868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9ED1-8BD0-478C-9CF9-5D264C36130B}"/>
              </a:ext>
            </a:extLst>
          </p:cNvPr>
          <p:cNvSpPr>
            <a:spLocks noGrp="1"/>
          </p:cNvSpPr>
          <p:nvPr>
            <p:ph type="title"/>
          </p:nvPr>
        </p:nvSpPr>
        <p:spPr/>
        <p:txBody>
          <a:bodyPr/>
          <a:lstStyle/>
          <a:p>
            <a:r>
              <a:rPr lang="en-US" dirty="0"/>
              <a:t>F-strings</a:t>
            </a:r>
            <a:endParaRPr lang="en-CA" dirty="0"/>
          </a:p>
        </p:txBody>
      </p:sp>
      <p:sp>
        <p:nvSpPr>
          <p:cNvPr id="4" name="Content Placeholder 2">
            <a:extLst>
              <a:ext uri="{FF2B5EF4-FFF2-40B4-BE49-F238E27FC236}">
                <a16:creationId xmlns:a16="http://schemas.microsoft.com/office/drawing/2014/main" id="{E36DAA5E-B369-45D5-A107-65B6EBEA9243}"/>
              </a:ext>
            </a:extLst>
          </p:cNvPr>
          <p:cNvSpPr>
            <a:spLocks noGrp="1"/>
          </p:cNvSpPr>
          <p:nvPr>
            <p:ph idx="1"/>
          </p:nvPr>
        </p:nvSpPr>
        <p:spPr>
          <a:xfrm>
            <a:off x="1096963" y="1846263"/>
            <a:ext cx="10058400" cy="4022725"/>
          </a:xfrm>
        </p:spPr>
        <p:txBody>
          <a:bodyPr>
            <a:normAutofit fontScale="92500" lnSpcReduction="20000"/>
          </a:bodyPr>
          <a:lstStyle/>
          <a:p>
            <a:r>
              <a:rPr lang="en-US" dirty="0"/>
              <a:t>f-strings are string literals preceded by an f or F (like raw strings!)</a:t>
            </a:r>
          </a:p>
          <a:p>
            <a:r>
              <a:rPr lang="en-US" dirty="0"/>
              <a:t>Curly braces contain expressions that can be replaced with their values</a:t>
            </a:r>
          </a:p>
          <a:p>
            <a:r>
              <a:rPr lang="en-US" dirty="0"/>
              <a:t>Lets you drop in variable names directly in place</a:t>
            </a:r>
          </a:p>
          <a:p>
            <a:r>
              <a:rPr lang="en-US" dirty="0"/>
              <a:t>Evaluated at runtime:</a:t>
            </a:r>
          </a:p>
          <a:p>
            <a:pPr marL="0" indent="0">
              <a:buNone/>
            </a:pPr>
            <a:endParaRPr lang="en-US" sz="2400" dirty="0">
              <a:latin typeface="Courier" pitchFamily="2" charset="0"/>
            </a:endParaRPr>
          </a:p>
          <a:p>
            <a:pPr marL="0" indent="0">
              <a:buNone/>
            </a:pPr>
            <a:r>
              <a:rPr lang="en-US" sz="2400" dirty="0">
                <a:solidFill>
                  <a:srgbClr val="FF0000"/>
                </a:solidFill>
                <a:latin typeface="Courier" pitchFamily="2" charset="0"/>
              </a:rPr>
              <a:t>grade</a:t>
            </a:r>
            <a:r>
              <a:rPr lang="en-US" sz="2400" dirty="0">
                <a:latin typeface="Courier" pitchFamily="2" charset="0"/>
              </a:rPr>
              <a:t> = 98.5</a:t>
            </a:r>
          </a:p>
          <a:p>
            <a:pPr marL="0" indent="0">
              <a:buNone/>
            </a:pPr>
            <a:r>
              <a:rPr lang="en-US" sz="2400" dirty="0">
                <a:solidFill>
                  <a:srgbClr val="00B050"/>
                </a:solidFill>
                <a:latin typeface="Courier" pitchFamily="2" charset="0"/>
              </a:rPr>
              <a:t>course</a:t>
            </a:r>
            <a:r>
              <a:rPr lang="en-US" sz="2400" dirty="0">
                <a:latin typeface="Courier" pitchFamily="2" charset="0"/>
              </a:rPr>
              <a:t> = “C”</a:t>
            </a:r>
          </a:p>
          <a:p>
            <a:pPr marL="0" indent="0">
              <a:buNone/>
            </a:pPr>
            <a:r>
              <a:rPr lang="en-US" sz="2400" dirty="0" err="1">
                <a:latin typeface="Courier" pitchFamily="2" charset="0"/>
              </a:rPr>
              <a:t>f”I</a:t>
            </a:r>
            <a:r>
              <a:rPr lang="en-US" sz="2400" dirty="0">
                <a:latin typeface="Courier" pitchFamily="2" charset="0"/>
              </a:rPr>
              <a:t> earned </a:t>
            </a:r>
            <a:r>
              <a:rPr lang="en-US" sz="2400" dirty="0">
                <a:solidFill>
                  <a:srgbClr val="FF0000"/>
                </a:solidFill>
                <a:latin typeface="Courier" pitchFamily="2" charset="0"/>
              </a:rPr>
              <a:t>{grade}</a:t>
            </a:r>
            <a:r>
              <a:rPr lang="en-US" sz="2400" dirty="0">
                <a:latin typeface="Courier" pitchFamily="2" charset="0"/>
              </a:rPr>
              <a:t> in </a:t>
            </a:r>
            <a:r>
              <a:rPr lang="en-US" sz="2400" dirty="0">
                <a:solidFill>
                  <a:srgbClr val="00B050"/>
                </a:solidFill>
                <a:latin typeface="Courier" pitchFamily="2" charset="0"/>
              </a:rPr>
              <a:t>{course}</a:t>
            </a:r>
            <a:r>
              <a:rPr lang="en-US" sz="2400" dirty="0">
                <a:latin typeface="Courier" pitchFamily="2" charset="0"/>
              </a:rPr>
              <a:t>”</a:t>
            </a:r>
          </a:p>
          <a:p>
            <a:pPr marL="0" indent="0">
              <a:buNone/>
            </a:pPr>
            <a:r>
              <a:rPr lang="en-US" sz="2400" dirty="0">
                <a:solidFill>
                  <a:srgbClr val="00B0F0"/>
                </a:solidFill>
                <a:latin typeface="Courier" pitchFamily="2" charset="0"/>
              </a:rPr>
              <a:t>name</a:t>
            </a:r>
            <a:r>
              <a:rPr lang="en-US" sz="2400" dirty="0">
                <a:latin typeface="Courier" pitchFamily="2" charset="0"/>
              </a:rPr>
              <a:t> = “OOP 2 with Python”</a:t>
            </a:r>
          </a:p>
          <a:p>
            <a:pPr marL="0" indent="0">
              <a:buNone/>
            </a:pPr>
            <a:r>
              <a:rPr lang="en-US" sz="2400" dirty="0" err="1">
                <a:latin typeface="Courier" pitchFamily="2" charset="0"/>
              </a:rPr>
              <a:t>F”My</a:t>
            </a:r>
            <a:r>
              <a:rPr lang="en-US" sz="2400" dirty="0">
                <a:latin typeface="Courier" pitchFamily="2" charset="0"/>
              </a:rPr>
              <a:t> </a:t>
            </a:r>
            <a:r>
              <a:rPr lang="en-US" sz="2400" dirty="0" err="1">
                <a:latin typeface="Courier" pitchFamily="2" charset="0"/>
              </a:rPr>
              <a:t>favourite</a:t>
            </a:r>
            <a:r>
              <a:rPr lang="en-US" sz="2400" dirty="0">
                <a:latin typeface="Courier" pitchFamily="2" charset="0"/>
              </a:rPr>
              <a:t> course (so far) is {</a:t>
            </a:r>
            <a:r>
              <a:rPr lang="en-US" sz="2400" dirty="0" err="1">
                <a:solidFill>
                  <a:srgbClr val="00B0F0"/>
                </a:solidFill>
                <a:latin typeface="Courier" pitchFamily="2" charset="0"/>
              </a:rPr>
              <a:t>name.title</a:t>
            </a:r>
            <a:r>
              <a:rPr lang="en-US" sz="2400" dirty="0">
                <a:solidFill>
                  <a:srgbClr val="00B0F0"/>
                </a:solidFill>
                <a:latin typeface="Courier" pitchFamily="2" charset="0"/>
              </a:rPr>
              <a:t>()</a:t>
            </a:r>
            <a:r>
              <a:rPr lang="en-US" sz="2400" dirty="0">
                <a:latin typeface="Courier" pitchFamily="2" charset="0"/>
              </a:rPr>
              <a:t>}!”</a:t>
            </a:r>
          </a:p>
        </p:txBody>
      </p:sp>
    </p:spTree>
    <p:extLst>
      <p:ext uri="{BB962C8B-B14F-4D97-AF65-F5344CB8AC3E}">
        <p14:creationId xmlns:p14="http://schemas.microsoft.com/office/powerpoint/2010/main" val="33929838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6A72-1DD4-4CF0-9029-52B087D8C896}"/>
              </a:ext>
            </a:extLst>
          </p:cNvPr>
          <p:cNvSpPr>
            <a:spLocks noGrp="1"/>
          </p:cNvSpPr>
          <p:nvPr>
            <p:ph type="title"/>
          </p:nvPr>
        </p:nvSpPr>
        <p:spPr/>
        <p:txBody>
          <a:bodyPr/>
          <a:lstStyle/>
          <a:p>
            <a:r>
              <a:rPr lang="en-US" dirty="0"/>
              <a:t>A note on print()</a:t>
            </a:r>
            <a:endParaRPr lang="en-CA" dirty="0"/>
          </a:p>
        </p:txBody>
      </p:sp>
      <p:sp>
        <p:nvSpPr>
          <p:cNvPr id="4" name="Content Placeholder 2">
            <a:extLst>
              <a:ext uri="{FF2B5EF4-FFF2-40B4-BE49-F238E27FC236}">
                <a16:creationId xmlns:a16="http://schemas.microsoft.com/office/drawing/2014/main" id="{192E5C99-D94B-433A-89A6-B44C8EC9CCAB}"/>
              </a:ext>
            </a:extLst>
          </p:cNvPr>
          <p:cNvSpPr>
            <a:spLocks noGrp="1"/>
          </p:cNvSpPr>
          <p:nvPr>
            <p:ph idx="1"/>
          </p:nvPr>
        </p:nvSpPr>
        <p:spPr>
          <a:xfrm>
            <a:off x="1096963" y="1846263"/>
            <a:ext cx="10058400" cy="4022725"/>
          </a:xfrm>
        </p:spPr>
        <p:txBody>
          <a:bodyPr>
            <a:normAutofit/>
          </a:bodyPr>
          <a:lstStyle/>
          <a:p>
            <a:r>
              <a:rPr lang="en-US" dirty="0"/>
              <a:t>There are different versions of the print( ) function:</a:t>
            </a:r>
          </a:p>
          <a:p>
            <a:pPr marL="1885950" lvl="3" indent="-514350">
              <a:buFont typeface="+mj-lt"/>
              <a:buAutoNum type="arabicPeriod"/>
            </a:pPr>
            <a:r>
              <a:rPr lang="en-US" sz="2800" dirty="0"/>
              <a:t>print(‘Hello world’)</a:t>
            </a:r>
          </a:p>
          <a:p>
            <a:pPr marL="1885950" lvl="3" indent="-514350">
              <a:buFont typeface="+mj-lt"/>
              <a:buAutoNum type="arabicPeriod"/>
            </a:pPr>
            <a:r>
              <a:rPr lang="en-US" sz="2800" dirty="0"/>
              <a:t>print(“Hello world”)</a:t>
            </a:r>
          </a:p>
          <a:p>
            <a:pPr marL="1885950" lvl="3" indent="-514350">
              <a:buFont typeface="+mj-lt"/>
              <a:buAutoNum type="arabicPeriod"/>
            </a:pPr>
            <a:r>
              <a:rPr lang="en-US" sz="2800" dirty="0"/>
              <a:t>print(“Hello world”, end=‘ ’) #default end is newline</a:t>
            </a:r>
          </a:p>
          <a:p>
            <a:pPr marL="1885950" lvl="3" indent="-514350">
              <a:buFont typeface="+mj-lt"/>
              <a:buAutoNum type="arabicPeriod"/>
            </a:pPr>
            <a:r>
              <a:rPr lang="en-US" sz="2800" dirty="0"/>
              <a:t>print(“I\’m ” + str(age) + “ years old”)</a:t>
            </a:r>
          </a:p>
          <a:p>
            <a:pPr marL="1885950" lvl="3" indent="-514350">
              <a:buFont typeface="+mj-lt"/>
              <a:buAutoNum type="arabicPeriod"/>
            </a:pPr>
            <a:r>
              <a:rPr lang="en-US" sz="2800" dirty="0"/>
              <a:t>print(“I\’m”, age, “years old”)</a:t>
            </a:r>
          </a:p>
          <a:p>
            <a:r>
              <a:rPr lang="en-US" dirty="0"/>
              <a:t>You can learn more here: </a:t>
            </a:r>
            <a:r>
              <a:rPr lang="en-US" sz="3200" dirty="0">
                <a:hlinkClick r:id="rId3"/>
              </a:rPr>
              <a:t>https://docs.python.org/3/library/functions.html</a:t>
            </a:r>
            <a:endParaRPr lang="en-US" sz="3200" dirty="0"/>
          </a:p>
          <a:p>
            <a:endParaRPr lang="en-US" dirty="0"/>
          </a:p>
          <a:p>
            <a:pPr marL="1371600" lvl="3" indent="0">
              <a:buNone/>
            </a:pPr>
            <a:endParaRPr lang="en-US" sz="2800" dirty="0"/>
          </a:p>
        </p:txBody>
      </p:sp>
    </p:spTree>
    <p:extLst>
      <p:ext uri="{BB962C8B-B14F-4D97-AF65-F5344CB8AC3E}">
        <p14:creationId xmlns:p14="http://schemas.microsoft.com/office/powerpoint/2010/main" val="1234300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E5BC9-A325-439C-919D-EB372A8D9A8C}"/>
              </a:ext>
            </a:extLst>
          </p:cNvPr>
          <p:cNvSpPr>
            <a:spLocks noGrp="1"/>
          </p:cNvSpPr>
          <p:nvPr>
            <p:ph type="title"/>
          </p:nvPr>
        </p:nvSpPr>
        <p:spPr/>
        <p:txBody>
          <a:bodyPr/>
          <a:lstStyle/>
          <a:p>
            <a:r>
              <a:rPr lang="en-US" dirty="0"/>
              <a:t>Conversion Specifiers</a:t>
            </a:r>
            <a:endParaRPr lang="en-CA" dirty="0"/>
          </a:p>
        </p:txBody>
      </p:sp>
      <p:sp>
        <p:nvSpPr>
          <p:cNvPr id="4" name="Content Placeholder 2">
            <a:extLst>
              <a:ext uri="{FF2B5EF4-FFF2-40B4-BE49-F238E27FC236}">
                <a16:creationId xmlns:a16="http://schemas.microsoft.com/office/drawing/2014/main" id="{05F4A5C7-151E-4D26-BF39-D36CFDE6157C}"/>
              </a:ext>
            </a:extLst>
          </p:cNvPr>
          <p:cNvSpPr>
            <a:spLocks noGrp="1"/>
          </p:cNvSpPr>
          <p:nvPr>
            <p:ph idx="1"/>
          </p:nvPr>
        </p:nvSpPr>
        <p:spPr>
          <a:xfrm>
            <a:off x="1096963" y="1846263"/>
            <a:ext cx="10058400" cy="4022725"/>
          </a:xfrm>
        </p:spPr>
        <p:txBody>
          <a:bodyPr>
            <a:normAutofit/>
          </a:bodyPr>
          <a:lstStyle/>
          <a:p>
            <a:r>
              <a:rPr lang="en-CA" dirty="0"/>
              <a:t>Program output commonly includes the value of variables as a part of the text</a:t>
            </a:r>
          </a:p>
          <a:p>
            <a:r>
              <a:rPr lang="en-CA" dirty="0"/>
              <a:t>A </a:t>
            </a:r>
            <a:r>
              <a:rPr lang="en-CA" sz="3900" b="1" dirty="0"/>
              <a:t>string formatting expression</a:t>
            </a:r>
            <a:r>
              <a:rPr lang="en-CA" dirty="0"/>
              <a:t> allows a programmer to create a string with placeholders that are replaced by the value of variables</a:t>
            </a:r>
          </a:p>
          <a:p>
            <a:r>
              <a:rPr lang="en-CA" dirty="0"/>
              <a:t>This placeholder is called a </a:t>
            </a:r>
            <a:r>
              <a:rPr lang="en-CA" sz="4200" b="1" dirty="0"/>
              <a:t>conversion specifier</a:t>
            </a:r>
            <a:endParaRPr lang="en-CA" b="1" dirty="0"/>
          </a:p>
          <a:p>
            <a:r>
              <a:rPr lang="en-CA" dirty="0"/>
              <a:t>Different conversion specifiers are used to perform a conversion of a given variable value to a different type when creating a string</a:t>
            </a:r>
          </a:p>
          <a:p>
            <a:endParaRPr lang="en-US" dirty="0"/>
          </a:p>
        </p:txBody>
      </p:sp>
    </p:spTree>
    <p:extLst>
      <p:ext uri="{BB962C8B-B14F-4D97-AF65-F5344CB8AC3E}">
        <p14:creationId xmlns:p14="http://schemas.microsoft.com/office/powerpoint/2010/main" val="12844341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5824-E1CC-479A-AD8F-68253242ADD2}"/>
              </a:ext>
            </a:extLst>
          </p:cNvPr>
          <p:cNvSpPr>
            <a:spLocks noGrp="1"/>
          </p:cNvSpPr>
          <p:nvPr>
            <p:ph type="title"/>
          </p:nvPr>
        </p:nvSpPr>
        <p:spPr/>
        <p:txBody>
          <a:bodyPr/>
          <a:lstStyle/>
          <a:p>
            <a:r>
              <a:rPr lang="en-US" dirty="0"/>
              <a:t>Conversion Specifiers with % operator </a:t>
            </a:r>
            <a:endParaRPr lang="en-CA" dirty="0"/>
          </a:p>
        </p:txBody>
      </p:sp>
      <p:graphicFrame>
        <p:nvGraphicFramePr>
          <p:cNvPr id="3" name="Table 2"/>
          <p:cNvGraphicFramePr>
            <a:graphicFrameLocks noGrp="1"/>
          </p:cNvGraphicFramePr>
          <p:nvPr>
            <p:extLst>
              <p:ext uri="{D42A27DB-BD31-4B8C-83A1-F6EECF244321}">
                <p14:modId xmlns:p14="http://schemas.microsoft.com/office/powerpoint/2010/main" val="1859441658"/>
              </p:ext>
            </p:extLst>
          </p:nvPr>
        </p:nvGraphicFramePr>
        <p:xfrm>
          <a:off x="836406" y="2061415"/>
          <a:ext cx="10515600" cy="1402080"/>
        </p:xfrm>
        <a:graphic>
          <a:graphicData uri="http://schemas.openxmlformats.org/drawingml/2006/table">
            <a:tbl>
              <a:tblPr firstRow="1" bandRow="1">
                <a:tableStyleId>{F2DE63D5-997A-4646-A377-4702673A728D}</a:tableStyleId>
              </a:tblPr>
              <a:tblGrid>
                <a:gridCol w="2200422">
                  <a:extLst>
                    <a:ext uri="{9D8B030D-6E8A-4147-A177-3AD203B41FA5}">
                      <a16:colId xmlns:a16="http://schemas.microsoft.com/office/drawing/2014/main" val="4200089153"/>
                    </a:ext>
                  </a:extLst>
                </a:gridCol>
                <a:gridCol w="3305907">
                  <a:extLst>
                    <a:ext uri="{9D8B030D-6E8A-4147-A177-3AD203B41FA5}">
                      <a16:colId xmlns:a16="http://schemas.microsoft.com/office/drawing/2014/main" val="513638595"/>
                    </a:ext>
                  </a:extLst>
                </a:gridCol>
                <a:gridCol w="3362179">
                  <a:extLst>
                    <a:ext uri="{9D8B030D-6E8A-4147-A177-3AD203B41FA5}">
                      <a16:colId xmlns:a16="http://schemas.microsoft.com/office/drawing/2014/main" val="1233797484"/>
                    </a:ext>
                  </a:extLst>
                </a:gridCol>
                <a:gridCol w="1647092">
                  <a:extLst>
                    <a:ext uri="{9D8B030D-6E8A-4147-A177-3AD203B41FA5}">
                      <a16:colId xmlns:a16="http://schemas.microsoft.com/office/drawing/2014/main" val="1168676751"/>
                    </a:ext>
                  </a:extLst>
                </a:gridCol>
              </a:tblGrid>
              <a:tr h="484704">
                <a:tc>
                  <a:txBody>
                    <a:bodyPr/>
                    <a:lstStyle/>
                    <a:p>
                      <a:pPr algn="ctr"/>
                      <a:r>
                        <a:rPr lang="en-US" sz="2800" dirty="0">
                          <a:solidFill>
                            <a:schemeClr val="tx1"/>
                          </a:solidFill>
                        </a:rPr>
                        <a:t>Conversion Specifier</a:t>
                      </a:r>
                      <a:endParaRPr lang="en-US" sz="2800" dirty="0">
                        <a:solidFill>
                          <a:schemeClr val="tx1"/>
                        </a:solidFill>
                        <a:latin typeface="Rockwell" panose="02060603020205020403" pitchFamily="18" charset="77"/>
                      </a:endParaRPr>
                    </a:p>
                  </a:txBody>
                  <a:tcPr anchor="ctr"/>
                </a:tc>
                <a:tc>
                  <a:txBody>
                    <a:bodyPr/>
                    <a:lstStyle/>
                    <a:p>
                      <a:pPr algn="l"/>
                      <a:r>
                        <a:rPr lang="en-US" sz="2800" dirty="0">
                          <a:solidFill>
                            <a:schemeClr val="tx1"/>
                          </a:solidFill>
                        </a:rPr>
                        <a:t>Notes</a:t>
                      </a:r>
                      <a:endParaRPr lang="en-US" sz="2800" dirty="0">
                        <a:solidFill>
                          <a:schemeClr val="tx1"/>
                        </a:solidFill>
                        <a:latin typeface="Rockwell" panose="02060603020205020403" pitchFamily="18" charset="77"/>
                      </a:endParaRPr>
                    </a:p>
                  </a:txBody>
                  <a:tcPr anchor="ctr"/>
                </a:tc>
                <a:tc>
                  <a:txBody>
                    <a:bodyPr/>
                    <a:lstStyle/>
                    <a:p>
                      <a:pPr algn="l"/>
                      <a:r>
                        <a:rPr lang="en-US" sz="2800" dirty="0">
                          <a:solidFill>
                            <a:schemeClr val="tx1"/>
                          </a:solidFill>
                        </a:rPr>
                        <a:t>Example</a:t>
                      </a:r>
                      <a:endParaRPr lang="en-US" sz="2800" dirty="0">
                        <a:solidFill>
                          <a:schemeClr val="tx1"/>
                        </a:solidFill>
                        <a:latin typeface="Rockwell" panose="02060603020205020403" pitchFamily="18" charset="77"/>
                      </a:endParaRPr>
                    </a:p>
                  </a:txBody>
                  <a:tcPr anchor="ctr"/>
                </a:tc>
                <a:tc>
                  <a:txBody>
                    <a:bodyPr/>
                    <a:lstStyle/>
                    <a:p>
                      <a:pPr algn="l"/>
                      <a:r>
                        <a:rPr lang="en-US" sz="2800" dirty="0">
                          <a:solidFill>
                            <a:schemeClr val="tx1"/>
                          </a:solidFill>
                        </a:rPr>
                        <a:t>Output</a:t>
                      </a:r>
                      <a:endParaRPr lang="en-US" sz="2800" dirty="0">
                        <a:solidFill>
                          <a:schemeClr val="tx1"/>
                        </a:solidFill>
                        <a:latin typeface="Rockwell" panose="02060603020205020403" pitchFamily="18" charset="77"/>
                      </a:endParaRPr>
                    </a:p>
                  </a:txBody>
                  <a:tcPr anchor="ctr"/>
                </a:tc>
                <a:extLst>
                  <a:ext uri="{0D108BD9-81ED-4DB2-BD59-A6C34878D82A}">
                    <a16:rowId xmlns:a16="http://schemas.microsoft.com/office/drawing/2014/main" val="3907847135"/>
                  </a:ext>
                </a:extLst>
              </a:tr>
              <a:tr h="234534">
                <a:tc>
                  <a:txBody>
                    <a:bodyPr/>
                    <a:lstStyle/>
                    <a:p>
                      <a:pPr algn="ctr"/>
                      <a:r>
                        <a:rPr lang="en-US" sz="2400" dirty="0">
                          <a:solidFill>
                            <a:schemeClr val="tx1"/>
                          </a:solidFill>
                        </a:rPr>
                        <a:t>%d</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For an integer</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print(‘My </a:t>
                      </a:r>
                      <a:r>
                        <a:rPr lang="en-US" sz="2400" dirty="0" err="1">
                          <a:solidFill>
                            <a:schemeClr val="tx1"/>
                          </a:solidFill>
                        </a:rPr>
                        <a:t>num</a:t>
                      </a:r>
                      <a:r>
                        <a:rPr lang="en-US" sz="2400" dirty="0">
                          <a:solidFill>
                            <a:schemeClr val="tx1"/>
                          </a:solidFill>
                        </a:rPr>
                        <a:t> </a:t>
                      </a:r>
                      <a:r>
                        <a:rPr lang="en-US" sz="2400" dirty="0">
                          <a:solidFill>
                            <a:srgbClr val="FF0000"/>
                          </a:solidFill>
                        </a:rPr>
                        <a:t>%d</a:t>
                      </a:r>
                      <a:r>
                        <a:rPr lang="en-US" sz="2400" dirty="0">
                          <a:solidFill>
                            <a:schemeClr val="tx1"/>
                          </a:solidFill>
                        </a:rPr>
                        <a:t>’ </a:t>
                      </a:r>
                      <a:r>
                        <a:rPr lang="en-US" sz="2400" b="1" dirty="0">
                          <a:solidFill>
                            <a:schemeClr val="tx1"/>
                          </a:solidFill>
                        </a:rPr>
                        <a:t>%</a:t>
                      </a:r>
                      <a:r>
                        <a:rPr lang="en-US" sz="2400" dirty="0">
                          <a:solidFill>
                            <a:schemeClr val="tx1"/>
                          </a:solidFill>
                        </a:rPr>
                        <a:t> </a:t>
                      </a:r>
                      <a:r>
                        <a:rPr lang="en-US" sz="2400" dirty="0">
                          <a:solidFill>
                            <a:srgbClr val="FF0000"/>
                          </a:solidFill>
                        </a:rPr>
                        <a:t>17</a:t>
                      </a:r>
                      <a:r>
                        <a:rPr lang="en-US" sz="2400" dirty="0">
                          <a:solidFill>
                            <a:schemeClr val="tx1"/>
                          </a:solidFill>
                        </a:rPr>
                        <a:t>)</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My </a:t>
                      </a:r>
                      <a:r>
                        <a:rPr lang="en-US" sz="2400" dirty="0" err="1">
                          <a:solidFill>
                            <a:schemeClr val="tx1"/>
                          </a:solidFill>
                        </a:rPr>
                        <a:t>num</a:t>
                      </a:r>
                      <a:r>
                        <a:rPr lang="en-US" sz="2400" baseline="0" dirty="0">
                          <a:solidFill>
                            <a:schemeClr val="tx1"/>
                          </a:solidFill>
                        </a:rPr>
                        <a:t> </a:t>
                      </a:r>
                      <a:r>
                        <a:rPr lang="en-US" sz="2400" dirty="0">
                          <a:solidFill>
                            <a:schemeClr val="tx1"/>
                          </a:solidFill>
                        </a:rPr>
                        <a:t>17</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1831868292"/>
                  </a:ext>
                </a:extLst>
              </a:tr>
            </a:tbl>
          </a:graphicData>
        </a:graphic>
      </p:graphicFrame>
    </p:spTree>
    <p:extLst>
      <p:ext uri="{BB962C8B-B14F-4D97-AF65-F5344CB8AC3E}">
        <p14:creationId xmlns:p14="http://schemas.microsoft.com/office/powerpoint/2010/main" val="23339498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5824-E1CC-479A-AD8F-68253242ADD2}"/>
              </a:ext>
            </a:extLst>
          </p:cNvPr>
          <p:cNvSpPr>
            <a:spLocks noGrp="1"/>
          </p:cNvSpPr>
          <p:nvPr>
            <p:ph type="title"/>
          </p:nvPr>
        </p:nvSpPr>
        <p:spPr/>
        <p:txBody>
          <a:bodyPr/>
          <a:lstStyle/>
          <a:p>
            <a:r>
              <a:rPr lang="en-US" dirty="0"/>
              <a:t>Conversion Specifiers </a:t>
            </a:r>
            <a:endParaRPr lang="en-CA" dirty="0"/>
          </a:p>
        </p:txBody>
      </p:sp>
      <p:graphicFrame>
        <p:nvGraphicFramePr>
          <p:cNvPr id="4" name="Content Placeholder 3">
            <a:extLst>
              <a:ext uri="{FF2B5EF4-FFF2-40B4-BE49-F238E27FC236}">
                <a16:creationId xmlns:a16="http://schemas.microsoft.com/office/drawing/2014/main" id="{D994AEF7-D972-48FB-8661-06646861940C}"/>
              </a:ext>
            </a:extLst>
          </p:cNvPr>
          <p:cNvGraphicFramePr>
            <a:graphicFrameLocks/>
          </p:cNvGraphicFramePr>
          <p:nvPr>
            <p:extLst>
              <p:ext uri="{D42A27DB-BD31-4B8C-83A1-F6EECF244321}">
                <p14:modId xmlns:p14="http://schemas.microsoft.com/office/powerpoint/2010/main" val="4265963568"/>
              </p:ext>
            </p:extLst>
          </p:nvPr>
        </p:nvGraphicFramePr>
        <p:xfrm>
          <a:off x="838200" y="2059094"/>
          <a:ext cx="10515600" cy="3596640"/>
        </p:xfrm>
        <a:graphic>
          <a:graphicData uri="http://schemas.openxmlformats.org/drawingml/2006/table">
            <a:tbl>
              <a:tblPr firstRow="1" bandRow="1">
                <a:tableStyleId>{F2DE63D5-997A-4646-A377-4702673A728D}</a:tableStyleId>
              </a:tblPr>
              <a:tblGrid>
                <a:gridCol w="2200422">
                  <a:extLst>
                    <a:ext uri="{9D8B030D-6E8A-4147-A177-3AD203B41FA5}">
                      <a16:colId xmlns:a16="http://schemas.microsoft.com/office/drawing/2014/main" val="2065640164"/>
                    </a:ext>
                  </a:extLst>
                </a:gridCol>
                <a:gridCol w="3305907">
                  <a:extLst>
                    <a:ext uri="{9D8B030D-6E8A-4147-A177-3AD203B41FA5}">
                      <a16:colId xmlns:a16="http://schemas.microsoft.com/office/drawing/2014/main" val="3659849759"/>
                    </a:ext>
                  </a:extLst>
                </a:gridCol>
                <a:gridCol w="3362179">
                  <a:extLst>
                    <a:ext uri="{9D8B030D-6E8A-4147-A177-3AD203B41FA5}">
                      <a16:colId xmlns:a16="http://schemas.microsoft.com/office/drawing/2014/main" val="1956572627"/>
                    </a:ext>
                  </a:extLst>
                </a:gridCol>
                <a:gridCol w="1647092">
                  <a:extLst>
                    <a:ext uri="{9D8B030D-6E8A-4147-A177-3AD203B41FA5}">
                      <a16:colId xmlns:a16="http://schemas.microsoft.com/office/drawing/2014/main" val="2907788440"/>
                    </a:ext>
                  </a:extLst>
                </a:gridCol>
              </a:tblGrid>
              <a:tr h="370840">
                <a:tc>
                  <a:txBody>
                    <a:bodyPr/>
                    <a:lstStyle/>
                    <a:p>
                      <a:pPr algn="ctr"/>
                      <a:r>
                        <a:rPr lang="en-US" sz="2800" dirty="0">
                          <a:solidFill>
                            <a:schemeClr val="tx1"/>
                          </a:solidFill>
                        </a:rPr>
                        <a:t>Conversion Specifier</a:t>
                      </a:r>
                      <a:endParaRPr lang="en-US" sz="2800" dirty="0">
                        <a:solidFill>
                          <a:schemeClr val="tx1"/>
                        </a:solidFill>
                        <a:latin typeface="Rockwell" panose="02060603020205020403" pitchFamily="18" charset="77"/>
                      </a:endParaRPr>
                    </a:p>
                  </a:txBody>
                  <a:tcPr anchor="ctr"/>
                </a:tc>
                <a:tc>
                  <a:txBody>
                    <a:bodyPr/>
                    <a:lstStyle/>
                    <a:p>
                      <a:pPr algn="l"/>
                      <a:r>
                        <a:rPr lang="en-US" sz="2800" dirty="0">
                          <a:solidFill>
                            <a:schemeClr val="tx1"/>
                          </a:solidFill>
                        </a:rPr>
                        <a:t>Notes</a:t>
                      </a:r>
                      <a:endParaRPr lang="en-US" sz="2800" dirty="0">
                        <a:solidFill>
                          <a:schemeClr val="tx1"/>
                        </a:solidFill>
                        <a:latin typeface="Rockwell" panose="02060603020205020403" pitchFamily="18" charset="77"/>
                      </a:endParaRPr>
                    </a:p>
                  </a:txBody>
                  <a:tcPr anchor="ctr"/>
                </a:tc>
                <a:tc>
                  <a:txBody>
                    <a:bodyPr/>
                    <a:lstStyle/>
                    <a:p>
                      <a:pPr algn="l"/>
                      <a:r>
                        <a:rPr lang="en-US" sz="2800" dirty="0">
                          <a:solidFill>
                            <a:schemeClr val="tx1"/>
                          </a:solidFill>
                        </a:rPr>
                        <a:t>Example</a:t>
                      </a:r>
                      <a:endParaRPr lang="en-US" sz="2800" dirty="0">
                        <a:solidFill>
                          <a:schemeClr val="tx1"/>
                        </a:solidFill>
                        <a:latin typeface="Rockwell" panose="02060603020205020403" pitchFamily="18" charset="77"/>
                      </a:endParaRPr>
                    </a:p>
                  </a:txBody>
                  <a:tcPr anchor="ctr"/>
                </a:tc>
                <a:tc>
                  <a:txBody>
                    <a:bodyPr/>
                    <a:lstStyle/>
                    <a:p>
                      <a:pPr algn="l"/>
                      <a:r>
                        <a:rPr lang="en-US" sz="2800" dirty="0">
                          <a:solidFill>
                            <a:schemeClr val="tx1"/>
                          </a:solidFill>
                        </a:rPr>
                        <a:t>Output</a:t>
                      </a:r>
                      <a:endParaRPr lang="en-US" sz="2800" dirty="0">
                        <a:solidFill>
                          <a:schemeClr val="tx1"/>
                        </a:solidFill>
                        <a:latin typeface="Rockwell" panose="02060603020205020403" pitchFamily="18" charset="77"/>
                      </a:endParaRPr>
                    </a:p>
                  </a:txBody>
                  <a:tcPr anchor="ctr"/>
                </a:tc>
                <a:extLst>
                  <a:ext uri="{0D108BD9-81ED-4DB2-BD59-A6C34878D82A}">
                    <a16:rowId xmlns:a16="http://schemas.microsoft.com/office/drawing/2014/main" val="1659702814"/>
                  </a:ext>
                </a:extLst>
              </a:tr>
              <a:tr h="370840">
                <a:tc>
                  <a:txBody>
                    <a:bodyPr/>
                    <a:lstStyle/>
                    <a:p>
                      <a:pPr algn="ctr"/>
                      <a:r>
                        <a:rPr lang="en-US" sz="2400" dirty="0">
                          <a:solidFill>
                            <a:schemeClr val="tx1"/>
                          </a:solidFill>
                        </a:rPr>
                        <a:t>%d</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For an integer</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print(‘My </a:t>
                      </a:r>
                      <a:r>
                        <a:rPr lang="en-US" sz="2400" dirty="0" err="1">
                          <a:solidFill>
                            <a:schemeClr val="tx1"/>
                          </a:solidFill>
                        </a:rPr>
                        <a:t>num</a:t>
                      </a:r>
                      <a:r>
                        <a:rPr lang="en-US" sz="2400" dirty="0">
                          <a:solidFill>
                            <a:schemeClr val="tx1"/>
                          </a:solidFill>
                        </a:rPr>
                        <a:t> </a:t>
                      </a:r>
                      <a:r>
                        <a:rPr lang="en-US" sz="2400" dirty="0">
                          <a:solidFill>
                            <a:srgbClr val="FF0000"/>
                          </a:solidFill>
                        </a:rPr>
                        <a:t>%d</a:t>
                      </a:r>
                      <a:r>
                        <a:rPr lang="en-US" sz="2400" dirty="0">
                          <a:solidFill>
                            <a:schemeClr val="tx1"/>
                          </a:solidFill>
                        </a:rPr>
                        <a:t>’ </a:t>
                      </a:r>
                      <a:r>
                        <a:rPr lang="en-US" sz="2400" b="1" dirty="0">
                          <a:solidFill>
                            <a:schemeClr val="tx1"/>
                          </a:solidFill>
                        </a:rPr>
                        <a:t>%</a:t>
                      </a:r>
                      <a:r>
                        <a:rPr lang="en-US" sz="2400" dirty="0">
                          <a:solidFill>
                            <a:schemeClr val="tx1"/>
                          </a:solidFill>
                        </a:rPr>
                        <a:t> </a:t>
                      </a:r>
                      <a:r>
                        <a:rPr lang="en-US" sz="2400" dirty="0">
                          <a:solidFill>
                            <a:srgbClr val="FF0000"/>
                          </a:solidFill>
                        </a:rPr>
                        <a:t>17</a:t>
                      </a:r>
                      <a:r>
                        <a:rPr lang="en-US" sz="2400" dirty="0">
                          <a:solidFill>
                            <a:schemeClr val="tx1"/>
                          </a:solidFill>
                        </a:rPr>
                        <a:t>)</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My </a:t>
                      </a:r>
                      <a:r>
                        <a:rPr lang="en-US" sz="2400" dirty="0" err="1">
                          <a:solidFill>
                            <a:schemeClr val="tx1"/>
                          </a:solidFill>
                        </a:rPr>
                        <a:t>num</a:t>
                      </a:r>
                      <a:r>
                        <a:rPr lang="en-US" sz="2400" baseline="0" dirty="0">
                          <a:solidFill>
                            <a:schemeClr val="tx1"/>
                          </a:solidFill>
                        </a:rPr>
                        <a:t> </a:t>
                      </a:r>
                      <a:r>
                        <a:rPr lang="en-US" sz="2400" dirty="0">
                          <a:solidFill>
                            <a:schemeClr val="tx1"/>
                          </a:solidFill>
                        </a:rPr>
                        <a:t>17</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3536399738"/>
                  </a:ext>
                </a:extLst>
              </a:tr>
              <a:tr h="370840">
                <a:tc>
                  <a:txBody>
                    <a:bodyPr/>
                    <a:lstStyle/>
                    <a:p>
                      <a:pPr algn="ctr"/>
                      <a:r>
                        <a:rPr lang="en-US" sz="2400" dirty="0">
                          <a:solidFill>
                            <a:schemeClr val="tx1"/>
                          </a:solidFill>
                        </a:rPr>
                        <a:t>%f</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For a floating point number</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print(‘%f’ </a:t>
                      </a:r>
                      <a:r>
                        <a:rPr lang="en-US" sz="2400" b="1" dirty="0">
                          <a:solidFill>
                            <a:schemeClr val="tx1"/>
                          </a:solidFill>
                        </a:rPr>
                        <a:t>%</a:t>
                      </a:r>
                      <a:r>
                        <a:rPr lang="en-US" sz="2400" dirty="0">
                          <a:solidFill>
                            <a:schemeClr val="tx1"/>
                          </a:solidFill>
                        </a:rPr>
                        <a:t> 3.14)</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3.14</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784970844"/>
                  </a:ext>
                </a:extLst>
              </a:tr>
              <a:tr h="370840">
                <a:tc>
                  <a:txBody>
                    <a:bodyPr/>
                    <a:lstStyle/>
                    <a:p>
                      <a:pPr algn="ctr"/>
                      <a:r>
                        <a:rPr lang="en-US" sz="2400" dirty="0">
                          <a:solidFill>
                            <a:schemeClr val="tx1"/>
                          </a:solidFill>
                        </a:rPr>
                        <a:t>%s</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For a string</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print(‘%s’ </a:t>
                      </a:r>
                      <a:r>
                        <a:rPr lang="en-US" sz="2400" b="1" dirty="0">
                          <a:solidFill>
                            <a:schemeClr val="tx1"/>
                          </a:solidFill>
                        </a:rPr>
                        <a:t>%</a:t>
                      </a:r>
                      <a:r>
                        <a:rPr lang="en-US" sz="2400" dirty="0">
                          <a:solidFill>
                            <a:schemeClr val="tx1"/>
                          </a:solidFill>
                        </a:rPr>
                        <a:t> name)</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Oliver</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157913295"/>
                  </a:ext>
                </a:extLst>
              </a:tr>
              <a:tr h="370840">
                <a:tc>
                  <a:txBody>
                    <a:bodyPr/>
                    <a:lstStyle/>
                    <a:p>
                      <a:pPr algn="ctr"/>
                      <a:r>
                        <a:rPr lang="en-US" sz="2400" dirty="0">
                          <a:solidFill>
                            <a:schemeClr val="tx1"/>
                          </a:solidFill>
                        </a:rPr>
                        <a:t>%x, %X</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For hexadecimal</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print(‘%X’ </a:t>
                      </a:r>
                      <a:r>
                        <a:rPr lang="en-US" sz="2400" b="1" dirty="0">
                          <a:solidFill>
                            <a:schemeClr val="tx1"/>
                          </a:solidFill>
                        </a:rPr>
                        <a:t>%</a:t>
                      </a:r>
                      <a:r>
                        <a:rPr lang="en-US" sz="2400" dirty="0">
                          <a:solidFill>
                            <a:schemeClr val="tx1"/>
                          </a:solidFill>
                        </a:rPr>
                        <a:t> 17)</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11</a:t>
                      </a:r>
                      <a:endParaRPr lang="en-US" sz="2400" dirty="0">
                        <a:solidFill>
                          <a:schemeClr val="tx1"/>
                        </a:solidFill>
                        <a:latin typeface="Rockwell" panose="02060603020205020403" pitchFamily="18" charset="77"/>
                      </a:endParaRPr>
                    </a:p>
                  </a:txBody>
                  <a:tcPr/>
                </a:tc>
                <a:extLst>
                  <a:ext uri="{0D108BD9-81ED-4DB2-BD59-A6C34878D82A}">
                    <a16:rowId xmlns:a16="http://schemas.microsoft.com/office/drawing/2014/main" val="1146498296"/>
                  </a:ext>
                </a:extLst>
              </a:tr>
              <a:tr h="370840">
                <a:tc>
                  <a:txBody>
                    <a:bodyPr/>
                    <a:lstStyle/>
                    <a:p>
                      <a:pPr algn="ctr"/>
                      <a:r>
                        <a:rPr lang="en-US" sz="2400" dirty="0">
                          <a:solidFill>
                            <a:schemeClr val="tx1"/>
                          </a:solidFill>
                        </a:rPr>
                        <a:t>%e, %E</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For scientific notation</a:t>
                      </a:r>
                      <a:endParaRPr lang="en-US" sz="2400" dirty="0">
                        <a:solidFill>
                          <a:schemeClr val="tx1"/>
                        </a:solidFill>
                        <a:latin typeface="Rockwell" panose="02060603020205020403" pitchFamily="18" charset="77"/>
                      </a:endParaRPr>
                    </a:p>
                  </a:txBody>
                  <a:tcPr/>
                </a:tc>
                <a:tc>
                  <a:txBody>
                    <a:bodyPr/>
                    <a:lstStyle/>
                    <a:p>
                      <a:r>
                        <a:rPr lang="en-US" sz="2400" dirty="0">
                          <a:solidFill>
                            <a:schemeClr val="tx1"/>
                          </a:solidFill>
                        </a:rPr>
                        <a:t>print(‘%e’ </a:t>
                      </a:r>
                      <a:r>
                        <a:rPr lang="en-US" sz="2400" b="1" dirty="0">
                          <a:solidFill>
                            <a:schemeClr val="tx1"/>
                          </a:solidFill>
                        </a:rPr>
                        <a:t>%</a:t>
                      </a:r>
                      <a:r>
                        <a:rPr lang="en-US" sz="2400" dirty="0">
                          <a:solidFill>
                            <a:schemeClr val="tx1"/>
                          </a:solidFill>
                        </a:rPr>
                        <a:t> 314)</a:t>
                      </a:r>
                      <a:endParaRPr lang="en-US" sz="2400" dirty="0">
                        <a:solidFill>
                          <a:schemeClr val="tx1"/>
                        </a:solidFill>
                        <a:latin typeface="Rockwell" panose="02060603020205020403" pitchFamily="18" charset="77"/>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solidFill>
                          <a:effectLst/>
                        </a:rPr>
                        <a:t>3.140000e+02</a:t>
                      </a:r>
                      <a:endParaRPr lang="en-CA" sz="1800" kern="1200" dirty="0">
                        <a:solidFill>
                          <a:schemeClr val="tx1"/>
                        </a:solidFill>
                        <a:effectLst/>
                        <a:latin typeface="+mn-lt"/>
                        <a:ea typeface="+mn-ea"/>
                        <a:cs typeface="+mn-cs"/>
                      </a:endParaRPr>
                    </a:p>
                  </a:txBody>
                  <a:tcPr/>
                </a:tc>
                <a:extLst>
                  <a:ext uri="{0D108BD9-81ED-4DB2-BD59-A6C34878D82A}">
                    <a16:rowId xmlns:a16="http://schemas.microsoft.com/office/drawing/2014/main" val="908928061"/>
                  </a:ext>
                </a:extLst>
              </a:tr>
            </a:tbl>
          </a:graphicData>
        </a:graphic>
      </p:graphicFrame>
    </p:spTree>
    <p:extLst>
      <p:ext uri="{BB962C8B-B14F-4D97-AF65-F5344CB8AC3E}">
        <p14:creationId xmlns:p14="http://schemas.microsoft.com/office/powerpoint/2010/main" val="20165404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4281-4CE1-4319-8998-FD8E483FA143}"/>
              </a:ext>
            </a:extLst>
          </p:cNvPr>
          <p:cNvSpPr>
            <a:spLocks noGrp="1"/>
          </p:cNvSpPr>
          <p:nvPr>
            <p:ph type="title"/>
          </p:nvPr>
        </p:nvSpPr>
        <p:spPr/>
        <p:txBody>
          <a:bodyPr/>
          <a:lstStyle/>
          <a:p>
            <a:r>
              <a:rPr lang="en-US" dirty="0"/>
              <a:t>Conversion Specifiers (floats)</a:t>
            </a:r>
            <a:endParaRPr lang="en-CA" dirty="0"/>
          </a:p>
        </p:txBody>
      </p:sp>
      <p:sp>
        <p:nvSpPr>
          <p:cNvPr id="3" name="Content Placeholder 2">
            <a:extLst>
              <a:ext uri="{FF2B5EF4-FFF2-40B4-BE49-F238E27FC236}">
                <a16:creationId xmlns:a16="http://schemas.microsoft.com/office/drawing/2014/main" id="{803DE226-5588-4720-96FA-0F8A538B48D8}"/>
              </a:ext>
            </a:extLst>
          </p:cNvPr>
          <p:cNvSpPr>
            <a:spLocks noGrp="1"/>
          </p:cNvSpPr>
          <p:nvPr>
            <p:ph idx="1"/>
          </p:nvPr>
        </p:nvSpPr>
        <p:spPr>
          <a:xfrm>
            <a:off x="1046988" y="1845733"/>
            <a:ext cx="10158984" cy="4415217"/>
          </a:xfrm>
        </p:spPr>
        <p:txBody>
          <a:bodyPr>
            <a:normAutofit fontScale="92500" lnSpcReduction="10000"/>
          </a:bodyPr>
          <a:lstStyle/>
          <a:p>
            <a:pPr marL="0" indent="0">
              <a:buNone/>
            </a:pPr>
            <a:r>
              <a:rPr lang="en-CA" dirty="0" err="1">
                <a:solidFill>
                  <a:srgbClr val="FF0000"/>
                </a:solidFill>
              </a:rPr>
              <a:t>apr</a:t>
            </a:r>
            <a:r>
              <a:rPr lang="en-CA" dirty="0"/>
              <a:t> = float(input('Enter APR:\n’))</a:t>
            </a:r>
          </a:p>
          <a:p>
            <a:pPr marL="0" indent="0">
              <a:buNone/>
            </a:pPr>
            <a:endParaRPr lang="en-CA" dirty="0"/>
          </a:p>
          <a:p>
            <a:pPr marL="0" indent="0">
              <a:buNone/>
            </a:pPr>
            <a:r>
              <a:rPr lang="en-CA" dirty="0"/>
              <a:t># Print using a float conversion specifier</a:t>
            </a:r>
          </a:p>
          <a:p>
            <a:pPr marL="0" indent="0">
              <a:buNone/>
            </a:pPr>
            <a:r>
              <a:rPr lang="en-CA" sz="2400" dirty="0"/>
              <a:t>print('Annual percentage rate as a float is </a:t>
            </a:r>
            <a:r>
              <a:rPr lang="en-CA" sz="2400" dirty="0">
                <a:solidFill>
                  <a:srgbClr val="FF0000"/>
                </a:solidFill>
              </a:rPr>
              <a:t>%f</a:t>
            </a:r>
            <a:r>
              <a:rPr lang="en-CA" sz="2400" dirty="0"/>
              <a:t> ' </a:t>
            </a:r>
            <a:r>
              <a:rPr lang="en-CA" sz="2400" b="1" dirty="0"/>
              <a:t>%</a:t>
            </a:r>
            <a:r>
              <a:rPr lang="en-CA" sz="2400" dirty="0"/>
              <a:t> </a:t>
            </a:r>
            <a:r>
              <a:rPr lang="en-CA" sz="2400" dirty="0" err="1">
                <a:solidFill>
                  <a:srgbClr val="FF0000"/>
                </a:solidFill>
              </a:rPr>
              <a:t>apr</a:t>
            </a:r>
            <a:r>
              <a:rPr lang="en-CA" sz="2400" dirty="0"/>
              <a:t>)</a:t>
            </a:r>
          </a:p>
          <a:p>
            <a:pPr marL="0" indent="0">
              <a:buNone/>
            </a:pPr>
            <a:r>
              <a:rPr lang="en-CA" sz="2400" dirty="0"/>
              <a:t>	</a:t>
            </a:r>
            <a:r>
              <a:rPr lang="en-CA" sz="2400" dirty="0">
                <a:latin typeface="Consolas" panose="020B0609020204030204" pitchFamily="49" charset="0"/>
              </a:rPr>
              <a:t>Annual percentage rate as a float is 100.000000</a:t>
            </a:r>
          </a:p>
          <a:p>
            <a:pPr marL="0" indent="0">
              <a:buNone/>
            </a:pPr>
            <a:endParaRPr lang="en-CA" dirty="0"/>
          </a:p>
          <a:p>
            <a:pPr marL="0" indent="0">
              <a:buNone/>
            </a:pPr>
            <a:r>
              <a:rPr lang="en-CA" dirty="0"/>
              <a:t># Print using a float conversion specifier and trailing %</a:t>
            </a:r>
          </a:p>
          <a:p>
            <a:pPr marL="0" indent="0">
              <a:buNone/>
            </a:pPr>
            <a:r>
              <a:rPr lang="en-CA" dirty="0"/>
              <a:t># Need extra % sign for % symbol to appear in string</a:t>
            </a:r>
          </a:p>
          <a:p>
            <a:pPr marL="0" indent="0">
              <a:buNone/>
            </a:pPr>
            <a:r>
              <a:rPr lang="en-CA" sz="2400" dirty="0"/>
              <a:t>print('Annual percentage rate as a float is </a:t>
            </a:r>
            <a:r>
              <a:rPr lang="en-CA" sz="2400" dirty="0">
                <a:solidFill>
                  <a:srgbClr val="FF0000"/>
                </a:solidFill>
              </a:rPr>
              <a:t>%f</a:t>
            </a:r>
            <a:r>
              <a:rPr lang="en-CA" sz="3200" b="1" u="sng" dirty="0"/>
              <a:t>%%</a:t>
            </a:r>
            <a:r>
              <a:rPr lang="en-CA" sz="3200" b="1" dirty="0"/>
              <a:t> </a:t>
            </a:r>
            <a:r>
              <a:rPr lang="en-CA" sz="2400" dirty="0"/>
              <a:t>' % </a:t>
            </a:r>
            <a:r>
              <a:rPr lang="en-CA" sz="2400" dirty="0" err="1">
                <a:solidFill>
                  <a:srgbClr val="FF0000"/>
                </a:solidFill>
              </a:rPr>
              <a:t>apr</a:t>
            </a:r>
            <a:r>
              <a:rPr lang="en-CA" sz="2400" dirty="0"/>
              <a:t>)</a:t>
            </a:r>
          </a:p>
          <a:p>
            <a:pPr marL="0" indent="0">
              <a:buNone/>
            </a:pPr>
            <a:r>
              <a:rPr lang="en-CA" sz="2400" dirty="0"/>
              <a:t>	</a:t>
            </a:r>
            <a:r>
              <a:rPr lang="en-CA" sz="2400" dirty="0">
                <a:latin typeface="Consolas" panose="020B0609020204030204" pitchFamily="49" charset="0"/>
              </a:rPr>
              <a:t>Annual percentage rate as a float is 100.000000%</a:t>
            </a:r>
          </a:p>
          <a:p>
            <a:pPr marL="0" indent="0">
              <a:buNone/>
            </a:pPr>
            <a:endParaRPr lang="en-CA" dirty="0"/>
          </a:p>
        </p:txBody>
      </p:sp>
    </p:spTree>
    <p:extLst>
      <p:ext uri="{BB962C8B-B14F-4D97-AF65-F5344CB8AC3E}">
        <p14:creationId xmlns:p14="http://schemas.microsoft.com/office/powerpoint/2010/main" val="18628774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88B1A-282D-4AAC-8500-B544791F950A}"/>
              </a:ext>
            </a:extLst>
          </p:cNvPr>
          <p:cNvSpPr>
            <a:spLocks noGrp="1"/>
          </p:cNvSpPr>
          <p:nvPr>
            <p:ph type="title"/>
          </p:nvPr>
        </p:nvSpPr>
        <p:spPr/>
        <p:txBody>
          <a:bodyPr/>
          <a:lstStyle/>
          <a:p>
            <a:r>
              <a:rPr lang="en-US" dirty="0"/>
              <a:t>Conversion Specifiers (Multiple)</a:t>
            </a:r>
            <a:endParaRPr lang="en-CA" dirty="0"/>
          </a:p>
        </p:txBody>
      </p:sp>
      <p:sp>
        <p:nvSpPr>
          <p:cNvPr id="3" name="Content Placeholder 2">
            <a:extLst>
              <a:ext uri="{FF2B5EF4-FFF2-40B4-BE49-F238E27FC236}">
                <a16:creationId xmlns:a16="http://schemas.microsoft.com/office/drawing/2014/main" id="{9A9E66B3-1BDC-422D-A45A-5C03383112E0}"/>
              </a:ext>
            </a:extLst>
          </p:cNvPr>
          <p:cNvSpPr>
            <a:spLocks noGrp="1"/>
          </p:cNvSpPr>
          <p:nvPr>
            <p:ph idx="1"/>
          </p:nvPr>
        </p:nvSpPr>
        <p:spPr/>
        <p:txBody>
          <a:bodyPr>
            <a:normAutofit/>
          </a:bodyPr>
          <a:lstStyle/>
          <a:p>
            <a:pPr marL="0" indent="0">
              <a:buNone/>
            </a:pPr>
            <a:r>
              <a:rPr lang="en-CA" sz="2800" b="1" dirty="0"/>
              <a:t>Super easy:</a:t>
            </a:r>
          </a:p>
          <a:p>
            <a:pPr marL="0" indent="0">
              <a:buNone/>
            </a:pPr>
            <a:endParaRPr lang="en-CA" sz="3200" dirty="0"/>
          </a:p>
          <a:p>
            <a:pPr marL="0" indent="0">
              <a:buNone/>
            </a:pPr>
            <a:r>
              <a:rPr lang="en-CA" sz="3200" dirty="0">
                <a:solidFill>
                  <a:srgbClr val="FF0000"/>
                </a:solidFill>
              </a:rPr>
              <a:t>name</a:t>
            </a:r>
            <a:r>
              <a:rPr lang="en-CA" sz="3200" dirty="0"/>
              <a:t> = ‘COMP 3522’</a:t>
            </a:r>
          </a:p>
          <a:p>
            <a:pPr marL="0" indent="0">
              <a:buNone/>
            </a:pPr>
            <a:r>
              <a:rPr lang="en-CA" sz="3200" dirty="0">
                <a:solidFill>
                  <a:srgbClr val="00B0F0"/>
                </a:solidFill>
              </a:rPr>
              <a:t>room</a:t>
            </a:r>
            <a:r>
              <a:rPr lang="en-CA" sz="3200" dirty="0"/>
              <a:t> </a:t>
            </a:r>
            <a:r>
              <a:rPr lang="en-CA" sz="3200"/>
              <a:t>= 645</a:t>
            </a:r>
            <a:endParaRPr lang="en-CA" sz="3200" dirty="0"/>
          </a:p>
          <a:p>
            <a:pPr marL="0" indent="0">
              <a:buNone/>
            </a:pPr>
            <a:r>
              <a:rPr lang="en-CA" sz="3200" dirty="0"/>
              <a:t>print(‘Course </a:t>
            </a:r>
            <a:r>
              <a:rPr lang="en-CA" sz="3200" dirty="0">
                <a:solidFill>
                  <a:srgbClr val="FF0000"/>
                </a:solidFill>
              </a:rPr>
              <a:t>%s</a:t>
            </a:r>
            <a:r>
              <a:rPr lang="en-CA" sz="3200" dirty="0"/>
              <a:t> is in </a:t>
            </a:r>
            <a:r>
              <a:rPr lang="en-CA" sz="3200" dirty="0">
                <a:solidFill>
                  <a:srgbClr val="00B0F0"/>
                </a:solidFill>
              </a:rPr>
              <a:t>%d</a:t>
            </a:r>
            <a:r>
              <a:rPr lang="en-CA" sz="3200" dirty="0"/>
              <a:t>\n’ % </a:t>
            </a:r>
            <a:r>
              <a:rPr lang="en-CA" sz="3200" b="1" dirty="0"/>
              <a:t>(</a:t>
            </a:r>
            <a:r>
              <a:rPr lang="en-CA" sz="3200" dirty="0">
                <a:solidFill>
                  <a:srgbClr val="FF0000"/>
                </a:solidFill>
              </a:rPr>
              <a:t>name</a:t>
            </a:r>
            <a:r>
              <a:rPr lang="en-CA" sz="3200" dirty="0"/>
              <a:t>, </a:t>
            </a:r>
            <a:r>
              <a:rPr lang="en-CA" sz="3200" dirty="0">
                <a:solidFill>
                  <a:srgbClr val="00B0F0"/>
                </a:solidFill>
              </a:rPr>
              <a:t>room</a:t>
            </a:r>
            <a:r>
              <a:rPr lang="en-CA" sz="3200" b="1" dirty="0"/>
              <a:t>)</a:t>
            </a:r>
            <a:r>
              <a:rPr lang="en-CA" sz="3200" dirty="0"/>
              <a:t>) </a:t>
            </a:r>
            <a:r>
              <a:rPr lang="en-CA" sz="3200" i="1" dirty="0">
                <a:solidFill>
                  <a:srgbClr val="00B050"/>
                </a:solidFill>
              </a:rPr>
              <a:t>#make sure to have enclosing brackets for multiple </a:t>
            </a:r>
            <a:r>
              <a:rPr lang="en-CA" sz="3200" i="1" dirty="0" err="1">
                <a:solidFill>
                  <a:srgbClr val="00B050"/>
                </a:solidFill>
              </a:rPr>
              <a:t>params</a:t>
            </a:r>
            <a:endParaRPr lang="en-CA" sz="3200" i="1" dirty="0">
              <a:solidFill>
                <a:srgbClr val="00B050"/>
              </a:solidFill>
            </a:endParaRPr>
          </a:p>
          <a:p>
            <a:endParaRPr lang="en-CA" sz="3200" dirty="0"/>
          </a:p>
        </p:txBody>
      </p:sp>
    </p:spTree>
    <p:extLst>
      <p:ext uri="{BB962C8B-B14F-4D97-AF65-F5344CB8AC3E}">
        <p14:creationId xmlns:p14="http://schemas.microsoft.com/office/powerpoint/2010/main" val="3817168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14309</TotalTime>
  <Words>5602</Words>
  <Application>Microsoft Office PowerPoint</Application>
  <PresentationFormat>Widescreen</PresentationFormat>
  <Paragraphs>713</Paragraphs>
  <Slides>83</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Calibri</vt:lpstr>
      <vt:lpstr>Calibri Light</vt:lpstr>
      <vt:lpstr>Consolas</vt:lpstr>
      <vt:lpstr>Courier</vt:lpstr>
      <vt:lpstr>Rockwell</vt:lpstr>
      <vt:lpstr>Wingdings</vt:lpstr>
      <vt:lpstr>Retrospect</vt:lpstr>
      <vt:lpstr>Welcome!</vt:lpstr>
      <vt:lpstr>Agenda</vt:lpstr>
      <vt:lpstr>A Bit About Me…</vt:lpstr>
      <vt:lpstr>PowerPoint Presentation</vt:lpstr>
      <vt:lpstr>COMP 3522 - Three pillars of this course:</vt:lpstr>
      <vt:lpstr>Class Schedule</vt:lpstr>
      <vt:lpstr>Schedule</vt:lpstr>
      <vt:lpstr>Schedule</vt:lpstr>
      <vt:lpstr>Schedule</vt:lpstr>
      <vt:lpstr>Schedule</vt:lpstr>
      <vt:lpstr>Textbook (Optional)</vt:lpstr>
      <vt:lpstr>Online Resources</vt:lpstr>
      <vt:lpstr>The Learning Hub</vt:lpstr>
      <vt:lpstr>Communication</vt:lpstr>
      <vt:lpstr>Assessments</vt:lpstr>
      <vt:lpstr>Practice OOP &amp; DP with Games </vt:lpstr>
      <vt:lpstr>Let’s Lay Down Some Ground Rules…</vt:lpstr>
      <vt:lpstr>Let’s Lay Down Some Ground Rules…</vt:lpstr>
      <vt:lpstr>Intro to Python</vt:lpstr>
      <vt:lpstr>Why Python?</vt:lpstr>
      <vt:lpstr>Python and Comp 3522</vt:lpstr>
      <vt:lpstr>Hello World</vt:lpstr>
      <vt:lpstr>My first Python program</vt:lpstr>
      <vt:lpstr>My first Python program</vt:lpstr>
      <vt:lpstr>My first Python program</vt:lpstr>
      <vt:lpstr>My first Python program</vt:lpstr>
      <vt:lpstr>Intro to Variables and Functions</vt:lpstr>
      <vt:lpstr>Intro to Variables and Functions</vt:lpstr>
      <vt:lpstr>Intro to Variables and Functions</vt:lpstr>
      <vt:lpstr>Intro to Variables and Functions</vt:lpstr>
      <vt:lpstr>Intro to Variables and Functions</vt:lpstr>
      <vt:lpstr>Intro to Variables and Functions</vt:lpstr>
      <vt:lpstr>Intro to Variables and Functions</vt:lpstr>
      <vt:lpstr>Intro to Variables and Functions</vt:lpstr>
      <vt:lpstr>If Statement</vt:lpstr>
      <vt:lpstr>The if statement</vt:lpstr>
      <vt:lpstr>Branching: if</vt:lpstr>
      <vt:lpstr>Branching: if-else</vt:lpstr>
      <vt:lpstr>An example</vt:lpstr>
      <vt:lpstr>Another example</vt:lpstr>
      <vt:lpstr>Be careful with your indentation!</vt:lpstr>
      <vt:lpstr>Multi-branch if-else</vt:lpstr>
      <vt:lpstr>Another example</vt:lpstr>
      <vt:lpstr>Nested if-else statements</vt:lpstr>
      <vt:lpstr>We can use multiple sequential ifs</vt:lpstr>
      <vt:lpstr>Comments and Docstrings</vt:lpstr>
      <vt:lpstr># Good Comments &amp; Readable Code</vt:lpstr>
      <vt:lpstr>Docstrings</vt:lpstr>
      <vt:lpstr>Docstring Example</vt:lpstr>
      <vt:lpstr>Docstring Formatting</vt:lpstr>
      <vt:lpstr>Styling Your Code</vt:lpstr>
      <vt:lpstr>PEP 8 Style Guide</vt:lpstr>
      <vt:lpstr>PEP 8 Style Guide</vt:lpstr>
      <vt:lpstr>Naming Conventions</vt:lpstr>
      <vt:lpstr>PowerPoint Presentation</vt:lpstr>
      <vt:lpstr>Strings</vt:lpstr>
      <vt:lpstr>Python String</vt:lpstr>
      <vt:lpstr>Python Strings are a Sequence Type </vt:lpstr>
      <vt:lpstr>Unicode</vt:lpstr>
      <vt:lpstr>PowerPoint Presentation</vt:lpstr>
      <vt:lpstr>Escape sequences</vt:lpstr>
      <vt:lpstr>Raw Strings</vt:lpstr>
      <vt:lpstr>Some Common String Methods, Functions and Features</vt:lpstr>
      <vt:lpstr>Some Common String Methods, Functions and Features</vt:lpstr>
      <vt:lpstr>Some Common String Methods, Functions and Features</vt:lpstr>
      <vt:lpstr>Some Common String Methods, Functions and Features</vt:lpstr>
      <vt:lpstr>String Concatenation</vt:lpstr>
      <vt:lpstr>String Concatenation</vt:lpstr>
      <vt:lpstr>Multi-line strings</vt:lpstr>
      <vt:lpstr>Multi-line strings</vt:lpstr>
      <vt:lpstr>Multi-line strings</vt:lpstr>
      <vt:lpstr>Test Your Understanding</vt:lpstr>
      <vt:lpstr>String Formatting</vt:lpstr>
      <vt:lpstr>Formatting output</vt:lpstr>
      <vt:lpstr>The str.format() Method</vt:lpstr>
      <vt:lpstr>The str.format() Method</vt:lpstr>
      <vt:lpstr>F-strings</vt:lpstr>
      <vt:lpstr>A note on print()</vt:lpstr>
      <vt:lpstr>Conversion Specifiers</vt:lpstr>
      <vt:lpstr>Conversion Specifiers with % operator </vt:lpstr>
      <vt:lpstr>Conversion Specifiers </vt:lpstr>
      <vt:lpstr>Conversion Specifiers (floats)</vt:lpstr>
      <vt:lpstr>Conversion Specifiers (Multiple)</vt:lpstr>
    </vt:vector>
  </TitlesOfParts>
  <Company>BCIT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Rahul Kukreja</dc:creator>
  <cp:lastModifiedBy>Nabil Al-Rousan</cp:lastModifiedBy>
  <cp:revision>262</cp:revision>
  <dcterms:created xsi:type="dcterms:W3CDTF">2019-09-02T04:13:47Z</dcterms:created>
  <dcterms:modified xsi:type="dcterms:W3CDTF">2026-01-06T18:10:29Z</dcterms:modified>
</cp:coreProperties>
</file>