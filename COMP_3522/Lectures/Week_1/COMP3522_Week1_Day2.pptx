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slides/slide24.xml" ContentType="application/vnd.openxmlformats-officedocument.presentationml.slide+xml"/>
  <Override PartName="/ppt/slides/slide25.xml" ContentType="application/vnd.openxmlformats-officedocument.presentationml.slide+xml"/>
  <Override PartName="/ppt/slides/slide26.xml" ContentType="application/vnd.openxmlformats-officedocument.presentationml.slide+xml"/>
  <Override PartName="/ppt/slides/slide27.xml" ContentType="application/vnd.openxmlformats-officedocument.presentationml.slide+xml"/>
  <Override PartName="/ppt/slides/slide28.xml" ContentType="application/vnd.openxmlformats-officedocument.presentationml.slide+xml"/>
  <Override PartName="/ppt/slides/slide29.xml" ContentType="application/vnd.openxmlformats-officedocument.presentationml.slide+xml"/>
  <Override PartName="/ppt/slides/slide30.xml" ContentType="application/vnd.openxmlformats-officedocument.presentationml.slide+xml"/>
  <Override PartName="/ppt/slides/slide31.xml" ContentType="application/vnd.openxmlformats-officedocument.presentationml.slide+xml"/>
  <Override PartName="/ppt/slides/slide32.xml" ContentType="application/vnd.openxmlformats-officedocument.presentationml.slide+xml"/>
  <Override PartName="/ppt/slides/slide33.xml" ContentType="application/vnd.openxmlformats-officedocument.presentationml.slide+xml"/>
  <Override PartName="/ppt/slides/slide34.xml" ContentType="application/vnd.openxmlformats-officedocument.presentationml.slide+xml"/>
  <Override PartName="/ppt/slides/slide35.xml" ContentType="application/vnd.openxmlformats-officedocument.presentationml.slide+xml"/>
  <Override PartName="/ppt/slides/slide36.xml" ContentType="application/vnd.openxmlformats-officedocument.presentationml.slide+xml"/>
  <Override PartName="/ppt/slides/slide37.xml" ContentType="application/vnd.openxmlformats-officedocument.presentationml.slide+xml"/>
  <Override PartName="/ppt/slides/slide38.xml" ContentType="application/vnd.openxmlformats-officedocument.presentationml.slide+xml"/>
  <Override PartName="/ppt/slides/slide39.xml" ContentType="application/vnd.openxmlformats-officedocument.presentationml.slide+xml"/>
  <Override PartName="/ppt/slides/slide40.xml" ContentType="application/vnd.openxmlformats-officedocument.presentationml.slide+xml"/>
  <Override PartName="/ppt/slides/slide41.xml" ContentType="application/vnd.openxmlformats-officedocument.presentationml.slide+xml"/>
  <Override PartName="/ppt/slides/slide42.xml" ContentType="application/vnd.openxmlformats-officedocument.presentationml.slide+xml"/>
  <Override PartName="/ppt/slides/slide43.xml" ContentType="application/vnd.openxmlformats-officedocument.presentationml.slide+xml"/>
  <Override PartName="/ppt/slides/slide44.xml" ContentType="application/vnd.openxmlformats-officedocument.presentationml.slide+xml"/>
  <Override PartName="/ppt/slides/slide45.xml" ContentType="application/vnd.openxmlformats-officedocument.presentationml.slide+xml"/>
  <Override PartName="/ppt/slides/slide46.xml" ContentType="application/vnd.openxmlformats-officedocument.presentationml.slide+xml"/>
  <Override PartName="/ppt/slides/slide47.xml" ContentType="application/vnd.openxmlformats-officedocument.presentationml.slide+xml"/>
  <Override PartName="/ppt/slides/slide48.xml" ContentType="application/vnd.openxmlformats-officedocument.presentationml.slide+xml"/>
  <Override PartName="/ppt/slides/slide49.xml" ContentType="application/vnd.openxmlformats-officedocument.presentationml.slide+xml"/>
  <Override PartName="/ppt/slides/slide50.xml" ContentType="application/vnd.openxmlformats-officedocument.presentationml.slide+xml"/>
  <Override PartName="/ppt/slides/slide51.xml" ContentType="application/vnd.openxmlformats-officedocument.presentationml.slide+xml"/>
  <Override PartName="/ppt/slides/slide52.xml" ContentType="application/vnd.openxmlformats-officedocument.presentationml.slide+xml"/>
  <Override PartName="/ppt/slides/slide53.xml" ContentType="application/vnd.openxmlformats-officedocument.presentationml.slide+xml"/>
  <Override PartName="/ppt/slides/slide54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autoCompressPictures="0">
  <p:sldMasterIdLst>
    <p:sldMasterId id="2147483648" r:id="rId1"/>
  </p:sldMasterIdLst>
  <p:notesMasterIdLst>
    <p:notesMasterId r:id="rId56"/>
  </p:notesMasterIdLst>
  <p:sldIdLst>
    <p:sldId id="256" r:id="rId2"/>
    <p:sldId id="303" r:id="rId3"/>
    <p:sldId id="313" r:id="rId4"/>
    <p:sldId id="1300" r:id="rId5"/>
    <p:sldId id="1303" r:id="rId6"/>
    <p:sldId id="1305" r:id="rId7"/>
    <p:sldId id="1304" r:id="rId8"/>
    <p:sldId id="1302" r:id="rId9"/>
    <p:sldId id="1307" r:id="rId10"/>
    <p:sldId id="1306" r:id="rId11"/>
    <p:sldId id="1299" r:id="rId12"/>
    <p:sldId id="358" r:id="rId13"/>
    <p:sldId id="359" r:id="rId14"/>
    <p:sldId id="360" r:id="rId15"/>
    <p:sldId id="361" r:id="rId16"/>
    <p:sldId id="315" r:id="rId17"/>
    <p:sldId id="372" r:id="rId18"/>
    <p:sldId id="373" r:id="rId19"/>
    <p:sldId id="374" r:id="rId20"/>
    <p:sldId id="1312" r:id="rId21"/>
    <p:sldId id="316" r:id="rId22"/>
    <p:sldId id="317" r:id="rId23"/>
    <p:sldId id="375" r:id="rId24"/>
    <p:sldId id="376" r:id="rId25"/>
    <p:sldId id="377" r:id="rId26"/>
    <p:sldId id="378" r:id="rId27"/>
    <p:sldId id="318" r:id="rId28"/>
    <p:sldId id="379" r:id="rId29"/>
    <p:sldId id="1316" r:id="rId30"/>
    <p:sldId id="1313" r:id="rId31"/>
    <p:sldId id="320" r:id="rId32"/>
    <p:sldId id="380" r:id="rId33"/>
    <p:sldId id="1314" r:id="rId34"/>
    <p:sldId id="321" r:id="rId35"/>
    <p:sldId id="382" r:id="rId36"/>
    <p:sldId id="614" r:id="rId37"/>
    <p:sldId id="1290" r:id="rId38"/>
    <p:sldId id="1292" r:id="rId39"/>
    <p:sldId id="1308" r:id="rId40"/>
    <p:sldId id="1293" r:id="rId41"/>
    <p:sldId id="322" r:id="rId42"/>
    <p:sldId id="1215" r:id="rId43"/>
    <p:sldId id="1216" r:id="rId44"/>
    <p:sldId id="1310" r:id="rId45"/>
    <p:sldId id="1311" r:id="rId46"/>
    <p:sldId id="1315" r:id="rId47"/>
    <p:sldId id="1295" r:id="rId48"/>
    <p:sldId id="1294" r:id="rId49"/>
    <p:sldId id="1296" r:id="rId50"/>
    <p:sldId id="1309" r:id="rId51"/>
    <p:sldId id="1297" r:id="rId52"/>
    <p:sldId id="325" r:id="rId53"/>
    <p:sldId id="1298" r:id="rId54"/>
    <p:sldId id="300" r:id="rId55"/>
  </p:sldIdLst>
  <p:sldSz cx="12192000" cy="6858000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521415D9-36F7-43E2-AB2F-B90AF26B5E84}">
      <p14:sectionLst xmlns:p14="http://schemas.microsoft.com/office/powerpoint/2010/main">
        <p14:section name="Default Section" id="{93C52B1B-8552-4EA8-9F30-F71A1F646BFC}">
          <p14:sldIdLst>
            <p14:sldId id="256"/>
            <p14:sldId id="303"/>
            <p14:sldId id="313"/>
            <p14:sldId id="1300"/>
            <p14:sldId id="1303"/>
            <p14:sldId id="1305"/>
            <p14:sldId id="1304"/>
            <p14:sldId id="1302"/>
            <p14:sldId id="1307"/>
            <p14:sldId id="1306"/>
            <p14:sldId id="1299"/>
            <p14:sldId id="358"/>
            <p14:sldId id="359"/>
            <p14:sldId id="360"/>
            <p14:sldId id="361"/>
            <p14:sldId id="315"/>
            <p14:sldId id="372"/>
            <p14:sldId id="373"/>
            <p14:sldId id="374"/>
            <p14:sldId id="1312"/>
            <p14:sldId id="316"/>
            <p14:sldId id="317"/>
            <p14:sldId id="375"/>
            <p14:sldId id="376"/>
            <p14:sldId id="377"/>
            <p14:sldId id="378"/>
            <p14:sldId id="318"/>
            <p14:sldId id="379"/>
            <p14:sldId id="1316"/>
            <p14:sldId id="1313"/>
            <p14:sldId id="320"/>
            <p14:sldId id="380"/>
            <p14:sldId id="1314"/>
            <p14:sldId id="321"/>
            <p14:sldId id="382"/>
            <p14:sldId id="614"/>
            <p14:sldId id="1290"/>
            <p14:sldId id="1292"/>
            <p14:sldId id="1308"/>
            <p14:sldId id="1293"/>
            <p14:sldId id="322"/>
            <p14:sldId id="1215"/>
            <p14:sldId id="1216"/>
            <p14:sldId id="1310"/>
            <p14:sldId id="1311"/>
            <p14:sldId id="1315"/>
            <p14:sldId id="1295"/>
            <p14:sldId id="1294"/>
            <p14:sldId id="1296"/>
            <p14:sldId id="1309"/>
            <p14:sldId id="1297"/>
            <p14:sldId id="325"/>
            <p14:sldId id="1298"/>
            <p14:sldId id="300"/>
          </p14:sldIdLst>
        </p14:section>
      </p14:sectionLst>
    </p:ex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 useTimings="0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clrMru>
    <a:srgbClr val="CBCBCB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9777" autoAdjust="0"/>
    <p:restoredTop sz="88785" autoAdjust="0"/>
  </p:normalViewPr>
  <p:slideViewPr>
    <p:cSldViewPr snapToGrid="0">
      <p:cViewPr varScale="1">
        <p:scale>
          <a:sx n="90" d="100"/>
          <a:sy n="90" d="100"/>
        </p:scale>
        <p:origin x="399" y="60"/>
      </p:cViewPr>
      <p:guideLst/>
    </p:cSldViewPr>
  </p:slideViewPr>
  <p:outlineViewPr>
    <p:cViewPr>
      <p:scale>
        <a:sx n="33" d="100"/>
        <a:sy n="33" d="100"/>
      </p:scale>
      <p:origin x="0" y="-29766"/>
    </p:cViewPr>
  </p:outlineViewPr>
  <p:notesTextViewPr>
    <p:cViewPr>
      <p:scale>
        <a:sx n="3" d="2"/>
        <a:sy n="3" d="2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13" Type="http://schemas.openxmlformats.org/officeDocument/2006/relationships/slide" Target="slides/slide12.xml"/><Relationship Id="rId18" Type="http://schemas.openxmlformats.org/officeDocument/2006/relationships/slide" Target="slides/slide17.xml"/><Relationship Id="rId26" Type="http://schemas.openxmlformats.org/officeDocument/2006/relationships/slide" Target="slides/slide25.xml"/><Relationship Id="rId39" Type="http://schemas.openxmlformats.org/officeDocument/2006/relationships/slide" Target="slides/slide38.xml"/><Relationship Id="rId21" Type="http://schemas.openxmlformats.org/officeDocument/2006/relationships/slide" Target="slides/slide20.xml"/><Relationship Id="rId34" Type="http://schemas.openxmlformats.org/officeDocument/2006/relationships/slide" Target="slides/slide33.xml"/><Relationship Id="rId42" Type="http://schemas.openxmlformats.org/officeDocument/2006/relationships/slide" Target="slides/slide41.xml"/><Relationship Id="rId47" Type="http://schemas.openxmlformats.org/officeDocument/2006/relationships/slide" Target="slides/slide46.xml"/><Relationship Id="rId50" Type="http://schemas.openxmlformats.org/officeDocument/2006/relationships/slide" Target="slides/slide49.xml"/><Relationship Id="rId55" Type="http://schemas.openxmlformats.org/officeDocument/2006/relationships/slide" Target="slides/slide54.xml"/><Relationship Id="rId7" Type="http://schemas.openxmlformats.org/officeDocument/2006/relationships/slide" Target="slides/slide6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9" Type="http://schemas.openxmlformats.org/officeDocument/2006/relationships/slide" Target="slides/slide28.xml"/><Relationship Id="rId11" Type="http://schemas.openxmlformats.org/officeDocument/2006/relationships/slide" Target="slides/slide10.xml"/><Relationship Id="rId24" Type="http://schemas.openxmlformats.org/officeDocument/2006/relationships/slide" Target="slides/slide23.xml"/><Relationship Id="rId32" Type="http://schemas.openxmlformats.org/officeDocument/2006/relationships/slide" Target="slides/slide31.xml"/><Relationship Id="rId37" Type="http://schemas.openxmlformats.org/officeDocument/2006/relationships/slide" Target="slides/slide36.xml"/><Relationship Id="rId40" Type="http://schemas.openxmlformats.org/officeDocument/2006/relationships/slide" Target="slides/slide39.xml"/><Relationship Id="rId45" Type="http://schemas.openxmlformats.org/officeDocument/2006/relationships/slide" Target="slides/slide44.xml"/><Relationship Id="rId53" Type="http://schemas.openxmlformats.org/officeDocument/2006/relationships/slide" Target="slides/slide52.xml"/><Relationship Id="rId58" Type="http://schemas.openxmlformats.org/officeDocument/2006/relationships/viewProps" Target="viewProps.xml"/><Relationship Id="rId5" Type="http://schemas.openxmlformats.org/officeDocument/2006/relationships/slide" Target="slides/slide4.xml"/><Relationship Id="rId19" Type="http://schemas.openxmlformats.org/officeDocument/2006/relationships/slide" Target="slides/slide18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Relationship Id="rId22" Type="http://schemas.openxmlformats.org/officeDocument/2006/relationships/slide" Target="slides/slide21.xml"/><Relationship Id="rId27" Type="http://schemas.openxmlformats.org/officeDocument/2006/relationships/slide" Target="slides/slide26.xml"/><Relationship Id="rId30" Type="http://schemas.openxmlformats.org/officeDocument/2006/relationships/slide" Target="slides/slide29.xml"/><Relationship Id="rId35" Type="http://schemas.openxmlformats.org/officeDocument/2006/relationships/slide" Target="slides/slide34.xml"/><Relationship Id="rId43" Type="http://schemas.openxmlformats.org/officeDocument/2006/relationships/slide" Target="slides/slide42.xml"/><Relationship Id="rId48" Type="http://schemas.openxmlformats.org/officeDocument/2006/relationships/slide" Target="slides/slide47.xml"/><Relationship Id="rId56" Type="http://schemas.openxmlformats.org/officeDocument/2006/relationships/notesMaster" Target="notesMasters/notesMaster1.xml"/><Relationship Id="rId8" Type="http://schemas.openxmlformats.org/officeDocument/2006/relationships/slide" Target="slides/slide7.xml"/><Relationship Id="rId51" Type="http://schemas.openxmlformats.org/officeDocument/2006/relationships/slide" Target="slides/slide50.xml"/><Relationship Id="rId3" Type="http://schemas.openxmlformats.org/officeDocument/2006/relationships/slide" Target="slides/slide2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25" Type="http://schemas.openxmlformats.org/officeDocument/2006/relationships/slide" Target="slides/slide24.xml"/><Relationship Id="rId33" Type="http://schemas.openxmlformats.org/officeDocument/2006/relationships/slide" Target="slides/slide32.xml"/><Relationship Id="rId38" Type="http://schemas.openxmlformats.org/officeDocument/2006/relationships/slide" Target="slides/slide37.xml"/><Relationship Id="rId46" Type="http://schemas.openxmlformats.org/officeDocument/2006/relationships/slide" Target="slides/slide45.xml"/><Relationship Id="rId59" Type="http://schemas.openxmlformats.org/officeDocument/2006/relationships/theme" Target="theme/theme1.xml"/><Relationship Id="rId20" Type="http://schemas.openxmlformats.org/officeDocument/2006/relationships/slide" Target="slides/slide19.xml"/><Relationship Id="rId41" Type="http://schemas.openxmlformats.org/officeDocument/2006/relationships/slide" Target="slides/slide40.xml"/><Relationship Id="rId54" Type="http://schemas.openxmlformats.org/officeDocument/2006/relationships/slide" Target="slides/slide53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5" Type="http://schemas.openxmlformats.org/officeDocument/2006/relationships/slide" Target="slides/slide14.xml"/><Relationship Id="rId23" Type="http://schemas.openxmlformats.org/officeDocument/2006/relationships/slide" Target="slides/slide22.xml"/><Relationship Id="rId28" Type="http://schemas.openxmlformats.org/officeDocument/2006/relationships/slide" Target="slides/slide27.xml"/><Relationship Id="rId36" Type="http://schemas.openxmlformats.org/officeDocument/2006/relationships/slide" Target="slides/slide35.xml"/><Relationship Id="rId49" Type="http://schemas.openxmlformats.org/officeDocument/2006/relationships/slide" Target="slides/slide48.xml"/><Relationship Id="rId57" Type="http://schemas.openxmlformats.org/officeDocument/2006/relationships/presProps" Target="presProps.xml"/><Relationship Id="rId10" Type="http://schemas.openxmlformats.org/officeDocument/2006/relationships/slide" Target="slides/slide9.xml"/><Relationship Id="rId31" Type="http://schemas.openxmlformats.org/officeDocument/2006/relationships/slide" Target="slides/slide30.xml"/><Relationship Id="rId44" Type="http://schemas.openxmlformats.org/officeDocument/2006/relationships/slide" Target="slides/slide43.xml"/><Relationship Id="rId52" Type="http://schemas.openxmlformats.org/officeDocument/2006/relationships/slide" Target="slides/slide51.xml"/><Relationship Id="rId60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CA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2B97FE11-279C-4A31-AF18-49445EF40DF0}" type="datetimeFigureOut">
              <a:rPr lang="en-CA" smtClean="0"/>
              <a:t>2025-10-02</a:t>
            </a:fld>
            <a:endParaRPr lang="en-CA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CA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CA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CA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F6969246-A70B-4C9F-A67E-C2E21AFF715D}" type="slidenum">
              <a:rPr lang="en-CA" smtClean="0"/>
              <a:t>‹#›</a:t>
            </a:fld>
            <a:endParaRPr lang="en-CA"/>
          </a:p>
        </p:txBody>
      </p:sp>
    </p:spTree>
    <p:extLst>
      <p:ext uri="{BB962C8B-B14F-4D97-AF65-F5344CB8AC3E}">
        <p14:creationId xmlns:p14="http://schemas.microsoft.com/office/powerpoint/2010/main" val="1132055394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0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8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2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3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4.xml"/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5.xml"/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6.xml"/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5.xml"/><Relationship Id="rId1" Type="http://schemas.openxmlformats.org/officeDocument/2006/relationships/notesMaster" Target="../notesMasters/notesMaster1.xml"/></Relationships>
</file>

<file path=ppt/notesSlides/_rels/notesSlide1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9.xml"/><Relationship Id="rId1" Type="http://schemas.openxmlformats.org/officeDocument/2006/relationships/notesMaster" Target="../notesMasters/notesMaster1.xml"/></Relationships>
</file>

<file path=ppt/notesSlides/_rels/notesSlide1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4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CA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F6969246-A70B-4C9F-A67E-C2E21AFF715D}" type="slidenum">
              <a:rPr lang="en-CA" smtClean="0"/>
              <a:t>2</a:t>
            </a:fld>
            <a:endParaRPr lang="en-CA"/>
          </a:p>
        </p:txBody>
      </p:sp>
    </p:spTree>
    <p:extLst>
      <p:ext uri="{BB962C8B-B14F-4D97-AF65-F5344CB8AC3E}">
        <p14:creationId xmlns:p14="http://schemas.microsoft.com/office/powerpoint/2010/main" val="1864810306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CA" dirty="0"/>
              <a:t>hello class {0}, it is the year 2023.123</a:t>
            </a:r>
          </a:p>
          <a:p>
            <a:r>
              <a:rPr lang="en-CA" dirty="0"/>
              <a:t>Course Jeff is in 202.00</a:t>
            </a:r>
          </a:p>
          <a:p>
            <a:r>
              <a:rPr lang="en-CA" dirty="0"/>
              <a:t>Course Jeff {0} is in 202.00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F6969246-A70B-4C9F-A67E-C2E21AFF715D}" type="slidenum">
              <a:rPr lang="en-CA" smtClean="0"/>
              <a:t>10</a:t>
            </a:fld>
            <a:endParaRPr lang="en-CA"/>
          </a:p>
        </p:txBody>
      </p:sp>
    </p:spTree>
    <p:extLst>
      <p:ext uri="{BB962C8B-B14F-4D97-AF65-F5344CB8AC3E}">
        <p14:creationId xmlns:p14="http://schemas.microsoft.com/office/powerpoint/2010/main" val="112515522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CA"/>
              <a:t>Normal sequences like lists or strings support </a:t>
            </a:r>
            <a:r>
              <a:rPr lang="en-CA" b="1"/>
              <a:t>concatenation (</a:t>
            </a:r>
            <a:r>
              <a:rPr lang="en-CA" sz="1200" b="1" kern="1200">
                <a:solidFill>
                  <a:schemeClr val="tx1"/>
                </a:solidFill>
                <a:latin typeface="+mn-lt"/>
                <a:ea typeface="+mn-ea"/>
                <a:cs typeface="+mn-cs"/>
              </a:rPr>
              <a:t>+</a:t>
            </a:r>
            <a:r>
              <a:rPr lang="en-CA" b="1"/>
              <a:t>)</a:t>
            </a:r>
            <a:r>
              <a:rPr lang="en-CA"/>
              <a:t> and </a:t>
            </a:r>
            <a:r>
              <a:rPr lang="en-CA" b="1"/>
              <a:t>repetition (</a:t>
            </a:r>
            <a:r>
              <a:rPr lang="en-CA" sz="1200" b="1" kern="1200">
                <a:solidFill>
                  <a:schemeClr val="tx1"/>
                </a:solidFill>
                <a:latin typeface="+mn-lt"/>
                <a:ea typeface="+mn-ea"/>
                <a:cs typeface="+mn-cs"/>
              </a:rPr>
              <a:t>*</a:t>
            </a:r>
            <a:r>
              <a:rPr lang="en-CA" b="1"/>
              <a:t>)</a:t>
            </a:r>
            <a:r>
              <a:rPr lang="en-CA"/>
              <a:t>:</a:t>
            </a:r>
          </a:p>
          <a:p>
            <a:pPr rtl="0"/>
            <a:r>
              <a:rPr lang="en-CA" sz="1200" kern="1200">
                <a:solidFill>
                  <a:schemeClr val="tx1"/>
                </a:solidFill>
                <a:latin typeface="+mn-lt"/>
                <a:ea typeface="+mn-ea"/>
                <a:cs typeface="+mn-cs"/>
              </a:rPr>
              <a:t>[1, 2] + [3, 4]   # → [1, 2, 3, 4]</a:t>
            </a:r>
          </a:p>
          <a:p>
            <a:pPr rtl="0"/>
            <a:r>
              <a:rPr lang="en-CA" sz="1200" kern="1200">
                <a:solidFill>
                  <a:schemeClr val="tx1"/>
                </a:solidFill>
                <a:latin typeface="+mn-lt"/>
                <a:ea typeface="+mn-ea"/>
                <a:cs typeface="+mn-cs"/>
              </a:rPr>
              <a:t>"ab" * 3          # → "ababab"</a:t>
            </a:r>
          </a:p>
          <a:p>
            <a:r>
              <a:rPr lang="en-CA"/>
              <a:t>But with </a:t>
            </a:r>
            <a:r>
              <a:rPr lang="en-CA" sz="1200" kern="1200">
                <a:solidFill>
                  <a:schemeClr val="tx1"/>
                </a:solidFill>
                <a:latin typeface="+mn-lt"/>
                <a:ea typeface="+mn-ea"/>
                <a:cs typeface="+mn-cs"/>
              </a:rPr>
              <a:t>range</a:t>
            </a:r>
            <a:r>
              <a:rPr lang="en-CA"/>
              <a:t>:</a:t>
            </a:r>
          </a:p>
          <a:p>
            <a:pPr rtl="0"/>
            <a:r>
              <a:rPr lang="en-CA" sz="1200" kern="1200">
                <a:solidFill>
                  <a:schemeClr val="tx1"/>
                </a:solidFill>
                <a:latin typeface="+mn-lt"/>
                <a:ea typeface="+mn-ea"/>
                <a:cs typeface="+mn-cs"/>
              </a:rPr>
              <a:t>range(3) + range(3)   # ❌ TypeError</a:t>
            </a:r>
          </a:p>
          <a:p>
            <a:pPr rtl="0"/>
            <a:r>
              <a:rPr lang="en-CA" sz="1200" kern="1200">
                <a:solidFill>
                  <a:schemeClr val="tx1"/>
                </a:solidFill>
                <a:latin typeface="+mn-lt"/>
                <a:ea typeface="+mn-ea"/>
                <a:cs typeface="+mn-cs"/>
              </a:rPr>
              <a:t>range(3) * 2          # ❌ TypeError</a:t>
            </a:r>
          </a:p>
          <a:p>
            <a:endParaRPr lang="en-CA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F6969246-A70B-4C9F-A67E-C2E21AFF715D}" type="slidenum">
              <a:rPr lang="en-CA" smtClean="0"/>
              <a:t>18</a:t>
            </a:fld>
            <a:endParaRPr lang="en-CA"/>
          </a:p>
        </p:txBody>
      </p:sp>
    </p:spTree>
    <p:extLst>
      <p:ext uri="{BB962C8B-B14F-4D97-AF65-F5344CB8AC3E}">
        <p14:creationId xmlns:p14="http://schemas.microsoft.com/office/powerpoint/2010/main" val="2696300132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Very important container when writing python code</a:t>
            </a:r>
            <a:endParaRPr lang="en-CA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F6969246-A70B-4C9F-A67E-C2E21AFF715D}" type="slidenum">
              <a:rPr lang="en-CA" smtClean="0"/>
              <a:t>22</a:t>
            </a:fld>
            <a:endParaRPr lang="en-CA"/>
          </a:p>
        </p:txBody>
      </p:sp>
    </p:spTree>
    <p:extLst>
      <p:ext uri="{BB962C8B-B14F-4D97-AF65-F5344CB8AC3E}">
        <p14:creationId xmlns:p14="http://schemas.microsoft.com/office/powerpoint/2010/main" val="2085442170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CA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F6969246-A70B-4C9F-A67E-C2E21AFF715D}" type="slidenum">
              <a:rPr lang="en-CA" smtClean="0"/>
              <a:t>23</a:t>
            </a:fld>
            <a:endParaRPr lang="en-CA"/>
          </a:p>
        </p:txBody>
      </p:sp>
    </p:spTree>
    <p:extLst>
      <p:ext uri="{BB962C8B-B14F-4D97-AF65-F5344CB8AC3E}">
        <p14:creationId xmlns:p14="http://schemas.microsoft.com/office/powerpoint/2010/main" val="1676790109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CA" dirty="0"/>
              <a:t>Can create a new list with the list constructor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F6969246-A70B-4C9F-A67E-C2E21AFF715D}" type="slidenum">
              <a:rPr lang="en-CA" smtClean="0"/>
              <a:t>24</a:t>
            </a:fld>
            <a:endParaRPr lang="en-CA"/>
          </a:p>
        </p:txBody>
      </p:sp>
    </p:spTree>
    <p:extLst>
      <p:ext uri="{BB962C8B-B14F-4D97-AF65-F5344CB8AC3E}">
        <p14:creationId xmlns:p14="http://schemas.microsoft.com/office/powerpoint/2010/main" val="2153030996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CA" dirty="0" err="1"/>
              <a:t>List_name.sort</a:t>
            </a:r>
            <a:r>
              <a:rPr lang="en-CA" dirty="0"/>
              <a:t> modifies original list</a:t>
            </a:r>
          </a:p>
          <a:p>
            <a:r>
              <a:rPr lang="en-CA" dirty="0"/>
              <a:t>Sort function creates a new sorted list, leave original intact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F6969246-A70B-4C9F-A67E-C2E21AFF715D}" type="slidenum">
              <a:rPr lang="en-CA" smtClean="0"/>
              <a:t>25</a:t>
            </a:fld>
            <a:endParaRPr lang="en-CA"/>
          </a:p>
        </p:txBody>
      </p:sp>
    </p:spTree>
    <p:extLst>
      <p:ext uri="{BB962C8B-B14F-4D97-AF65-F5344CB8AC3E}">
        <p14:creationId xmlns:p14="http://schemas.microsoft.com/office/powerpoint/2010/main" val="903641915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lang="en-US" sz="1200" dirty="0">
                <a:latin typeface="Futura Condensed Medium" panose="020B0602020204020303" pitchFamily="34" charset="-79"/>
                <a:cs typeface="Futura Condensed Medium" panose="020B0602020204020303" pitchFamily="34" charset="-79"/>
              </a:rPr>
              <a:t>*Hint: it’s a tuple key paired to an empty list</a:t>
            </a:r>
          </a:p>
          <a:p>
            <a:endParaRPr lang="en-CA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F6969246-A70B-4C9F-A67E-C2E21AFF715D}" type="slidenum">
              <a:rPr lang="en-CA" smtClean="0"/>
              <a:t>36</a:t>
            </a:fld>
            <a:endParaRPr lang="en-CA"/>
          </a:p>
        </p:txBody>
      </p:sp>
    </p:spTree>
    <p:extLst>
      <p:ext uri="{BB962C8B-B14F-4D97-AF65-F5344CB8AC3E}">
        <p14:creationId xmlns:p14="http://schemas.microsoft.com/office/powerpoint/2010/main" val="3258235984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CA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6969246-A70B-4C9F-A67E-C2E21AFF715D}" type="slidenum">
              <a:rPr lang="en-CA" smtClean="0"/>
              <a:t>45</a:t>
            </a:fld>
            <a:endParaRPr lang="en-CA"/>
          </a:p>
        </p:txBody>
      </p:sp>
    </p:spTree>
    <p:extLst>
      <p:ext uri="{BB962C8B-B14F-4D97-AF65-F5344CB8AC3E}">
        <p14:creationId xmlns:p14="http://schemas.microsoft.com/office/powerpoint/2010/main" val="1943981045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CA" dirty="0"/>
              <a:t>Finds first person with</a:t>
            </a:r>
            <a:r>
              <a:rPr lang="en-CA" baseline="0" dirty="0"/>
              <a:t> age &gt; 30, prints it and breaks</a:t>
            </a:r>
            <a:endParaRPr lang="en-CA" dirty="0"/>
          </a:p>
          <a:p>
            <a:r>
              <a:rPr lang="en-CA" dirty="0"/>
              <a:t>Name: Danica, Age: 35</a:t>
            </a:r>
          </a:p>
          <a:p>
            <a:endParaRPr lang="en-CA" dirty="0"/>
          </a:p>
          <a:p>
            <a:r>
              <a:rPr lang="en-CA" dirty="0"/>
              <a:t>Second code skips over</a:t>
            </a:r>
            <a:r>
              <a:rPr lang="en-CA" baseline="0" dirty="0"/>
              <a:t> </a:t>
            </a:r>
            <a:r>
              <a:rPr lang="en-CA" baseline="0" dirty="0" err="1"/>
              <a:t>i</a:t>
            </a:r>
            <a:endParaRPr lang="en-CA" dirty="0"/>
          </a:p>
          <a:p>
            <a:r>
              <a:rPr lang="en-CA" dirty="0"/>
              <a:t>s</a:t>
            </a:r>
          </a:p>
          <a:p>
            <a:r>
              <a:rPr lang="en-CA" dirty="0"/>
              <a:t>t</a:t>
            </a:r>
          </a:p>
          <a:p>
            <a:r>
              <a:rPr lang="en-CA" dirty="0"/>
              <a:t>r</a:t>
            </a:r>
          </a:p>
          <a:p>
            <a:r>
              <a:rPr lang="en-CA" dirty="0"/>
              <a:t>n</a:t>
            </a:r>
          </a:p>
          <a:p>
            <a:r>
              <a:rPr lang="en-CA" dirty="0"/>
              <a:t>g</a:t>
            </a:r>
          </a:p>
          <a:p>
            <a:r>
              <a:rPr lang="en-CA" dirty="0"/>
              <a:t>The end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6969246-A70B-4C9F-A67E-C2E21AFF715D}" type="slidenum">
              <a:rPr lang="en-CA" smtClean="0"/>
              <a:t>49</a:t>
            </a:fld>
            <a:endParaRPr lang="en-CA"/>
          </a:p>
        </p:txBody>
      </p:sp>
    </p:spTree>
    <p:extLst>
      <p:ext uri="{BB962C8B-B14F-4D97-AF65-F5344CB8AC3E}">
        <p14:creationId xmlns:p14="http://schemas.microsoft.com/office/powerpoint/2010/main" val="4293113782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CA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F6969246-A70B-4C9F-A67E-C2E21AFF715D}" type="slidenum">
              <a:rPr lang="en-CA" smtClean="0"/>
              <a:t>54</a:t>
            </a:fld>
            <a:endParaRPr lang="en-CA"/>
          </a:p>
        </p:txBody>
      </p:sp>
    </p:spTree>
    <p:extLst>
      <p:ext uri="{BB962C8B-B14F-4D97-AF65-F5344CB8AC3E}">
        <p14:creationId xmlns:p14="http://schemas.microsoft.com/office/powerpoint/2010/main" val="832383143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Rectangle 6"/>
          <p:cNvSpPr/>
          <p:nvPr/>
        </p:nvSpPr>
        <p:spPr>
          <a:xfrm>
            <a:off x="3175" y="6400800"/>
            <a:ext cx="12188825" cy="457200"/>
          </a:xfrm>
          <a:prstGeom prst="rect">
            <a:avLst/>
          </a:pr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8" name="Rectangle 7"/>
          <p:cNvSpPr/>
          <p:nvPr/>
        </p:nvSpPr>
        <p:spPr>
          <a:xfrm>
            <a:off x="15" y="6334316"/>
            <a:ext cx="12188825" cy="64008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1097280" y="758952"/>
            <a:ext cx="10058400" cy="3566160"/>
          </a:xfrm>
        </p:spPr>
        <p:txBody>
          <a:bodyPr anchor="b">
            <a:normAutofit/>
          </a:bodyPr>
          <a:lstStyle>
            <a:lvl1pPr algn="l">
              <a:lnSpc>
                <a:spcPct val="85000"/>
              </a:lnSpc>
              <a:defRPr sz="8000" spc="-50" baseline="0">
                <a:solidFill>
                  <a:schemeClr val="tx1">
                    <a:lumMod val="85000"/>
                    <a:lumOff val="15000"/>
                  </a:schemeClr>
                </a:solidFill>
              </a:defRPr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100051" y="4455621"/>
            <a:ext cx="10058400" cy="1143000"/>
          </a:xfrm>
        </p:spPr>
        <p:txBody>
          <a:bodyPr lIns="91440" rIns="91440">
            <a:normAutofit/>
          </a:bodyPr>
          <a:lstStyle>
            <a:lvl1pPr marL="0" indent="0" algn="l">
              <a:buNone/>
              <a:defRPr sz="2400" cap="all" spc="200" baseline="0">
                <a:solidFill>
                  <a:schemeClr val="tx2"/>
                </a:solidFill>
                <a:latin typeface="+mj-lt"/>
              </a:defRPr>
            </a:lvl1pPr>
            <a:lvl2pPr marL="457200" indent="0" algn="ctr">
              <a:buNone/>
              <a:defRPr sz="2400"/>
            </a:lvl2pPr>
            <a:lvl3pPr marL="914400" indent="0" algn="ctr">
              <a:buNone/>
              <a:defRPr sz="2400"/>
            </a:lvl3pPr>
            <a:lvl4pPr marL="1371600" indent="0" algn="ctr">
              <a:buNone/>
              <a:defRPr sz="2000"/>
            </a:lvl4pPr>
            <a:lvl5pPr marL="1828800" indent="0" algn="ctr">
              <a:buNone/>
              <a:defRPr sz="2000"/>
            </a:lvl5pPr>
            <a:lvl6pPr marL="2286000" indent="0" algn="ctr">
              <a:buNone/>
              <a:defRPr sz="2000"/>
            </a:lvl6pPr>
            <a:lvl7pPr marL="2743200" indent="0" algn="ctr">
              <a:buNone/>
              <a:defRPr sz="2000"/>
            </a:lvl7pPr>
            <a:lvl8pPr marL="3200400" indent="0" algn="ctr">
              <a:buNone/>
              <a:defRPr sz="2000"/>
            </a:lvl8pPr>
            <a:lvl9pPr marL="3657600" indent="0" algn="ctr">
              <a:buNone/>
              <a:defRPr sz="2000"/>
            </a:lvl9pPr>
          </a:lstStyle>
          <a:p>
            <a:r>
              <a:rPr lang="en-US"/>
              <a:t>Click to edit Master subtitle style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A069CB8-F204-4D06-B913-C5A26A89888A}" type="datetimeFigureOut">
              <a:rPr lang="en-US" dirty="0"/>
              <a:t>10/2/2025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FAB73BC-B049-4115-A692-8D63A059BFB8}" type="slidenum">
              <a:rPr lang="en-US" dirty="0"/>
              <a:t>‹#›</a:t>
            </a:fld>
            <a:endParaRPr lang="en-US" dirty="0"/>
          </a:p>
        </p:txBody>
      </p:sp>
      <p:cxnSp>
        <p:nvCxnSpPr>
          <p:cNvPr id="9" name="Straight Connector 8"/>
          <p:cNvCxnSpPr/>
          <p:nvPr/>
        </p:nvCxnSpPr>
        <p:spPr>
          <a:xfrm>
            <a:off x="1207658" y="4343400"/>
            <a:ext cx="9875520" cy="0"/>
          </a:xfrm>
          <a:prstGeom prst="line">
            <a:avLst/>
          </a:prstGeom>
          <a:ln w="6350">
            <a:solidFill>
              <a:schemeClr val="tx1">
                <a:lumMod val="50000"/>
                <a:lumOff val="50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30BB376-B19C-488D-ABEB-03C7E6E9E3E0}" type="datetimeFigureOut">
              <a:rPr lang="en-US" dirty="0"/>
              <a:t>10/2/2025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29637A9-119A-49DA-BD12-AAC58B377D80}" type="slidenum">
              <a:rPr lang="en-US" dirty="0"/>
              <a:t>‹#›</a:t>
            </a:fld>
            <a:endParaRPr lang="en-US" dirty="0"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secHead" preserve="1">
  <p:cSld name="Section Header"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Rectangle 6"/>
          <p:cNvSpPr/>
          <p:nvPr/>
        </p:nvSpPr>
        <p:spPr>
          <a:xfrm>
            <a:off x="3175" y="6400800"/>
            <a:ext cx="12188825" cy="457200"/>
          </a:xfrm>
          <a:prstGeom prst="rect">
            <a:avLst/>
          </a:pr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8" name="Rectangle 7"/>
          <p:cNvSpPr/>
          <p:nvPr/>
        </p:nvSpPr>
        <p:spPr>
          <a:xfrm>
            <a:off x="15" y="6334316"/>
            <a:ext cx="12188825" cy="64008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097280" y="758952"/>
            <a:ext cx="10058400" cy="3566160"/>
          </a:xfrm>
        </p:spPr>
        <p:txBody>
          <a:bodyPr anchor="b" anchorCtr="0">
            <a:normAutofit/>
          </a:bodyPr>
          <a:lstStyle>
            <a:lvl1pPr>
              <a:lnSpc>
                <a:spcPct val="85000"/>
              </a:lnSpc>
              <a:defRPr sz="8000" b="0">
                <a:solidFill>
                  <a:schemeClr val="tx1">
                    <a:lumMod val="85000"/>
                    <a:lumOff val="15000"/>
                  </a:schemeClr>
                </a:solidFill>
              </a:defRPr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1097280" y="4453128"/>
            <a:ext cx="10058400" cy="1143000"/>
          </a:xfrm>
        </p:spPr>
        <p:txBody>
          <a:bodyPr lIns="91440" rIns="91440" anchor="t" anchorCtr="0">
            <a:normAutofit/>
          </a:bodyPr>
          <a:lstStyle>
            <a:lvl1pPr marL="0" indent="0">
              <a:buNone/>
              <a:defRPr sz="2400" cap="all" spc="200" baseline="0">
                <a:solidFill>
                  <a:schemeClr val="tx2"/>
                </a:solidFill>
                <a:latin typeface="+mj-lt"/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86F077B-A50F-4D64-8574-E2D6A98A5553}" type="datetimeFigureOut">
              <a:rPr lang="en-US" dirty="0"/>
              <a:t>10/2/2025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FAB73BC-B049-4115-A692-8D63A059BFB8}" type="slidenum">
              <a:rPr lang="en-US" dirty="0"/>
              <a:t>‹#›</a:t>
            </a:fld>
            <a:endParaRPr lang="en-US" dirty="0"/>
          </a:p>
        </p:txBody>
      </p:sp>
      <p:cxnSp>
        <p:nvCxnSpPr>
          <p:cNvPr id="9" name="Straight Connector 8"/>
          <p:cNvCxnSpPr/>
          <p:nvPr/>
        </p:nvCxnSpPr>
        <p:spPr>
          <a:xfrm>
            <a:off x="1207658" y="4343400"/>
            <a:ext cx="9875520" cy="0"/>
          </a:xfrm>
          <a:prstGeom prst="line">
            <a:avLst/>
          </a:prstGeom>
          <a:ln w="6350">
            <a:solidFill>
              <a:schemeClr val="tx1">
                <a:lumMod val="50000"/>
                <a:lumOff val="50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Title 7"/>
          <p:cNvSpPr>
            <a:spLocks noGrp="1"/>
          </p:cNvSpPr>
          <p:nvPr>
            <p:ph type="title"/>
          </p:nvPr>
        </p:nvSpPr>
        <p:spPr>
          <a:xfrm>
            <a:off x="1097280" y="286603"/>
            <a:ext cx="10058400" cy="1450757"/>
          </a:xfrm>
        </p:spPr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1097278" y="1845734"/>
            <a:ext cx="4937760" cy="4023360"/>
          </a:xfrm>
        </p:spPr>
        <p:txBody>
          <a:bodyPr/>
          <a:lstStyle/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6217920" y="1845735"/>
            <a:ext cx="4937760" cy="4023360"/>
          </a:xfrm>
        </p:spPr>
        <p:txBody>
          <a:bodyPr/>
          <a:lstStyle/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D9E2A62-1983-43A1-A163-D8AA46534C80}" type="datetimeFigureOut">
              <a:rPr lang="en-US" dirty="0"/>
              <a:t>10/2/2025</a:t>
            </a:fld>
            <a:endParaRPr lang="en-US" dirty="0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FAB73BC-B049-4115-A692-8D63A059BFB8}" type="slidenum">
              <a:rPr lang="en-US" dirty="0"/>
              <a:t>‹#›</a:t>
            </a:fld>
            <a:endParaRPr lang="en-US" dirty="0"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Title 9"/>
          <p:cNvSpPr>
            <a:spLocks noGrp="1"/>
          </p:cNvSpPr>
          <p:nvPr>
            <p:ph type="title"/>
          </p:nvPr>
        </p:nvSpPr>
        <p:spPr>
          <a:xfrm>
            <a:off x="1097280" y="286603"/>
            <a:ext cx="10058400" cy="1450757"/>
          </a:xfrm>
        </p:spPr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1097280" y="1846052"/>
            <a:ext cx="4937760" cy="736282"/>
          </a:xfrm>
        </p:spPr>
        <p:txBody>
          <a:bodyPr lIns="91440" rIns="91440" anchor="ctr">
            <a:normAutofit/>
          </a:bodyPr>
          <a:lstStyle>
            <a:lvl1pPr marL="0" indent="0">
              <a:buNone/>
              <a:defRPr sz="2000" b="0" cap="all" baseline="0">
                <a:solidFill>
                  <a:schemeClr val="tx2"/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1097280" y="2582334"/>
            <a:ext cx="4937760" cy="3378200"/>
          </a:xfrm>
        </p:spPr>
        <p:txBody>
          <a:bodyPr/>
          <a:lstStyle/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6217920" y="1846052"/>
            <a:ext cx="4937760" cy="736282"/>
          </a:xfrm>
        </p:spPr>
        <p:txBody>
          <a:bodyPr lIns="91440" rIns="91440" anchor="ctr">
            <a:normAutofit/>
          </a:bodyPr>
          <a:lstStyle>
            <a:lvl1pPr marL="0" indent="0">
              <a:buNone/>
              <a:defRPr sz="2000" b="0" cap="all" baseline="0">
                <a:solidFill>
                  <a:schemeClr val="tx2"/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6217920" y="2582334"/>
            <a:ext cx="4937760" cy="3378200"/>
          </a:xfrm>
        </p:spPr>
        <p:txBody>
          <a:bodyPr/>
          <a:lstStyle/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98F3E3B-34E3-4345-B2A1-994B83598A9C}" type="datetimeFigureOut">
              <a:rPr lang="en-US" dirty="0"/>
              <a:t>10/2/2025</a:t>
            </a:fld>
            <a:endParaRPr lang="en-US" dirty="0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FAB73BC-B049-4115-A692-8D63A059BFB8}" type="slidenum">
              <a:rPr lang="en-US" dirty="0"/>
              <a:t>‹#›</a:t>
            </a:fld>
            <a:endParaRPr lang="en-US" dirty="0"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D816C96-82A1-4D77-8ADA-627AC6FE3D65}" type="datetimeFigureOut">
              <a:rPr lang="en-US" dirty="0"/>
              <a:t>10/2/2025</a:t>
            </a:fld>
            <a:endParaRPr lang="en-US" dirty="0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FAB73BC-B049-4115-A692-8D63A059BFB8}" type="slidenum">
              <a:rPr lang="en-US" dirty="0"/>
              <a:t>‹#›</a:t>
            </a:fld>
            <a:endParaRPr lang="en-US" dirty="0"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Rectangle 4"/>
          <p:cNvSpPr/>
          <p:nvPr/>
        </p:nvSpPr>
        <p:spPr>
          <a:xfrm>
            <a:off x="3175" y="6400800"/>
            <a:ext cx="12188825" cy="457200"/>
          </a:xfrm>
          <a:prstGeom prst="rect">
            <a:avLst/>
          </a:pr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6" name="Rectangle 5"/>
          <p:cNvSpPr/>
          <p:nvPr/>
        </p:nvSpPr>
        <p:spPr>
          <a:xfrm>
            <a:off x="15" y="6334316"/>
            <a:ext cx="12188825" cy="64008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102C1E-28F2-47E9-802D-339E64E2F920}" type="datetimeFigureOut">
              <a:rPr lang="en-US" dirty="0"/>
              <a:t>10/2/2025</a:t>
            </a:fld>
            <a:endParaRPr lang="en-US" dirty="0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>
                <a:solidFill>
                  <a:srgbClr val="FFFFFF"/>
                </a:solidFill>
              </a:defRPr>
            </a:lvl1pPr>
          </a:lstStyle>
          <a:p>
            <a:endParaRPr lang="en-US" dirty="0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FAB73BC-B049-4115-A692-8D63A059BFB8}" type="slidenum">
              <a:rPr lang="en-US" dirty="0"/>
              <a:pPr/>
              <a:t>‹#›</a:t>
            </a:fld>
            <a:endParaRPr lang="en-US" dirty="0"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Rectangle 7"/>
          <p:cNvSpPr/>
          <p:nvPr/>
        </p:nvSpPr>
        <p:spPr>
          <a:xfrm>
            <a:off x="16" y="0"/>
            <a:ext cx="4050791" cy="6858000"/>
          </a:xfrm>
          <a:prstGeom prst="rect">
            <a:avLst/>
          </a:pr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9" name="Rectangle 8"/>
          <p:cNvSpPr/>
          <p:nvPr/>
        </p:nvSpPr>
        <p:spPr>
          <a:xfrm>
            <a:off x="4040071" y="0"/>
            <a:ext cx="64008" cy="6858000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594359"/>
            <a:ext cx="3200400" cy="2286000"/>
          </a:xfrm>
        </p:spPr>
        <p:txBody>
          <a:bodyPr anchor="b">
            <a:normAutofit/>
          </a:bodyPr>
          <a:lstStyle>
            <a:lvl1pPr>
              <a:defRPr sz="3600" b="0">
                <a:solidFill>
                  <a:srgbClr val="FFFFFF"/>
                </a:solidFill>
              </a:defRPr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4800600" y="731520"/>
            <a:ext cx="6492240" cy="5257800"/>
          </a:xfrm>
        </p:spPr>
        <p:txBody>
          <a:bodyPr/>
          <a:lstStyle/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2926080"/>
            <a:ext cx="3200400" cy="3379124"/>
          </a:xfrm>
        </p:spPr>
        <p:txBody>
          <a:bodyPr lIns="91440" rIns="91440">
            <a:normAutofit/>
          </a:bodyPr>
          <a:lstStyle>
            <a:lvl1pPr marL="0" indent="0">
              <a:buNone/>
              <a:defRPr sz="1500">
                <a:solidFill>
                  <a:srgbClr val="FFFFFF"/>
                </a:solidFill>
              </a:defRPr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>
          <a:xfrm>
            <a:off x="465512" y="6459785"/>
            <a:ext cx="2618510" cy="365125"/>
          </a:xfrm>
        </p:spPr>
        <p:txBody>
          <a:bodyPr/>
          <a:lstStyle>
            <a:lvl1pPr algn="l">
              <a:defRPr/>
            </a:lvl1pPr>
          </a:lstStyle>
          <a:p>
            <a:fld id="{24271A48-F18A-45B3-BC05-1E27DA3F88AF}" type="datetimeFigureOut">
              <a:rPr lang="en-US" dirty="0"/>
              <a:t>10/2/2025</a:t>
            </a:fld>
            <a:endParaRPr lang="en-US" dirty="0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>
          <a:xfrm>
            <a:off x="4800600" y="6459785"/>
            <a:ext cx="4648200" cy="365125"/>
          </a:xfrm>
        </p:spPr>
        <p:txBody>
          <a:bodyPr/>
          <a:lstStyle>
            <a:lvl1pPr algn="l">
              <a:defRPr>
                <a:solidFill>
                  <a:schemeClr val="tx2"/>
                </a:solidFill>
              </a:defRPr>
            </a:lvl1pPr>
          </a:lstStyle>
          <a:p>
            <a:endParaRPr lang="en-US" dirty="0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>
                <a:solidFill>
                  <a:schemeClr val="tx2"/>
                </a:solidFill>
              </a:defRPr>
            </a:lvl1pPr>
          </a:lstStyle>
          <a:p>
            <a:fld id="{4FAB73BC-B049-4115-A692-8D63A059BFB8}" type="slidenum">
              <a:rPr lang="en-US" dirty="0"/>
              <a:pPr/>
              <a:t>‹#›</a:t>
            </a:fld>
            <a:endParaRPr lang="en-US" dirty="0"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Rectangle 7"/>
          <p:cNvSpPr/>
          <p:nvPr/>
        </p:nvSpPr>
        <p:spPr>
          <a:xfrm>
            <a:off x="0" y="4953000"/>
            <a:ext cx="12188825" cy="1905000"/>
          </a:xfrm>
          <a:prstGeom prst="rect">
            <a:avLst/>
          </a:pr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9" name="Rectangle 8"/>
          <p:cNvSpPr/>
          <p:nvPr/>
        </p:nvSpPr>
        <p:spPr>
          <a:xfrm>
            <a:off x="15" y="4915076"/>
            <a:ext cx="12188825" cy="64008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097280" y="5074920"/>
            <a:ext cx="10113645" cy="822960"/>
          </a:xfrm>
        </p:spPr>
        <p:txBody>
          <a:bodyPr lIns="91440" tIns="0" rIns="91440" bIns="0" anchor="b">
            <a:noAutofit/>
          </a:bodyPr>
          <a:lstStyle>
            <a:lvl1pPr>
              <a:defRPr sz="3600" b="0">
                <a:solidFill>
                  <a:srgbClr val="FFFFFF"/>
                </a:solidFill>
              </a:defRPr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Picture Placeholder 2"/>
          <p:cNvSpPr>
            <a:spLocks noGrp="1" noChangeAspect="1"/>
          </p:cNvSpPr>
          <p:nvPr>
            <p:ph type="pic" idx="1"/>
          </p:nvPr>
        </p:nvSpPr>
        <p:spPr>
          <a:xfrm>
            <a:off x="15" y="0"/>
            <a:ext cx="12191985" cy="4915076"/>
          </a:xfrm>
          <a:solidFill>
            <a:schemeClr val="bg2">
              <a:lumMod val="90000"/>
            </a:schemeClr>
          </a:solidFill>
        </p:spPr>
        <p:txBody>
          <a:bodyPr lIns="457200" tIns="457200" anchor="t"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r>
              <a:rPr lang="en-US"/>
              <a:t>Click icon to add picture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097280" y="5907024"/>
            <a:ext cx="10113264" cy="594360"/>
          </a:xfrm>
        </p:spPr>
        <p:txBody>
          <a:bodyPr lIns="91440" tIns="0" rIns="91440" bIns="0">
            <a:normAutofit/>
          </a:bodyPr>
          <a:lstStyle>
            <a:lvl1pPr marL="0" indent="0">
              <a:spcBef>
                <a:spcPts val="0"/>
              </a:spcBef>
              <a:spcAft>
                <a:spcPts val="600"/>
              </a:spcAft>
              <a:buNone/>
              <a:defRPr sz="1500">
                <a:solidFill>
                  <a:srgbClr val="FFFFFF"/>
                </a:solidFill>
              </a:defRPr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5B747F8-9654-4282-85D2-65F41AAE7A75}" type="datetimeFigureOut">
              <a:rPr lang="en-US" dirty="0"/>
              <a:t>10/2/2025</a:t>
            </a:fld>
            <a:endParaRPr lang="en-US" dirty="0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FAB73BC-B049-4115-A692-8D63A059BFB8}" type="slidenum">
              <a:rPr lang="en-US" dirty="0"/>
              <a:t>‹#›</a:t>
            </a:fld>
            <a:endParaRPr lang="en-US" dirty="0"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 lIns="45720" tIns="0" rIns="45720" bIns="0"/>
          <a:lstStyle/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0B6E300-0A13-4A81-945A-7333C271A069}" type="datetimeFigureOut">
              <a:rPr lang="en-US" dirty="0"/>
              <a:t>10/2/2025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FAB73BC-B049-4115-A692-8D63A059BFB8}" type="slidenum">
              <a:rPr lang="en-US" dirty="0"/>
              <a:t>‹#›</a:t>
            </a:fld>
            <a:endParaRPr lang="en-US" dirty="0"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Rectangle 6"/>
          <p:cNvSpPr/>
          <p:nvPr/>
        </p:nvSpPr>
        <p:spPr>
          <a:xfrm>
            <a:off x="3175" y="6400800"/>
            <a:ext cx="12188825" cy="457200"/>
          </a:xfrm>
          <a:prstGeom prst="rect">
            <a:avLst/>
          </a:pr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8" name="Rectangle 7"/>
          <p:cNvSpPr/>
          <p:nvPr/>
        </p:nvSpPr>
        <p:spPr>
          <a:xfrm>
            <a:off x="15" y="6334316"/>
            <a:ext cx="12188825" cy="64008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8724900" y="412302"/>
            <a:ext cx="2628900" cy="5759898"/>
          </a:xfrm>
        </p:spPr>
        <p:txBody>
          <a:bodyPr vert="eaVert"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838200" y="412302"/>
            <a:ext cx="7734300" cy="5759898"/>
          </a:xfrm>
        </p:spPr>
        <p:txBody>
          <a:bodyPr vert="eaVert" lIns="45720" tIns="0" rIns="45720" bIns="0"/>
          <a:lstStyle/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4671962-1EA4-46E7-BCB0-F36CE46D1A59}" type="datetimeFigureOut">
              <a:rPr lang="en-US" dirty="0"/>
              <a:t>10/2/2025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FAB73BC-B049-4115-A692-8D63A059BFB8}" type="slidenum">
              <a:rPr lang="en-US" dirty="0"/>
              <a:t>‹#›</a:t>
            </a:fld>
            <a:endParaRPr lang="en-US" dirty="0"/>
          </a:p>
        </p:txBody>
      </p:sp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Rectangle 6"/>
          <p:cNvSpPr/>
          <p:nvPr/>
        </p:nvSpPr>
        <p:spPr>
          <a:xfrm>
            <a:off x="1" y="6400800"/>
            <a:ext cx="12192000" cy="457200"/>
          </a:xfrm>
          <a:prstGeom prst="rect">
            <a:avLst/>
          </a:pr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9" name="Rectangle 8"/>
          <p:cNvSpPr/>
          <p:nvPr/>
        </p:nvSpPr>
        <p:spPr>
          <a:xfrm>
            <a:off x="15" y="6334316"/>
            <a:ext cx="12191985" cy="66484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1097280" y="286603"/>
            <a:ext cx="10058400" cy="1450757"/>
          </a:xfrm>
          <a:prstGeom prst="rect">
            <a:avLst/>
          </a:prstGeom>
        </p:spPr>
        <p:txBody>
          <a:bodyPr vert="horz" lIns="91440" tIns="45720" rIns="91440" bIns="45720" rtlCol="0" anchor="b">
            <a:normAutofit/>
          </a:bodyPr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1097280" y="1845734"/>
            <a:ext cx="10058400" cy="4023360"/>
          </a:xfrm>
          <a:prstGeom prst="rect">
            <a:avLst/>
          </a:prstGeom>
        </p:spPr>
        <p:txBody>
          <a:bodyPr vert="horz" lIns="0" tIns="45720" rIns="0" bIns="45720" rtlCol="0">
            <a:normAutofit/>
          </a:bodyPr>
          <a:lstStyle/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1097280" y="6459785"/>
            <a:ext cx="2472271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900">
                <a:solidFill>
                  <a:srgbClr val="FFFFFF"/>
                </a:solidFill>
              </a:defRPr>
            </a:lvl1pPr>
          </a:lstStyle>
          <a:p>
            <a:fld id="{5DC5B261-8843-42D1-AAFC-05E20E2D9B97}" type="datetimeFigureOut">
              <a:rPr lang="en-US" dirty="0"/>
              <a:t>10/2/2025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686185" y="6459785"/>
            <a:ext cx="4822804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900" cap="all" baseline="0">
                <a:solidFill>
                  <a:srgbClr val="FFFFFF"/>
                </a:solidFill>
              </a:defRPr>
            </a:lvl1pPr>
          </a:lstStyle>
          <a:p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9900458" y="6459785"/>
            <a:ext cx="1312025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050">
                <a:solidFill>
                  <a:srgbClr val="FFFFFF"/>
                </a:solidFill>
              </a:defRPr>
            </a:lvl1pPr>
          </a:lstStyle>
          <a:p>
            <a:fld id="{4FAB73BC-B049-4115-A692-8D63A059BFB8}" type="slidenum">
              <a:rPr lang="en-US" dirty="0"/>
              <a:pPr/>
              <a:t>‹#›</a:t>
            </a:fld>
            <a:endParaRPr lang="en-US" dirty="0"/>
          </a:p>
        </p:txBody>
      </p:sp>
      <p:cxnSp>
        <p:nvCxnSpPr>
          <p:cNvPr id="10" name="Straight Connector 9"/>
          <p:cNvCxnSpPr/>
          <p:nvPr/>
        </p:nvCxnSpPr>
        <p:spPr>
          <a:xfrm>
            <a:off x="1193532" y="1737845"/>
            <a:ext cx="9966960" cy="0"/>
          </a:xfrm>
          <a:prstGeom prst="line">
            <a:avLst/>
          </a:prstGeom>
          <a:ln w="6350">
            <a:solidFill>
              <a:schemeClr val="tx1">
                <a:lumMod val="50000"/>
                <a:lumOff val="50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6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hf sldNum="0" hdr="0" ftr="0" dt="0"/>
  <p:txStyles>
    <p:titleStyle>
      <a:lvl1pPr algn="l" defTabSz="914400" rtl="0" eaLnBrk="1" latinLnBrk="0" hangingPunct="1">
        <a:lnSpc>
          <a:spcPct val="85000"/>
        </a:lnSpc>
        <a:spcBef>
          <a:spcPct val="0"/>
        </a:spcBef>
        <a:buNone/>
        <a:defRPr sz="4800" kern="1200" spc="-50" baseline="0">
          <a:solidFill>
            <a:schemeClr val="tx1">
              <a:lumMod val="75000"/>
              <a:lumOff val="25000"/>
            </a:schemeClr>
          </a:solidFill>
          <a:latin typeface="+mj-lt"/>
          <a:ea typeface="+mj-ea"/>
          <a:cs typeface="+mj-cs"/>
        </a:defRPr>
      </a:lvl1pPr>
    </p:titleStyle>
    <p:bodyStyle>
      <a:lvl1pPr marL="91440" indent="-91440" algn="l" defTabSz="914400" rtl="0" eaLnBrk="1" latinLnBrk="0" hangingPunct="1">
        <a:lnSpc>
          <a:spcPct val="90000"/>
        </a:lnSpc>
        <a:spcBef>
          <a:spcPts val="1200"/>
        </a:spcBef>
        <a:spcAft>
          <a:spcPts val="200"/>
        </a:spcAft>
        <a:buClr>
          <a:schemeClr val="accent1"/>
        </a:buClr>
        <a:buSzPct val="100000"/>
        <a:buFont typeface="Calibri" panose="020F0502020204030204" pitchFamily="34" charset="0"/>
        <a:buChar char=" "/>
        <a:defRPr sz="20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1pPr>
      <a:lvl2pPr marL="384048" indent="-182880" algn="l" defTabSz="914400" rtl="0" eaLnBrk="1" latinLnBrk="0" hangingPunct="1">
        <a:lnSpc>
          <a:spcPct val="90000"/>
        </a:lnSpc>
        <a:spcBef>
          <a:spcPts val="200"/>
        </a:spcBef>
        <a:spcAft>
          <a:spcPts val="400"/>
        </a:spcAft>
        <a:buClr>
          <a:schemeClr val="accent1"/>
        </a:buClr>
        <a:buFont typeface="Calibri" pitchFamily="34" charset="0"/>
        <a:buChar char="◦"/>
        <a:defRPr sz="18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2pPr>
      <a:lvl3pPr marL="566928" indent="-182880" algn="l" defTabSz="914400" rtl="0" eaLnBrk="1" latinLnBrk="0" hangingPunct="1">
        <a:lnSpc>
          <a:spcPct val="90000"/>
        </a:lnSpc>
        <a:spcBef>
          <a:spcPts val="200"/>
        </a:spcBef>
        <a:spcAft>
          <a:spcPts val="400"/>
        </a:spcAft>
        <a:buClr>
          <a:schemeClr val="accent1"/>
        </a:buClr>
        <a:buFont typeface="Calibri" pitchFamily="34" charset="0"/>
        <a:buChar char="◦"/>
        <a:defRPr sz="14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3pPr>
      <a:lvl4pPr marL="749808" indent="-182880" algn="l" defTabSz="914400" rtl="0" eaLnBrk="1" latinLnBrk="0" hangingPunct="1">
        <a:lnSpc>
          <a:spcPct val="90000"/>
        </a:lnSpc>
        <a:spcBef>
          <a:spcPts val="200"/>
        </a:spcBef>
        <a:spcAft>
          <a:spcPts val="400"/>
        </a:spcAft>
        <a:buClr>
          <a:schemeClr val="accent1"/>
        </a:buClr>
        <a:buFont typeface="Calibri" pitchFamily="34" charset="0"/>
        <a:buChar char="◦"/>
        <a:defRPr sz="14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4pPr>
      <a:lvl5pPr marL="932688" indent="-182880" algn="l" defTabSz="914400" rtl="0" eaLnBrk="1" latinLnBrk="0" hangingPunct="1">
        <a:lnSpc>
          <a:spcPct val="90000"/>
        </a:lnSpc>
        <a:spcBef>
          <a:spcPts val="200"/>
        </a:spcBef>
        <a:spcAft>
          <a:spcPts val="400"/>
        </a:spcAft>
        <a:buClr>
          <a:schemeClr val="accent1"/>
        </a:buClr>
        <a:buFont typeface="Calibri" pitchFamily="34" charset="0"/>
        <a:buChar char="◦"/>
        <a:defRPr sz="14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5pPr>
      <a:lvl6pPr marL="1100000" indent="-228600" algn="l" defTabSz="914400" rtl="0" eaLnBrk="1" latinLnBrk="0" hangingPunct="1">
        <a:lnSpc>
          <a:spcPct val="90000"/>
        </a:lnSpc>
        <a:spcBef>
          <a:spcPts val="200"/>
        </a:spcBef>
        <a:spcAft>
          <a:spcPts val="400"/>
        </a:spcAft>
        <a:buClr>
          <a:schemeClr val="accent1"/>
        </a:buClr>
        <a:buFont typeface="Calibri" pitchFamily="34" charset="0"/>
        <a:buChar char="◦"/>
        <a:defRPr sz="14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6pPr>
      <a:lvl7pPr marL="1300000" indent="-228600" algn="l" defTabSz="914400" rtl="0" eaLnBrk="1" latinLnBrk="0" hangingPunct="1">
        <a:lnSpc>
          <a:spcPct val="90000"/>
        </a:lnSpc>
        <a:spcBef>
          <a:spcPts val="200"/>
        </a:spcBef>
        <a:spcAft>
          <a:spcPts val="400"/>
        </a:spcAft>
        <a:buClr>
          <a:schemeClr val="accent1"/>
        </a:buClr>
        <a:buFont typeface="Calibri" pitchFamily="34" charset="0"/>
        <a:buChar char="◦"/>
        <a:defRPr sz="14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7pPr>
      <a:lvl8pPr marL="1500000" indent="-228600" algn="l" defTabSz="914400" rtl="0" eaLnBrk="1" latinLnBrk="0" hangingPunct="1">
        <a:lnSpc>
          <a:spcPct val="90000"/>
        </a:lnSpc>
        <a:spcBef>
          <a:spcPts val="200"/>
        </a:spcBef>
        <a:spcAft>
          <a:spcPts val="400"/>
        </a:spcAft>
        <a:buClr>
          <a:schemeClr val="accent1"/>
        </a:buClr>
        <a:buFont typeface="Calibri" pitchFamily="34" charset="0"/>
        <a:buChar char="◦"/>
        <a:defRPr sz="14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8pPr>
      <a:lvl9pPr marL="1700000" indent="-228600" algn="l" defTabSz="914400" rtl="0" eaLnBrk="1" latinLnBrk="0" hangingPunct="1">
        <a:lnSpc>
          <a:spcPct val="90000"/>
        </a:lnSpc>
        <a:spcBef>
          <a:spcPts val="200"/>
        </a:spcBef>
        <a:spcAft>
          <a:spcPts val="400"/>
        </a:spcAft>
        <a:buClr>
          <a:schemeClr val="accent1"/>
        </a:buClr>
        <a:buFont typeface="Calibri" pitchFamily="34" charset="0"/>
        <a:buChar char="◦"/>
        <a:defRPr sz="14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0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2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/Relationships>
</file>

<file path=ppt/slides/_rels/slide1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8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2.xml"/></Relationships>
</file>

<file path=ppt/slides/_rels/slide19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2.xml"/></Relationships>
</file>

<file path=ppt/slides/_rels/slide2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/Relationships>
</file>

<file path=ppt/slides/_rels/slide2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2.xml"/></Relationships>
</file>

<file path=ppt/slides/_rels/slide2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2.xml"/></Relationships>
</file>

<file path=ppt/slides/_rels/slide24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2.xml"/></Relationships>
</file>

<file path=ppt/slides/_rels/slide25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7.xml"/><Relationship Id="rId1" Type="http://schemas.openxmlformats.org/officeDocument/2006/relationships/slideLayout" Target="../slideLayouts/slideLayout2.xml"/></Relationships>
</file>

<file path=ppt/slides/_rels/slide2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/Relationships>
</file>

<file path=ppt/slides/_rels/slide3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/Relationships>
</file>

<file path=ppt/slides/_rels/slide3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6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8.xml"/><Relationship Id="rId1" Type="http://schemas.openxmlformats.org/officeDocument/2006/relationships/slideLayout" Target="../slideLayouts/slideLayout2.xml"/></Relationships>
</file>

<file path=ppt/slides/_rels/slide3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/Relationships>
</file>

<file path=ppt/slides/_rels/slide4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5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9.xml"/><Relationship Id="rId1" Type="http://schemas.openxmlformats.org/officeDocument/2006/relationships/slideLayout" Target="../slideLayouts/slideLayout2.xml"/></Relationships>
</file>

<file path=ppt/slides/_rels/slide4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4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9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0.xml"/><Relationship Id="rId1" Type="http://schemas.openxmlformats.org/officeDocument/2006/relationships/slideLayout" Target="../slideLayouts/slideLayout2.xml"/></Relationships>
</file>

<file path=ppt/slides/_rels/slide5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5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5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/Relationships>
</file>

<file path=ppt/slides/_rels/slide53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jpeg"/><Relationship Id="rId1" Type="http://schemas.openxmlformats.org/officeDocument/2006/relationships/slideLayout" Target="../slideLayouts/slideLayout2.xml"/></Relationships>
</file>

<file path=ppt/slides/_rels/slide54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jpeg"/><Relationship Id="rId2" Type="http://schemas.openxmlformats.org/officeDocument/2006/relationships/notesSlide" Target="../notesSlides/notesSlide11.xml"/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/>
        <p:txBody>
          <a:bodyPr/>
          <a:lstStyle/>
          <a:p>
            <a:r>
              <a:rPr lang="en-CA" dirty="0"/>
              <a:t>Welcome!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/>
        <p:txBody>
          <a:bodyPr>
            <a:normAutofit fontScale="85000" lnSpcReduction="20000"/>
          </a:bodyPr>
          <a:lstStyle/>
          <a:p>
            <a:r>
              <a:rPr lang="en-CA" dirty="0"/>
              <a:t>COMP 3522 Object Oriented Programming 2</a:t>
            </a:r>
          </a:p>
          <a:p>
            <a:r>
              <a:rPr lang="en-CA" dirty="0"/>
              <a:t>Week 1 Day 2: Python Fundamentals</a:t>
            </a:r>
          </a:p>
          <a:p>
            <a:r>
              <a:rPr lang="en-CA" dirty="0"/>
              <a:t>Slides by </a:t>
            </a:r>
            <a:r>
              <a:rPr lang="en-CA"/>
              <a:t>Jeffrey Yim &amp; Rahul Kukreja</a:t>
            </a:r>
            <a:endParaRPr lang="en-CA" dirty="0"/>
          </a:p>
          <a:p>
            <a:endParaRPr lang="en-CA" dirty="0"/>
          </a:p>
        </p:txBody>
      </p:sp>
    </p:spTree>
    <p:extLst>
      <p:ext uri="{BB962C8B-B14F-4D97-AF65-F5344CB8AC3E}">
        <p14:creationId xmlns:p14="http://schemas.microsoft.com/office/powerpoint/2010/main" val="1132307112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C908856F-1EFF-4185-93B9-3C2B73FA14C8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CA" dirty="0"/>
              <a:t>Agenda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EF8BF406-B0B7-4A7A-BB97-3391AD3984B6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1097280" y="1845734"/>
            <a:ext cx="10058400" cy="4023360"/>
          </a:xfrm>
        </p:spPr>
        <p:txBody>
          <a:bodyPr numCol="2">
            <a:normAutofit/>
          </a:bodyPr>
          <a:lstStyle/>
          <a:p>
            <a:pPr marL="514350" indent="-514350">
              <a:buFont typeface="+mj-lt"/>
              <a:buAutoNum type="arabicPeriod"/>
            </a:pPr>
            <a:r>
              <a:rPr lang="en-US" dirty="0"/>
              <a:t>Questions/Review</a:t>
            </a:r>
          </a:p>
          <a:p>
            <a:pPr marL="514350" indent="-514350">
              <a:buFont typeface="+mj-lt"/>
              <a:buAutoNum type="arabicPeriod"/>
            </a:pPr>
            <a:r>
              <a:rPr lang="en-US" dirty="0"/>
              <a:t>Mutability in Python</a:t>
            </a:r>
          </a:p>
          <a:p>
            <a:pPr marL="514350" indent="-514350">
              <a:buFont typeface="+mj-lt"/>
              <a:buAutoNum type="arabicPeriod"/>
            </a:pPr>
            <a:r>
              <a:rPr lang="en-US" dirty="0"/>
              <a:t>Sequence types</a:t>
            </a:r>
          </a:p>
          <a:p>
            <a:pPr marL="514350" indent="-514350">
              <a:buFont typeface="+mj-lt"/>
              <a:buAutoNum type="arabicPeriod"/>
            </a:pPr>
            <a:r>
              <a:rPr lang="en-US" dirty="0"/>
              <a:t>Lists</a:t>
            </a:r>
          </a:p>
          <a:p>
            <a:pPr marL="514350" indent="-514350">
              <a:buFont typeface="+mj-lt"/>
              <a:buAutoNum type="arabicPeriod"/>
            </a:pPr>
            <a:r>
              <a:rPr lang="en-US" dirty="0"/>
              <a:t>Tuples</a:t>
            </a:r>
          </a:p>
          <a:p>
            <a:pPr marL="514350" indent="-514350">
              <a:buFont typeface="+mj-lt"/>
              <a:buAutoNum type="arabicPeriod"/>
            </a:pPr>
            <a:r>
              <a:rPr lang="en-US" dirty="0"/>
              <a:t>Dictionaries</a:t>
            </a:r>
          </a:p>
          <a:p>
            <a:pPr marL="514350" indent="-514350">
              <a:buFont typeface="+mj-lt"/>
              <a:buAutoNum type="arabicPeriod"/>
            </a:pPr>
            <a:r>
              <a:rPr lang="en-US" dirty="0"/>
              <a:t>Iteration and views</a:t>
            </a:r>
          </a:p>
          <a:p>
            <a:pPr marL="514350" indent="-514350">
              <a:buFont typeface="+mj-lt"/>
              <a:buAutoNum type="arabicPeriod"/>
            </a:pPr>
            <a:r>
              <a:rPr lang="en-US" dirty="0"/>
              <a:t>Loops</a:t>
            </a:r>
            <a:endParaRPr lang="en-CA" dirty="0"/>
          </a:p>
        </p:txBody>
      </p:sp>
    </p:spTree>
    <p:extLst>
      <p:ext uri="{BB962C8B-B14F-4D97-AF65-F5344CB8AC3E}">
        <p14:creationId xmlns:p14="http://schemas.microsoft.com/office/powerpoint/2010/main" val="199519734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46F46FA4-73C8-4605-9B94-11D1822AAB22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Questions/Review</a:t>
            </a:r>
            <a:endParaRPr lang="en-CA" dirty="0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2A6580DD-2CE4-4D10-BD34-DDC0B329DC78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>
            <a:normAutofit/>
          </a:bodyPr>
          <a:lstStyle/>
          <a:p>
            <a:pPr marL="342900" indent="-342900">
              <a:buFont typeface="Arial" panose="020B0604020202020204" pitchFamily="34" charset="0"/>
              <a:buChar char="•"/>
            </a:pPr>
            <a:endParaRPr lang="en-CA" dirty="0"/>
          </a:p>
        </p:txBody>
      </p:sp>
    </p:spTree>
    <p:extLst>
      <p:ext uri="{BB962C8B-B14F-4D97-AF65-F5344CB8AC3E}">
        <p14:creationId xmlns:p14="http://schemas.microsoft.com/office/powerpoint/2010/main" val="2285234896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C908856F-1EFF-4185-93B9-3C2B73FA14C8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CA" dirty="0"/>
              <a:t>__name__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idx="1"/>
          </p:nvPr>
        </p:nvSpPr>
        <p:spPr>
          <a:xfrm>
            <a:off x="1097280" y="1845734"/>
            <a:ext cx="10058400" cy="1330603"/>
          </a:xfrm>
        </p:spPr>
        <p:txBody>
          <a:bodyPr/>
          <a:lstStyle/>
          <a:p>
            <a:r>
              <a:rPr lang="en-CA" dirty="0">
                <a:solidFill>
                  <a:schemeClr val="tx1"/>
                </a:solidFill>
              </a:rPr>
              <a:t>__name__ is a built in variable in every python module (file)</a:t>
            </a:r>
          </a:p>
          <a:p>
            <a:r>
              <a:rPr lang="en-CA" dirty="0">
                <a:solidFill>
                  <a:schemeClr val="tx1"/>
                </a:solidFill>
              </a:rPr>
              <a:t>Its value is set automatically</a:t>
            </a:r>
          </a:p>
          <a:p>
            <a:r>
              <a:rPr lang="en-CA" dirty="0">
                <a:solidFill>
                  <a:schemeClr val="tx1"/>
                </a:solidFill>
              </a:rPr>
              <a:t>__name__ is set to the name of the current module</a:t>
            </a:r>
          </a:p>
          <a:p>
            <a:endParaRPr lang="en-CA" dirty="0">
              <a:solidFill>
                <a:schemeClr val="tx1"/>
              </a:solidFill>
            </a:endParaRPr>
          </a:p>
        </p:txBody>
      </p:sp>
      <p:sp>
        <p:nvSpPr>
          <p:cNvPr id="7" name="Rectangle 6"/>
          <p:cNvSpPr/>
          <p:nvPr/>
        </p:nvSpPr>
        <p:spPr>
          <a:xfrm>
            <a:off x="3195021" y="3453204"/>
            <a:ext cx="1775012" cy="1850316"/>
          </a:xfrm>
          <a:prstGeom prst="rect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CA" dirty="0"/>
              <a:t>file_1.py</a:t>
            </a:r>
          </a:p>
        </p:txBody>
      </p:sp>
      <p:sp>
        <p:nvSpPr>
          <p:cNvPr id="8" name="Rectangle 7"/>
          <p:cNvSpPr/>
          <p:nvPr/>
        </p:nvSpPr>
        <p:spPr>
          <a:xfrm>
            <a:off x="6492240" y="3453204"/>
            <a:ext cx="1775012" cy="1850316"/>
          </a:xfrm>
          <a:prstGeom prst="rect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CA" dirty="0"/>
              <a:t>file_2.py</a:t>
            </a:r>
          </a:p>
        </p:txBody>
      </p:sp>
      <p:sp>
        <p:nvSpPr>
          <p:cNvPr id="9" name="Rectangle 8"/>
          <p:cNvSpPr/>
          <p:nvPr/>
        </p:nvSpPr>
        <p:spPr>
          <a:xfrm>
            <a:off x="3036407" y="5395721"/>
            <a:ext cx="2201244" cy="369332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r>
              <a:rPr lang="en-CA" dirty="0">
                <a:solidFill>
                  <a:srgbClr val="0070C0"/>
                </a:solidFill>
              </a:rPr>
              <a:t>__</a:t>
            </a:r>
            <a:r>
              <a:rPr lang="en-CA" dirty="0"/>
              <a:t>name__ == ‘file_1’ </a:t>
            </a:r>
          </a:p>
        </p:txBody>
      </p:sp>
      <p:sp>
        <p:nvSpPr>
          <p:cNvPr id="10" name="Rectangle 9"/>
          <p:cNvSpPr/>
          <p:nvPr/>
        </p:nvSpPr>
        <p:spPr>
          <a:xfrm>
            <a:off x="6416101" y="5414404"/>
            <a:ext cx="2201244" cy="369332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r>
              <a:rPr lang="en-CA" dirty="0">
                <a:solidFill>
                  <a:srgbClr val="0070C0"/>
                </a:solidFill>
              </a:rPr>
              <a:t>__</a:t>
            </a:r>
            <a:r>
              <a:rPr lang="en-CA" dirty="0"/>
              <a:t>name__ == ‘file_2’ </a:t>
            </a:r>
          </a:p>
        </p:txBody>
      </p:sp>
    </p:spTree>
    <p:extLst>
      <p:ext uri="{BB962C8B-B14F-4D97-AF65-F5344CB8AC3E}">
        <p14:creationId xmlns:p14="http://schemas.microsoft.com/office/powerpoint/2010/main" val="1481837212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C908856F-1EFF-4185-93B9-3C2B73FA14C8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CA" dirty="0"/>
              <a:t>__name__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idx="1"/>
          </p:nvPr>
        </p:nvSpPr>
        <p:spPr>
          <a:xfrm>
            <a:off x="1097280" y="1845734"/>
            <a:ext cx="10058400" cy="1330603"/>
          </a:xfrm>
        </p:spPr>
        <p:txBody>
          <a:bodyPr/>
          <a:lstStyle/>
          <a:p>
            <a:r>
              <a:rPr lang="en-CA" dirty="0">
                <a:solidFill>
                  <a:schemeClr val="tx1"/>
                </a:solidFill>
              </a:rPr>
              <a:t>But as soon as code begins running from a file, the __name__ of that file evaluates to ‘__main__’</a:t>
            </a:r>
          </a:p>
          <a:p>
            <a:r>
              <a:rPr lang="en-CA" dirty="0">
                <a:solidFill>
                  <a:schemeClr val="tx1"/>
                </a:solidFill>
              </a:rPr>
              <a:t>That file’s name remains ‘__main__’ for the duration of the program</a:t>
            </a:r>
          </a:p>
          <a:p>
            <a:endParaRPr lang="en-CA" dirty="0">
              <a:solidFill>
                <a:schemeClr val="tx1"/>
              </a:solidFill>
            </a:endParaRPr>
          </a:p>
        </p:txBody>
      </p:sp>
      <p:grpSp>
        <p:nvGrpSpPr>
          <p:cNvPr id="12" name="Group 11"/>
          <p:cNvGrpSpPr/>
          <p:nvPr/>
        </p:nvGrpSpPr>
        <p:grpSpPr>
          <a:xfrm>
            <a:off x="1177024" y="3367723"/>
            <a:ext cx="8252270" cy="2376870"/>
            <a:chOff x="1097280" y="3829722"/>
            <a:chExt cx="8252270" cy="2376870"/>
          </a:xfrm>
        </p:grpSpPr>
        <p:sp>
          <p:nvSpPr>
            <p:cNvPr id="13" name="Rectangle 12"/>
            <p:cNvSpPr/>
            <p:nvPr/>
          </p:nvSpPr>
          <p:spPr>
            <a:xfrm>
              <a:off x="3927226" y="3829722"/>
              <a:ext cx="1775012" cy="1850316"/>
            </a:xfrm>
            <a:prstGeom prst="rect">
              <a:avLst/>
            </a:prstGeom>
            <a:solidFill>
              <a:srgbClr val="92D050"/>
            </a:solidFill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en-CA" dirty="0"/>
                <a:t>file_1.py</a:t>
              </a:r>
            </a:p>
          </p:txBody>
        </p:sp>
        <p:sp>
          <p:nvSpPr>
            <p:cNvPr id="14" name="Rectangle 13"/>
            <p:cNvSpPr/>
            <p:nvPr/>
          </p:nvSpPr>
          <p:spPr>
            <a:xfrm>
              <a:off x="7224445" y="3829722"/>
              <a:ext cx="1775012" cy="1850316"/>
            </a:xfrm>
            <a:prstGeom prst="rect">
              <a:avLst/>
            </a:prstGeom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en-CA" dirty="0"/>
                <a:t>file_2.py</a:t>
              </a:r>
            </a:p>
          </p:txBody>
        </p:sp>
        <p:sp>
          <p:nvSpPr>
            <p:cNvPr id="15" name="Rectangle 14"/>
            <p:cNvSpPr/>
            <p:nvPr/>
          </p:nvSpPr>
          <p:spPr>
            <a:xfrm>
              <a:off x="3507323" y="5837260"/>
              <a:ext cx="2614818" cy="369332"/>
            </a:xfrm>
            <a:prstGeom prst="rect">
              <a:avLst/>
            </a:prstGeom>
          </p:spPr>
          <p:txBody>
            <a:bodyPr wrap="none">
              <a:spAutoFit/>
            </a:bodyPr>
            <a:lstStyle/>
            <a:p>
              <a:r>
                <a:rPr lang="en-CA" dirty="0"/>
                <a:t>__name__ == </a:t>
              </a:r>
              <a:r>
                <a:rPr lang="en-CA" b="1" dirty="0">
                  <a:solidFill>
                    <a:srgbClr val="00B050"/>
                  </a:solidFill>
                </a:rPr>
                <a:t>‘__main__’ </a:t>
              </a:r>
            </a:p>
          </p:txBody>
        </p:sp>
        <p:sp>
          <p:nvSpPr>
            <p:cNvPr id="16" name="Rectangle 15"/>
            <p:cNvSpPr/>
            <p:nvPr/>
          </p:nvSpPr>
          <p:spPr>
            <a:xfrm>
              <a:off x="7148306" y="5790922"/>
              <a:ext cx="2201244" cy="369332"/>
            </a:xfrm>
            <a:prstGeom prst="rect">
              <a:avLst/>
            </a:prstGeom>
          </p:spPr>
          <p:txBody>
            <a:bodyPr wrap="none">
              <a:spAutoFit/>
            </a:bodyPr>
            <a:lstStyle/>
            <a:p>
              <a:r>
                <a:rPr lang="en-CA" dirty="0"/>
                <a:t>__name__ == ‘file_2’ </a:t>
              </a:r>
            </a:p>
          </p:txBody>
        </p:sp>
        <p:cxnSp>
          <p:nvCxnSpPr>
            <p:cNvPr id="17" name="Straight Arrow Connector 16"/>
            <p:cNvCxnSpPr>
              <a:endCxn id="13" idx="1"/>
            </p:cNvCxnSpPr>
            <p:nvPr/>
          </p:nvCxnSpPr>
          <p:spPr>
            <a:xfrm>
              <a:off x="2743885" y="4754880"/>
              <a:ext cx="1183341" cy="0"/>
            </a:xfrm>
            <a:prstGeom prst="straightConnector1">
              <a:avLst/>
            </a:prstGeom>
            <a:ln>
              <a:solidFill>
                <a:srgbClr val="92D050"/>
              </a:solidFill>
              <a:tailEnd type="triangle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sp>
          <p:nvSpPr>
            <p:cNvPr id="18" name="Rectangle 17"/>
            <p:cNvSpPr/>
            <p:nvPr/>
          </p:nvSpPr>
          <p:spPr>
            <a:xfrm>
              <a:off x="1097280" y="4431714"/>
              <a:ext cx="1646605" cy="646331"/>
            </a:xfrm>
            <a:prstGeom prst="rect">
              <a:avLst/>
            </a:prstGeom>
          </p:spPr>
          <p:txBody>
            <a:bodyPr wrap="none">
              <a:spAutoFit/>
            </a:bodyPr>
            <a:lstStyle/>
            <a:p>
              <a:r>
                <a:rPr lang="en-CA" dirty="0">
                  <a:solidFill>
                    <a:srgbClr val="00B050"/>
                  </a:solidFill>
                </a:rPr>
                <a:t>Executing code </a:t>
              </a:r>
            </a:p>
            <a:p>
              <a:r>
                <a:rPr lang="en-CA" dirty="0">
                  <a:solidFill>
                    <a:srgbClr val="00B050"/>
                  </a:solidFill>
                </a:rPr>
                <a:t>from file_1</a:t>
              </a:r>
            </a:p>
          </p:txBody>
        </p:sp>
      </p:grpSp>
    </p:spTree>
    <p:extLst>
      <p:ext uri="{BB962C8B-B14F-4D97-AF65-F5344CB8AC3E}">
        <p14:creationId xmlns:p14="http://schemas.microsoft.com/office/powerpoint/2010/main" val="4254606756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C908856F-1EFF-4185-93B9-3C2B73FA14C8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CA" dirty="0"/>
              <a:t>__name__</a:t>
            </a:r>
          </a:p>
        </p:txBody>
      </p:sp>
      <p:sp>
        <p:nvSpPr>
          <p:cNvPr id="13" name="Rectangle 12"/>
          <p:cNvSpPr/>
          <p:nvPr/>
        </p:nvSpPr>
        <p:spPr>
          <a:xfrm>
            <a:off x="3300502" y="3176337"/>
            <a:ext cx="1775012" cy="1850316"/>
          </a:xfrm>
          <a:prstGeom prst="rect">
            <a:avLst/>
          </a:prstGeom>
          <a:solidFill>
            <a:schemeClr val="accent1"/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CA" dirty="0"/>
              <a:t>file_1.py</a:t>
            </a:r>
          </a:p>
        </p:txBody>
      </p:sp>
      <p:sp>
        <p:nvSpPr>
          <p:cNvPr id="14" name="Rectangle 13"/>
          <p:cNvSpPr/>
          <p:nvPr/>
        </p:nvSpPr>
        <p:spPr>
          <a:xfrm>
            <a:off x="6597721" y="3176337"/>
            <a:ext cx="1775012" cy="1850316"/>
          </a:xfrm>
          <a:prstGeom prst="rect">
            <a:avLst/>
          </a:prstGeom>
          <a:solidFill>
            <a:srgbClr val="92D050"/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CA" dirty="0"/>
              <a:t>file_2.py</a:t>
            </a:r>
          </a:p>
        </p:txBody>
      </p:sp>
      <p:sp>
        <p:nvSpPr>
          <p:cNvPr id="15" name="Rectangle 14"/>
          <p:cNvSpPr/>
          <p:nvPr/>
        </p:nvSpPr>
        <p:spPr>
          <a:xfrm>
            <a:off x="6234283" y="5165153"/>
            <a:ext cx="2614818" cy="369332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r>
              <a:rPr lang="en-CA" dirty="0"/>
              <a:t>__name__ == </a:t>
            </a:r>
            <a:r>
              <a:rPr lang="en-CA" b="1" dirty="0">
                <a:solidFill>
                  <a:srgbClr val="00B050"/>
                </a:solidFill>
              </a:rPr>
              <a:t>‘__main__’ </a:t>
            </a:r>
          </a:p>
        </p:txBody>
      </p:sp>
      <p:sp>
        <p:nvSpPr>
          <p:cNvPr id="16" name="Rectangle 15"/>
          <p:cNvSpPr/>
          <p:nvPr/>
        </p:nvSpPr>
        <p:spPr>
          <a:xfrm>
            <a:off x="2960801" y="5191325"/>
            <a:ext cx="2201244" cy="369332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r>
              <a:rPr lang="en-CA" dirty="0"/>
              <a:t>__name__ == ‘file_1’ </a:t>
            </a:r>
          </a:p>
        </p:txBody>
      </p:sp>
      <p:cxnSp>
        <p:nvCxnSpPr>
          <p:cNvPr id="17" name="Straight Arrow Connector 16"/>
          <p:cNvCxnSpPr>
            <a:stCxn id="18" idx="1"/>
            <a:endCxn id="14" idx="3"/>
          </p:cNvCxnSpPr>
          <p:nvPr/>
        </p:nvCxnSpPr>
        <p:spPr>
          <a:xfrm flipH="1">
            <a:off x="8372733" y="4101495"/>
            <a:ext cx="908336" cy="0"/>
          </a:xfrm>
          <a:prstGeom prst="straightConnector1">
            <a:avLst/>
          </a:prstGeom>
          <a:ln>
            <a:solidFill>
              <a:srgbClr val="92D050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8" name="Rectangle 17"/>
          <p:cNvSpPr/>
          <p:nvPr/>
        </p:nvSpPr>
        <p:spPr>
          <a:xfrm>
            <a:off x="9281069" y="3778329"/>
            <a:ext cx="1646605" cy="646331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r>
              <a:rPr lang="en-CA" dirty="0">
                <a:solidFill>
                  <a:srgbClr val="00B050"/>
                </a:solidFill>
              </a:rPr>
              <a:t>Executing code </a:t>
            </a:r>
          </a:p>
          <a:p>
            <a:r>
              <a:rPr lang="en-CA" dirty="0">
                <a:solidFill>
                  <a:srgbClr val="00B050"/>
                </a:solidFill>
              </a:rPr>
              <a:t>from file_2</a:t>
            </a:r>
          </a:p>
        </p:txBody>
      </p:sp>
      <p:sp>
        <p:nvSpPr>
          <p:cNvPr id="12" name="Content Placeholder 3">
            <a:extLst>
              <a:ext uri="{FF2B5EF4-FFF2-40B4-BE49-F238E27FC236}">
                <a16:creationId xmlns:a16="http://schemas.microsoft.com/office/drawing/2014/main" id="{E2F95707-1EE1-4D80-904C-660BFE5C03DC}"/>
              </a:ext>
            </a:extLst>
          </p:cNvPr>
          <p:cNvSpPr txBox="1">
            <a:spLocks/>
          </p:cNvSpPr>
          <p:nvPr/>
        </p:nvSpPr>
        <p:spPr>
          <a:xfrm>
            <a:off x="1097280" y="1845734"/>
            <a:ext cx="10058400" cy="1330603"/>
          </a:xfrm>
          <a:prstGeom prst="rect">
            <a:avLst/>
          </a:prstGeom>
        </p:spPr>
        <p:txBody>
          <a:bodyPr vert="horz" lIns="0" tIns="45720" rIns="0" bIns="45720" rtlCol="0">
            <a:normAutofit/>
          </a:bodyPr>
          <a:lstStyle>
            <a:lvl1pPr marL="91440" indent="-91440" algn="l" defTabSz="914400" rtl="0" eaLnBrk="1" latinLnBrk="0" hangingPunct="1">
              <a:lnSpc>
                <a:spcPct val="90000"/>
              </a:lnSpc>
              <a:spcBef>
                <a:spcPts val="1200"/>
              </a:spcBef>
              <a:spcAft>
                <a:spcPts val="200"/>
              </a:spcAft>
              <a:buClr>
                <a:schemeClr val="accent1"/>
              </a:buClr>
              <a:buSzPct val="100000"/>
              <a:buFont typeface="Calibri" panose="020F0502020204030204" pitchFamily="34" charset="0"/>
              <a:buChar char=" "/>
              <a:defRPr sz="20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1pPr>
            <a:lvl2pPr marL="384048" indent="-182880" algn="l" defTabSz="914400" rtl="0" eaLnBrk="1" latinLnBrk="0" hangingPunct="1">
              <a:lnSpc>
                <a:spcPct val="90000"/>
              </a:lnSpc>
              <a:spcBef>
                <a:spcPts val="200"/>
              </a:spcBef>
              <a:spcAft>
                <a:spcPts val="400"/>
              </a:spcAft>
              <a:buClr>
                <a:schemeClr val="accent1"/>
              </a:buClr>
              <a:buFont typeface="Calibri" pitchFamily="34" charset="0"/>
              <a:buChar char="◦"/>
              <a:defRPr sz="18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2pPr>
            <a:lvl3pPr marL="566928" indent="-182880" algn="l" defTabSz="914400" rtl="0" eaLnBrk="1" latinLnBrk="0" hangingPunct="1">
              <a:lnSpc>
                <a:spcPct val="90000"/>
              </a:lnSpc>
              <a:spcBef>
                <a:spcPts val="200"/>
              </a:spcBef>
              <a:spcAft>
                <a:spcPts val="400"/>
              </a:spcAft>
              <a:buClr>
                <a:schemeClr val="accent1"/>
              </a:buClr>
              <a:buFont typeface="Calibri" pitchFamily="34" charset="0"/>
              <a:buChar char="◦"/>
              <a:defRPr sz="14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3pPr>
            <a:lvl4pPr marL="749808" indent="-182880" algn="l" defTabSz="914400" rtl="0" eaLnBrk="1" latinLnBrk="0" hangingPunct="1">
              <a:lnSpc>
                <a:spcPct val="90000"/>
              </a:lnSpc>
              <a:spcBef>
                <a:spcPts val="200"/>
              </a:spcBef>
              <a:spcAft>
                <a:spcPts val="400"/>
              </a:spcAft>
              <a:buClr>
                <a:schemeClr val="accent1"/>
              </a:buClr>
              <a:buFont typeface="Calibri" pitchFamily="34" charset="0"/>
              <a:buChar char="◦"/>
              <a:defRPr sz="14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4pPr>
            <a:lvl5pPr marL="932688" indent="-182880" algn="l" defTabSz="914400" rtl="0" eaLnBrk="1" latinLnBrk="0" hangingPunct="1">
              <a:lnSpc>
                <a:spcPct val="90000"/>
              </a:lnSpc>
              <a:spcBef>
                <a:spcPts val="200"/>
              </a:spcBef>
              <a:spcAft>
                <a:spcPts val="400"/>
              </a:spcAft>
              <a:buClr>
                <a:schemeClr val="accent1"/>
              </a:buClr>
              <a:buFont typeface="Calibri" pitchFamily="34" charset="0"/>
              <a:buChar char="◦"/>
              <a:defRPr sz="14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5pPr>
            <a:lvl6pPr marL="1100000" indent="-228600" algn="l" defTabSz="914400" rtl="0" eaLnBrk="1" latinLnBrk="0" hangingPunct="1">
              <a:lnSpc>
                <a:spcPct val="90000"/>
              </a:lnSpc>
              <a:spcBef>
                <a:spcPts val="200"/>
              </a:spcBef>
              <a:spcAft>
                <a:spcPts val="400"/>
              </a:spcAft>
              <a:buClr>
                <a:schemeClr val="accent1"/>
              </a:buClr>
              <a:buFont typeface="Calibri" pitchFamily="34" charset="0"/>
              <a:buChar char="◦"/>
              <a:defRPr sz="14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6pPr>
            <a:lvl7pPr marL="1300000" indent="-228600" algn="l" defTabSz="914400" rtl="0" eaLnBrk="1" latinLnBrk="0" hangingPunct="1">
              <a:lnSpc>
                <a:spcPct val="90000"/>
              </a:lnSpc>
              <a:spcBef>
                <a:spcPts val="200"/>
              </a:spcBef>
              <a:spcAft>
                <a:spcPts val="400"/>
              </a:spcAft>
              <a:buClr>
                <a:schemeClr val="accent1"/>
              </a:buClr>
              <a:buFont typeface="Calibri" pitchFamily="34" charset="0"/>
              <a:buChar char="◦"/>
              <a:defRPr sz="14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7pPr>
            <a:lvl8pPr marL="1500000" indent="-228600" algn="l" defTabSz="914400" rtl="0" eaLnBrk="1" latinLnBrk="0" hangingPunct="1">
              <a:lnSpc>
                <a:spcPct val="90000"/>
              </a:lnSpc>
              <a:spcBef>
                <a:spcPts val="200"/>
              </a:spcBef>
              <a:spcAft>
                <a:spcPts val="400"/>
              </a:spcAft>
              <a:buClr>
                <a:schemeClr val="accent1"/>
              </a:buClr>
              <a:buFont typeface="Calibri" pitchFamily="34" charset="0"/>
              <a:buChar char="◦"/>
              <a:defRPr sz="14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8pPr>
            <a:lvl9pPr marL="1700000" indent="-228600" algn="l" defTabSz="914400" rtl="0" eaLnBrk="1" latinLnBrk="0" hangingPunct="1">
              <a:lnSpc>
                <a:spcPct val="90000"/>
              </a:lnSpc>
              <a:spcBef>
                <a:spcPts val="200"/>
              </a:spcBef>
              <a:spcAft>
                <a:spcPts val="400"/>
              </a:spcAft>
              <a:buClr>
                <a:schemeClr val="accent1"/>
              </a:buClr>
              <a:buFont typeface="Calibri" pitchFamily="34" charset="0"/>
              <a:buChar char="◦"/>
              <a:defRPr sz="14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9pPr>
          </a:lstStyle>
          <a:p>
            <a:r>
              <a:rPr lang="en-CA" dirty="0">
                <a:solidFill>
                  <a:schemeClr val="tx1"/>
                </a:solidFill>
              </a:rPr>
              <a:t>But as soon as code begins running from a file, the __name__ of that file evaluates to ‘__main__’</a:t>
            </a:r>
          </a:p>
          <a:p>
            <a:r>
              <a:rPr lang="en-CA" dirty="0">
                <a:solidFill>
                  <a:schemeClr val="tx1"/>
                </a:solidFill>
              </a:rPr>
              <a:t>That file’s name remains ‘__main__’ for the duration of the program</a:t>
            </a:r>
          </a:p>
          <a:p>
            <a:endParaRPr lang="en-CA" dirty="0">
              <a:solidFill>
                <a:schemeClr val="tx1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3828213345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C908856F-1EFF-4185-93B9-3C2B73FA14C8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CA" dirty="0"/>
              <a:t>__name__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idx="1"/>
          </p:nvPr>
        </p:nvSpPr>
        <p:spPr>
          <a:xfrm>
            <a:off x="1097280" y="1845734"/>
            <a:ext cx="10058400" cy="1983988"/>
          </a:xfrm>
        </p:spPr>
        <p:txBody>
          <a:bodyPr>
            <a:normAutofit/>
          </a:bodyPr>
          <a:lstStyle/>
          <a:p>
            <a:r>
              <a:rPr lang="en-CA" dirty="0">
                <a:solidFill>
                  <a:schemeClr val="tx1"/>
                </a:solidFill>
              </a:rPr>
              <a:t>Python doesn’t have a main function </a:t>
            </a:r>
            <a:r>
              <a:rPr lang="en-CA" dirty="0">
                <a:solidFill>
                  <a:schemeClr val="tx1"/>
                </a:solidFill>
                <a:sym typeface="Wingdings" panose="05000000000000000000" pitchFamily="2" charset="2"/>
              </a:rPr>
              <a:t> We’ll need to ‘hack’ one in</a:t>
            </a:r>
            <a:endParaRPr lang="en-CA" dirty="0">
              <a:solidFill>
                <a:schemeClr val="tx1"/>
              </a:solidFill>
            </a:endParaRPr>
          </a:p>
          <a:p>
            <a:r>
              <a:rPr lang="en-CA" dirty="0">
                <a:solidFill>
                  <a:schemeClr val="tx1"/>
                </a:solidFill>
              </a:rPr>
              <a:t>Since we know __name__ == ‘__main__’ from the file we’re running, we can ‘hack’ our code to have a main function</a:t>
            </a:r>
          </a:p>
          <a:p>
            <a:r>
              <a:rPr lang="en-CA" sz="2200" dirty="0">
                <a:solidFill>
                  <a:schemeClr val="tx1"/>
                </a:solidFill>
              </a:rPr>
              <a:t>If __name__ == ‘__main__’ </a:t>
            </a:r>
          </a:p>
          <a:p>
            <a:pPr marL="201168" lvl="1" indent="0">
              <a:buNone/>
            </a:pPr>
            <a:r>
              <a:rPr lang="en-CA" sz="2200" dirty="0">
                <a:solidFill>
                  <a:schemeClr val="tx1"/>
                </a:solidFill>
              </a:rPr>
              <a:t>main() #execute our main function </a:t>
            </a:r>
          </a:p>
          <a:p>
            <a:endParaRPr lang="en-CA" dirty="0">
              <a:solidFill>
                <a:schemeClr val="tx1"/>
              </a:solidFill>
            </a:endParaRPr>
          </a:p>
        </p:txBody>
      </p:sp>
      <p:grpSp>
        <p:nvGrpSpPr>
          <p:cNvPr id="3" name="Group 2"/>
          <p:cNvGrpSpPr/>
          <p:nvPr/>
        </p:nvGrpSpPr>
        <p:grpSpPr>
          <a:xfrm>
            <a:off x="1097280" y="3829722"/>
            <a:ext cx="8252270" cy="2376870"/>
            <a:chOff x="1097280" y="3829722"/>
            <a:chExt cx="8252270" cy="2376870"/>
          </a:xfrm>
        </p:grpSpPr>
        <p:sp>
          <p:nvSpPr>
            <p:cNvPr id="7" name="Rectangle 6"/>
            <p:cNvSpPr/>
            <p:nvPr/>
          </p:nvSpPr>
          <p:spPr>
            <a:xfrm>
              <a:off x="3927226" y="3829722"/>
              <a:ext cx="1775012" cy="1850316"/>
            </a:xfrm>
            <a:prstGeom prst="rect">
              <a:avLst/>
            </a:prstGeom>
            <a:solidFill>
              <a:srgbClr val="92D050"/>
            </a:solidFill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en-CA" dirty="0"/>
                <a:t>file_1.py</a:t>
              </a:r>
            </a:p>
          </p:txBody>
        </p:sp>
        <p:sp>
          <p:nvSpPr>
            <p:cNvPr id="8" name="Rectangle 7"/>
            <p:cNvSpPr/>
            <p:nvPr/>
          </p:nvSpPr>
          <p:spPr>
            <a:xfrm>
              <a:off x="7224445" y="3829722"/>
              <a:ext cx="1775012" cy="1850316"/>
            </a:xfrm>
            <a:prstGeom prst="rect">
              <a:avLst/>
            </a:prstGeom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en-CA" dirty="0"/>
                <a:t>file_2.py</a:t>
              </a:r>
            </a:p>
          </p:txBody>
        </p:sp>
        <p:sp>
          <p:nvSpPr>
            <p:cNvPr id="9" name="Rectangle 8"/>
            <p:cNvSpPr/>
            <p:nvPr/>
          </p:nvSpPr>
          <p:spPr>
            <a:xfrm>
              <a:off x="3507323" y="5837260"/>
              <a:ext cx="2614818" cy="369332"/>
            </a:xfrm>
            <a:prstGeom prst="rect">
              <a:avLst/>
            </a:prstGeom>
          </p:spPr>
          <p:txBody>
            <a:bodyPr wrap="none">
              <a:spAutoFit/>
            </a:bodyPr>
            <a:lstStyle/>
            <a:p>
              <a:r>
                <a:rPr lang="en-CA" dirty="0">
                  <a:solidFill>
                    <a:srgbClr val="0070C0"/>
                  </a:solidFill>
                </a:rPr>
                <a:t>__</a:t>
              </a:r>
              <a:r>
                <a:rPr lang="en-CA" dirty="0"/>
                <a:t>name__ == ‘__main__’ </a:t>
              </a:r>
            </a:p>
          </p:txBody>
        </p:sp>
        <p:sp>
          <p:nvSpPr>
            <p:cNvPr id="10" name="Rectangle 9"/>
            <p:cNvSpPr/>
            <p:nvPr/>
          </p:nvSpPr>
          <p:spPr>
            <a:xfrm>
              <a:off x="7148306" y="5790922"/>
              <a:ext cx="2201244" cy="369332"/>
            </a:xfrm>
            <a:prstGeom prst="rect">
              <a:avLst/>
            </a:prstGeom>
          </p:spPr>
          <p:txBody>
            <a:bodyPr wrap="none">
              <a:spAutoFit/>
            </a:bodyPr>
            <a:lstStyle/>
            <a:p>
              <a:r>
                <a:rPr lang="en-CA" dirty="0">
                  <a:solidFill>
                    <a:srgbClr val="0070C0"/>
                  </a:solidFill>
                </a:rPr>
                <a:t>__</a:t>
              </a:r>
              <a:r>
                <a:rPr lang="en-CA" dirty="0"/>
                <a:t>name__ == ‘file_2’ </a:t>
              </a:r>
            </a:p>
          </p:txBody>
        </p:sp>
        <p:cxnSp>
          <p:nvCxnSpPr>
            <p:cNvPr id="5" name="Straight Arrow Connector 4"/>
            <p:cNvCxnSpPr>
              <a:endCxn id="7" idx="1"/>
            </p:cNvCxnSpPr>
            <p:nvPr/>
          </p:nvCxnSpPr>
          <p:spPr>
            <a:xfrm>
              <a:off x="2743885" y="4754880"/>
              <a:ext cx="1183341" cy="0"/>
            </a:xfrm>
            <a:prstGeom prst="straightConnector1">
              <a:avLst/>
            </a:prstGeom>
            <a:ln>
              <a:solidFill>
                <a:srgbClr val="92D050"/>
              </a:solidFill>
              <a:tailEnd type="triangle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sp>
          <p:nvSpPr>
            <p:cNvPr id="11" name="Rectangle 10"/>
            <p:cNvSpPr/>
            <p:nvPr/>
          </p:nvSpPr>
          <p:spPr>
            <a:xfrm>
              <a:off x="1097280" y="4431714"/>
              <a:ext cx="1646605" cy="646331"/>
            </a:xfrm>
            <a:prstGeom prst="rect">
              <a:avLst/>
            </a:prstGeom>
          </p:spPr>
          <p:txBody>
            <a:bodyPr wrap="none">
              <a:spAutoFit/>
            </a:bodyPr>
            <a:lstStyle/>
            <a:p>
              <a:r>
                <a:rPr lang="en-CA" dirty="0">
                  <a:solidFill>
                    <a:srgbClr val="00B050"/>
                  </a:solidFill>
                </a:rPr>
                <a:t>Executing code </a:t>
              </a:r>
            </a:p>
            <a:p>
              <a:r>
                <a:rPr lang="en-CA" dirty="0">
                  <a:solidFill>
                    <a:srgbClr val="00B050"/>
                  </a:solidFill>
                </a:rPr>
                <a:t>from file_1</a:t>
              </a:r>
            </a:p>
          </p:txBody>
        </p:sp>
      </p:grpSp>
      <p:sp>
        <p:nvSpPr>
          <p:cNvPr id="6" name="Rectangle 5"/>
          <p:cNvSpPr/>
          <p:nvPr/>
        </p:nvSpPr>
        <p:spPr>
          <a:xfrm>
            <a:off x="10058399" y="5790922"/>
            <a:ext cx="1904104" cy="369332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en-CA" dirty="0">
                <a:solidFill>
                  <a:srgbClr val="0070C0"/>
                </a:solidFill>
              </a:rPr>
              <a:t>file_1.py, file_2.py</a:t>
            </a:r>
          </a:p>
        </p:txBody>
      </p:sp>
    </p:spTree>
    <p:extLst>
      <p:ext uri="{BB962C8B-B14F-4D97-AF65-F5344CB8AC3E}">
        <p14:creationId xmlns:p14="http://schemas.microsoft.com/office/powerpoint/2010/main" val="4150609369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C908856F-1EFF-4185-93B9-3C2B73FA14C8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CA" dirty="0"/>
              <a:t>Importance of indentation</a:t>
            </a:r>
          </a:p>
        </p:txBody>
      </p:sp>
      <p:sp>
        <p:nvSpPr>
          <p:cNvPr id="5" name="Rectangle 4"/>
          <p:cNvSpPr/>
          <p:nvPr/>
        </p:nvSpPr>
        <p:spPr>
          <a:xfrm>
            <a:off x="1097280" y="1935902"/>
            <a:ext cx="10058400" cy="3816429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marL="342900" indent="-342900">
              <a:buFont typeface="Arial" panose="020B0604020202020204" pitchFamily="34" charset="0"/>
              <a:buChar char="•"/>
            </a:pPr>
            <a:r>
              <a:rPr lang="en-CA" sz="2200" dirty="0"/>
              <a:t>Some of you were wondering why we needed the following in our calculator class</a:t>
            </a:r>
          </a:p>
          <a:p>
            <a:pPr marL="342900" indent="-342900">
              <a:buFont typeface="Arial" panose="020B0604020202020204" pitchFamily="34" charset="0"/>
              <a:buChar char="•"/>
            </a:pPr>
            <a:endParaRPr lang="en-CA" sz="2200" dirty="0"/>
          </a:p>
          <a:p>
            <a:r>
              <a:rPr lang="en-CA" sz="2200" dirty="0">
                <a:latin typeface="Consolas" panose="020B0609020204030204" pitchFamily="49" charset="0"/>
              </a:rPr>
              <a:t>#calculator code somewhere above</a:t>
            </a:r>
          </a:p>
          <a:p>
            <a:r>
              <a:rPr lang="en-CA" sz="2200" dirty="0">
                <a:latin typeface="Consolas" panose="020B0609020204030204" pitchFamily="49" charset="0"/>
              </a:rPr>
              <a:t>if __name__ == ‘__main__’</a:t>
            </a:r>
          </a:p>
          <a:p>
            <a:pPr marL="292608" lvl="1" indent="0">
              <a:buNone/>
            </a:pPr>
            <a:r>
              <a:rPr lang="en-CA" sz="2200" dirty="0">
                <a:latin typeface="Consolas" panose="020B0609020204030204" pitchFamily="49" charset="0"/>
              </a:rPr>
              <a:t>main() #indented</a:t>
            </a:r>
          </a:p>
          <a:p>
            <a:pPr marL="292608" lvl="1" indent="0">
              <a:buNone/>
            </a:pPr>
            <a:endParaRPr lang="en-CA" sz="2200" dirty="0"/>
          </a:p>
          <a:p>
            <a:pPr marL="121158" indent="-285750">
              <a:buFont typeface="Arial" panose="020B0604020202020204" pitchFamily="34" charset="0"/>
              <a:buChar char="•"/>
            </a:pPr>
            <a:r>
              <a:rPr lang="en-CA" sz="2200" dirty="0"/>
              <a:t>Since the following code also worked just as well</a:t>
            </a:r>
          </a:p>
          <a:p>
            <a:endParaRPr lang="en-CA" sz="2200" dirty="0"/>
          </a:p>
          <a:p>
            <a:r>
              <a:rPr lang="en-CA" sz="2200" dirty="0"/>
              <a:t>#calculator code somewhere above</a:t>
            </a:r>
          </a:p>
          <a:p>
            <a:r>
              <a:rPr lang="en-CA" sz="2200" dirty="0">
                <a:latin typeface="Consolas" panose="020B0609020204030204" pitchFamily="49" charset="0"/>
              </a:rPr>
              <a:t>main() #no indent and no if</a:t>
            </a:r>
          </a:p>
          <a:p>
            <a:endParaRPr lang="en-CA" sz="2200" dirty="0"/>
          </a:p>
        </p:txBody>
      </p:sp>
    </p:spTree>
    <p:extLst>
      <p:ext uri="{BB962C8B-B14F-4D97-AF65-F5344CB8AC3E}">
        <p14:creationId xmlns:p14="http://schemas.microsoft.com/office/powerpoint/2010/main" val="3679029019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C908856F-1EFF-4185-93B9-3C2B73FA14C8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CA" dirty="0"/>
              <a:t>Importance of indentation</a:t>
            </a:r>
          </a:p>
        </p:txBody>
      </p:sp>
      <p:sp>
        <p:nvSpPr>
          <p:cNvPr id="5" name="Rectangle 4"/>
          <p:cNvSpPr/>
          <p:nvPr/>
        </p:nvSpPr>
        <p:spPr>
          <a:xfrm>
            <a:off x="1097280" y="1935902"/>
            <a:ext cx="10058400" cy="1723549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marL="342900" indent="-342900">
              <a:buFont typeface="Arial" panose="020B0604020202020204" pitchFamily="34" charset="0"/>
              <a:buChar char="•"/>
            </a:pPr>
            <a:r>
              <a:rPr lang="en-CA" sz="2200" dirty="0"/>
              <a:t>Everything on indent level 0 that’s a code expression will execute</a:t>
            </a:r>
          </a:p>
          <a:p>
            <a:pPr marL="342900" indent="-342900">
              <a:buFont typeface="Arial" panose="020B0604020202020204" pitchFamily="34" charset="0"/>
              <a:buChar char="•"/>
            </a:pPr>
            <a:r>
              <a:rPr lang="en-CA" sz="2200" dirty="0"/>
              <a:t>Your calculator code worked fine because it was one program in one file</a:t>
            </a:r>
          </a:p>
          <a:p>
            <a:pPr marL="342900" indent="-342900">
              <a:buFont typeface="Arial" panose="020B0604020202020204" pitchFamily="34" charset="0"/>
              <a:buChar char="•"/>
            </a:pPr>
            <a:r>
              <a:rPr lang="en-CA" sz="2200" dirty="0"/>
              <a:t>If you needed to import code from another file, all code on indent 0 in the other file would also execute</a:t>
            </a:r>
          </a:p>
          <a:p>
            <a:endParaRPr lang="en-CA" dirty="0"/>
          </a:p>
        </p:txBody>
      </p:sp>
      <p:sp>
        <p:nvSpPr>
          <p:cNvPr id="3" name="Rectangle 2"/>
          <p:cNvSpPr/>
          <p:nvPr/>
        </p:nvSpPr>
        <p:spPr>
          <a:xfrm>
            <a:off x="7497655" y="5686321"/>
            <a:ext cx="4542269" cy="400110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r>
              <a:rPr lang="en-CA" sz="2000" dirty="0">
                <a:solidFill>
                  <a:srgbClr val="0070C0"/>
                </a:solidFill>
              </a:rPr>
              <a:t>indent_example.py, indent_example_2.py</a:t>
            </a:r>
          </a:p>
        </p:txBody>
      </p:sp>
    </p:spTree>
    <p:extLst>
      <p:ext uri="{BB962C8B-B14F-4D97-AF65-F5344CB8AC3E}">
        <p14:creationId xmlns:p14="http://schemas.microsoft.com/office/powerpoint/2010/main" val="3057110992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C908856F-1EFF-4185-93B9-3C2B73FA14C8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CA" dirty="0"/>
              <a:t>Decimal places, extra curly braces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EF8BF406-B0B7-4A7A-BB97-3391AD3984B6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10364993" y="5819887"/>
            <a:ext cx="1581374" cy="328906"/>
          </a:xfrm>
        </p:spPr>
        <p:txBody>
          <a:bodyPr numCol="2">
            <a:normAutofit fontScale="92500" lnSpcReduction="20000"/>
          </a:bodyPr>
          <a:lstStyle/>
          <a:p>
            <a:pPr marL="0" indent="0">
              <a:buNone/>
            </a:pPr>
            <a:r>
              <a:rPr lang="en-CA" dirty="0">
                <a:solidFill>
                  <a:srgbClr val="0070C0"/>
                </a:solidFill>
              </a:rPr>
              <a:t>Questions.py</a:t>
            </a:r>
          </a:p>
        </p:txBody>
      </p:sp>
      <p:sp>
        <p:nvSpPr>
          <p:cNvPr id="5" name="Rectangle 1">
            <a:extLst>
              <a:ext uri="{FF2B5EF4-FFF2-40B4-BE49-F238E27FC236}">
                <a16:creationId xmlns:a16="http://schemas.microsoft.com/office/drawing/2014/main" id="{A5A02182-1C18-4857-A04A-41508F113C59}"/>
              </a:ext>
            </a:extLst>
          </p:cNvPr>
          <p:cNvSpPr>
            <a:spLocks noChangeArrowheads="1"/>
          </p:cNvSpPr>
          <p:nvPr/>
        </p:nvSpPr>
        <p:spPr bwMode="auto">
          <a:xfrm>
            <a:off x="0" y="43934"/>
            <a:ext cx="184731" cy="369332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  <a:extLs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non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endParaRPr kumimoji="0" lang="en-US" altLang="en-US" sz="1800" b="0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  <a:latin typeface="Arial" panose="020B0604020202020204" pitchFamily="34" charset="0"/>
            </a:endParaRPr>
          </a:p>
        </p:txBody>
      </p:sp>
      <p:sp>
        <p:nvSpPr>
          <p:cNvPr id="6" name="Rectangle 5">
            <a:extLst>
              <a:ext uri="{FF2B5EF4-FFF2-40B4-BE49-F238E27FC236}">
                <a16:creationId xmlns:a16="http://schemas.microsoft.com/office/drawing/2014/main" id="{4E43AA0B-62B6-425D-B497-8541104900B0}"/>
              </a:ext>
            </a:extLst>
          </p:cNvPr>
          <p:cNvSpPr/>
          <p:nvPr/>
        </p:nvSpPr>
        <p:spPr>
          <a:xfrm>
            <a:off x="203223" y="2136339"/>
            <a:ext cx="11743144" cy="2462213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lvl="0" defTabSz="914400" eaLnBrk="0" fontAlgn="base" hangingPunct="0">
              <a:spcBef>
                <a:spcPct val="0"/>
              </a:spcBef>
              <a:spcAft>
                <a:spcPct val="0"/>
              </a:spcAft>
            </a:pPr>
            <a:r>
              <a:rPr lang="en-US" altLang="en-US" sz="2200" dirty="0">
                <a:solidFill>
                  <a:srgbClr val="080808"/>
                </a:solidFill>
                <a:latin typeface="Consolas" panose="020B0609020204030204" pitchFamily="49" charset="0"/>
              </a:rPr>
              <a:t>name = </a:t>
            </a:r>
            <a:r>
              <a:rPr lang="en-US" altLang="en-US" sz="2200" dirty="0">
                <a:solidFill>
                  <a:srgbClr val="067D17"/>
                </a:solidFill>
                <a:latin typeface="Consolas" panose="020B0609020204030204" pitchFamily="49" charset="0"/>
              </a:rPr>
              <a:t>"Jeff"</a:t>
            </a:r>
            <a:br>
              <a:rPr lang="en-US" altLang="en-US" sz="2200" dirty="0">
                <a:solidFill>
                  <a:srgbClr val="067D17"/>
                </a:solidFill>
                <a:latin typeface="Consolas" panose="020B0609020204030204" pitchFamily="49" charset="0"/>
              </a:rPr>
            </a:br>
            <a:r>
              <a:rPr lang="en-US" altLang="en-US" sz="2200" dirty="0">
                <a:solidFill>
                  <a:srgbClr val="080808"/>
                </a:solidFill>
                <a:latin typeface="Consolas" panose="020B0609020204030204" pitchFamily="49" charset="0"/>
              </a:rPr>
              <a:t>room = </a:t>
            </a:r>
            <a:r>
              <a:rPr lang="en-US" altLang="en-US" sz="2200" dirty="0">
                <a:solidFill>
                  <a:srgbClr val="1750EB"/>
                </a:solidFill>
                <a:latin typeface="Consolas" panose="020B0609020204030204" pitchFamily="49" charset="0"/>
              </a:rPr>
              <a:t>202</a:t>
            </a:r>
            <a:br>
              <a:rPr lang="en-US" altLang="en-US" sz="2200" dirty="0">
                <a:solidFill>
                  <a:srgbClr val="1750EB"/>
                </a:solidFill>
                <a:latin typeface="Consolas" panose="020B0609020204030204" pitchFamily="49" charset="0"/>
              </a:rPr>
            </a:br>
            <a:r>
              <a:rPr lang="en-US" altLang="en-US" sz="2200" dirty="0" err="1">
                <a:solidFill>
                  <a:srgbClr val="080808"/>
                </a:solidFill>
                <a:latin typeface="Consolas" panose="020B0609020204030204" pitchFamily="49" charset="0"/>
              </a:rPr>
              <a:t>my_string</a:t>
            </a:r>
            <a:r>
              <a:rPr lang="en-US" altLang="en-US" sz="2200" dirty="0">
                <a:solidFill>
                  <a:srgbClr val="080808"/>
                </a:solidFill>
                <a:latin typeface="Consolas" panose="020B0609020204030204" pitchFamily="49" charset="0"/>
              </a:rPr>
              <a:t> = </a:t>
            </a:r>
            <a:r>
              <a:rPr lang="en-US" altLang="en-US" sz="2200" dirty="0">
                <a:solidFill>
                  <a:srgbClr val="067D17"/>
                </a:solidFill>
                <a:latin typeface="Consolas" panose="020B0609020204030204" pitchFamily="49" charset="0"/>
              </a:rPr>
              <a:t>'hello {0} {{0}}, it is the year {1}'</a:t>
            </a:r>
            <a:r>
              <a:rPr lang="en-US" altLang="en-US" sz="2200" dirty="0">
                <a:solidFill>
                  <a:srgbClr val="080808"/>
                </a:solidFill>
                <a:latin typeface="Consolas" panose="020B0609020204030204" pitchFamily="49" charset="0"/>
              </a:rPr>
              <a:t>.format(</a:t>
            </a:r>
            <a:r>
              <a:rPr lang="en-US" altLang="en-US" sz="2200" dirty="0">
                <a:solidFill>
                  <a:srgbClr val="067D17"/>
                </a:solidFill>
                <a:latin typeface="Consolas" panose="020B0609020204030204" pitchFamily="49" charset="0"/>
              </a:rPr>
              <a:t>'class'</a:t>
            </a:r>
            <a:r>
              <a:rPr lang="en-US" altLang="en-US" sz="2200" dirty="0">
                <a:solidFill>
                  <a:srgbClr val="080808"/>
                </a:solidFill>
                <a:latin typeface="Consolas" panose="020B0609020204030204" pitchFamily="49" charset="0"/>
              </a:rPr>
              <a:t>, </a:t>
            </a:r>
            <a:r>
              <a:rPr lang="en-US" altLang="en-US" sz="2200" dirty="0">
                <a:solidFill>
                  <a:srgbClr val="1750EB"/>
                </a:solidFill>
                <a:latin typeface="Consolas" panose="020B0609020204030204" pitchFamily="49" charset="0"/>
              </a:rPr>
              <a:t>2023.123</a:t>
            </a:r>
            <a:r>
              <a:rPr lang="en-US" altLang="en-US" sz="2200" dirty="0">
                <a:solidFill>
                  <a:srgbClr val="080808"/>
                </a:solidFill>
                <a:latin typeface="Consolas" panose="020B0609020204030204" pitchFamily="49" charset="0"/>
              </a:rPr>
              <a:t>)</a:t>
            </a:r>
            <a:br>
              <a:rPr lang="en-US" altLang="en-US" sz="2200" dirty="0">
                <a:solidFill>
                  <a:srgbClr val="080808"/>
                </a:solidFill>
                <a:latin typeface="Consolas" panose="020B0609020204030204" pitchFamily="49" charset="0"/>
              </a:rPr>
            </a:br>
            <a:br>
              <a:rPr lang="en-US" altLang="en-US" sz="2200" dirty="0">
                <a:solidFill>
                  <a:srgbClr val="080808"/>
                </a:solidFill>
                <a:latin typeface="Consolas" panose="020B0609020204030204" pitchFamily="49" charset="0"/>
              </a:rPr>
            </a:br>
            <a:r>
              <a:rPr lang="en-US" altLang="en-US" sz="2200" dirty="0">
                <a:solidFill>
                  <a:srgbClr val="000080"/>
                </a:solidFill>
                <a:latin typeface="Consolas" panose="020B0609020204030204" pitchFamily="49" charset="0"/>
              </a:rPr>
              <a:t>print</a:t>
            </a:r>
            <a:r>
              <a:rPr lang="en-US" altLang="en-US" sz="2200" dirty="0">
                <a:solidFill>
                  <a:srgbClr val="080808"/>
                </a:solidFill>
                <a:latin typeface="Consolas" panose="020B0609020204030204" pitchFamily="49" charset="0"/>
              </a:rPr>
              <a:t>(</a:t>
            </a:r>
            <a:r>
              <a:rPr lang="en-US" altLang="en-US" sz="2200" dirty="0" err="1">
                <a:solidFill>
                  <a:srgbClr val="080808"/>
                </a:solidFill>
                <a:latin typeface="Consolas" panose="020B0609020204030204" pitchFamily="49" charset="0"/>
              </a:rPr>
              <a:t>my_string</a:t>
            </a:r>
            <a:r>
              <a:rPr lang="en-US" altLang="en-US" sz="2200" dirty="0">
                <a:solidFill>
                  <a:srgbClr val="080808"/>
                </a:solidFill>
                <a:latin typeface="Consolas" panose="020B0609020204030204" pitchFamily="49" charset="0"/>
              </a:rPr>
              <a:t>)</a:t>
            </a:r>
            <a:br>
              <a:rPr lang="en-US" altLang="en-US" sz="2200" dirty="0">
                <a:solidFill>
                  <a:srgbClr val="080808"/>
                </a:solidFill>
                <a:latin typeface="Consolas" panose="020B0609020204030204" pitchFamily="49" charset="0"/>
              </a:rPr>
            </a:br>
            <a:r>
              <a:rPr lang="en-US" altLang="en-US" sz="2200" dirty="0">
                <a:solidFill>
                  <a:srgbClr val="000080"/>
                </a:solidFill>
                <a:latin typeface="Consolas" panose="020B0609020204030204" pitchFamily="49" charset="0"/>
              </a:rPr>
              <a:t>print</a:t>
            </a:r>
            <a:r>
              <a:rPr lang="en-US" altLang="en-US" sz="2200" dirty="0">
                <a:solidFill>
                  <a:srgbClr val="080808"/>
                </a:solidFill>
                <a:latin typeface="Consolas" panose="020B0609020204030204" pitchFamily="49" charset="0"/>
              </a:rPr>
              <a:t>(</a:t>
            </a:r>
            <a:r>
              <a:rPr lang="en-US" altLang="en-US" sz="2200" dirty="0">
                <a:solidFill>
                  <a:srgbClr val="067D17"/>
                </a:solidFill>
                <a:latin typeface="Consolas" panose="020B0609020204030204" pitchFamily="49" charset="0"/>
              </a:rPr>
              <a:t>'Course %s is in %.2f</a:t>
            </a:r>
            <a:r>
              <a:rPr lang="en-US" altLang="en-US" sz="2200" dirty="0">
                <a:solidFill>
                  <a:srgbClr val="0037A6"/>
                </a:solidFill>
                <a:latin typeface="Consolas" panose="020B0609020204030204" pitchFamily="49" charset="0"/>
              </a:rPr>
              <a:t>\n</a:t>
            </a:r>
            <a:r>
              <a:rPr lang="en-US" altLang="en-US" sz="2200" dirty="0">
                <a:solidFill>
                  <a:srgbClr val="067D17"/>
                </a:solidFill>
                <a:latin typeface="Consolas" panose="020B0609020204030204" pitchFamily="49" charset="0"/>
              </a:rPr>
              <a:t>' </a:t>
            </a:r>
            <a:r>
              <a:rPr lang="en-US" altLang="en-US" sz="2200" dirty="0">
                <a:solidFill>
                  <a:srgbClr val="080808"/>
                </a:solidFill>
                <a:latin typeface="Consolas" panose="020B0609020204030204" pitchFamily="49" charset="0"/>
              </a:rPr>
              <a:t>% (name, room)) </a:t>
            </a:r>
            <a:r>
              <a:rPr lang="en-US" altLang="en-US" sz="2200" i="1" dirty="0">
                <a:solidFill>
                  <a:srgbClr val="8C8C8C"/>
                </a:solidFill>
                <a:latin typeface="Consolas" panose="020B0609020204030204" pitchFamily="49" charset="0"/>
              </a:rPr>
              <a:t>#decimal places with .2f</a:t>
            </a:r>
            <a:br>
              <a:rPr lang="en-US" altLang="en-US" sz="2200" i="1" dirty="0">
                <a:solidFill>
                  <a:srgbClr val="8C8C8C"/>
                </a:solidFill>
                <a:latin typeface="Consolas" panose="020B0609020204030204" pitchFamily="49" charset="0"/>
              </a:rPr>
            </a:br>
            <a:r>
              <a:rPr lang="en-US" altLang="en-US" sz="2200" dirty="0">
                <a:solidFill>
                  <a:srgbClr val="000080"/>
                </a:solidFill>
                <a:latin typeface="Consolas" panose="020B0609020204030204" pitchFamily="49" charset="0"/>
              </a:rPr>
              <a:t>print</a:t>
            </a:r>
            <a:r>
              <a:rPr lang="en-US" altLang="en-US" sz="2200" dirty="0">
                <a:solidFill>
                  <a:srgbClr val="080808"/>
                </a:solidFill>
                <a:latin typeface="Consolas" panose="020B0609020204030204" pitchFamily="49" charset="0"/>
              </a:rPr>
              <a:t>(</a:t>
            </a:r>
            <a:r>
              <a:rPr lang="en-US" altLang="en-US" sz="2200" dirty="0">
                <a:solidFill>
                  <a:srgbClr val="067D17"/>
                </a:solidFill>
                <a:latin typeface="Consolas" panose="020B0609020204030204" pitchFamily="49" charset="0"/>
              </a:rPr>
              <a:t>'Course %s {0} is in %.2f</a:t>
            </a:r>
            <a:r>
              <a:rPr lang="en-US" altLang="en-US" sz="2200" dirty="0">
                <a:solidFill>
                  <a:srgbClr val="0037A6"/>
                </a:solidFill>
                <a:latin typeface="Consolas" panose="020B0609020204030204" pitchFamily="49" charset="0"/>
              </a:rPr>
              <a:t>\n</a:t>
            </a:r>
            <a:r>
              <a:rPr lang="en-US" altLang="en-US" sz="2200" dirty="0">
                <a:solidFill>
                  <a:srgbClr val="067D17"/>
                </a:solidFill>
                <a:latin typeface="Consolas" panose="020B0609020204030204" pitchFamily="49" charset="0"/>
              </a:rPr>
              <a:t>' </a:t>
            </a:r>
            <a:r>
              <a:rPr lang="en-US" altLang="en-US" sz="2200" dirty="0">
                <a:solidFill>
                  <a:srgbClr val="080808"/>
                </a:solidFill>
                <a:latin typeface="Consolas" panose="020B0609020204030204" pitchFamily="49" charset="0"/>
              </a:rPr>
              <a:t>% (name, room))</a:t>
            </a:r>
            <a:endParaRPr lang="en-US" altLang="en-US" sz="2200" dirty="0">
              <a:latin typeface="Consolas" panose="020B0609020204030204" pitchFamily="49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357554011"/>
      </p:ext>
    </p:extLst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46F46FA4-73C8-4605-9B94-11D1822AAB22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Mutability</a:t>
            </a:r>
            <a:endParaRPr lang="en-CA" dirty="0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2A6580DD-2CE4-4D10-BD34-DDC0B329DC78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CA"/>
          </a:p>
        </p:txBody>
      </p:sp>
    </p:spTree>
    <p:extLst>
      <p:ext uri="{BB962C8B-B14F-4D97-AF65-F5344CB8AC3E}">
        <p14:creationId xmlns:p14="http://schemas.microsoft.com/office/powerpoint/2010/main" val="163175183"/>
      </p:ext>
    </p:extLst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Content Placeholder 2">
            <a:extLst>
              <a:ext uri="{FF2B5EF4-FFF2-40B4-BE49-F238E27FC236}">
                <a16:creationId xmlns:a16="http://schemas.microsoft.com/office/drawing/2014/main" id="{6B8204FC-293A-440E-A368-2926DAFF5799}"/>
              </a:ext>
            </a:extLst>
          </p:cNvPr>
          <p:cNvSpPr txBox="1">
            <a:spLocks/>
          </p:cNvSpPr>
          <p:nvPr/>
        </p:nvSpPr>
        <p:spPr>
          <a:xfrm>
            <a:off x="1371600" y="660400"/>
            <a:ext cx="9512300" cy="5808663"/>
          </a:xfrm>
          <a:prstGeom prst="rect">
            <a:avLst/>
          </a:prstGeom>
        </p:spPr>
        <p:txBody>
          <a:bodyPr>
            <a:normAutofit/>
          </a:bodyPr>
          <a:lstStyle>
            <a:lvl1pPr marL="91440" indent="-91440" algn="l" defTabSz="914400" rtl="0" eaLnBrk="1" latinLnBrk="0" hangingPunct="1">
              <a:lnSpc>
                <a:spcPct val="90000"/>
              </a:lnSpc>
              <a:spcBef>
                <a:spcPts val="1200"/>
              </a:spcBef>
              <a:spcAft>
                <a:spcPts val="200"/>
              </a:spcAft>
              <a:buClr>
                <a:schemeClr val="accent1"/>
              </a:buClr>
              <a:buSzPct val="100000"/>
              <a:buFont typeface="Calibri" panose="020F0502020204030204" pitchFamily="34" charset="0"/>
              <a:buChar char=" "/>
              <a:defRPr sz="20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1pPr>
            <a:lvl2pPr marL="384048" indent="-182880" algn="l" defTabSz="914400" rtl="0" eaLnBrk="1" latinLnBrk="0" hangingPunct="1">
              <a:lnSpc>
                <a:spcPct val="90000"/>
              </a:lnSpc>
              <a:spcBef>
                <a:spcPts val="200"/>
              </a:spcBef>
              <a:spcAft>
                <a:spcPts val="400"/>
              </a:spcAft>
              <a:buClr>
                <a:schemeClr val="accent1"/>
              </a:buClr>
              <a:buFont typeface="Calibri" pitchFamily="34" charset="0"/>
              <a:buChar char="◦"/>
              <a:defRPr sz="18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2pPr>
            <a:lvl3pPr marL="566928" indent="-182880" algn="l" defTabSz="914400" rtl="0" eaLnBrk="1" latinLnBrk="0" hangingPunct="1">
              <a:lnSpc>
                <a:spcPct val="90000"/>
              </a:lnSpc>
              <a:spcBef>
                <a:spcPts val="200"/>
              </a:spcBef>
              <a:spcAft>
                <a:spcPts val="400"/>
              </a:spcAft>
              <a:buClr>
                <a:schemeClr val="accent1"/>
              </a:buClr>
              <a:buFont typeface="Calibri" pitchFamily="34" charset="0"/>
              <a:buChar char="◦"/>
              <a:defRPr sz="14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3pPr>
            <a:lvl4pPr marL="749808" indent="-182880" algn="l" defTabSz="914400" rtl="0" eaLnBrk="1" latinLnBrk="0" hangingPunct="1">
              <a:lnSpc>
                <a:spcPct val="90000"/>
              </a:lnSpc>
              <a:spcBef>
                <a:spcPts val="200"/>
              </a:spcBef>
              <a:spcAft>
                <a:spcPts val="400"/>
              </a:spcAft>
              <a:buClr>
                <a:schemeClr val="accent1"/>
              </a:buClr>
              <a:buFont typeface="Calibri" pitchFamily="34" charset="0"/>
              <a:buChar char="◦"/>
              <a:defRPr sz="14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4pPr>
            <a:lvl5pPr marL="932688" indent="-182880" algn="l" defTabSz="914400" rtl="0" eaLnBrk="1" latinLnBrk="0" hangingPunct="1">
              <a:lnSpc>
                <a:spcPct val="90000"/>
              </a:lnSpc>
              <a:spcBef>
                <a:spcPts val="200"/>
              </a:spcBef>
              <a:spcAft>
                <a:spcPts val="400"/>
              </a:spcAft>
              <a:buClr>
                <a:schemeClr val="accent1"/>
              </a:buClr>
              <a:buFont typeface="Calibri" pitchFamily="34" charset="0"/>
              <a:buChar char="◦"/>
              <a:defRPr sz="14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5pPr>
            <a:lvl6pPr marL="1100000" indent="-228600" algn="l" defTabSz="914400" rtl="0" eaLnBrk="1" latinLnBrk="0" hangingPunct="1">
              <a:lnSpc>
                <a:spcPct val="90000"/>
              </a:lnSpc>
              <a:spcBef>
                <a:spcPts val="200"/>
              </a:spcBef>
              <a:spcAft>
                <a:spcPts val="400"/>
              </a:spcAft>
              <a:buClr>
                <a:schemeClr val="accent1"/>
              </a:buClr>
              <a:buFont typeface="Calibri" pitchFamily="34" charset="0"/>
              <a:buChar char="◦"/>
              <a:defRPr sz="14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6pPr>
            <a:lvl7pPr marL="1300000" indent="-228600" algn="l" defTabSz="914400" rtl="0" eaLnBrk="1" latinLnBrk="0" hangingPunct="1">
              <a:lnSpc>
                <a:spcPct val="90000"/>
              </a:lnSpc>
              <a:spcBef>
                <a:spcPts val="200"/>
              </a:spcBef>
              <a:spcAft>
                <a:spcPts val="400"/>
              </a:spcAft>
              <a:buClr>
                <a:schemeClr val="accent1"/>
              </a:buClr>
              <a:buFont typeface="Calibri" pitchFamily="34" charset="0"/>
              <a:buChar char="◦"/>
              <a:defRPr sz="14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7pPr>
            <a:lvl8pPr marL="1500000" indent="-228600" algn="l" defTabSz="914400" rtl="0" eaLnBrk="1" latinLnBrk="0" hangingPunct="1">
              <a:lnSpc>
                <a:spcPct val="90000"/>
              </a:lnSpc>
              <a:spcBef>
                <a:spcPts val="200"/>
              </a:spcBef>
              <a:spcAft>
                <a:spcPts val="400"/>
              </a:spcAft>
              <a:buClr>
                <a:schemeClr val="accent1"/>
              </a:buClr>
              <a:buFont typeface="Calibri" pitchFamily="34" charset="0"/>
              <a:buChar char="◦"/>
              <a:defRPr sz="14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8pPr>
            <a:lvl9pPr marL="1700000" indent="-228600" algn="l" defTabSz="914400" rtl="0" eaLnBrk="1" latinLnBrk="0" hangingPunct="1">
              <a:lnSpc>
                <a:spcPct val="90000"/>
              </a:lnSpc>
              <a:spcBef>
                <a:spcPts val="200"/>
              </a:spcBef>
              <a:spcAft>
                <a:spcPts val="400"/>
              </a:spcAft>
              <a:buClr>
                <a:schemeClr val="accent1"/>
              </a:buClr>
              <a:buFont typeface="Calibri" pitchFamily="34" charset="0"/>
              <a:buChar char="◦"/>
              <a:defRPr sz="14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>
              <a:buFont typeface="Calibri" panose="020F0502020204030204" pitchFamily="34" charset="0"/>
              <a:buNone/>
            </a:pPr>
            <a:r>
              <a:rPr lang="en-CA" sz="8800"/>
              <a:t>im·mu·ta·ble</a:t>
            </a:r>
          </a:p>
          <a:p>
            <a:pPr marL="0" indent="0">
              <a:buFont typeface="Calibri" panose="020F0502020204030204" pitchFamily="34" charset="0"/>
              <a:buNone/>
            </a:pPr>
            <a:r>
              <a:rPr lang="en-CA" sz="4000"/>
              <a:t>/i(m)ˈmyo͞odəb(ə)l/</a:t>
            </a:r>
          </a:p>
          <a:p>
            <a:pPr marL="0" indent="0">
              <a:buFont typeface="Calibri" panose="020F0502020204030204" pitchFamily="34" charset="0"/>
              <a:buNone/>
            </a:pPr>
            <a:endParaRPr lang="en-CA"/>
          </a:p>
          <a:p>
            <a:pPr marL="0" indent="0">
              <a:buFont typeface="Calibri" panose="020F0502020204030204" pitchFamily="34" charset="0"/>
              <a:buNone/>
            </a:pPr>
            <a:r>
              <a:rPr lang="en-CA"/>
              <a:t>Adjective</a:t>
            </a:r>
          </a:p>
          <a:p>
            <a:r>
              <a:rPr lang="en-CA"/>
              <a:t>From the Latin roots “in” (</a:t>
            </a:r>
            <a:r>
              <a:rPr lang="en-CA" sz="4000"/>
              <a:t>not</a:t>
            </a:r>
            <a:r>
              <a:rPr lang="en-CA"/>
              <a:t>) and “mutabilis” (</a:t>
            </a:r>
            <a:r>
              <a:rPr lang="en-CA" sz="4000"/>
              <a:t>to change</a:t>
            </a:r>
            <a:r>
              <a:rPr lang="en-CA"/>
              <a:t>)</a:t>
            </a:r>
          </a:p>
          <a:p>
            <a:r>
              <a:rPr lang="en-CA"/>
              <a:t>unchanging over time or unable to be changed</a:t>
            </a:r>
            <a:endParaRPr lang="en-CA" sz="3000"/>
          </a:p>
          <a:p>
            <a:pPr marL="0" indent="0">
              <a:buFont typeface="Calibri" panose="020F0502020204030204" pitchFamily="34" charset="0"/>
              <a:buNone/>
            </a:pP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479658339"/>
      </p:ext>
    </p:extLst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B4C44E64-CF17-4773-8A61-44471C9D601B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String are Immutable</a:t>
            </a:r>
            <a:endParaRPr lang="en-CA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9D32C1D1-BA01-4294-ABA0-E4B0FEE4EEF9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1097280" y="1845734"/>
            <a:ext cx="10058400" cy="4023360"/>
          </a:xfrm>
        </p:spPr>
        <p:txBody>
          <a:bodyPr/>
          <a:lstStyle/>
          <a:p>
            <a:r>
              <a:rPr lang="en-US" dirty="0"/>
              <a:t>Writing or </a:t>
            </a:r>
            <a:r>
              <a:rPr lang="en-US" b="1" dirty="0"/>
              <a:t>altering</a:t>
            </a:r>
            <a:r>
              <a:rPr lang="en-US" dirty="0"/>
              <a:t> individual characters of a string variable is </a:t>
            </a:r>
            <a:r>
              <a:rPr lang="en-US" b="1" dirty="0"/>
              <a:t>not allowed</a:t>
            </a:r>
          </a:p>
          <a:p>
            <a:r>
              <a:rPr lang="en-US" sz="3600" dirty="0"/>
              <a:t>Strings </a:t>
            </a:r>
            <a:r>
              <a:rPr lang="en-US" sz="3600" b="1" dirty="0"/>
              <a:t>cannot change once created</a:t>
            </a:r>
          </a:p>
          <a:p>
            <a:r>
              <a:rPr lang="en-US" dirty="0"/>
              <a:t>Instead, an assignment statement must be used</a:t>
            </a:r>
          </a:p>
          <a:p>
            <a:endParaRPr lang="en-US" dirty="0"/>
          </a:p>
          <a:p>
            <a:pPr marL="0" indent="0">
              <a:buNone/>
            </a:pPr>
            <a:r>
              <a:rPr lang="en-US" dirty="0"/>
              <a:t>word = ‘supercalifragilisticexpialidocious’</a:t>
            </a:r>
          </a:p>
          <a:p>
            <a:pPr marL="0" indent="0">
              <a:buNone/>
            </a:pPr>
            <a:r>
              <a:rPr lang="en-US" dirty="0"/>
              <a:t>word = </a:t>
            </a:r>
            <a:r>
              <a:rPr lang="en-US" dirty="0" err="1"/>
              <a:t>word.title</a:t>
            </a:r>
            <a:r>
              <a:rPr lang="en-US" dirty="0"/>
              <a:t>( )  # this allocates new memory (and un-references the previous one)</a:t>
            </a:r>
          </a:p>
          <a:p>
            <a:pPr marL="0" indent="0">
              <a:buNone/>
            </a:pPr>
            <a:r>
              <a:rPr lang="en-US" dirty="0"/>
              <a:t>print(word) # ‘</a:t>
            </a:r>
            <a:r>
              <a:rPr lang="en-US" b="1" dirty="0"/>
              <a:t>S</a:t>
            </a:r>
            <a:r>
              <a:rPr lang="en-US" dirty="0"/>
              <a:t>upercalifragilisticexpialidocious’</a:t>
            </a:r>
          </a:p>
          <a:p>
            <a:endParaRPr lang="en-CA" dirty="0"/>
          </a:p>
        </p:txBody>
      </p:sp>
    </p:spTree>
    <p:extLst>
      <p:ext uri="{BB962C8B-B14F-4D97-AF65-F5344CB8AC3E}">
        <p14:creationId xmlns:p14="http://schemas.microsoft.com/office/powerpoint/2010/main" val="261393349"/>
      </p:ext>
    </p:extLst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14D77619-B50B-48D5-A310-7A13BD76A6DD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Python Immutable Types</a:t>
            </a:r>
            <a:endParaRPr lang="en-CA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E5B22708-3376-4C83-B66F-91BE6279FBC1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dirty="0"/>
              <a:t>int( )</a:t>
            </a:r>
          </a:p>
          <a:p>
            <a:r>
              <a:rPr lang="en-US" dirty="0"/>
              <a:t>float( )</a:t>
            </a:r>
          </a:p>
          <a:p>
            <a:r>
              <a:rPr lang="en-US" dirty="0"/>
              <a:t>complex( )</a:t>
            </a:r>
          </a:p>
          <a:p>
            <a:r>
              <a:rPr lang="en-US" dirty="0"/>
              <a:t>str( )</a:t>
            </a:r>
          </a:p>
          <a:p>
            <a:r>
              <a:rPr lang="en-US" dirty="0"/>
              <a:t>tuple( )</a:t>
            </a:r>
          </a:p>
          <a:p>
            <a:r>
              <a:rPr lang="en-US" dirty="0"/>
              <a:t>bytes( )</a:t>
            </a:r>
          </a:p>
          <a:p>
            <a:r>
              <a:rPr lang="en-US" dirty="0" err="1"/>
              <a:t>frozenset</a:t>
            </a:r>
            <a:r>
              <a:rPr lang="en-US" dirty="0"/>
              <a:t>( )</a:t>
            </a:r>
          </a:p>
          <a:p>
            <a:r>
              <a:rPr lang="en-US" dirty="0"/>
              <a:t>Everything else is mutable (I think!).</a:t>
            </a:r>
          </a:p>
          <a:p>
            <a:endParaRPr lang="en-CA" dirty="0"/>
          </a:p>
        </p:txBody>
      </p:sp>
    </p:spTree>
    <p:extLst>
      <p:ext uri="{BB962C8B-B14F-4D97-AF65-F5344CB8AC3E}">
        <p14:creationId xmlns:p14="http://schemas.microsoft.com/office/powerpoint/2010/main" val="2913318900"/>
      </p:ext>
    </p:extLst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80EE56F4-1C9E-4B47-B4EB-7085837306D1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Assignment </a:t>
            </a:r>
            <a:r>
              <a:rPr lang="en-US" dirty="0"/>
              <a:t>Is Not Mutation</a:t>
            </a:r>
            <a:endParaRPr lang="en-CA" dirty="0"/>
          </a:p>
        </p:txBody>
      </p:sp>
      <p:sp>
        <p:nvSpPr>
          <p:cNvPr id="4" name="Content Placeholder 2">
            <a:extLst>
              <a:ext uri="{FF2B5EF4-FFF2-40B4-BE49-F238E27FC236}">
                <a16:creationId xmlns:a16="http://schemas.microsoft.com/office/drawing/2014/main" id="{56381F39-5B25-45E5-9D31-A44715A7C33D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1096963" y="1846263"/>
            <a:ext cx="10058400" cy="4022725"/>
          </a:xfrm>
        </p:spPr>
        <p:txBody>
          <a:bodyPr>
            <a:normAutofit fontScale="92500" lnSpcReduction="10000"/>
          </a:bodyPr>
          <a:lstStyle/>
          <a:p>
            <a:r>
              <a:rPr lang="en-US" dirty="0"/>
              <a:t>When we assign a value to a variable, we are actually assigning the reference to that value’s location in memory</a:t>
            </a:r>
          </a:p>
          <a:p>
            <a:r>
              <a:rPr lang="en-US" dirty="0"/>
              <a:t>We will review this in some detail later in the term</a:t>
            </a:r>
          </a:p>
          <a:p>
            <a:r>
              <a:rPr lang="en-US" dirty="0"/>
              <a:t>For now, we can test this like so:</a:t>
            </a:r>
          </a:p>
          <a:p>
            <a:pPr marL="0" indent="0">
              <a:buNone/>
            </a:pPr>
            <a:r>
              <a:rPr lang="en-US" sz="2200" dirty="0">
                <a:latin typeface="Courier" pitchFamily="2" charset="0"/>
              </a:rPr>
              <a:t>id(2.5)</a:t>
            </a:r>
          </a:p>
          <a:p>
            <a:pPr marL="0" indent="0">
              <a:buNone/>
            </a:pPr>
            <a:r>
              <a:rPr lang="en-US" sz="2200" dirty="0">
                <a:latin typeface="Courier" pitchFamily="2" charset="0"/>
              </a:rPr>
              <a:t>a = 2.5</a:t>
            </a:r>
          </a:p>
          <a:p>
            <a:pPr marL="0" indent="0">
              <a:buNone/>
            </a:pPr>
            <a:r>
              <a:rPr lang="en-US" sz="2200" dirty="0">
                <a:latin typeface="Courier" pitchFamily="2" charset="0"/>
              </a:rPr>
              <a:t>type(a)</a:t>
            </a:r>
          </a:p>
          <a:p>
            <a:pPr marL="0" indent="0">
              <a:buNone/>
            </a:pPr>
            <a:r>
              <a:rPr lang="en-US" sz="2200" dirty="0">
                <a:latin typeface="Courier" pitchFamily="2" charset="0"/>
              </a:rPr>
              <a:t>id(a) # same address as id(2.5)!</a:t>
            </a:r>
          </a:p>
          <a:p>
            <a:pPr marL="0" indent="0">
              <a:buNone/>
            </a:pPr>
            <a:r>
              <a:rPr lang="en-US" sz="2200" dirty="0">
                <a:latin typeface="Courier" pitchFamily="2" charset="0"/>
              </a:rPr>
              <a:t>a = a + 0.0456</a:t>
            </a:r>
          </a:p>
          <a:p>
            <a:pPr marL="0" indent="0">
              <a:buNone/>
            </a:pPr>
            <a:r>
              <a:rPr lang="en-US" sz="2200" dirty="0">
                <a:latin typeface="Courier" pitchFamily="2" charset="0"/>
              </a:rPr>
              <a:t>id(a) # Not the same – a contains the address of a new float!</a:t>
            </a:r>
          </a:p>
        </p:txBody>
      </p:sp>
      <p:sp>
        <p:nvSpPr>
          <p:cNvPr id="3" name="Rectangle 2"/>
          <p:cNvSpPr/>
          <p:nvPr/>
        </p:nvSpPr>
        <p:spPr>
          <a:xfrm>
            <a:off x="9998336" y="5868988"/>
            <a:ext cx="1394100" cy="369332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r>
              <a:rPr lang="en-US" dirty="0">
                <a:solidFill>
                  <a:srgbClr val="0070C0"/>
                </a:solidFill>
                <a:latin typeface="Rockwell" panose="02060603020205020403" pitchFamily="18" charset="0"/>
              </a:rPr>
              <a:t>Memory.py</a:t>
            </a:r>
            <a:endParaRPr lang="en-CA" dirty="0">
              <a:solidFill>
                <a:srgbClr val="0070C0"/>
              </a:solidFill>
              <a:latin typeface="Rockwell" panose="02060603020205020403" pitchFamily="18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749209228"/>
      </p:ext>
    </p:extLst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F47F358C-A6B5-45DF-BF9C-769DF32EB21B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Sequence Types</a:t>
            </a:r>
            <a:endParaRPr lang="en-CA" dirty="0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8C41866B-9F48-47B6-B00A-FB2848D84E33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Probably the thing python is most famous for</a:t>
            </a:r>
            <a:endParaRPr lang="en-CA" dirty="0"/>
          </a:p>
        </p:txBody>
      </p:sp>
    </p:spTree>
    <p:extLst>
      <p:ext uri="{BB962C8B-B14F-4D97-AF65-F5344CB8AC3E}">
        <p14:creationId xmlns:p14="http://schemas.microsoft.com/office/powerpoint/2010/main" val="1160848895"/>
      </p:ext>
    </p:extLst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itle 3">
            <a:extLst>
              <a:ext uri="{FF2B5EF4-FFF2-40B4-BE49-F238E27FC236}">
                <a16:creationId xmlns:a16="http://schemas.microsoft.com/office/drawing/2014/main" id="{7584BF30-3EE4-4FDF-806A-7254575D679C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Sequence Types</a:t>
            </a:r>
            <a:endParaRPr lang="en-CA" dirty="0"/>
          </a:p>
        </p:txBody>
      </p:sp>
      <p:sp>
        <p:nvSpPr>
          <p:cNvPr id="6" name="Content Placeholder 2">
            <a:extLst>
              <a:ext uri="{FF2B5EF4-FFF2-40B4-BE49-F238E27FC236}">
                <a16:creationId xmlns:a16="http://schemas.microsoft.com/office/drawing/2014/main" id="{3F0D3EAF-60AA-4D44-8DB1-F0AD3F1AFCCB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1096963" y="1846263"/>
            <a:ext cx="10058400" cy="4022725"/>
          </a:xfrm>
        </p:spPr>
        <p:txBody>
          <a:bodyPr>
            <a:normAutofit fontScale="92500" lnSpcReduction="20000"/>
          </a:bodyPr>
          <a:lstStyle/>
          <a:p>
            <a:r>
              <a:rPr lang="en-US" dirty="0"/>
              <a:t>Sequence is the generic term for an ordered set</a:t>
            </a:r>
          </a:p>
          <a:p>
            <a:r>
              <a:rPr lang="en-US" dirty="0"/>
              <a:t>There are several distinct kinds of sequence types in Python</a:t>
            </a:r>
            <a:br>
              <a:rPr lang="en-US" dirty="0"/>
            </a:br>
            <a:endParaRPr lang="en-US" dirty="0"/>
          </a:p>
          <a:p>
            <a:pPr marL="914400" lvl="1" indent="-457200">
              <a:buFont typeface="+mj-lt"/>
              <a:buAutoNum type="arabicPeriod"/>
            </a:pPr>
            <a:r>
              <a:rPr lang="en-US" sz="2200" dirty="0" err="1"/>
              <a:t>str</a:t>
            </a:r>
            <a:r>
              <a:rPr lang="en-US" sz="2200" dirty="0"/>
              <a:t> (the string)</a:t>
            </a:r>
          </a:p>
          <a:p>
            <a:pPr marL="914400" lvl="1" indent="-457200">
              <a:buFont typeface="+mj-lt"/>
              <a:buAutoNum type="arabicPeriod"/>
            </a:pPr>
            <a:r>
              <a:rPr lang="en-US" sz="3000" b="1" dirty="0"/>
              <a:t>list</a:t>
            </a:r>
            <a:endParaRPr lang="en-US" sz="2200" b="1" dirty="0"/>
          </a:p>
          <a:p>
            <a:pPr marL="914400" lvl="1" indent="-457200">
              <a:buFont typeface="+mj-lt"/>
              <a:buAutoNum type="arabicPeriod"/>
            </a:pPr>
            <a:r>
              <a:rPr lang="en-US" sz="2200" dirty="0"/>
              <a:t>range</a:t>
            </a:r>
          </a:p>
          <a:p>
            <a:pPr marL="914400" lvl="1" indent="-457200">
              <a:buFont typeface="+mj-lt"/>
              <a:buAutoNum type="arabicPeriod"/>
            </a:pPr>
            <a:r>
              <a:rPr lang="en-US" sz="2200" dirty="0"/>
              <a:t>tuple</a:t>
            </a:r>
          </a:p>
          <a:p>
            <a:pPr marL="914400" lvl="1" indent="-457200">
              <a:buFont typeface="+mj-lt"/>
              <a:buAutoNum type="arabicPeriod"/>
            </a:pPr>
            <a:r>
              <a:rPr lang="en-US" sz="2200" dirty="0"/>
              <a:t>bytes</a:t>
            </a:r>
          </a:p>
          <a:p>
            <a:r>
              <a:rPr lang="en-US" dirty="0"/>
              <a:t>These are </a:t>
            </a:r>
            <a:r>
              <a:rPr lang="en-US" sz="3000" dirty="0"/>
              <a:t>not the same thing</a:t>
            </a:r>
            <a:r>
              <a:rPr lang="en-US" sz="4000" dirty="0"/>
              <a:t>. </a:t>
            </a:r>
            <a:endParaRPr lang="en-US" sz="2100" dirty="0"/>
          </a:p>
          <a:p>
            <a:r>
              <a:rPr lang="en-US" dirty="0"/>
              <a:t>They are stored differently and are treated differently, but they can be processed similarly</a:t>
            </a:r>
          </a:p>
          <a:p>
            <a:r>
              <a:rPr lang="en-US" b="1" dirty="0"/>
              <a:t>Only </a:t>
            </a:r>
            <a:r>
              <a:rPr lang="en-US" b="1" u="sng" dirty="0"/>
              <a:t>some</a:t>
            </a:r>
            <a:r>
              <a:rPr lang="en-US" b="1" dirty="0"/>
              <a:t> sequence operations are common to all</a:t>
            </a:r>
          </a:p>
        </p:txBody>
      </p:sp>
    </p:spTree>
    <p:extLst>
      <p:ext uri="{BB962C8B-B14F-4D97-AF65-F5344CB8AC3E}">
        <p14:creationId xmlns:p14="http://schemas.microsoft.com/office/powerpoint/2010/main" val="1941976149"/>
      </p:ext>
    </p:extLst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4D93FED9-107C-49CF-B21F-0347D5C89077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Common Sequence Operations</a:t>
            </a:r>
            <a:endParaRPr lang="en-CA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9DFE443F-450C-405E-B421-6BDC42DD945A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8494643" y="2703442"/>
            <a:ext cx="3363402" cy="3192155"/>
          </a:xfrm>
        </p:spPr>
        <p:txBody>
          <a:bodyPr/>
          <a:lstStyle/>
          <a:p>
            <a:r>
              <a:rPr lang="en-US" dirty="0">
                <a:latin typeface="Futura Condensed Medium" panose="020B0602020204020303" pitchFamily="34" charset="-79"/>
                <a:cs typeface="Futura Condensed Medium" panose="020B0602020204020303" pitchFamily="34" charset="-79"/>
              </a:rPr>
              <a:t>* Well almost. </a:t>
            </a:r>
          </a:p>
          <a:p>
            <a:pPr algn="ctr"/>
            <a:r>
              <a:rPr lang="en-US" dirty="0">
                <a:latin typeface="Futura Condensed Medium" panose="020B0602020204020303" pitchFamily="34" charset="-79"/>
                <a:cs typeface="Futura Condensed Medium" panose="020B0602020204020303" pitchFamily="34" charset="-79"/>
              </a:rPr>
              <a:t>Range only supports item sequences that follow specific patterns, and hence doesn’t support sequence concatenation or repetition</a:t>
            </a:r>
          </a:p>
          <a:p>
            <a:endParaRPr lang="en-CA" dirty="0"/>
          </a:p>
        </p:txBody>
      </p:sp>
      <p:pic>
        <p:nvPicPr>
          <p:cNvPr id="4" name="Picture 3">
            <a:extLst>
              <a:ext uri="{FF2B5EF4-FFF2-40B4-BE49-F238E27FC236}">
                <a16:creationId xmlns:a16="http://schemas.microsoft.com/office/drawing/2014/main" id="{4D50ED52-0023-4A90-87F3-7D942F1815DC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728870" y="1854199"/>
            <a:ext cx="7606747" cy="4400967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317692781"/>
      </p:ext>
    </p:extLst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C537AF1A-304F-438B-BCF3-02AEB08BE872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algn="r"/>
            <a:r>
              <a:rPr lang="en-US" dirty="0"/>
              <a:t>Mutable Sequence </a:t>
            </a:r>
            <a:br>
              <a:rPr lang="en-US" dirty="0"/>
            </a:br>
            <a:r>
              <a:rPr lang="en-US" dirty="0"/>
              <a:t>Operations</a:t>
            </a:r>
            <a:endParaRPr lang="en-CA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37ECE10D-25E6-4956-B38B-8F74DD668DFE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8706678" y="1845734"/>
            <a:ext cx="2449002" cy="4023360"/>
          </a:xfrm>
        </p:spPr>
        <p:txBody>
          <a:bodyPr/>
          <a:lstStyle/>
          <a:p>
            <a:endParaRPr lang="en-CA" dirty="0"/>
          </a:p>
        </p:txBody>
      </p:sp>
      <p:pic>
        <p:nvPicPr>
          <p:cNvPr id="5" name="Picture 4">
            <a:extLst>
              <a:ext uri="{FF2B5EF4-FFF2-40B4-BE49-F238E27FC236}">
                <a16:creationId xmlns:a16="http://schemas.microsoft.com/office/drawing/2014/main" id="{1BCDBF4C-ED10-46B9-8C09-0AC09B2855EF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15346" y="286603"/>
            <a:ext cx="5880653" cy="6388615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779627374"/>
      </p:ext>
    </p:extLst>
  </p:cSld>
  <p:clrMapOvr>
    <a:masterClrMapping/>
  </p:clrMapOvr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F47F358C-A6B5-45DF-BF9C-769DF32EB21B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List</a:t>
            </a:r>
            <a:endParaRPr lang="en-CA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CA"/>
          </a:p>
        </p:txBody>
      </p:sp>
    </p:spTree>
    <p:extLst>
      <p:ext uri="{BB962C8B-B14F-4D97-AF65-F5344CB8AC3E}">
        <p14:creationId xmlns:p14="http://schemas.microsoft.com/office/powerpoint/2010/main" val="2254813282"/>
      </p:ext>
    </p:extLst>
  </p:cSld>
  <p:clrMapOvr>
    <a:masterClrMapping/>
  </p:clrMapOvr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25C15178-A4B4-4B62-BEE2-3557A76C80CD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Containers</a:t>
            </a:r>
            <a:endParaRPr lang="en-CA" dirty="0"/>
          </a:p>
        </p:txBody>
      </p:sp>
      <p:sp>
        <p:nvSpPr>
          <p:cNvPr id="4" name="Content Placeholder 2">
            <a:extLst>
              <a:ext uri="{FF2B5EF4-FFF2-40B4-BE49-F238E27FC236}">
                <a16:creationId xmlns:a16="http://schemas.microsoft.com/office/drawing/2014/main" id="{B2F6EB8A-EB82-4620-A6E3-F046F5F7A7CE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1096963" y="1846263"/>
            <a:ext cx="10058400" cy="4022725"/>
          </a:xfrm>
        </p:spPr>
        <p:txBody>
          <a:bodyPr>
            <a:normAutofit/>
          </a:bodyPr>
          <a:lstStyle/>
          <a:p>
            <a:r>
              <a:rPr lang="en-CA" dirty="0"/>
              <a:t>A </a:t>
            </a:r>
            <a:r>
              <a:rPr lang="en-CA" b="1" dirty="0"/>
              <a:t>container</a:t>
            </a:r>
            <a:r>
              <a:rPr lang="en-CA" dirty="0"/>
              <a:t> is a </a:t>
            </a:r>
            <a:r>
              <a:rPr lang="en-CA" sz="3200" dirty="0"/>
              <a:t>data structure </a:t>
            </a:r>
            <a:r>
              <a:rPr lang="en-CA" dirty="0"/>
              <a:t>used to group related values together</a:t>
            </a:r>
          </a:p>
          <a:p>
            <a:r>
              <a:rPr lang="en-CA" dirty="0"/>
              <a:t>A kind of </a:t>
            </a:r>
            <a:r>
              <a:rPr lang="en-CA" sz="3200" dirty="0"/>
              <a:t>compound type</a:t>
            </a:r>
            <a:endParaRPr lang="en-CA" dirty="0"/>
          </a:p>
          <a:p>
            <a:r>
              <a:rPr lang="en-CA" dirty="0"/>
              <a:t>A container contains references to other objects</a:t>
            </a:r>
          </a:p>
          <a:p>
            <a:r>
              <a:rPr lang="en-CA" dirty="0"/>
              <a:t>A </a:t>
            </a:r>
            <a:r>
              <a:rPr lang="en-CA" sz="3200" b="1" dirty="0"/>
              <a:t>list</a:t>
            </a:r>
            <a:r>
              <a:rPr lang="en-CA" dirty="0"/>
              <a:t> is a container created by surrounding a sequence of variables or literals with square brackets [ ]</a:t>
            </a:r>
          </a:p>
          <a:p>
            <a:r>
              <a:rPr lang="en-CA" dirty="0"/>
              <a:t>It’s like an array, but since it’s an object it has useful methods available.  (It’s similar to but better than Java’s </a:t>
            </a:r>
            <a:r>
              <a:rPr lang="en-CA" dirty="0" err="1"/>
              <a:t>ArrayList</a:t>
            </a:r>
            <a:r>
              <a:rPr lang="en-CA" dirty="0"/>
              <a:t>)</a:t>
            </a:r>
          </a:p>
        </p:txBody>
      </p:sp>
    </p:spTree>
    <p:extLst>
      <p:ext uri="{BB962C8B-B14F-4D97-AF65-F5344CB8AC3E}">
        <p14:creationId xmlns:p14="http://schemas.microsoft.com/office/powerpoint/2010/main" val="3148018027"/>
      </p:ext>
    </p:extLst>
  </p:cSld>
  <p:clrMapOvr>
    <a:masterClrMapping/>
  </p:clrMapOvr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D428D2D2-657A-4AB1-AF7D-02045F7957BD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List </a:t>
            </a:r>
            <a:endParaRPr lang="en-CA" dirty="0"/>
          </a:p>
        </p:txBody>
      </p:sp>
      <p:sp>
        <p:nvSpPr>
          <p:cNvPr id="4" name="Content Placeholder 2">
            <a:extLst>
              <a:ext uri="{FF2B5EF4-FFF2-40B4-BE49-F238E27FC236}">
                <a16:creationId xmlns:a16="http://schemas.microsoft.com/office/drawing/2014/main" id="{FEAE5F16-2490-4E17-9F87-ECD63542A2BB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1096963" y="1846263"/>
            <a:ext cx="10058400" cy="4022725"/>
          </a:xfrm>
        </p:spPr>
        <p:txBody>
          <a:bodyPr/>
          <a:lstStyle/>
          <a:p>
            <a:r>
              <a:rPr lang="en-CA" dirty="0"/>
              <a:t>This line of code creates a new list variable </a:t>
            </a:r>
            <a:r>
              <a:rPr lang="en-CA" dirty="0" err="1"/>
              <a:t>my_list</a:t>
            </a:r>
            <a:r>
              <a:rPr lang="en-CA" dirty="0"/>
              <a:t> that contains the two items, an integer and a string:</a:t>
            </a:r>
          </a:p>
          <a:p>
            <a:pPr marL="0" indent="0">
              <a:buNone/>
            </a:pPr>
            <a:r>
              <a:rPr lang="en-CA" dirty="0">
                <a:latin typeface="Courier" pitchFamily="2" charset="0"/>
              </a:rPr>
              <a:t>			</a:t>
            </a:r>
            <a:r>
              <a:rPr lang="en-CA" dirty="0" err="1">
                <a:latin typeface="Courier" pitchFamily="2" charset="0"/>
              </a:rPr>
              <a:t>my_list</a:t>
            </a:r>
            <a:r>
              <a:rPr lang="en-CA" dirty="0">
                <a:latin typeface="Courier" pitchFamily="2" charset="0"/>
              </a:rPr>
              <a:t> = [10, '</a:t>
            </a:r>
            <a:r>
              <a:rPr lang="en-CA" dirty="0" err="1">
                <a:latin typeface="Courier" pitchFamily="2" charset="0"/>
              </a:rPr>
              <a:t>abc</a:t>
            </a:r>
            <a:r>
              <a:rPr lang="en-CA" dirty="0">
                <a:latin typeface="Courier" pitchFamily="2" charset="0"/>
              </a:rPr>
              <a:t>’]</a:t>
            </a:r>
          </a:p>
          <a:p>
            <a:r>
              <a:rPr lang="en-CA" dirty="0"/>
              <a:t>A list item is called an </a:t>
            </a:r>
            <a:r>
              <a:rPr lang="en-CA" b="1" i="1" dirty="0"/>
              <a:t>element</a:t>
            </a:r>
            <a:endParaRPr lang="en-CA" dirty="0"/>
          </a:p>
          <a:p>
            <a:r>
              <a:rPr lang="en-CA" dirty="0"/>
              <a:t>A list is ordered, and indexed. Just like arrays in other languages.</a:t>
            </a:r>
          </a:p>
          <a:p>
            <a:pPr marL="0" indent="0">
              <a:buNone/>
            </a:pPr>
            <a:r>
              <a:rPr lang="en-CA" dirty="0">
                <a:latin typeface="Courier" pitchFamily="2" charset="0"/>
              </a:rPr>
              <a:t>			</a:t>
            </a:r>
            <a:r>
              <a:rPr lang="en-CA" dirty="0" err="1">
                <a:latin typeface="Courier" pitchFamily="2" charset="0"/>
              </a:rPr>
              <a:t>my_empty_list</a:t>
            </a:r>
            <a:r>
              <a:rPr lang="en-CA" dirty="0">
                <a:latin typeface="Courier" pitchFamily="2" charset="0"/>
              </a:rPr>
              <a:t> = []</a:t>
            </a:r>
          </a:p>
          <a:p>
            <a:br>
              <a:rPr lang="en-US" dirty="0"/>
            </a:br>
            <a:r>
              <a:rPr lang="en-US" dirty="0"/>
              <a:t>A list can have many different types of elements. That is, its </a:t>
            </a:r>
            <a:r>
              <a:rPr lang="en-US" b="1" dirty="0"/>
              <a:t>heterogenous</a:t>
            </a:r>
            <a:r>
              <a:rPr lang="en-US" dirty="0"/>
              <a:t>.</a:t>
            </a:r>
          </a:p>
          <a:p>
            <a:pPr algn="ctr"/>
            <a:r>
              <a:rPr lang="en-US" dirty="0" err="1">
                <a:latin typeface="Courier"/>
              </a:rPr>
              <a:t>student_data</a:t>
            </a:r>
            <a:r>
              <a:rPr lang="en-US" dirty="0">
                <a:latin typeface="Courier"/>
              </a:rPr>
              <a:t> = [“A022343234”, [99,70,85.0], ‘P’]</a:t>
            </a:r>
          </a:p>
        </p:txBody>
      </p:sp>
    </p:spTree>
    <p:extLst>
      <p:ext uri="{BB962C8B-B14F-4D97-AF65-F5344CB8AC3E}">
        <p14:creationId xmlns:p14="http://schemas.microsoft.com/office/powerpoint/2010/main" val="3027610092"/>
      </p:ext>
    </p:extLst>
  </p:cSld>
  <p:clrMapOvr>
    <a:masterClrMapping/>
  </p:clrMapOvr>
</p:sld>
</file>

<file path=ppt/slides/slide2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882C19D3-F21D-4F63-9E36-6378D5E7110D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List</a:t>
            </a:r>
            <a:endParaRPr lang="en-CA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775FFB6C-F7CA-4589-9AD8-58E8A793BDF4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>
            <a:normAutofit lnSpcReduction="10000"/>
          </a:bodyPr>
          <a:lstStyle/>
          <a:p>
            <a:r>
              <a:rPr lang="en-CA" dirty="0"/>
              <a:t>Lists are useful for reducing the number of variables in a program (a single list can store an entire collection of related variables)</a:t>
            </a:r>
          </a:p>
          <a:p>
            <a:r>
              <a:rPr lang="en-CA" dirty="0"/>
              <a:t>Individual list elements can be accessed by their index</a:t>
            </a:r>
          </a:p>
          <a:p>
            <a:r>
              <a:rPr lang="en-CA" dirty="0"/>
              <a:t>A </a:t>
            </a:r>
            <a:r>
              <a:rPr lang="en-CA" b="1" dirty="0"/>
              <a:t>list's index must be an integer</a:t>
            </a:r>
            <a:r>
              <a:rPr lang="en-CA" dirty="0"/>
              <a:t>. </a:t>
            </a:r>
          </a:p>
          <a:p>
            <a:pPr marL="0" indent="0" algn="ctr">
              <a:buNone/>
            </a:pPr>
            <a:endParaRPr lang="en-CA" dirty="0"/>
          </a:p>
          <a:p>
            <a:pPr marL="0" indent="0" algn="ctr">
              <a:buNone/>
            </a:pPr>
            <a:r>
              <a:rPr lang="en-US" dirty="0">
                <a:latin typeface="Courier"/>
              </a:rPr>
              <a:t>&gt;&gt;&gt; </a:t>
            </a:r>
            <a:r>
              <a:rPr lang="en-US" dirty="0" err="1">
                <a:latin typeface="Courier"/>
              </a:rPr>
              <a:t>student_data</a:t>
            </a:r>
            <a:r>
              <a:rPr lang="en-US" dirty="0">
                <a:latin typeface="Courier"/>
              </a:rPr>
              <a:t> = [“A022343234”, [99,70,85.0], ‘P’]</a:t>
            </a:r>
            <a:endParaRPr lang="en-CA" dirty="0">
              <a:latin typeface="Courier"/>
            </a:endParaRPr>
          </a:p>
          <a:p>
            <a:pPr marL="0" indent="0" algn="ctr">
              <a:buNone/>
            </a:pPr>
            <a:r>
              <a:rPr lang="en-CA" dirty="0">
                <a:latin typeface="Courier"/>
              </a:rPr>
              <a:t>&gt;&gt;&gt; </a:t>
            </a:r>
            <a:r>
              <a:rPr lang="en-CA" dirty="0" err="1">
                <a:latin typeface="Courier"/>
              </a:rPr>
              <a:t>student_data</a:t>
            </a:r>
            <a:r>
              <a:rPr lang="en-CA" dirty="0">
                <a:latin typeface="Courier"/>
              </a:rPr>
              <a:t>[0] #A022342334</a:t>
            </a:r>
          </a:p>
          <a:p>
            <a:pPr algn="ctr"/>
            <a:r>
              <a:rPr lang="en-CA" dirty="0"/>
              <a:t>Try this:</a:t>
            </a:r>
          </a:p>
          <a:p>
            <a:pPr marL="0" indent="0" algn="ctr">
              <a:buNone/>
            </a:pPr>
            <a:r>
              <a:rPr lang="en-CA" dirty="0">
                <a:latin typeface="Courier"/>
              </a:rPr>
              <a:t>&gt;&gt;&gt; </a:t>
            </a:r>
            <a:r>
              <a:rPr lang="en-CA" dirty="0" err="1">
                <a:latin typeface="Courier"/>
              </a:rPr>
              <a:t>student_data</a:t>
            </a:r>
            <a:r>
              <a:rPr lang="en-CA" dirty="0">
                <a:latin typeface="Courier"/>
              </a:rPr>
              <a:t>[-1] #P</a:t>
            </a:r>
            <a:br>
              <a:rPr lang="en-CA" dirty="0">
                <a:latin typeface="Courier"/>
              </a:rPr>
            </a:br>
            <a:r>
              <a:rPr lang="en-CA" dirty="0">
                <a:latin typeface="Courier"/>
              </a:rPr>
              <a:t>&gt;&gt;&gt; </a:t>
            </a:r>
            <a:r>
              <a:rPr lang="en-CA" dirty="0" err="1">
                <a:latin typeface="Courier"/>
              </a:rPr>
              <a:t>len</a:t>
            </a:r>
            <a:r>
              <a:rPr lang="en-CA" dirty="0">
                <a:latin typeface="Courier"/>
              </a:rPr>
              <a:t>(</a:t>
            </a:r>
            <a:r>
              <a:rPr lang="en-CA" dirty="0" err="1">
                <a:latin typeface="Courier"/>
              </a:rPr>
              <a:t>student_data</a:t>
            </a:r>
            <a:r>
              <a:rPr lang="en-CA" dirty="0">
                <a:latin typeface="Courier"/>
              </a:rPr>
              <a:t>) #3</a:t>
            </a:r>
          </a:p>
        </p:txBody>
      </p:sp>
    </p:spTree>
    <p:extLst>
      <p:ext uri="{BB962C8B-B14F-4D97-AF65-F5344CB8AC3E}">
        <p14:creationId xmlns:p14="http://schemas.microsoft.com/office/powerpoint/2010/main" val="1550054663"/>
      </p:ext>
    </p:extLst>
  </p:cSld>
  <p:clrMapOvr>
    <a:masterClrMapping/>
  </p:clrMapOvr>
</p:sld>
</file>

<file path=ppt/slides/slide2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EF2D359E-81B9-4739-AEC2-F50D513772EC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Lists are Mutable</a:t>
            </a:r>
            <a:endParaRPr lang="en-CA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F43AD2C8-C033-4F4D-8D4F-FFE5156CCAF6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1097280" y="1845733"/>
            <a:ext cx="10058400" cy="4449050"/>
          </a:xfrm>
        </p:spPr>
        <p:txBody>
          <a:bodyPr>
            <a:normAutofit/>
          </a:bodyPr>
          <a:lstStyle/>
          <a:p>
            <a:r>
              <a:rPr lang="en-US" dirty="0"/>
              <a:t>Let’s try some of these list methods!</a:t>
            </a:r>
          </a:p>
          <a:p>
            <a:r>
              <a:rPr lang="en-US" dirty="0"/>
              <a:t> </a:t>
            </a:r>
            <a:r>
              <a:rPr lang="en-US" sz="2800" dirty="0" err="1">
                <a:latin typeface="Courier"/>
              </a:rPr>
              <a:t>list_name.append</a:t>
            </a:r>
            <a:r>
              <a:rPr lang="en-US" sz="2800" dirty="0">
                <a:latin typeface="Courier"/>
              </a:rPr>
              <a:t>(value)</a:t>
            </a:r>
          </a:p>
          <a:p>
            <a:pPr marL="0" indent="0">
              <a:buNone/>
            </a:pPr>
            <a:r>
              <a:rPr lang="en-US" sz="2800" dirty="0">
                <a:latin typeface="Courier"/>
              </a:rPr>
              <a:t> </a:t>
            </a:r>
            <a:r>
              <a:rPr lang="en-US" sz="2800" dirty="0" err="1">
                <a:latin typeface="Courier"/>
              </a:rPr>
              <a:t>list_name.pop</a:t>
            </a:r>
            <a:r>
              <a:rPr lang="en-US" sz="2800" dirty="0">
                <a:latin typeface="Courier"/>
              </a:rPr>
              <a:t>(index) # remove and use value</a:t>
            </a:r>
          </a:p>
          <a:p>
            <a:r>
              <a:rPr lang="en-US" sz="2800" dirty="0" err="1">
                <a:latin typeface="Courier"/>
              </a:rPr>
              <a:t>list_name.remove</a:t>
            </a:r>
            <a:r>
              <a:rPr lang="en-US" sz="2800" dirty="0">
                <a:latin typeface="Courier"/>
              </a:rPr>
              <a:t>(value) # remove by value</a:t>
            </a:r>
          </a:p>
          <a:p>
            <a:r>
              <a:rPr lang="en-US" sz="2800" dirty="0">
                <a:latin typeface="Courier"/>
              </a:rPr>
              <a:t>list() (</a:t>
            </a:r>
            <a:r>
              <a:rPr lang="en-US" sz="2800" dirty="0" err="1">
                <a:latin typeface="Courier"/>
              </a:rPr>
              <a:t>Eg</a:t>
            </a:r>
            <a:r>
              <a:rPr lang="en-US" sz="2800" dirty="0">
                <a:latin typeface="Courier"/>
              </a:rPr>
              <a:t>: spelling = list(“</a:t>
            </a:r>
            <a:r>
              <a:rPr lang="en-US" sz="2800" dirty="0" err="1">
                <a:latin typeface="Courier"/>
              </a:rPr>
              <a:t>ComplicatedWord</a:t>
            </a:r>
            <a:r>
              <a:rPr lang="en-US" sz="2800" dirty="0">
                <a:latin typeface="Courier"/>
              </a:rPr>
              <a:t>”)</a:t>
            </a:r>
          </a:p>
          <a:p>
            <a:r>
              <a:rPr lang="en-US" sz="2800" dirty="0">
                <a:latin typeface="Courier"/>
              </a:rPr>
              <a:t>print(</a:t>
            </a:r>
            <a:r>
              <a:rPr lang="en-US" sz="2800" dirty="0" err="1">
                <a:latin typeface="Courier"/>
              </a:rPr>
              <a:t>list_name</a:t>
            </a:r>
            <a:r>
              <a:rPr lang="en-US" sz="2800" dirty="0">
                <a:latin typeface="Courier"/>
              </a:rPr>
              <a:t>)</a:t>
            </a:r>
          </a:p>
          <a:p>
            <a:r>
              <a:rPr lang="en-US" sz="2800" dirty="0" err="1">
                <a:latin typeface="Courier"/>
              </a:rPr>
              <a:t>list_name</a:t>
            </a:r>
            <a:r>
              <a:rPr lang="en-US" sz="2800" dirty="0">
                <a:latin typeface="Courier"/>
              </a:rPr>
              <a:t>[1] = ‘new updated value’</a:t>
            </a:r>
          </a:p>
          <a:p>
            <a:pPr marL="0" indent="0">
              <a:buNone/>
            </a:pPr>
            <a:r>
              <a:rPr lang="en-US" sz="2800" dirty="0">
                <a:latin typeface="Courier"/>
              </a:rPr>
              <a:t> del </a:t>
            </a:r>
            <a:r>
              <a:rPr lang="en-US" sz="2800" dirty="0" err="1">
                <a:latin typeface="Courier"/>
              </a:rPr>
              <a:t>list_name</a:t>
            </a:r>
            <a:r>
              <a:rPr lang="en-US" sz="2800" dirty="0">
                <a:latin typeface="Courier"/>
              </a:rPr>
              <a:t>[3]  # remove by position</a:t>
            </a:r>
          </a:p>
        </p:txBody>
      </p:sp>
      <p:sp>
        <p:nvSpPr>
          <p:cNvPr id="4" name="Rectangle 3"/>
          <p:cNvSpPr/>
          <p:nvPr/>
        </p:nvSpPr>
        <p:spPr>
          <a:xfrm>
            <a:off x="9675606" y="5836927"/>
            <a:ext cx="2173480" cy="400110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r>
              <a:rPr lang="en-US" sz="2000" dirty="0">
                <a:solidFill>
                  <a:srgbClr val="0070C0"/>
                </a:solidFill>
                <a:latin typeface="Rockwell" panose="02060603020205020403" pitchFamily="18" charset="0"/>
              </a:rPr>
              <a:t>list_examples.py</a:t>
            </a:r>
            <a:endParaRPr lang="en-CA" sz="2000" dirty="0">
              <a:solidFill>
                <a:srgbClr val="0070C0"/>
              </a:solidFill>
              <a:latin typeface="Rockwell" panose="02060603020205020403" pitchFamily="18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3014637800"/>
      </p:ext>
    </p:extLst>
  </p:cSld>
  <p:clrMapOvr>
    <a:masterClrMapping/>
  </p:clrMapOvr>
</p:sld>
</file>

<file path=ppt/slides/slide2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E47F3696-858B-4BD9-9266-418DEE4B6A25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endParaRPr lang="en-CA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D5B9137B-ADAD-4810-A967-E6F7B0E738B7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marL="0" indent="0">
              <a:buNone/>
            </a:pPr>
            <a:r>
              <a:rPr lang="en-US" dirty="0" err="1">
                <a:latin typeface="Courier"/>
              </a:rPr>
              <a:t>list_name.sort</a:t>
            </a:r>
            <a:r>
              <a:rPr lang="en-US" dirty="0">
                <a:latin typeface="Courier"/>
              </a:rPr>
              <a:t>()   # </a:t>
            </a:r>
            <a:r>
              <a:rPr lang="en-US" sz="1600" dirty="0">
                <a:latin typeface="Courier"/>
              </a:rPr>
              <a:t>does this change the original list? Or does it return 					a new instance?</a:t>
            </a:r>
          </a:p>
          <a:p>
            <a:pPr marL="0" indent="0">
              <a:buNone/>
            </a:pPr>
            <a:r>
              <a:rPr lang="en-US" dirty="0">
                <a:latin typeface="Courier"/>
              </a:rPr>
              <a:t>sorted(</a:t>
            </a:r>
            <a:r>
              <a:rPr lang="en-US" dirty="0" err="1">
                <a:latin typeface="Courier"/>
              </a:rPr>
              <a:t>list_name</a:t>
            </a:r>
            <a:r>
              <a:rPr lang="en-US" dirty="0">
                <a:latin typeface="Courier"/>
              </a:rPr>
              <a:t>) # how does this differ from </a:t>
            </a:r>
            <a:r>
              <a:rPr lang="en-US" dirty="0" err="1">
                <a:latin typeface="Courier"/>
              </a:rPr>
              <a:t>list.sort</a:t>
            </a:r>
            <a:r>
              <a:rPr lang="en-US" dirty="0">
                <a:latin typeface="Courier"/>
              </a:rPr>
              <a:t>?</a:t>
            </a:r>
          </a:p>
          <a:p>
            <a:pPr marL="0" indent="0">
              <a:buNone/>
            </a:pPr>
            <a:endParaRPr lang="en-US" dirty="0">
              <a:latin typeface="Courier"/>
            </a:endParaRPr>
          </a:p>
          <a:p>
            <a:pPr marL="0" indent="0">
              <a:buNone/>
            </a:pPr>
            <a:r>
              <a:rPr lang="en-US" dirty="0" err="1">
                <a:latin typeface="Courier"/>
              </a:rPr>
              <a:t>len</a:t>
            </a:r>
            <a:r>
              <a:rPr lang="en-US" dirty="0">
                <a:latin typeface="Courier"/>
              </a:rPr>
              <a:t>(</a:t>
            </a:r>
            <a:r>
              <a:rPr lang="en-US" dirty="0" err="1">
                <a:latin typeface="Courier"/>
              </a:rPr>
              <a:t>list_name</a:t>
            </a:r>
            <a:r>
              <a:rPr lang="en-US" dirty="0">
                <a:latin typeface="Courier"/>
              </a:rPr>
              <a:t>)</a:t>
            </a:r>
          </a:p>
          <a:p>
            <a:pPr marL="0" indent="0">
              <a:buNone/>
            </a:pPr>
            <a:endParaRPr lang="en-US" dirty="0">
              <a:latin typeface="Courier"/>
            </a:endParaRPr>
          </a:p>
          <a:p>
            <a:pPr marL="0" indent="0">
              <a:buNone/>
            </a:pPr>
            <a:r>
              <a:rPr lang="en-US" dirty="0">
                <a:latin typeface="Courier"/>
              </a:rPr>
              <a:t>reverse(</a:t>
            </a:r>
            <a:r>
              <a:rPr lang="en-US" dirty="0" err="1">
                <a:latin typeface="Courier"/>
              </a:rPr>
              <a:t>list_name</a:t>
            </a:r>
            <a:r>
              <a:rPr lang="en-US" dirty="0">
                <a:latin typeface="Courier"/>
              </a:rPr>
              <a:t>)</a:t>
            </a:r>
          </a:p>
          <a:p>
            <a:pPr marL="0" indent="0">
              <a:buNone/>
            </a:pPr>
            <a:endParaRPr lang="en-US" dirty="0">
              <a:latin typeface="Courier"/>
            </a:endParaRPr>
          </a:p>
          <a:p>
            <a:pPr marL="0" indent="0">
              <a:buNone/>
            </a:pPr>
            <a:r>
              <a:rPr lang="en-US" dirty="0" err="1">
                <a:latin typeface="Courier"/>
              </a:rPr>
              <a:t>dir</a:t>
            </a:r>
            <a:r>
              <a:rPr lang="en-US" dirty="0">
                <a:latin typeface="Courier"/>
              </a:rPr>
              <a:t>(list)</a:t>
            </a:r>
          </a:p>
          <a:p>
            <a:endParaRPr lang="en-CA" dirty="0"/>
          </a:p>
        </p:txBody>
      </p:sp>
      <p:sp>
        <p:nvSpPr>
          <p:cNvPr id="4" name="Rectangle 3"/>
          <p:cNvSpPr/>
          <p:nvPr/>
        </p:nvSpPr>
        <p:spPr>
          <a:xfrm>
            <a:off x="9675606" y="5836927"/>
            <a:ext cx="2173480" cy="400110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r>
              <a:rPr lang="en-US" sz="2000" dirty="0">
                <a:solidFill>
                  <a:srgbClr val="0070C0"/>
                </a:solidFill>
                <a:latin typeface="Rockwell" panose="02060603020205020403" pitchFamily="18" charset="0"/>
              </a:rPr>
              <a:t>list_examples.py</a:t>
            </a:r>
            <a:endParaRPr lang="en-CA" sz="2000" dirty="0">
              <a:solidFill>
                <a:srgbClr val="0070C0"/>
              </a:solidFill>
              <a:latin typeface="Rockwell" panose="02060603020205020403" pitchFamily="18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1716579915"/>
      </p:ext>
    </p:extLst>
  </p:cSld>
  <p:clrMapOvr>
    <a:masterClrMapping/>
  </p:clrMapOvr>
</p:sld>
</file>

<file path=ppt/slides/slide2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A9D68A52-D49B-4375-94E3-70EAE994199F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Sequence Functions and Methods</a:t>
            </a:r>
            <a:endParaRPr lang="en-CA" dirty="0"/>
          </a:p>
        </p:txBody>
      </p:sp>
      <p:sp>
        <p:nvSpPr>
          <p:cNvPr id="4" name="Content Placeholder 2">
            <a:extLst>
              <a:ext uri="{FF2B5EF4-FFF2-40B4-BE49-F238E27FC236}">
                <a16:creationId xmlns:a16="http://schemas.microsoft.com/office/drawing/2014/main" id="{D99A5ED2-2B76-4FBD-95C5-D1C2F8D9DAB2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1096963" y="1846263"/>
            <a:ext cx="10058400" cy="4022725"/>
          </a:xfrm>
        </p:spPr>
        <p:txBody>
          <a:bodyPr>
            <a:normAutofit/>
          </a:bodyPr>
          <a:lstStyle/>
          <a:p>
            <a:r>
              <a:rPr lang="en-CA" b="1" dirty="0"/>
              <a:t>Sequence-type functions</a:t>
            </a:r>
            <a:r>
              <a:rPr lang="en-CA" dirty="0"/>
              <a:t> are built-in functions that operate on sequences like lists and strings</a:t>
            </a:r>
          </a:p>
          <a:p>
            <a:r>
              <a:rPr lang="en-CA" dirty="0"/>
              <a:t>Examples include </a:t>
            </a:r>
            <a:r>
              <a:rPr lang="en-CA" dirty="0" err="1"/>
              <a:t>len</a:t>
            </a:r>
            <a:r>
              <a:rPr lang="en-CA" dirty="0"/>
              <a:t>( ), sorted( )</a:t>
            </a:r>
          </a:p>
          <a:p>
            <a:pPr lvl="1"/>
            <a:r>
              <a:rPr lang="en-CA" dirty="0"/>
              <a:t>length = </a:t>
            </a:r>
            <a:r>
              <a:rPr lang="en-CA" b="1" dirty="0" err="1"/>
              <a:t>len</a:t>
            </a:r>
            <a:r>
              <a:rPr lang="en-CA" b="1" dirty="0"/>
              <a:t>(</a:t>
            </a:r>
            <a:r>
              <a:rPr lang="en-CA" dirty="0" err="1"/>
              <a:t>my_sequence</a:t>
            </a:r>
            <a:r>
              <a:rPr lang="en-CA" b="1" dirty="0"/>
              <a:t>)</a:t>
            </a:r>
          </a:p>
          <a:p>
            <a:pPr lvl="1"/>
            <a:r>
              <a:rPr lang="en-CA" dirty="0" err="1"/>
              <a:t>new_sorted</a:t>
            </a:r>
            <a:r>
              <a:rPr lang="en-CA" dirty="0"/>
              <a:t> = </a:t>
            </a:r>
            <a:r>
              <a:rPr lang="en-CA" b="1" dirty="0"/>
              <a:t>sorted(</a:t>
            </a:r>
            <a:r>
              <a:rPr lang="en-CA" dirty="0" err="1"/>
              <a:t>my_sequence</a:t>
            </a:r>
            <a:r>
              <a:rPr lang="en-CA" b="1" dirty="0"/>
              <a:t>)</a:t>
            </a:r>
          </a:p>
          <a:p>
            <a:endParaRPr lang="en-CA" dirty="0"/>
          </a:p>
          <a:p>
            <a:r>
              <a:rPr lang="en-CA" b="1" dirty="0"/>
              <a:t>Sequence-type methods</a:t>
            </a:r>
            <a:r>
              <a:rPr lang="en-CA" dirty="0"/>
              <a:t> are methods built into the class definitions of sequences like lists and strings</a:t>
            </a:r>
          </a:p>
          <a:p>
            <a:r>
              <a:rPr lang="en-CA" dirty="0"/>
              <a:t>Examples include sort( ), append( ), clear( ), insert( ), pop( ), remove( ), and reverse( )</a:t>
            </a:r>
          </a:p>
          <a:p>
            <a:pPr lvl="1"/>
            <a:r>
              <a:rPr lang="en-CA" dirty="0" err="1"/>
              <a:t>my_sequence</a:t>
            </a:r>
            <a:r>
              <a:rPr lang="en-CA" b="1" dirty="0" err="1"/>
              <a:t>.sort</a:t>
            </a:r>
            <a:r>
              <a:rPr lang="en-CA" b="1" dirty="0"/>
              <a:t>()</a:t>
            </a:r>
          </a:p>
          <a:p>
            <a:pPr lvl="1"/>
            <a:r>
              <a:rPr lang="en-CA" dirty="0" err="1"/>
              <a:t>my_sequence</a:t>
            </a:r>
            <a:r>
              <a:rPr lang="en-CA" b="1" dirty="0" err="1"/>
              <a:t>.clear</a:t>
            </a:r>
            <a:r>
              <a:rPr lang="en-CA" b="1" dirty="0"/>
              <a:t>()</a:t>
            </a:r>
            <a:br>
              <a:rPr lang="en-CA" dirty="0"/>
            </a:br>
            <a:endParaRPr lang="en-CA" dirty="0"/>
          </a:p>
          <a:p>
            <a:pPr marL="0" indent="0">
              <a:buNone/>
            </a:pPr>
            <a:endParaRPr lang="en-US" dirty="0"/>
          </a:p>
        </p:txBody>
      </p:sp>
      <p:sp>
        <p:nvSpPr>
          <p:cNvPr id="3" name="Rectangle 2"/>
          <p:cNvSpPr/>
          <p:nvPr/>
        </p:nvSpPr>
        <p:spPr>
          <a:xfrm>
            <a:off x="3935230" y="5684322"/>
            <a:ext cx="3826689" cy="477054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pPr algn="ctr"/>
            <a:r>
              <a:rPr lang="en-US" sz="2500" b="1" dirty="0">
                <a:latin typeface="Futura Condensed Medium" panose="020B0602020204020303" pitchFamily="34" charset="-79"/>
                <a:cs typeface="Futura Condensed Medium" panose="020B0602020204020303" pitchFamily="34" charset="-79"/>
              </a:rPr>
              <a:t>What’s the difference?</a:t>
            </a:r>
          </a:p>
        </p:txBody>
      </p:sp>
    </p:spTree>
    <p:extLst>
      <p:ext uri="{BB962C8B-B14F-4D97-AF65-F5344CB8AC3E}">
        <p14:creationId xmlns:p14="http://schemas.microsoft.com/office/powerpoint/2010/main" val="2653174200"/>
      </p:ext>
    </p:extLst>
  </p:cSld>
  <p:clrMapOvr>
    <a:masterClrMapping/>
  </p:clrMapOvr>
</p:sld>
</file>

<file path=ppt/slides/slide2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0CA9078B-0597-4913-868A-1CB84AB646F9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Membership Operator</a:t>
            </a:r>
            <a:endParaRPr lang="en-CA" dirty="0"/>
          </a:p>
        </p:txBody>
      </p:sp>
      <p:sp>
        <p:nvSpPr>
          <p:cNvPr id="4" name="Content Placeholder 2">
            <a:extLst>
              <a:ext uri="{FF2B5EF4-FFF2-40B4-BE49-F238E27FC236}">
                <a16:creationId xmlns:a16="http://schemas.microsoft.com/office/drawing/2014/main" id="{7CD7FAC9-F934-4E70-AC56-37A687B23C60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1096963" y="1846263"/>
            <a:ext cx="10058400" cy="4022725"/>
          </a:xfrm>
        </p:spPr>
        <p:txBody>
          <a:bodyPr/>
          <a:lstStyle/>
          <a:p>
            <a:r>
              <a:rPr lang="en-US" dirty="0"/>
              <a:t>A common task is to determine if a container contains a specific value</a:t>
            </a:r>
          </a:p>
          <a:p>
            <a:r>
              <a:rPr lang="en-US" dirty="0"/>
              <a:t>Python has membership operators </a:t>
            </a:r>
            <a:r>
              <a:rPr lang="en-US" sz="3600" b="1" dirty="0">
                <a:solidFill>
                  <a:srgbClr val="00B050"/>
                </a:solidFill>
              </a:rPr>
              <a:t>in</a:t>
            </a:r>
            <a:r>
              <a:rPr lang="en-US" dirty="0"/>
              <a:t> and </a:t>
            </a:r>
            <a:r>
              <a:rPr lang="en-US" sz="3600" b="1" dirty="0">
                <a:solidFill>
                  <a:srgbClr val="FF0000"/>
                </a:solidFill>
              </a:rPr>
              <a:t>not in</a:t>
            </a:r>
            <a:endParaRPr lang="en-US" b="1" dirty="0">
              <a:solidFill>
                <a:srgbClr val="FF0000"/>
              </a:solidFill>
            </a:endParaRPr>
          </a:p>
          <a:p>
            <a:r>
              <a:rPr lang="en-US" dirty="0"/>
              <a:t>These operators return true if the left operand matches the value of some element in a container</a:t>
            </a:r>
          </a:p>
          <a:p>
            <a:pPr marL="0" indent="0">
              <a:buNone/>
            </a:pPr>
            <a:r>
              <a:rPr lang="en-US" dirty="0">
                <a:latin typeface="Courier" pitchFamily="2" charset="0"/>
              </a:rPr>
              <a:t>&gt;&gt;&gt; </a:t>
            </a:r>
            <a:r>
              <a:rPr lang="en-US" dirty="0" err="1">
                <a:latin typeface="Courier" pitchFamily="2" charset="0"/>
              </a:rPr>
              <a:t>colours</a:t>
            </a:r>
            <a:r>
              <a:rPr lang="en-US" dirty="0">
                <a:latin typeface="Courier" pitchFamily="2" charset="0"/>
              </a:rPr>
              <a:t> = [‘red’, ‘white’, ‘cerulean’]</a:t>
            </a:r>
          </a:p>
          <a:p>
            <a:pPr marL="0" indent="0">
              <a:buNone/>
            </a:pPr>
            <a:r>
              <a:rPr lang="en-US" dirty="0">
                <a:latin typeface="Courier" pitchFamily="2" charset="0"/>
              </a:rPr>
              <a:t>&gt;&gt;&gt; print(‘cerulean’ </a:t>
            </a:r>
            <a:r>
              <a:rPr lang="en-US" b="1" dirty="0">
                <a:solidFill>
                  <a:srgbClr val="00B050"/>
                </a:solidFill>
                <a:latin typeface="Courier" pitchFamily="2" charset="0"/>
              </a:rPr>
              <a:t>in</a:t>
            </a:r>
            <a:r>
              <a:rPr lang="en-US" dirty="0">
                <a:latin typeface="Courier" pitchFamily="2" charset="0"/>
              </a:rPr>
              <a:t> </a:t>
            </a:r>
            <a:r>
              <a:rPr lang="en-US" dirty="0" err="1">
                <a:latin typeface="Courier" pitchFamily="2" charset="0"/>
              </a:rPr>
              <a:t>colours</a:t>
            </a:r>
            <a:r>
              <a:rPr lang="en-US" dirty="0">
                <a:latin typeface="Courier" pitchFamily="2" charset="0"/>
              </a:rPr>
              <a:t>) #true, cerulean exists in </a:t>
            </a:r>
            <a:r>
              <a:rPr lang="en-US" dirty="0" err="1">
                <a:latin typeface="Courier" pitchFamily="2" charset="0"/>
              </a:rPr>
              <a:t>colours</a:t>
            </a:r>
            <a:endParaRPr lang="en-US" dirty="0">
              <a:latin typeface="Courier" pitchFamily="2" charset="0"/>
            </a:endParaRPr>
          </a:p>
          <a:p>
            <a:pPr marL="0" indent="0">
              <a:buNone/>
            </a:pPr>
            <a:r>
              <a:rPr lang="en-US" dirty="0">
                <a:latin typeface="Courier" pitchFamily="2" charset="0"/>
              </a:rPr>
              <a:t>&gt;&gt;&gt; print(‘magenta’ </a:t>
            </a:r>
            <a:r>
              <a:rPr lang="en-US" b="1" dirty="0">
                <a:solidFill>
                  <a:srgbClr val="FF0000"/>
                </a:solidFill>
                <a:latin typeface="Courier" pitchFamily="2" charset="0"/>
              </a:rPr>
              <a:t>not in </a:t>
            </a:r>
            <a:r>
              <a:rPr lang="en-US" dirty="0" err="1">
                <a:latin typeface="Courier" pitchFamily="2" charset="0"/>
              </a:rPr>
              <a:t>colours</a:t>
            </a:r>
            <a:r>
              <a:rPr lang="en-US" dirty="0">
                <a:latin typeface="Courier" pitchFamily="2" charset="0"/>
              </a:rPr>
              <a:t>) #true, magenta doesn’t exist in </a:t>
            </a:r>
            <a:r>
              <a:rPr lang="en-US" dirty="0" err="1">
                <a:latin typeface="Courier" pitchFamily="2" charset="0"/>
              </a:rPr>
              <a:t>colours</a:t>
            </a:r>
            <a:endParaRPr lang="en-US" dirty="0">
              <a:latin typeface="Courier" pitchFamily="2" charset="0"/>
            </a:endParaRPr>
          </a:p>
          <a:p>
            <a:pPr marL="0" indent="0">
              <a:buNone/>
            </a:pPr>
            <a:endParaRPr lang="en-US" dirty="0">
              <a:latin typeface="Courier" pitchFamily="2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838644845"/>
      </p:ext>
    </p:extLst>
  </p:cSld>
  <p:clrMapOvr>
    <a:masterClrMapping/>
  </p:clrMapOvr>
</p:sld>
</file>

<file path=ppt/slides/slide2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7796ABFC-4637-40F9-92D9-FAD0CF38E3AD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Membership Operators</a:t>
            </a:r>
            <a:endParaRPr lang="en-CA" dirty="0"/>
          </a:p>
        </p:txBody>
      </p:sp>
      <p:sp>
        <p:nvSpPr>
          <p:cNvPr id="4" name="Content Placeholder 2">
            <a:extLst>
              <a:ext uri="{FF2B5EF4-FFF2-40B4-BE49-F238E27FC236}">
                <a16:creationId xmlns:a16="http://schemas.microsoft.com/office/drawing/2014/main" id="{E91E28E4-C13F-4F82-9293-4E1EEB7AC621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1096963" y="1846263"/>
            <a:ext cx="10058400" cy="4022725"/>
          </a:xfrm>
        </p:spPr>
        <p:txBody>
          <a:bodyPr>
            <a:normAutofit fontScale="77500" lnSpcReduction="20000"/>
          </a:bodyPr>
          <a:lstStyle/>
          <a:p>
            <a:r>
              <a:rPr lang="en-US" sz="3100" dirty="0"/>
              <a:t>Can be used with sequence types (string, list so far)</a:t>
            </a:r>
          </a:p>
          <a:p>
            <a:pPr lvl="1"/>
            <a:r>
              <a:rPr lang="en-US" sz="2800" dirty="0"/>
              <a:t>We can check if a list contains something</a:t>
            </a:r>
          </a:p>
          <a:p>
            <a:pPr lvl="1"/>
            <a:r>
              <a:rPr lang="en-US" sz="2800" dirty="0"/>
              <a:t>We can also use to determine whether a string is a </a:t>
            </a:r>
            <a:r>
              <a:rPr lang="en-US" sz="2800" b="1" dirty="0"/>
              <a:t>substring</a:t>
            </a:r>
            <a:r>
              <a:rPr lang="en-US" sz="2800" dirty="0"/>
              <a:t>, or a </a:t>
            </a:r>
            <a:r>
              <a:rPr lang="en-US" sz="2800" u="sng" dirty="0"/>
              <a:t>matching subset of characters</a:t>
            </a:r>
            <a:r>
              <a:rPr lang="en-US" sz="2800" dirty="0"/>
              <a:t>, in a larger string:</a:t>
            </a:r>
          </a:p>
          <a:p>
            <a:pPr lvl="1"/>
            <a:r>
              <a:rPr lang="en-US" sz="2800" dirty="0"/>
              <a:t>So much easier in Python compared to say C or C++</a:t>
            </a:r>
          </a:p>
          <a:p>
            <a:pPr marL="457200" lvl="1" indent="0">
              <a:buNone/>
            </a:pPr>
            <a:endParaRPr lang="en-US" sz="2800" dirty="0"/>
          </a:p>
          <a:p>
            <a:pPr marL="0" indent="0">
              <a:buNone/>
            </a:pPr>
            <a:r>
              <a:rPr lang="en-US" dirty="0" err="1">
                <a:latin typeface="Courier" pitchFamily="2" charset="0"/>
              </a:rPr>
              <a:t>request_str</a:t>
            </a:r>
            <a:r>
              <a:rPr lang="en-US" dirty="0">
                <a:latin typeface="Courier" pitchFamily="2" charset="0"/>
              </a:rPr>
              <a:t> = 'GET index.html HTTP/1.1'</a:t>
            </a:r>
          </a:p>
          <a:p>
            <a:pPr marL="0" indent="0">
              <a:buNone/>
            </a:pPr>
            <a:r>
              <a:rPr lang="en-US" dirty="0">
                <a:latin typeface="Courier" pitchFamily="2" charset="0"/>
              </a:rPr>
              <a:t>if '/1.1' in </a:t>
            </a:r>
            <a:r>
              <a:rPr lang="en-US" dirty="0" err="1">
                <a:latin typeface="Courier" pitchFamily="2" charset="0"/>
              </a:rPr>
              <a:t>request_str</a:t>
            </a:r>
            <a:r>
              <a:rPr lang="en-US" dirty="0">
                <a:latin typeface="Courier" pitchFamily="2" charset="0"/>
              </a:rPr>
              <a:t>:</a:t>
            </a:r>
          </a:p>
          <a:p>
            <a:pPr marL="0" indent="0">
              <a:buNone/>
            </a:pPr>
            <a:r>
              <a:rPr lang="en-US" dirty="0">
                <a:latin typeface="Courier" pitchFamily="2" charset="0"/>
              </a:rPr>
              <a:t>    print('HTTP protocol 1.1')</a:t>
            </a:r>
          </a:p>
          <a:p>
            <a:pPr marL="0" indent="0">
              <a:buNone/>
            </a:pPr>
            <a:endParaRPr lang="en-US" dirty="0">
              <a:latin typeface="Courier" pitchFamily="2" charset="0"/>
            </a:endParaRPr>
          </a:p>
          <a:p>
            <a:pPr marL="0" indent="0">
              <a:buNone/>
            </a:pPr>
            <a:r>
              <a:rPr lang="en-US" dirty="0">
                <a:latin typeface="Courier" pitchFamily="2" charset="0"/>
              </a:rPr>
              <a:t>if 'HTTPS' not in </a:t>
            </a:r>
            <a:r>
              <a:rPr lang="en-US" dirty="0" err="1">
                <a:latin typeface="Courier" pitchFamily="2" charset="0"/>
              </a:rPr>
              <a:t>request_str</a:t>
            </a:r>
            <a:r>
              <a:rPr lang="en-US" dirty="0">
                <a:latin typeface="Courier" pitchFamily="2" charset="0"/>
              </a:rPr>
              <a:t>:</a:t>
            </a:r>
          </a:p>
          <a:p>
            <a:pPr marL="0" indent="0">
              <a:buNone/>
            </a:pPr>
            <a:r>
              <a:rPr lang="en-US" dirty="0">
                <a:latin typeface="Courier" pitchFamily="2" charset="0"/>
              </a:rPr>
              <a:t>    print('Unsecured connection')</a:t>
            </a: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276386530"/>
      </p:ext>
    </p:extLst>
  </p:cSld>
  <p:clrMapOvr>
    <a:masterClrMapping/>
  </p:clrMapOvr>
</p:sld>
</file>

<file path=ppt/slides/slide2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6843EFB3-8869-6E4F-1611-FA92CB54A01E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CA"/>
              <a:t>Test Your Understanding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5A428E99-F33E-F34D-2350-E5B9ACF693B9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endParaRPr lang="en-CA"/>
          </a:p>
        </p:txBody>
      </p:sp>
    </p:spTree>
    <p:extLst>
      <p:ext uri="{BB962C8B-B14F-4D97-AF65-F5344CB8AC3E}">
        <p14:creationId xmlns:p14="http://schemas.microsoft.com/office/powerpoint/2010/main" val="52019233"/>
      </p:ext>
    </p:extLst>
  </p:cSld>
  <p:clrMapOvr>
    <a:masterClrMapping/>
  </p:clrMapOvr>
</p:sld>
</file>

<file path=ppt/slides/slide3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F47F358C-A6B5-45DF-BF9C-769DF32EB21B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Tuples</a:t>
            </a:r>
            <a:endParaRPr lang="en-CA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CA"/>
          </a:p>
        </p:txBody>
      </p:sp>
    </p:spTree>
    <p:extLst>
      <p:ext uri="{BB962C8B-B14F-4D97-AF65-F5344CB8AC3E}">
        <p14:creationId xmlns:p14="http://schemas.microsoft.com/office/powerpoint/2010/main" val="817732344"/>
      </p:ext>
    </p:extLst>
  </p:cSld>
  <p:clrMapOvr>
    <a:masterClrMapping/>
  </p:clrMapOvr>
</p:sld>
</file>

<file path=ppt/slides/slide3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9A83BE2E-4791-4342-B11C-90DDDE384411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Tuples</a:t>
            </a:r>
            <a:endParaRPr lang="en-CA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BEDB3F02-20CD-43DB-A6D0-4089CAB6ED01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>
              <a:buFont typeface="Wingdings" panose="05000000000000000000" pitchFamily="2" charset="2"/>
              <a:buChar char="§"/>
            </a:pPr>
            <a:r>
              <a:rPr lang="en-US" dirty="0"/>
              <a:t> Think Lists, but fixed and unchanging. That is, it is </a:t>
            </a:r>
            <a:r>
              <a:rPr lang="en-US" b="1" dirty="0"/>
              <a:t>immutable</a:t>
            </a:r>
            <a:r>
              <a:rPr lang="en-US" dirty="0"/>
              <a:t>.</a:t>
            </a:r>
          </a:p>
          <a:p>
            <a:pPr>
              <a:buFont typeface="Wingdings" panose="05000000000000000000" pitchFamily="2" charset="2"/>
              <a:buChar char="§"/>
            </a:pPr>
            <a:r>
              <a:rPr lang="en-CA" dirty="0"/>
              <a:t> A tuple is also a sequence type, supporting </a:t>
            </a:r>
            <a:r>
              <a:rPr lang="en-CA" dirty="0" err="1"/>
              <a:t>len</a:t>
            </a:r>
            <a:r>
              <a:rPr lang="en-CA" dirty="0"/>
              <a:t>( ), indexing, and other sequence type functions</a:t>
            </a:r>
          </a:p>
          <a:p>
            <a:pPr marL="0" indent="0">
              <a:buNone/>
            </a:pPr>
            <a:endParaRPr lang="en-CA" dirty="0"/>
          </a:p>
          <a:p>
            <a:pPr marL="0" indent="0" algn="ctr">
              <a:buNone/>
            </a:pPr>
            <a:r>
              <a:rPr lang="en-CA" sz="3200" dirty="0" err="1">
                <a:latin typeface="Courier"/>
              </a:rPr>
              <a:t>Eg</a:t>
            </a:r>
            <a:r>
              <a:rPr lang="en-CA" sz="3200" dirty="0">
                <a:latin typeface="Courier"/>
              </a:rPr>
              <a:t>: </a:t>
            </a:r>
            <a:r>
              <a:rPr lang="en-CA" sz="3200" dirty="0" err="1">
                <a:latin typeface="Courier"/>
              </a:rPr>
              <a:t>pos_vector</a:t>
            </a:r>
            <a:r>
              <a:rPr lang="en-CA" sz="3200" dirty="0">
                <a:latin typeface="Courier"/>
              </a:rPr>
              <a:t> = (3, 7.0, -39)</a:t>
            </a:r>
          </a:p>
          <a:p>
            <a:pPr marL="0" indent="0" algn="ctr">
              <a:buNone/>
            </a:pPr>
            <a:endParaRPr lang="en-CA" sz="3200" dirty="0">
              <a:latin typeface="Courier"/>
            </a:endParaRPr>
          </a:p>
          <a:p>
            <a:pPr>
              <a:buFont typeface="Wingdings" panose="05000000000000000000" pitchFamily="2" charset="2"/>
              <a:buChar char="§"/>
            </a:pPr>
            <a:r>
              <a:rPr lang="en-CA" dirty="0">
                <a:latin typeface="Courier"/>
              </a:rPr>
              <a:t> </a:t>
            </a:r>
            <a:r>
              <a:rPr lang="en-CA" dirty="0"/>
              <a:t>Not commonly used, but great when element position and data is usually fixed and unchanging. </a:t>
            </a:r>
            <a:r>
              <a:rPr lang="en-CA" dirty="0" err="1"/>
              <a:t>Eg</a:t>
            </a:r>
            <a:r>
              <a:rPr lang="en-CA" dirty="0"/>
              <a:t>: location (longitude, longitude)</a:t>
            </a:r>
          </a:p>
        </p:txBody>
      </p:sp>
    </p:spTree>
    <p:extLst>
      <p:ext uri="{BB962C8B-B14F-4D97-AF65-F5344CB8AC3E}">
        <p14:creationId xmlns:p14="http://schemas.microsoft.com/office/powerpoint/2010/main" val="7056074"/>
      </p:ext>
    </p:extLst>
  </p:cSld>
  <p:clrMapOvr>
    <a:masterClrMapping/>
  </p:clrMapOvr>
</p:sld>
</file>

<file path=ppt/slides/slide3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54ECB9EB-95D7-4C93-A3F0-86811E9F6BDB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Tuples (Example)</a:t>
            </a:r>
            <a:endParaRPr lang="en-CA" dirty="0"/>
          </a:p>
        </p:txBody>
      </p:sp>
      <p:sp>
        <p:nvSpPr>
          <p:cNvPr id="4" name="Content Placeholder 2">
            <a:extLst>
              <a:ext uri="{FF2B5EF4-FFF2-40B4-BE49-F238E27FC236}">
                <a16:creationId xmlns:a16="http://schemas.microsoft.com/office/drawing/2014/main" id="{C3BD7F3F-6DA8-4B70-AC46-D8CDEA8DF825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709846" y="1846263"/>
            <a:ext cx="10833268" cy="4022725"/>
          </a:xfrm>
        </p:spPr>
        <p:txBody>
          <a:bodyPr>
            <a:normAutofit fontScale="92500" lnSpcReduction="10000"/>
          </a:bodyPr>
          <a:lstStyle/>
          <a:p>
            <a:pPr marL="0" indent="0">
              <a:buNone/>
            </a:pPr>
            <a:r>
              <a:rPr lang="en-US" dirty="0" err="1">
                <a:latin typeface="Courier" pitchFamily="2" charset="0"/>
              </a:rPr>
              <a:t>parliament_hill_coords</a:t>
            </a:r>
            <a:r>
              <a:rPr lang="en-US" dirty="0">
                <a:latin typeface="Courier" pitchFamily="2" charset="0"/>
              </a:rPr>
              <a:t> = (45.4236, 75.7009) #tuples use round parentheses</a:t>
            </a:r>
          </a:p>
          <a:p>
            <a:pPr marL="0" indent="0">
              <a:buNone/>
            </a:pPr>
            <a:r>
              <a:rPr lang="en-US" dirty="0">
                <a:latin typeface="Courier" pitchFamily="2" charset="0"/>
              </a:rPr>
              <a:t>print('Coordinates:', </a:t>
            </a:r>
            <a:r>
              <a:rPr lang="en-US" dirty="0" err="1">
                <a:latin typeface="Courier" pitchFamily="2" charset="0"/>
              </a:rPr>
              <a:t>parliament_hill_coords</a:t>
            </a:r>
            <a:r>
              <a:rPr lang="en-US" dirty="0">
                <a:latin typeface="Courier" pitchFamily="2" charset="0"/>
              </a:rPr>
              <a:t>)</a:t>
            </a:r>
          </a:p>
          <a:p>
            <a:pPr marL="0" indent="0">
              <a:buNone/>
            </a:pPr>
            <a:r>
              <a:rPr lang="en-US" dirty="0">
                <a:latin typeface="Courier" pitchFamily="2" charset="0"/>
              </a:rPr>
              <a:t>print('Tuple length:', </a:t>
            </a:r>
            <a:r>
              <a:rPr lang="en-US" dirty="0" err="1">
                <a:latin typeface="Courier" pitchFamily="2" charset="0"/>
              </a:rPr>
              <a:t>len</a:t>
            </a:r>
            <a:r>
              <a:rPr lang="en-US" dirty="0">
                <a:latin typeface="Courier" pitchFamily="2" charset="0"/>
              </a:rPr>
              <a:t>(</a:t>
            </a:r>
            <a:r>
              <a:rPr lang="en-US" dirty="0" err="1">
                <a:latin typeface="Courier" pitchFamily="2" charset="0"/>
              </a:rPr>
              <a:t>parliament_hill_coords</a:t>
            </a:r>
            <a:r>
              <a:rPr lang="en-US" dirty="0">
                <a:latin typeface="Courier" pitchFamily="2" charset="0"/>
              </a:rPr>
              <a:t>))</a:t>
            </a:r>
          </a:p>
          <a:p>
            <a:pPr marL="0" indent="0">
              <a:buNone/>
            </a:pPr>
            <a:endParaRPr lang="en-US" dirty="0">
              <a:latin typeface="Courier" pitchFamily="2" charset="0"/>
            </a:endParaRPr>
          </a:p>
          <a:p>
            <a:pPr marL="0" indent="0">
              <a:buNone/>
            </a:pPr>
            <a:r>
              <a:rPr lang="en-US" dirty="0">
                <a:latin typeface="Courier" pitchFamily="2" charset="0"/>
              </a:rPr>
              <a:t># Access tuples via index</a:t>
            </a:r>
          </a:p>
          <a:p>
            <a:pPr marL="0" indent="0">
              <a:buNone/>
            </a:pPr>
            <a:r>
              <a:rPr lang="en-US" dirty="0">
                <a:latin typeface="Courier" pitchFamily="2" charset="0"/>
              </a:rPr>
              <a:t>print('\</a:t>
            </a:r>
            <a:r>
              <a:rPr lang="en-US" dirty="0" err="1">
                <a:latin typeface="Courier" pitchFamily="2" charset="0"/>
              </a:rPr>
              <a:t>nLatitude</a:t>
            </a:r>
            <a:r>
              <a:rPr lang="en-US" dirty="0">
                <a:latin typeface="Courier" pitchFamily="2" charset="0"/>
              </a:rPr>
              <a:t>:', </a:t>
            </a:r>
            <a:r>
              <a:rPr lang="en-US" dirty="0" err="1">
                <a:latin typeface="Courier" pitchFamily="2" charset="0"/>
              </a:rPr>
              <a:t>parliament_hill_coords</a:t>
            </a:r>
            <a:r>
              <a:rPr lang="en-US" dirty="0">
                <a:latin typeface="Courier" pitchFamily="2" charset="0"/>
              </a:rPr>
              <a:t>[0], 'north')</a:t>
            </a:r>
          </a:p>
          <a:p>
            <a:pPr marL="0" indent="0">
              <a:buNone/>
            </a:pPr>
            <a:r>
              <a:rPr lang="en-US" dirty="0">
                <a:latin typeface="Courier" pitchFamily="2" charset="0"/>
              </a:rPr>
              <a:t>print('Longitude:', </a:t>
            </a:r>
            <a:r>
              <a:rPr lang="en-US" dirty="0" err="1">
                <a:latin typeface="Courier" pitchFamily="2" charset="0"/>
              </a:rPr>
              <a:t>parliament_hill_coords</a:t>
            </a:r>
            <a:r>
              <a:rPr lang="en-US" dirty="0">
                <a:latin typeface="Courier" pitchFamily="2" charset="0"/>
              </a:rPr>
              <a:t>[1], 'west\n')</a:t>
            </a:r>
          </a:p>
          <a:p>
            <a:pPr marL="0" indent="0">
              <a:buNone/>
            </a:pPr>
            <a:endParaRPr lang="en-US" dirty="0">
              <a:latin typeface="Courier" pitchFamily="2" charset="0"/>
            </a:endParaRPr>
          </a:p>
          <a:p>
            <a:pPr marL="0" indent="0">
              <a:buNone/>
            </a:pPr>
            <a:r>
              <a:rPr lang="en-US" dirty="0">
                <a:latin typeface="Courier" pitchFamily="2" charset="0"/>
              </a:rPr>
              <a:t># Error. Tuples are immutable</a:t>
            </a:r>
          </a:p>
          <a:p>
            <a:pPr marL="0" indent="0">
              <a:buNone/>
            </a:pPr>
            <a:r>
              <a:rPr lang="en-US" dirty="0" err="1">
                <a:latin typeface="Courier" pitchFamily="2" charset="0"/>
              </a:rPr>
              <a:t>parliament_hill_coords</a:t>
            </a:r>
            <a:r>
              <a:rPr lang="en-US" dirty="0">
                <a:latin typeface="Courier" pitchFamily="2" charset="0"/>
              </a:rPr>
              <a:t>[1] = 50</a:t>
            </a:r>
          </a:p>
        </p:txBody>
      </p:sp>
    </p:spTree>
    <p:extLst>
      <p:ext uri="{BB962C8B-B14F-4D97-AF65-F5344CB8AC3E}">
        <p14:creationId xmlns:p14="http://schemas.microsoft.com/office/powerpoint/2010/main" val="2137684903"/>
      </p:ext>
    </p:extLst>
  </p:cSld>
  <p:clrMapOvr>
    <a:masterClrMapping/>
  </p:clrMapOvr>
</p:sld>
</file>

<file path=ppt/slides/slide3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F47F358C-A6B5-45DF-BF9C-769DF32EB21B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Dictionaries</a:t>
            </a:r>
            <a:endParaRPr lang="en-CA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CA"/>
          </a:p>
        </p:txBody>
      </p:sp>
    </p:spTree>
    <p:extLst>
      <p:ext uri="{BB962C8B-B14F-4D97-AF65-F5344CB8AC3E}">
        <p14:creationId xmlns:p14="http://schemas.microsoft.com/office/powerpoint/2010/main" val="3542865725"/>
      </p:ext>
    </p:extLst>
  </p:cSld>
  <p:clrMapOvr>
    <a:masterClrMapping/>
  </p:clrMapOvr>
</p:sld>
</file>

<file path=ppt/slides/slide3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51D8997F-E89D-4FD8-935A-EF583259BA92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Dictionaries</a:t>
            </a:r>
            <a:endParaRPr lang="en-CA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96FC8D07-0639-4373-A6F0-5330B48F7B77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>
            <a:normAutofit lnSpcReduction="10000"/>
          </a:bodyPr>
          <a:lstStyle/>
          <a:p>
            <a:r>
              <a:rPr lang="en-US" dirty="0"/>
              <a:t>Similar to other languages, it is a </a:t>
            </a:r>
            <a:r>
              <a:rPr lang="en-US" sz="2800" b="1" u="sng" dirty="0"/>
              <a:t>collection of key-value pairs</a:t>
            </a:r>
          </a:p>
          <a:p>
            <a:r>
              <a:rPr lang="en-US" sz="2400" dirty="0"/>
              <a:t>Each key should be unique</a:t>
            </a:r>
          </a:p>
          <a:p>
            <a:endParaRPr lang="en-US" sz="2400" dirty="0"/>
          </a:p>
          <a:p>
            <a:pPr marL="0" indent="0">
              <a:buNone/>
            </a:pPr>
            <a:r>
              <a:rPr lang="en-US" sz="2400" dirty="0" err="1">
                <a:latin typeface="Courier" pitchFamily="2" charset="0"/>
              </a:rPr>
              <a:t>dictionary_one</a:t>
            </a:r>
            <a:r>
              <a:rPr lang="en-US" sz="2400" dirty="0">
                <a:latin typeface="Courier" pitchFamily="2" charset="0"/>
              </a:rPr>
              <a:t> = { ‘name’ : ‘</a:t>
            </a:r>
            <a:r>
              <a:rPr lang="en-US" sz="2400" dirty="0" err="1">
                <a:latin typeface="Courier" pitchFamily="2" charset="0"/>
              </a:rPr>
              <a:t>Lwaxana</a:t>
            </a:r>
            <a:r>
              <a:rPr lang="en-US" sz="2400" dirty="0">
                <a:latin typeface="Courier" pitchFamily="2" charset="0"/>
              </a:rPr>
              <a:t> </a:t>
            </a:r>
            <a:r>
              <a:rPr lang="en-US" sz="2400" dirty="0" err="1">
                <a:latin typeface="Courier" pitchFamily="2" charset="0"/>
              </a:rPr>
              <a:t>Troi</a:t>
            </a:r>
            <a:r>
              <a:rPr lang="en-US" sz="2400" dirty="0">
                <a:latin typeface="Courier" pitchFamily="2" charset="0"/>
              </a:rPr>
              <a:t>’ }</a:t>
            </a:r>
          </a:p>
          <a:p>
            <a:pPr marL="0" indent="0">
              <a:buNone/>
            </a:pPr>
            <a:r>
              <a:rPr lang="en-US" sz="2400" dirty="0" err="1">
                <a:latin typeface="Courier" pitchFamily="2" charset="0"/>
              </a:rPr>
              <a:t>dictionary_two</a:t>
            </a:r>
            <a:r>
              <a:rPr lang="en-US" sz="2400" dirty="0">
                <a:latin typeface="Courier" pitchFamily="2" charset="0"/>
              </a:rPr>
              <a:t> = { 1 : ‘COMP3522’,</a:t>
            </a:r>
          </a:p>
          <a:p>
            <a:pPr marL="0" indent="0">
              <a:buNone/>
            </a:pPr>
            <a:r>
              <a:rPr lang="en-US" sz="2400" dirty="0">
                <a:latin typeface="Courier" pitchFamily="2" charset="0"/>
              </a:rPr>
              <a:t>                   2 : ‘COMP1712’, }</a:t>
            </a:r>
          </a:p>
          <a:p>
            <a:pPr marL="0" indent="0">
              <a:buNone/>
            </a:pPr>
            <a:r>
              <a:rPr lang="en-US" sz="2400" dirty="0" err="1">
                <a:latin typeface="Courier" pitchFamily="2" charset="0"/>
              </a:rPr>
              <a:t>dictionary_three</a:t>
            </a:r>
            <a:r>
              <a:rPr lang="en-US" sz="2400" dirty="0">
                <a:latin typeface="Courier" pitchFamily="2" charset="0"/>
              </a:rPr>
              <a:t> = { ‘Picard’ : ‘SP-937-215’ }</a:t>
            </a:r>
          </a:p>
          <a:p>
            <a:pPr marL="0" indent="0">
              <a:buNone/>
            </a:pPr>
            <a:r>
              <a:rPr lang="en-US" sz="2400" dirty="0" err="1">
                <a:latin typeface="Courier" pitchFamily="2" charset="0"/>
              </a:rPr>
              <a:t>empty_dictionary</a:t>
            </a:r>
            <a:r>
              <a:rPr lang="en-US" sz="2400" dirty="0">
                <a:latin typeface="Courier" pitchFamily="2" charset="0"/>
              </a:rPr>
              <a:t> = { }</a:t>
            </a:r>
          </a:p>
          <a:p>
            <a:endParaRPr lang="en-CA" sz="1800" dirty="0"/>
          </a:p>
        </p:txBody>
      </p:sp>
    </p:spTree>
    <p:extLst>
      <p:ext uri="{BB962C8B-B14F-4D97-AF65-F5344CB8AC3E}">
        <p14:creationId xmlns:p14="http://schemas.microsoft.com/office/powerpoint/2010/main" val="4115875057"/>
      </p:ext>
    </p:extLst>
  </p:cSld>
  <p:clrMapOvr>
    <a:masterClrMapping/>
  </p:clrMapOvr>
</p:sld>
</file>

<file path=ppt/slides/slide3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4797CE07-252A-4086-B887-C0CE47F9A1D5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What can we use for keys?</a:t>
            </a:r>
            <a:endParaRPr lang="en-CA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666BB64E-7856-43B6-961B-ECF586757B5C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1097280" y="1845734"/>
            <a:ext cx="10800806" cy="4369536"/>
          </a:xfrm>
        </p:spPr>
        <p:txBody>
          <a:bodyPr>
            <a:normAutofit fontScale="92500" lnSpcReduction="20000"/>
          </a:bodyPr>
          <a:lstStyle/>
          <a:p>
            <a:r>
              <a:rPr lang="en-US" dirty="0"/>
              <a:t>We do not want to be able to change the key once it is in the dictionary. </a:t>
            </a:r>
          </a:p>
          <a:p>
            <a:r>
              <a:rPr lang="en-US" dirty="0"/>
              <a:t>Data is accessed using a key instead of an index</a:t>
            </a:r>
          </a:p>
          <a:p>
            <a:r>
              <a:rPr lang="en-US" dirty="0"/>
              <a:t>Strings, numbers, tuples (</a:t>
            </a:r>
            <a:r>
              <a:rPr lang="en-US" sz="3200" dirty="0"/>
              <a:t>anything immutable</a:t>
            </a:r>
            <a:r>
              <a:rPr lang="en-US" dirty="0"/>
              <a:t>)</a:t>
            </a:r>
          </a:p>
          <a:p>
            <a:r>
              <a:rPr lang="en-US" dirty="0"/>
              <a:t>The keys in a dictionary do not have to be the same type, either!</a:t>
            </a:r>
          </a:p>
          <a:p>
            <a:pPr marL="0" indent="0">
              <a:buNone/>
            </a:pPr>
            <a:r>
              <a:rPr lang="en-US" dirty="0">
                <a:latin typeface="Courier" pitchFamily="2" charset="0"/>
              </a:rPr>
              <a:t>&gt;&gt;&gt; </a:t>
            </a:r>
            <a:r>
              <a:rPr lang="en-US" dirty="0" err="1">
                <a:latin typeface="Courier" pitchFamily="2" charset="0"/>
              </a:rPr>
              <a:t>my_dictionary</a:t>
            </a:r>
            <a:r>
              <a:rPr lang="en-US" dirty="0">
                <a:latin typeface="Courier" pitchFamily="2" charset="0"/>
              </a:rPr>
              <a:t> = {} #create new empty dictionary using curly braces</a:t>
            </a:r>
          </a:p>
          <a:p>
            <a:pPr marL="0" indent="0">
              <a:buNone/>
            </a:pPr>
            <a:r>
              <a:rPr lang="en-US" dirty="0">
                <a:latin typeface="Courier" pitchFamily="2" charset="0"/>
              </a:rPr>
              <a:t>&gt;&gt;&gt; </a:t>
            </a:r>
            <a:r>
              <a:rPr lang="en-US" dirty="0" err="1">
                <a:latin typeface="Courier" pitchFamily="2" charset="0"/>
              </a:rPr>
              <a:t>my_dictionary</a:t>
            </a:r>
            <a:r>
              <a:rPr lang="en-US" dirty="0">
                <a:latin typeface="Courier" pitchFamily="2" charset="0"/>
              </a:rPr>
              <a:t>[</a:t>
            </a:r>
            <a:r>
              <a:rPr lang="en-US" b="1" dirty="0">
                <a:latin typeface="Courier" pitchFamily="2" charset="0"/>
              </a:rPr>
              <a:t>'value'</a:t>
            </a:r>
            <a:r>
              <a:rPr lang="en-US" dirty="0">
                <a:latin typeface="Courier" pitchFamily="2" charset="0"/>
              </a:rPr>
              <a:t>] = 100.0</a:t>
            </a:r>
          </a:p>
          <a:p>
            <a:pPr marL="0" indent="0">
              <a:buNone/>
            </a:pPr>
            <a:r>
              <a:rPr lang="en-US" dirty="0">
                <a:latin typeface="Courier" pitchFamily="2" charset="0"/>
              </a:rPr>
              <a:t>&gt;&gt;&gt; </a:t>
            </a:r>
            <a:r>
              <a:rPr lang="en-US" dirty="0" err="1">
                <a:latin typeface="Courier" pitchFamily="2" charset="0"/>
              </a:rPr>
              <a:t>my_dictionary</a:t>
            </a:r>
            <a:r>
              <a:rPr lang="en-US" dirty="0">
                <a:latin typeface="Courier" pitchFamily="2" charset="0"/>
              </a:rPr>
              <a:t>[</a:t>
            </a:r>
            <a:r>
              <a:rPr lang="en-US" b="1" dirty="0">
                <a:latin typeface="Courier" pitchFamily="2" charset="0"/>
              </a:rPr>
              <a:t>1</a:t>
            </a:r>
            <a:r>
              <a:rPr lang="en-US" dirty="0">
                <a:latin typeface="Courier" pitchFamily="2" charset="0"/>
              </a:rPr>
              <a:t>] = 1</a:t>
            </a:r>
          </a:p>
          <a:p>
            <a:pPr marL="0" indent="0">
              <a:buNone/>
            </a:pPr>
            <a:r>
              <a:rPr lang="en-US" dirty="0">
                <a:latin typeface="Courier" pitchFamily="2" charset="0"/>
              </a:rPr>
              <a:t>&gt;&gt;&gt; </a:t>
            </a:r>
            <a:r>
              <a:rPr lang="en-US" dirty="0" err="1">
                <a:latin typeface="Courier" pitchFamily="2" charset="0"/>
              </a:rPr>
              <a:t>my_dictionary</a:t>
            </a:r>
            <a:r>
              <a:rPr lang="en-US" dirty="0">
                <a:latin typeface="Courier" pitchFamily="2" charset="0"/>
              </a:rPr>
              <a:t>[</a:t>
            </a:r>
            <a:r>
              <a:rPr lang="en-US" b="1" dirty="0">
                <a:latin typeface="Courier" pitchFamily="2" charset="0"/>
              </a:rPr>
              <a:t>2</a:t>
            </a:r>
            <a:r>
              <a:rPr lang="en-US" dirty="0">
                <a:latin typeface="Courier" pitchFamily="2" charset="0"/>
              </a:rPr>
              <a:t>] = 2</a:t>
            </a:r>
          </a:p>
          <a:p>
            <a:pPr marL="0" indent="0">
              <a:buNone/>
            </a:pPr>
            <a:r>
              <a:rPr lang="en-US" dirty="0">
                <a:latin typeface="Courier" pitchFamily="2" charset="0"/>
              </a:rPr>
              <a:t>&gt;&gt;&gt; </a:t>
            </a:r>
            <a:r>
              <a:rPr lang="en-US" dirty="0" err="1">
                <a:latin typeface="Courier" pitchFamily="2" charset="0"/>
              </a:rPr>
              <a:t>my_dictionary</a:t>
            </a:r>
            <a:r>
              <a:rPr lang="en-US" dirty="0">
                <a:latin typeface="Courier" pitchFamily="2" charset="0"/>
              </a:rPr>
              <a:t>[</a:t>
            </a:r>
            <a:r>
              <a:rPr lang="en-US" b="1" dirty="0">
                <a:latin typeface="Courier" pitchFamily="2" charset="0"/>
              </a:rPr>
              <a:t>2.5</a:t>
            </a:r>
            <a:r>
              <a:rPr lang="en-US" dirty="0">
                <a:latin typeface="Courier" pitchFamily="2" charset="0"/>
              </a:rPr>
              <a:t>] = 'hello'</a:t>
            </a:r>
          </a:p>
          <a:p>
            <a:pPr marL="0" indent="0">
              <a:buNone/>
            </a:pPr>
            <a:r>
              <a:rPr lang="en-US" dirty="0">
                <a:latin typeface="Courier" pitchFamily="2" charset="0"/>
              </a:rPr>
              <a:t>&gt;&gt;&gt; print(</a:t>
            </a:r>
            <a:r>
              <a:rPr lang="en-US" dirty="0" err="1">
                <a:latin typeface="Courier" pitchFamily="2" charset="0"/>
              </a:rPr>
              <a:t>my_dictionary</a:t>
            </a:r>
            <a:r>
              <a:rPr lang="en-US" dirty="0">
                <a:latin typeface="Courier" pitchFamily="2" charset="0"/>
              </a:rPr>
              <a:t>)</a:t>
            </a:r>
          </a:p>
          <a:p>
            <a:pPr marL="0" indent="0">
              <a:buNone/>
            </a:pPr>
            <a:r>
              <a:rPr lang="en-US" dirty="0">
                <a:latin typeface="Courier" pitchFamily="2" charset="0"/>
              </a:rPr>
              <a:t>{'value': 100.0, 1: 1, 2: 2, 2.5: 'hello'}</a:t>
            </a:r>
          </a:p>
          <a:p>
            <a:endParaRPr lang="en-CA" dirty="0"/>
          </a:p>
        </p:txBody>
      </p:sp>
    </p:spTree>
    <p:extLst>
      <p:ext uri="{BB962C8B-B14F-4D97-AF65-F5344CB8AC3E}">
        <p14:creationId xmlns:p14="http://schemas.microsoft.com/office/powerpoint/2010/main" val="1131360616"/>
      </p:ext>
    </p:extLst>
  </p:cSld>
  <p:clrMapOvr>
    <a:masterClrMapping/>
  </p:clrMapOvr>
</p:sld>
</file>

<file path=ppt/slides/slide3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9B173C28-571F-4B43-BFF5-37F139934F57}"/>
              </a:ext>
            </a:extLst>
          </p:cNvPr>
          <p:cNvSpPr>
            <a:spLocks noGrp="1"/>
          </p:cNvSpPr>
          <p:nvPr>
            <p:ph type="title"/>
          </p:nvPr>
        </p:nvSpPr>
        <p:spPr>
          <a:noFill/>
        </p:spPr>
        <p:txBody>
          <a:bodyPr/>
          <a:lstStyle/>
          <a:p>
            <a:r>
              <a:rPr lang="en-US" dirty="0"/>
              <a:t>Challenge: what’s this?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3C98FB0B-0C96-DC41-8E99-6DD14E46F440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441064" y="1845734"/>
            <a:ext cx="10714616" cy="4023360"/>
          </a:xfrm>
          <a:noFill/>
        </p:spPr>
        <p:txBody>
          <a:bodyPr>
            <a:normAutofit/>
          </a:bodyPr>
          <a:lstStyle/>
          <a:p>
            <a:pPr marL="0" indent="0">
              <a:buNone/>
            </a:pPr>
            <a:r>
              <a:rPr lang="en-US" sz="2400" dirty="0">
                <a:latin typeface="Courier" pitchFamily="2" charset="0"/>
              </a:rPr>
              <a:t>&gt;&gt;&gt; </a:t>
            </a:r>
            <a:r>
              <a:rPr lang="en-US" sz="2400" dirty="0" err="1">
                <a:latin typeface="Courier" pitchFamily="2" charset="0"/>
              </a:rPr>
              <a:t>my_dictionary</a:t>
            </a:r>
            <a:r>
              <a:rPr lang="en-US" sz="4000" b="1" dirty="0">
                <a:latin typeface="Courier" pitchFamily="2" charset="0"/>
              </a:rPr>
              <a:t>[()] = []</a:t>
            </a:r>
          </a:p>
          <a:p>
            <a:pPr marL="0" indent="0">
              <a:buNone/>
            </a:pPr>
            <a:r>
              <a:rPr lang="en-US" sz="2400" dirty="0">
                <a:latin typeface="Courier" pitchFamily="2" charset="0"/>
              </a:rPr>
              <a:t>&gt;&gt;&gt; print(</a:t>
            </a:r>
            <a:r>
              <a:rPr lang="en-US" sz="2400" dirty="0" err="1">
                <a:latin typeface="Courier" pitchFamily="2" charset="0"/>
              </a:rPr>
              <a:t>my_dictionary</a:t>
            </a:r>
            <a:r>
              <a:rPr lang="en-US" sz="2400" dirty="0">
                <a:latin typeface="Courier" pitchFamily="2" charset="0"/>
              </a:rPr>
              <a:t>)</a:t>
            </a:r>
          </a:p>
          <a:p>
            <a:pPr marL="0" indent="0">
              <a:buNone/>
            </a:pPr>
            <a:r>
              <a:rPr lang="en-US" sz="2400" dirty="0">
                <a:latin typeface="Courier" pitchFamily="2" charset="0"/>
              </a:rPr>
              <a:t>{'value': 100.0, 1: 1, 2: 2, 2.5: 'hello', (): []}</a:t>
            </a:r>
          </a:p>
          <a:p>
            <a:pPr marL="0" indent="0">
              <a:buNone/>
            </a:pPr>
            <a:r>
              <a:rPr lang="en-US" sz="2400" dirty="0">
                <a:latin typeface="Courier" pitchFamily="2" charset="0"/>
              </a:rPr>
              <a:t>&gt;&gt;&gt; </a:t>
            </a:r>
            <a:r>
              <a:rPr lang="en-US" sz="2400" dirty="0" err="1">
                <a:latin typeface="Courier" pitchFamily="2" charset="0"/>
              </a:rPr>
              <a:t>my_dictionary</a:t>
            </a:r>
            <a:r>
              <a:rPr lang="en-US" sz="4000" b="1" dirty="0">
                <a:latin typeface="Courier" pitchFamily="2" charset="0"/>
              </a:rPr>
              <a:t>[()] = 'hello world'</a:t>
            </a:r>
          </a:p>
          <a:p>
            <a:pPr marL="0" indent="0">
              <a:buNone/>
            </a:pPr>
            <a:r>
              <a:rPr lang="en-US" sz="2400" dirty="0">
                <a:latin typeface="Courier" pitchFamily="2" charset="0"/>
              </a:rPr>
              <a:t>&gt;&gt;&gt; print(</a:t>
            </a:r>
            <a:r>
              <a:rPr lang="en-US" sz="2400" dirty="0" err="1">
                <a:latin typeface="Courier" pitchFamily="2" charset="0"/>
              </a:rPr>
              <a:t>my_dictionary</a:t>
            </a:r>
            <a:r>
              <a:rPr lang="en-US" sz="2400" dirty="0">
                <a:latin typeface="Courier" pitchFamily="2" charset="0"/>
              </a:rPr>
              <a:t>)</a:t>
            </a:r>
          </a:p>
          <a:p>
            <a:pPr marL="0" indent="0">
              <a:buNone/>
            </a:pPr>
            <a:r>
              <a:rPr lang="en-US" sz="2400" dirty="0">
                <a:latin typeface="Courier" pitchFamily="2" charset="0"/>
              </a:rPr>
              <a:t>{'value': 100.0, 1: 1, 2: 2, 2.5: 'hello', (): 'hello world'}</a:t>
            </a:r>
          </a:p>
        </p:txBody>
      </p:sp>
    </p:spTree>
    <p:extLst>
      <p:ext uri="{BB962C8B-B14F-4D97-AF65-F5344CB8AC3E}">
        <p14:creationId xmlns:p14="http://schemas.microsoft.com/office/powerpoint/2010/main" val="4007463935"/>
      </p:ext>
    </p:extLst>
  </p:cSld>
  <p:clrMapOvr>
    <a:masterClrMapping/>
  </p:clrMapOvr>
</p:sld>
</file>

<file path=ppt/slides/slide3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AB1BA900-6435-2845-90CA-3C5E2F2C6536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Growing a dictionary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089DB9E0-6E3C-E642-B9E0-EEF6B62B25F0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>
            <a:normAutofit/>
          </a:bodyPr>
          <a:lstStyle/>
          <a:p>
            <a:r>
              <a:rPr lang="en-US" dirty="0"/>
              <a:t>The dictionary, like the list, is a dynamic structure (it grows and shrinks as we add and remove key-value pairs):</a:t>
            </a:r>
          </a:p>
          <a:p>
            <a:endParaRPr lang="en-US" dirty="0"/>
          </a:p>
          <a:p>
            <a:pPr marL="0" indent="0">
              <a:buNone/>
            </a:pPr>
            <a:r>
              <a:rPr lang="en-US" sz="2000" dirty="0">
                <a:latin typeface="Courier" pitchFamily="2" charset="0"/>
              </a:rPr>
              <a:t>&gt;&gt;&gt; </a:t>
            </a:r>
            <a:r>
              <a:rPr lang="en-US" sz="2000" dirty="0" err="1">
                <a:latin typeface="Courier" pitchFamily="2" charset="0"/>
              </a:rPr>
              <a:t>my_character</a:t>
            </a:r>
            <a:r>
              <a:rPr lang="en-US" sz="2000" dirty="0">
                <a:latin typeface="Courier" pitchFamily="2" charset="0"/>
              </a:rPr>
              <a:t> = { 'name' : '</a:t>
            </a:r>
            <a:r>
              <a:rPr lang="en-US" sz="2000" dirty="0" err="1">
                <a:latin typeface="Courier" pitchFamily="2" charset="0"/>
              </a:rPr>
              <a:t>Boaty</a:t>
            </a:r>
            <a:r>
              <a:rPr lang="en-US" sz="2000" dirty="0">
                <a:latin typeface="Courier" pitchFamily="2" charset="0"/>
              </a:rPr>
              <a:t> </a:t>
            </a:r>
            <a:r>
              <a:rPr lang="en-US" sz="2000" dirty="0" err="1">
                <a:latin typeface="Courier" pitchFamily="2" charset="0"/>
              </a:rPr>
              <a:t>McBoatface</a:t>
            </a:r>
            <a:r>
              <a:rPr lang="en-US" sz="2000" dirty="0">
                <a:latin typeface="Courier" pitchFamily="2" charset="0"/>
              </a:rPr>
              <a:t>' }</a:t>
            </a:r>
          </a:p>
          <a:p>
            <a:pPr marL="0" indent="0">
              <a:buNone/>
            </a:pPr>
            <a:r>
              <a:rPr lang="en-US" sz="2000" dirty="0">
                <a:latin typeface="Courier" pitchFamily="2" charset="0"/>
              </a:rPr>
              <a:t>&gt;&gt;&gt; print(</a:t>
            </a:r>
            <a:r>
              <a:rPr lang="en-US" sz="2000" dirty="0" err="1">
                <a:latin typeface="Courier" pitchFamily="2" charset="0"/>
              </a:rPr>
              <a:t>my_character</a:t>
            </a:r>
            <a:r>
              <a:rPr lang="en-US" sz="2000" dirty="0">
                <a:latin typeface="Courier" pitchFamily="2" charset="0"/>
              </a:rPr>
              <a:t>)</a:t>
            </a:r>
          </a:p>
          <a:p>
            <a:pPr marL="0" indent="0">
              <a:buNone/>
            </a:pPr>
            <a:r>
              <a:rPr lang="en-US" sz="2000" dirty="0">
                <a:latin typeface="Courier" pitchFamily="2" charset="0"/>
              </a:rPr>
              <a:t>{'name': '</a:t>
            </a:r>
            <a:r>
              <a:rPr lang="en-US" sz="2000" dirty="0" err="1">
                <a:latin typeface="Courier" pitchFamily="2" charset="0"/>
              </a:rPr>
              <a:t>Boaty</a:t>
            </a:r>
            <a:r>
              <a:rPr lang="en-US" sz="2000" dirty="0">
                <a:latin typeface="Courier" pitchFamily="2" charset="0"/>
              </a:rPr>
              <a:t> </a:t>
            </a:r>
            <a:r>
              <a:rPr lang="en-US" sz="2000" dirty="0" err="1">
                <a:latin typeface="Courier" pitchFamily="2" charset="0"/>
              </a:rPr>
              <a:t>McBoatface</a:t>
            </a:r>
            <a:r>
              <a:rPr lang="en-US" sz="2000" dirty="0">
                <a:latin typeface="Courier" pitchFamily="2" charset="0"/>
              </a:rPr>
              <a:t>’}</a:t>
            </a:r>
          </a:p>
          <a:p>
            <a:pPr marL="0" indent="0">
              <a:buNone/>
            </a:pPr>
            <a:r>
              <a:rPr lang="en-US" sz="2000" dirty="0">
                <a:latin typeface="Courier" pitchFamily="2" charset="0"/>
              </a:rPr>
              <a:t>&gt;&gt;&gt; </a:t>
            </a:r>
            <a:r>
              <a:rPr lang="en-US" sz="2000" b="1" dirty="0" err="1">
                <a:latin typeface="Courier" pitchFamily="2" charset="0"/>
              </a:rPr>
              <a:t>my_character</a:t>
            </a:r>
            <a:r>
              <a:rPr lang="en-US" sz="2000" b="1" dirty="0">
                <a:latin typeface="Courier" pitchFamily="2" charset="0"/>
              </a:rPr>
              <a:t>['occupation'] = 'water bard'</a:t>
            </a:r>
          </a:p>
          <a:p>
            <a:pPr marL="0" indent="0">
              <a:buNone/>
            </a:pPr>
            <a:r>
              <a:rPr lang="en-US" sz="2000" dirty="0">
                <a:latin typeface="Courier" pitchFamily="2" charset="0"/>
              </a:rPr>
              <a:t>&gt;&gt;&gt; </a:t>
            </a:r>
            <a:r>
              <a:rPr lang="en-US" dirty="0">
                <a:latin typeface="Courier" pitchFamily="2" charset="0"/>
              </a:rPr>
              <a:t>print(</a:t>
            </a:r>
            <a:r>
              <a:rPr lang="en-US" dirty="0" err="1">
                <a:latin typeface="Courier" pitchFamily="2" charset="0"/>
              </a:rPr>
              <a:t>my_character</a:t>
            </a:r>
            <a:r>
              <a:rPr lang="en-US" dirty="0">
                <a:latin typeface="Courier" pitchFamily="2" charset="0"/>
              </a:rPr>
              <a:t>)</a:t>
            </a:r>
            <a:endParaRPr lang="en-US" sz="2000" dirty="0">
              <a:latin typeface="Courier" pitchFamily="2" charset="0"/>
            </a:endParaRPr>
          </a:p>
          <a:p>
            <a:pPr marL="0" indent="0">
              <a:buNone/>
            </a:pPr>
            <a:r>
              <a:rPr lang="en-US" sz="2000" dirty="0">
                <a:latin typeface="Courier" pitchFamily="2" charset="0"/>
              </a:rPr>
              <a:t>{'name': '</a:t>
            </a:r>
            <a:r>
              <a:rPr lang="en-US" sz="2000" dirty="0" err="1">
                <a:latin typeface="Courier" pitchFamily="2" charset="0"/>
              </a:rPr>
              <a:t>Boaty</a:t>
            </a:r>
            <a:r>
              <a:rPr lang="en-US" sz="2000" dirty="0">
                <a:latin typeface="Courier" pitchFamily="2" charset="0"/>
              </a:rPr>
              <a:t> </a:t>
            </a:r>
            <a:r>
              <a:rPr lang="en-US" sz="2000" dirty="0" err="1">
                <a:latin typeface="Courier" pitchFamily="2" charset="0"/>
              </a:rPr>
              <a:t>McBoatface</a:t>
            </a:r>
            <a:r>
              <a:rPr lang="en-US" sz="2000" dirty="0">
                <a:latin typeface="Courier" pitchFamily="2" charset="0"/>
              </a:rPr>
              <a:t>', 'occupation': 'water bard'}</a:t>
            </a:r>
          </a:p>
        </p:txBody>
      </p:sp>
    </p:spTree>
    <p:extLst>
      <p:ext uri="{BB962C8B-B14F-4D97-AF65-F5344CB8AC3E}">
        <p14:creationId xmlns:p14="http://schemas.microsoft.com/office/powerpoint/2010/main" val="4225476078"/>
      </p:ext>
    </p:extLst>
  </p:cSld>
  <p:clrMapOvr>
    <a:masterClrMapping/>
  </p:clrMapOvr>
</p:sld>
</file>

<file path=ppt/slides/slide3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D9D945BA-B288-5F49-A9E7-93EADA2340DE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Dictionaries are mutable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DA0446A3-E3C9-C344-926E-C3BA98BD9BA3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451821" y="1845734"/>
            <a:ext cx="11521439" cy="4023360"/>
          </a:xfrm>
        </p:spPr>
        <p:txBody>
          <a:bodyPr>
            <a:normAutofit/>
          </a:bodyPr>
          <a:lstStyle/>
          <a:p>
            <a:r>
              <a:rPr lang="en-US" dirty="0"/>
              <a:t>We can delete key value pairs too</a:t>
            </a:r>
          </a:p>
          <a:p>
            <a:r>
              <a:rPr lang="en-US" dirty="0"/>
              <a:t>Use the del statement</a:t>
            </a:r>
          </a:p>
          <a:p>
            <a:endParaRPr lang="en-US" dirty="0"/>
          </a:p>
          <a:p>
            <a:pPr marL="0" indent="0">
              <a:buNone/>
            </a:pPr>
            <a:r>
              <a:rPr lang="en-US" sz="1800" dirty="0">
                <a:latin typeface="Courier" pitchFamily="2" charset="0"/>
              </a:rPr>
              <a:t>&gt;&gt;&gt; </a:t>
            </a:r>
            <a:r>
              <a:rPr lang="en-US" sz="1800" dirty="0" err="1">
                <a:latin typeface="Courier" pitchFamily="2" charset="0"/>
              </a:rPr>
              <a:t>my_dict</a:t>
            </a:r>
            <a:r>
              <a:rPr lang="en-US" sz="1800" dirty="0">
                <a:latin typeface="Courier" pitchFamily="2" charset="0"/>
              </a:rPr>
              <a:t> = { 1: 'first', 2: 'second', 3: 'third', 3.5: 'third and a </a:t>
            </a:r>
            <a:r>
              <a:rPr lang="en-US" sz="1800" dirty="0" err="1">
                <a:latin typeface="Courier" pitchFamily="2" charset="0"/>
              </a:rPr>
              <a:t>halfthth</a:t>
            </a:r>
            <a:r>
              <a:rPr lang="en-US" sz="1800" dirty="0">
                <a:latin typeface="Courier" pitchFamily="2" charset="0"/>
              </a:rPr>
              <a:t>'}</a:t>
            </a:r>
          </a:p>
          <a:p>
            <a:pPr marL="0" indent="0">
              <a:buNone/>
            </a:pPr>
            <a:r>
              <a:rPr lang="en-US" sz="1800" dirty="0">
                <a:latin typeface="Courier" pitchFamily="2" charset="0"/>
              </a:rPr>
              <a:t>&gt;&gt;&gt; print(</a:t>
            </a:r>
            <a:r>
              <a:rPr lang="en-US" sz="1800" dirty="0" err="1">
                <a:latin typeface="Courier" pitchFamily="2" charset="0"/>
              </a:rPr>
              <a:t>my_dict</a:t>
            </a:r>
            <a:r>
              <a:rPr lang="en-US" sz="1800" dirty="0">
                <a:latin typeface="Courier" pitchFamily="2" charset="0"/>
              </a:rPr>
              <a:t>)</a:t>
            </a:r>
          </a:p>
          <a:p>
            <a:pPr marL="0" indent="0">
              <a:buNone/>
            </a:pPr>
            <a:r>
              <a:rPr lang="en-US" sz="1800" dirty="0">
                <a:latin typeface="Courier" pitchFamily="2" charset="0"/>
              </a:rPr>
              <a:t>{1: 'first', 2: 'second', 3: 'third', 3.5: 'third and a </a:t>
            </a:r>
            <a:r>
              <a:rPr lang="en-US" sz="1800" dirty="0" err="1">
                <a:latin typeface="Courier" pitchFamily="2" charset="0"/>
              </a:rPr>
              <a:t>halfthth</a:t>
            </a:r>
            <a:r>
              <a:rPr lang="en-US" sz="1800" dirty="0">
                <a:latin typeface="Courier" pitchFamily="2" charset="0"/>
              </a:rPr>
              <a:t>'}</a:t>
            </a:r>
          </a:p>
          <a:p>
            <a:pPr marL="0" indent="0">
              <a:buNone/>
            </a:pPr>
            <a:r>
              <a:rPr lang="en-US" sz="1800" dirty="0">
                <a:latin typeface="Courier" pitchFamily="2" charset="0"/>
              </a:rPr>
              <a:t>&gt;&gt;&gt; </a:t>
            </a:r>
            <a:r>
              <a:rPr lang="en-US" sz="1800" b="1" dirty="0">
                <a:latin typeface="Courier" pitchFamily="2" charset="0"/>
              </a:rPr>
              <a:t>del </a:t>
            </a:r>
            <a:r>
              <a:rPr lang="en-US" sz="1800" b="1" dirty="0" err="1">
                <a:latin typeface="Courier" pitchFamily="2" charset="0"/>
              </a:rPr>
              <a:t>my_dict</a:t>
            </a:r>
            <a:r>
              <a:rPr lang="en-US" sz="1800" b="1" dirty="0">
                <a:latin typeface="Courier" pitchFamily="2" charset="0"/>
              </a:rPr>
              <a:t>[3.5]</a:t>
            </a:r>
          </a:p>
          <a:p>
            <a:pPr marL="0" indent="0">
              <a:buNone/>
            </a:pPr>
            <a:r>
              <a:rPr lang="en-US" sz="1800" dirty="0">
                <a:latin typeface="Courier" pitchFamily="2" charset="0"/>
              </a:rPr>
              <a:t>&gt;&gt;&gt; print(</a:t>
            </a:r>
            <a:r>
              <a:rPr lang="en-US" sz="1800" dirty="0" err="1">
                <a:latin typeface="Courier" pitchFamily="2" charset="0"/>
              </a:rPr>
              <a:t>my_dict</a:t>
            </a:r>
            <a:r>
              <a:rPr lang="en-US" sz="1800" dirty="0">
                <a:latin typeface="Courier" pitchFamily="2" charset="0"/>
              </a:rPr>
              <a:t>)</a:t>
            </a:r>
          </a:p>
          <a:p>
            <a:pPr marL="0" indent="0">
              <a:buNone/>
            </a:pPr>
            <a:r>
              <a:rPr lang="en-US" sz="1800" dirty="0">
                <a:latin typeface="Courier" pitchFamily="2" charset="0"/>
              </a:rPr>
              <a:t>{1: 'first', 2: 'second', 3: 'third'}</a:t>
            </a:r>
          </a:p>
        </p:txBody>
      </p:sp>
    </p:spTree>
    <p:extLst>
      <p:ext uri="{BB962C8B-B14F-4D97-AF65-F5344CB8AC3E}">
        <p14:creationId xmlns:p14="http://schemas.microsoft.com/office/powerpoint/2010/main" val="2509034337"/>
      </p:ext>
    </p:extLst>
  </p:cSld>
  <p:clrMapOvr>
    <a:masterClrMapping/>
  </p:clrMapOvr>
</p:sld>
</file>

<file path=ppt/slides/slide3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84EEC920-747F-5841-A8D2-46E0DC2E67B0}"/>
              </a:ext>
            </a:extLst>
          </p:cNvPr>
          <p:cNvSpPr>
            <a:spLocks noGrp="1"/>
          </p:cNvSpPr>
          <p:nvPr>
            <p:ph type="title"/>
          </p:nvPr>
        </p:nvSpPr>
        <p:spPr>
          <a:noFill/>
        </p:spPr>
        <p:txBody>
          <a:bodyPr/>
          <a:lstStyle/>
          <a:p>
            <a:r>
              <a:rPr lang="en-US" dirty="0"/>
              <a:t>We can use a dictionary in many ways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1C45051C-73E3-9C4D-BC16-3AEB853660B1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838201" y="1825625"/>
            <a:ext cx="4807226" cy="4351338"/>
          </a:xfrm>
          <a:noFill/>
        </p:spPr>
        <p:txBody>
          <a:bodyPr>
            <a:normAutofit/>
          </a:bodyPr>
          <a:lstStyle/>
          <a:p>
            <a:r>
              <a:rPr lang="en-US" dirty="0"/>
              <a:t>We can use it to store:</a:t>
            </a:r>
          </a:p>
          <a:p>
            <a:pPr lvl="1"/>
            <a:r>
              <a:rPr lang="en-US" sz="2800" dirty="0"/>
              <a:t>key value pairs that represent the attributes of some single object, like a character</a:t>
            </a:r>
          </a:p>
        </p:txBody>
      </p:sp>
      <p:sp>
        <p:nvSpPr>
          <p:cNvPr id="4" name="Content Placeholder 2">
            <a:extLst>
              <a:ext uri="{FF2B5EF4-FFF2-40B4-BE49-F238E27FC236}">
                <a16:creationId xmlns:a16="http://schemas.microsoft.com/office/drawing/2014/main" id="{6797825D-2135-C043-A945-CD9EB9F0FEAC}"/>
              </a:ext>
            </a:extLst>
          </p:cNvPr>
          <p:cNvSpPr txBox="1">
            <a:spLocks/>
          </p:cNvSpPr>
          <p:nvPr/>
        </p:nvSpPr>
        <p:spPr>
          <a:xfrm>
            <a:off x="5645427" y="2122497"/>
            <a:ext cx="6134197" cy="3155166"/>
          </a:xfrm>
          <a:prstGeom prst="rect">
            <a:avLst/>
          </a:prstGeom>
          <a:noFill/>
        </p:spPr>
        <p:txBody>
          <a:bodyPr vert="horz" lIns="91440" tIns="45720" rIns="91440" bIns="45720" rtlCol="0">
            <a:normAutofit/>
          </a:bodyPr>
          <a:lstStyle>
            <a:lvl1pPr marL="228600" indent="-228600" algn="l" defTabSz="914400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sz="2800" kern="1200">
                <a:solidFill>
                  <a:schemeClr val="tx1"/>
                </a:solidFill>
                <a:latin typeface="Rockwell" panose="02060603020205020403" pitchFamily="18" charset="77"/>
                <a:ea typeface="+mn-ea"/>
                <a:cs typeface="+mn-cs"/>
              </a:defRPr>
            </a:lvl1pPr>
            <a:lvl2pPr marL="685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400" kern="1200">
                <a:solidFill>
                  <a:schemeClr val="tx1"/>
                </a:solidFill>
                <a:latin typeface="Rockwell" panose="02060603020205020403" pitchFamily="18" charset="77"/>
                <a:ea typeface="+mn-ea"/>
                <a:cs typeface="+mn-cs"/>
              </a:defRPr>
            </a:lvl2pPr>
            <a:lvl3pPr marL="1143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Rockwell" panose="02060603020205020403" pitchFamily="18" charset="77"/>
                <a:ea typeface="+mn-ea"/>
                <a:cs typeface="+mn-cs"/>
              </a:defRPr>
            </a:lvl3pPr>
            <a:lvl4pPr marL="1600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Rockwell" panose="02060603020205020403" pitchFamily="18" charset="77"/>
                <a:ea typeface="+mn-ea"/>
                <a:cs typeface="+mn-cs"/>
              </a:defRPr>
            </a:lvl4pPr>
            <a:lvl5pPr marL="20574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Rockwell" panose="02060603020205020403" pitchFamily="18" charset="77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>
              <a:buNone/>
            </a:pPr>
            <a:r>
              <a:rPr lang="en-US" dirty="0">
                <a:latin typeface="Courier" pitchFamily="2" charset="0"/>
              </a:rPr>
              <a:t>character = {</a:t>
            </a:r>
          </a:p>
          <a:p>
            <a:pPr marL="0" indent="0">
              <a:buNone/>
            </a:pPr>
            <a:r>
              <a:rPr lang="en-US" dirty="0">
                <a:latin typeface="Courier" pitchFamily="2" charset="0"/>
              </a:rPr>
              <a:t>	‘age' : 40,</a:t>
            </a:r>
          </a:p>
          <a:p>
            <a:pPr marL="0" indent="0">
              <a:buNone/>
            </a:pPr>
            <a:r>
              <a:rPr lang="en-US" dirty="0">
                <a:latin typeface="Courier" pitchFamily="2" charset="0"/>
              </a:rPr>
              <a:t>	‘height' : 100,</a:t>
            </a:r>
          </a:p>
          <a:p>
            <a:pPr marL="0" indent="0">
              <a:buNone/>
            </a:pPr>
            <a:r>
              <a:rPr lang="en-US" dirty="0">
                <a:latin typeface="Courier" pitchFamily="2" charset="0"/>
              </a:rPr>
              <a:t>	‘</a:t>
            </a:r>
            <a:r>
              <a:rPr lang="en-US" dirty="0" err="1">
                <a:latin typeface="Courier" pitchFamily="2" charset="0"/>
              </a:rPr>
              <a:t>fav_food</a:t>
            </a:r>
            <a:r>
              <a:rPr lang="en-US" dirty="0">
                <a:latin typeface="Courier" pitchFamily="2" charset="0"/>
              </a:rPr>
              <a:t>' : ‘donut’,</a:t>
            </a:r>
          </a:p>
          <a:p>
            <a:pPr marL="0" indent="0">
              <a:buNone/>
            </a:pPr>
            <a:r>
              <a:rPr lang="en-US" dirty="0">
                <a:latin typeface="Courier" pitchFamily="2" charset="0"/>
              </a:rPr>
              <a:t>	‘name' : ‘homer’,</a:t>
            </a:r>
          </a:p>
          <a:p>
            <a:pPr marL="0" indent="0">
              <a:buNone/>
            </a:pPr>
            <a:r>
              <a:rPr lang="en-US" dirty="0">
                <a:latin typeface="Courier" pitchFamily="2" charset="0"/>
              </a:rPr>
              <a:t>}</a:t>
            </a:r>
          </a:p>
        </p:txBody>
      </p:sp>
    </p:spTree>
    <p:extLst>
      <p:ext uri="{BB962C8B-B14F-4D97-AF65-F5344CB8AC3E}">
        <p14:creationId xmlns:p14="http://schemas.microsoft.com/office/powerpoint/2010/main" val="3611819305"/>
      </p:ext>
    </p:extLst>
  </p:cSld>
  <p:clrMapOvr>
    <a:masterClrMapping/>
  </p:clrMapOvr>
</p:sld>
</file>

<file path=ppt/slides/slide4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84EEC920-747F-5841-A8D2-46E0DC2E67B0}"/>
              </a:ext>
            </a:extLst>
          </p:cNvPr>
          <p:cNvSpPr>
            <a:spLocks noGrp="1"/>
          </p:cNvSpPr>
          <p:nvPr>
            <p:ph type="title"/>
          </p:nvPr>
        </p:nvSpPr>
        <p:spPr>
          <a:noFill/>
        </p:spPr>
        <p:txBody>
          <a:bodyPr/>
          <a:lstStyle/>
          <a:p>
            <a:r>
              <a:rPr lang="en-US" dirty="0"/>
              <a:t>We can use a dictionary in many ways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1C45051C-73E3-9C4D-BC16-3AEB853660B1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838201" y="1825625"/>
            <a:ext cx="4807226" cy="4351338"/>
          </a:xfrm>
          <a:noFill/>
        </p:spPr>
        <p:txBody>
          <a:bodyPr>
            <a:normAutofit/>
          </a:bodyPr>
          <a:lstStyle/>
          <a:p>
            <a:r>
              <a:rPr lang="en-US" dirty="0"/>
              <a:t>We can use it to store:</a:t>
            </a:r>
          </a:p>
          <a:p>
            <a:pPr lvl="1"/>
            <a:r>
              <a:rPr lang="en-US" sz="2800" dirty="0"/>
              <a:t>key value pairs that represent the attributes of some single object, like a character</a:t>
            </a:r>
          </a:p>
          <a:p>
            <a:pPr lvl="1"/>
            <a:r>
              <a:rPr lang="en-US" sz="2800" dirty="0"/>
              <a:t>a single piece of information about many kinds of objects, like this.</a:t>
            </a:r>
          </a:p>
        </p:txBody>
      </p:sp>
      <p:sp>
        <p:nvSpPr>
          <p:cNvPr id="4" name="Content Placeholder 2">
            <a:extLst>
              <a:ext uri="{FF2B5EF4-FFF2-40B4-BE49-F238E27FC236}">
                <a16:creationId xmlns:a16="http://schemas.microsoft.com/office/drawing/2014/main" id="{6797825D-2135-C043-A945-CD9EB9F0FEAC}"/>
              </a:ext>
            </a:extLst>
          </p:cNvPr>
          <p:cNvSpPr txBox="1">
            <a:spLocks/>
          </p:cNvSpPr>
          <p:nvPr/>
        </p:nvSpPr>
        <p:spPr>
          <a:xfrm>
            <a:off x="6126480" y="1943959"/>
            <a:ext cx="5191539" cy="4351338"/>
          </a:xfrm>
          <a:prstGeom prst="rect">
            <a:avLst/>
          </a:prstGeom>
          <a:noFill/>
        </p:spPr>
        <p:txBody>
          <a:bodyPr vert="horz" lIns="91440" tIns="45720" rIns="91440" bIns="45720" rtlCol="0">
            <a:normAutofit/>
          </a:bodyPr>
          <a:lstStyle>
            <a:lvl1pPr marL="228600" indent="-228600" algn="l" defTabSz="914400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sz="2800" kern="1200">
                <a:solidFill>
                  <a:schemeClr val="tx1"/>
                </a:solidFill>
                <a:latin typeface="Rockwell" panose="02060603020205020403" pitchFamily="18" charset="77"/>
                <a:ea typeface="+mn-ea"/>
                <a:cs typeface="+mn-cs"/>
              </a:defRPr>
            </a:lvl1pPr>
            <a:lvl2pPr marL="685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400" kern="1200">
                <a:solidFill>
                  <a:schemeClr val="tx1"/>
                </a:solidFill>
                <a:latin typeface="Rockwell" panose="02060603020205020403" pitchFamily="18" charset="77"/>
                <a:ea typeface="+mn-ea"/>
                <a:cs typeface="+mn-cs"/>
              </a:defRPr>
            </a:lvl2pPr>
            <a:lvl3pPr marL="1143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Rockwell" panose="02060603020205020403" pitchFamily="18" charset="77"/>
                <a:ea typeface="+mn-ea"/>
                <a:cs typeface="+mn-cs"/>
              </a:defRPr>
            </a:lvl3pPr>
            <a:lvl4pPr marL="1600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Rockwell" panose="02060603020205020403" pitchFamily="18" charset="77"/>
                <a:ea typeface="+mn-ea"/>
                <a:cs typeface="+mn-cs"/>
              </a:defRPr>
            </a:lvl4pPr>
            <a:lvl5pPr marL="20574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Rockwell" panose="02060603020205020403" pitchFamily="18" charset="77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>
              <a:buNone/>
            </a:pPr>
            <a:r>
              <a:rPr lang="en-US" dirty="0" err="1">
                <a:latin typeface="Courier" pitchFamily="2" charset="0"/>
              </a:rPr>
              <a:t>exam_results</a:t>
            </a:r>
            <a:r>
              <a:rPr lang="en-US" dirty="0">
                <a:latin typeface="Courier" pitchFamily="2" charset="0"/>
              </a:rPr>
              <a:t> = {</a:t>
            </a:r>
          </a:p>
          <a:p>
            <a:pPr marL="0" indent="0">
              <a:buNone/>
            </a:pPr>
            <a:r>
              <a:rPr lang="en-US" dirty="0">
                <a:latin typeface="Courier" pitchFamily="2" charset="0"/>
              </a:rPr>
              <a:t>	'</a:t>
            </a:r>
            <a:r>
              <a:rPr lang="en-US" dirty="0" err="1">
                <a:latin typeface="Courier" pitchFamily="2" charset="0"/>
              </a:rPr>
              <a:t>abraham</a:t>
            </a:r>
            <a:r>
              <a:rPr lang="en-US" dirty="0">
                <a:latin typeface="Courier" pitchFamily="2" charset="0"/>
              </a:rPr>
              <a:t>' : 50.0,</a:t>
            </a:r>
          </a:p>
          <a:p>
            <a:pPr marL="0" indent="0">
              <a:buNone/>
            </a:pPr>
            <a:r>
              <a:rPr lang="en-US" dirty="0">
                <a:latin typeface="Courier" pitchFamily="2" charset="0"/>
              </a:rPr>
              <a:t>	'betty' : 60.0,</a:t>
            </a:r>
          </a:p>
          <a:p>
            <a:pPr marL="0" indent="0">
              <a:buNone/>
            </a:pPr>
            <a:r>
              <a:rPr lang="en-US" dirty="0">
                <a:latin typeface="Courier" pitchFamily="2" charset="0"/>
              </a:rPr>
              <a:t>	'chuck' : 70.0,</a:t>
            </a:r>
          </a:p>
          <a:p>
            <a:pPr marL="0" indent="0">
              <a:buNone/>
            </a:pPr>
            <a:r>
              <a:rPr lang="en-US" dirty="0">
                <a:latin typeface="Courier" pitchFamily="2" charset="0"/>
              </a:rPr>
              <a:t>	'</a:t>
            </a:r>
            <a:r>
              <a:rPr lang="en-US" dirty="0" err="1">
                <a:latin typeface="Courier" pitchFamily="2" charset="0"/>
              </a:rPr>
              <a:t>dolorys</a:t>
            </a:r>
            <a:r>
              <a:rPr lang="en-US" dirty="0">
                <a:latin typeface="Courier" pitchFamily="2" charset="0"/>
              </a:rPr>
              <a:t>' : 80.0,</a:t>
            </a:r>
          </a:p>
          <a:p>
            <a:pPr marL="0" indent="0">
              <a:buNone/>
            </a:pPr>
            <a:r>
              <a:rPr lang="en-US" dirty="0">
                <a:latin typeface="Courier" pitchFamily="2" charset="0"/>
              </a:rPr>
              <a:t>	'</a:t>
            </a:r>
            <a:r>
              <a:rPr lang="en-US" dirty="0" err="1">
                <a:latin typeface="Courier" pitchFamily="2" charset="0"/>
              </a:rPr>
              <a:t>edgar</a:t>
            </a:r>
            <a:r>
              <a:rPr lang="en-US" dirty="0">
                <a:latin typeface="Courier" pitchFamily="2" charset="0"/>
              </a:rPr>
              <a:t>' : 90.0,</a:t>
            </a:r>
          </a:p>
          <a:p>
            <a:pPr marL="0" indent="0">
              <a:buNone/>
            </a:pPr>
            <a:r>
              <a:rPr lang="en-US" dirty="0">
                <a:latin typeface="Courier" pitchFamily="2" charset="0"/>
              </a:rPr>
              <a:t>	'</a:t>
            </a:r>
            <a:r>
              <a:rPr lang="en-US" dirty="0" err="1">
                <a:latin typeface="Courier" pitchFamily="2" charset="0"/>
              </a:rPr>
              <a:t>ferne</a:t>
            </a:r>
            <a:r>
              <a:rPr lang="en-US" dirty="0">
                <a:latin typeface="Courier" pitchFamily="2" charset="0"/>
              </a:rPr>
              <a:t> </a:t>
            </a:r>
            <a:r>
              <a:rPr lang="en-US" dirty="0" err="1">
                <a:latin typeface="Courier" pitchFamily="2" charset="0"/>
              </a:rPr>
              <a:t>mae</a:t>
            </a:r>
            <a:r>
              <a:rPr lang="en-US" dirty="0">
                <a:latin typeface="Courier" pitchFamily="2" charset="0"/>
              </a:rPr>
              <a:t>' : 99.9</a:t>
            </a:r>
          </a:p>
          <a:p>
            <a:pPr marL="0" indent="0">
              <a:buNone/>
            </a:pPr>
            <a:r>
              <a:rPr lang="en-US" dirty="0">
                <a:latin typeface="Courier" pitchFamily="2" charset="0"/>
              </a:rPr>
              <a:t>}</a:t>
            </a:r>
          </a:p>
        </p:txBody>
      </p:sp>
    </p:spTree>
    <p:extLst>
      <p:ext uri="{BB962C8B-B14F-4D97-AF65-F5344CB8AC3E}">
        <p14:creationId xmlns:p14="http://schemas.microsoft.com/office/powerpoint/2010/main" val="1753187776"/>
      </p:ext>
    </p:extLst>
  </p:cSld>
  <p:clrMapOvr>
    <a:masterClrMapping/>
  </p:clrMapOvr>
</p:sld>
</file>

<file path=ppt/slides/slide4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F47F358C-A6B5-45DF-BF9C-769DF32EB21B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Views</a:t>
            </a:r>
            <a:endParaRPr lang="en-CA" dirty="0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8C41866B-9F48-47B6-B00A-FB2848D84E33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CA"/>
          </a:p>
        </p:txBody>
      </p:sp>
    </p:spTree>
    <p:extLst>
      <p:ext uri="{BB962C8B-B14F-4D97-AF65-F5344CB8AC3E}">
        <p14:creationId xmlns:p14="http://schemas.microsoft.com/office/powerpoint/2010/main" val="3117777098"/>
      </p:ext>
    </p:extLst>
  </p:cSld>
  <p:clrMapOvr>
    <a:masterClrMapping/>
  </p:clrMapOvr>
</p:sld>
</file>

<file path=ppt/slides/slide4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FF675C0F-D68B-3D4C-A8F4-C77360400A9D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When a list is not a list but in fact a view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D84738EA-D200-7F47-B5B7-2FB778086D95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838200" y="1825625"/>
            <a:ext cx="10792522" cy="4351338"/>
          </a:xfrm>
        </p:spPr>
        <p:txBody>
          <a:bodyPr>
            <a:normAutofit/>
          </a:bodyPr>
          <a:lstStyle/>
          <a:p>
            <a:pPr marL="0" indent="0">
              <a:buNone/>
            </a:pPr>
            <a:r>
              <a:rPr lang="en-US" dirty="0"/>
              <a:t>Remember dictionaries?</a:t>
            </a:r>
          </a:p>
          <a:p>
            <a:pPr marL="457200" lvl="1" indent="0">
              <a:buNone/>
            </a:pPr>
            <a:r>
              <a:rPr lang="en-US" dirty="0">
                <a:latin typeface="Courier" pitchFamily="2" charset="0"/>
              </a:rPr>
              <a:t>meals = {‘</a:t>
            </a:r>
            <a:r>
              <a:rPr lang="en-US" dirty="0" err="1">
                <a:latin typeface="Courier" pitchFamily="2" charset="0"/>
              </a:rPr>
              <a:t>bfast</a:t>
            </a:r>
            <a:r>
              <a:rPr lang="en-US" dirty="0">
                <a:latin typeface="Courier" pitchFamily="2" charset="0"/>
              </a:rPr>
              <a:t>’:’egg’, ‘lunch’:’</a:t>
            </a:r>
            <a:r>
              <a:rPr lang="en-US" dirty="0" err="1">
                <a:latin typeface="Courier" pitchFamily="2" charset="0"/>
              </a:rPr>
              <a:t>poké</a:t>
            </a:r>
            <a:r>
              <a:rPr lang="en-US" dirty="0">
                <a:latin typeface="Courier" pitchFamily="2" charset="0"/>
              </a:rPr>
              <a:t>’, ‘</a:t>
            </a:r>
            <a:r>
              <a:rPr lang="en-US" dirty="0" err="1">
                <a:latin typeface="Courier" pitchFamily="2" charset="0"/>
              </a:rPr>
              <a:t>dinner’:’spinach</a:t>
            </a:r>
            <a:r>
              <a:rPr lang="en-US" dirty="0">
                <a:latin typeface="Courier" pitchFamily="2" charset="0"/>
              </a:rPr>
              <a:t>’}</a:t>
            </a:r>
          </a:p>
          <a:p>
            <a:pPr marL="457200" lvl="1" indent="0">
              <a:buNone/>
            </a:pPr>
            <a:r>
              <a:rPr lang="en-US" dirty="0">
                <a:latin typeface="Courier" pitchFamily="2" charset="0"/>
              </a:rPr>
              <a:t>keys = </a:t>
            </a:r>
            <a:r>
              <a:rPr lang="en-US" dirty="0" err="1">
                <a:latin typeface="Courier" pitchFamily="2" charset="0"/>
              </a:rPr>
              <a:t>meals.keys</a:t>
            </a:r>
            <a:r>
              <a:rPr lang="en-US" dirty="0">
                <a:latin typeface="Courier" pitchFamily="2" charset="0"/>
              </a:rPr>
              <a:t>()</a:t>
            </a:r>
          </a:p>
          <a:p>
            <a:pPr marL="457200" lvl="1" indent="0">
              <a:buNone/>
            </a:pPr>
            <a:r>
              <a:rPr lang="en-US" dirty="0">
                <a:latin typeface="Courier" pitchFamily="2" charset="0"/>
              </a:rPr>
              <a:t>values = </a:t>
            </a:r>
            <a:r>
              <a:rPr lang="en-US" dirty="0" err="1">
                <a:latin typeface="Courier" pitchFamily="2" charset="0"/>
              </a:rPr>
              <a:t>meals.values</a:t>
            </a:r>
            <a:r>
              <a:rPr lang="en-US" dirty="0">
                <a:latin typeface="Courier" pitchFamily="2" charset="0"/>
              </a:rPr>
              <a:t>()</a:t>
            </a:r>
          </a:p>
          <a:p>
            <a:pPr marL="457200" lvl="1" indent="0">
              <a:buNone/>
            </a:pPr>
            <a:r>
              <a:rPr lang="en-US" dirty="0">
                <a:latin typeface="Courier" pitchFamily="2" charset="0"/>
              </a:rPr>
              <a:t>entries = </a:t>
            </a:r>
            <a:r>
              <a:rPr lang="en-US" dirty="0" err="1">
                <a:latin typeface="Courier" pitchFamily="2" charset="0"/>
              </a:rPr>
              <a:t>meals.items</a:t>
            </a:r>
            <a:r>
              <a:rPr lang="en-US" dirty="0">
                <a:latin typeface="Courier" pitchFamily="2" charset="0"/>
              </a:rPr>
              <a:t>()</a:t>
            </a:r>
            <a:endParaRPr lang="en-US" dirty="0"/>
          </a:p>
          <a:p>
            <a:pPr marL="0" indent="0">
              <a:buNone/>
            </a:pPr>
            <a:r>
              <a:rPr lang="en-US" dirty="0"/>
              <a:t>These methods return </a:t>
            </a:r>
            <a:r>
              <a:rPr lang="en-US" sz="3500" b="1" dirty="0"/>
              <a:t>views</a:t>
            </a:r>
            <a:r>
              <a:rPr lang="en-US" dirty="0"/>
              <a:t>, not lists!</a:t>
            </a:r>
          </a:p>
          <a:p>
            <a:pPr marL="457200" lvl="1" indent="0">
              <a:buNone/>
            </a:pPr>
            <a:r>
              <a:rPr lang="en-US" dirty="0">
                <a:latin typeface="Courier" pitchFamily="2" charset="0"/>
              </a:rPr>
              <a:t>&gt;&gt;&gt; print(type(keys))</a:t>
            </a:r>
          </a:p>
          <a:p>
            <a:pPr marL="457200" lvl="1" indent="0">
              <a:buNone/>
            </a:pPr>
            <a:r>
              <a:rPr lang="en-US" dirty="0">
                <a:latin typeface="Courier" pitchFamily="2" charset="0"/>
              </a:rPr>
              <a:t>&lt;class '</a:t>
            </a:r>
            <a:r>
              <a:rPr lang="en-US" dirty="0" err="1">
                <a:latin typeface="Courier" pitchFamily="2" charset="0"/>
              </a:rPr>
              <a:t>dict_keys</a:t>
            </a:r>
            <a:r>
              <a:rPr lang="en-US" dirty="0">
                <a:latin typeface="Courier" pitchFamily="2" charset="0"/>
              </a:rPr>
              <a:t>'&gt;</a:t>
            </a:r>
          </a:p>
          <a:p>
            <a:pPr marL="457200" lvl="1" indent="0">
              <a:buNone/>
            </a:pPr>
            <a:r>
              <a:rPr lang="en-US" dirty="0">
                <a:latin typeface="Courier" pitchFamily="2" charset="0"/>
              </a:rPr>
              <a:t>&gt;&gt;&gt; print(type(values))</a:t>
            </a:r>
          </a:p>
          <a:p>
            <a:pPr marL="457200" lvl="1" indent="0">
              <a:buNone/>
            </a:pPr>
            <a:r>
              <a:rPr lang="en-US" dirty="0">
                <a:latin typeface="Courier" pitchFamily="2" charset="0"/>
              </a:rPr>
              <a:t>&lt;class '</a:t>
            </a:r>
            <a:r>
              <a:rPr lang="en-US" dirty="0" err="1">
                <a:latin typeface="Courier" pitchFamily="2" charset="0"/>
              </a:rPr>
              <a:t>dict_values</a:t>
            </a:r>
            <a:r>
              <a:rPr lang="en-US" dirty="0">
                <a:latin typeface="Courier" pitchFamily="2" charset="0"/>
              </a:rPr>
              <a:t>'&gt;</a:t>
            </a:r>
          </a:p>
          <a:p>
            <a:pPr marL="457200" lvl="1" indent="0">
              <a:buNone/>
            </a:pPr>
            <a:r>
              <a:rPr lang="en-US" dirty="0">
                <a:latin typeface="Courier" pitchFamily="2" charset="0"/>
              </a:rPr>
              <a:t>&gt;&gt;&gt; print(type(entries))</a:t>
            </a:r>
          </a:p>
          <a:p>
            <a:pPr marL="457200" lvl="1" indent="0">
              <a:buNone/>
            </a:pPr>
            <a:r>
              <a:rPr lang="en-US" dirty="0">
                <a:latin typeface="Courier" pitchFamily="2" charset="0"/>
              </a:rPr>
              <a:t>&lt;class '</a:t>
            </a:r>
            <a:r>
              <a:rPr lang="en-US" dirty="0" err="1">
                <a:latin typeface="Courier" pitchFamily="2" charset="0"/>
              </a:rPr>
              <a:t>dict_items</a:t>
            </a:r>
            <a:r>
              <a:rPr lang="en-US" dirty="0">
                <a:latin typeface="Courier" pitchFamily="2" charset="0"/>
              </a:rPr>
              <a:t>'&gt;</a:t>
            </a:r>
          </a:p>
        </p:txBody>
      </p:sp>
    </p:spTree>
    <p:extLst>
      <p:ext uri="{BB962C8B-B14F-4D97-AF65-F5344CB8AC3E}">
        <p14:creationId xmlns:p14="http://schemas.microsoft.com/office/powerpoint/2010/main" val="2392176608"/>
      </p:ext>
    </p:extLst>
  </p:cSld>
  <p:clrMapOvr>
    <a:masterClrMapping/>
  </p:clrMapOvr>
</p:sld>
</file>

<file path=ppt/slides/slide4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052F6558-CCF4-2148-8F1D-4C5332802188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What is a view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5053AB72-B933-C544-AFE1-10DAB76227FE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dirty="0"/>
              <a:t>A </a:t>
            </a:r>
            <a:r>
              <a:rPr lang="en-US" sz="3600" dirty="0"/>
              <a:t>virtual sequence </a:t>
            </a:r>
            <a:r>
              <a:rPr lang="en-US" dirty="0"/>
              <a:t>(like the range object we use)</a:t>
            </a:r>
          </a:p>
          <a:p>
            <a:r>
              <a:rPr lang="en-US" b="1" dirty="0"/>
              <a:t>Used for looping</a:t>
            </a:r>
          </a:p>
          <a:p>
            <a:r>
              <a:rPr lang="en-US" dirty="0"/>
              <a:t>Provides a dynamic ‘view’ of the entries</a:t>
            </a:r>
          </a:p>
          <a:p>
            <a:pPr lvl="1"/>
            <a:r>
              <a:rPr lang="en-US" dirty="0"/>
              <a:t>Dynamic: when the dictionary changes, so does the view</a:t>
            </a:r>
          </a:p>
          <a:p>
            <a:r>
              <a:rPr lang="en-US" dirty="0"/>
              <a:t>Views support three functions:</a:t>
            </a:r>
          </a:p>
          <a:p>
            <a:pPr marL="914400" lvl="1" indent="-457200">
              <a:buFont typeface="+mj-lt"/>
              <a:buAutoNum type="arabicPeriod"/>
            </a:pPr>
            <a:r>
              <a:rPr lang="en-US" b="1" dirty="0" err="1"/>
              <a:t>len</a:t>
            </a:r>
            <a:r>
              <a:rPr lang="en-US" dirty="0"/>
              <a:t>(</a:t>
            </a:r>
            <a:r>
              <a:rPr lang="en-US" dirty="0" err="1"/>
              <a:t>dictview</a:t>
            </a:r>
            <a:r>
              <a:rPr lang="en-US" dirty="0"/>
              <a:t>) returns the number of entries in the dictionary</a:t>
            </a:r>
          </a:p>
          <a:p>
            <a:pPr marL="914400" lvl="1" indent="-457200">
              <a:buFont typeface="+mj-lt"/>
              <a:buAutoNum type="arabicPeriod"/>
            </a:pPr>
            <a:r>
              <a:rPr lang="en-US" dirty="0"/>
              <a:t>x </a:t>
            </a:r>
            <a:r>
              <a:rPr lang="en-US" b="1" dirty="0"/>
              <a:t>in</a:t>
            </a:r>
            <a:r>
              <a:rPr lang="en-US" dirty="0"/>
              <a:t> </a:t>
            </a:r>
            <a:r>
              <a:rPr lang="en-US" dirty="0" err="1"/>
              <a:t>dictview</a:t>
            </a:r>
            <a:r>
              <a:rPr lang="en-US" dirty="0"/>
              <a:t> returns True if x is in the underlying dictionary’s keys(), values(), or items()</a:t>
            </a:r>
          </a:p>
          <a:p>
            <a:pPr marL="914400" lvl="1" indent="-457200">
              <a:buFont typeface="+mj-lt"/>
              <a:buAutoNum type="arabicPeriod"/>
            </a:pPr>
            <a:r>
              <a:rPr lang="en-US" b="1" dirty="0" err="1"/>
              <a:t>iter</a:t>
            </a:r>
            <a:r>
              <a:rPr lang="en-US" dirty="0"/>
              <a:t>(</a:t>
            </a:r>
            <a:r>
              <a:rPr lang="en-US" dirty="0" err="1"/>
              <a:t>dictview</a:t>
            </a:r>
            <a:r>
              <a:rPr lang="en-US" dirty="0"/>
              <a:t>) returns an iterator over the view</a:t>
            </a:r>
          </a:p>
        </p:txBody>
      </p:sp>
      <p:sp>
        <p:nvSpPr>
          <p:cNvPr id="4" name="TextBox 3">
            <a:extLst>
              <a:ext uri="{FF2B5EF4-FFF2-40B4-BE49-F238E27FC236}">
                <a16:creationId xmlns:a16="http://schemas.microsoft.com/office/drawing/2014/main" id="{D3943ADD-CE0C-2F48-8C0B-4FE8F4F41258}"/>
              </a:ext>
            </a:extLst>
          </p:cNvPr>
          <p:cNvSpPr txBox="1"/>
          <p:nvPr/>
        </p:nvSpPr>
        <p:spPr>
          <a:xfrm>
            <a:off x="4810011" y="5792802"/>
            <a:ext cx="4747262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dirty="0">
                <a:latin typeface="Futura Condensed Medium" panose="020B0602020204020303" pitchFamily="34" charset="-79"/>
                <a:cs typeface="Futura Condensed Medium" panose="020B0602020204020303" pitchFamily="34" charset="-79"/>
              </a:rPr>
              <a:t>* https://</a:t>
            </a:r>
            <a:r>
              <a:rPr lang="en-US" dirty="0" err="1">
                <a:latin typeface="Futura Condensed Medium" panose="020B0602020204020303" pitchFamily="34" charset="-79"/>
                <a:cs typeface="Futura Condensed Medium" panose="020B0602020204020303" pitchFamily="34" charset="-79"/>
              </a:rPr>
              <a:t>docs.python.org</a:t>
            </a:r>
            <a:r>
              <a:rPr lang="en-US" dirty="0">
                <a:latin typeface="Futura Condensed Medium" panose="020B0602020204020303" pitchFamily="34" charset="-79"/>
                <a:cs typeface="Futura Condensed Medium" panose="020B0602020204020303" pitchFamily="34" charset="-79"/>
              </a:rPr>
              <a:t>/3/library/</a:t>
            </a:r>
            <a:r>
              <a:rPr lang="en-US" dirty="0" err="1">
                <a:latin typeface="Futura Condensed Medium" panose="020B0602020204020303" pitchFamily="34" charset="-79"/>
                <a:cs typeface="Futura Condensed Medium" panose="020B0602020204020303" pitchFamily="34" charset="-79"/>
              </a:rPr>
              <a:t>stdtypes.html#dict-views</a:t>
            </a:r>
            <a:endParaRPr lang="en-US" dirty="0">
              <a:latin typeface="Futura Condensed Medium" panose="020B0602020204020303" pitchFamily="34" charset="-79"/>
              <a:cs typeface="Futura Condensed Medium" panose="020B0602020204020303" pitchFamily="34" charset="-79"/>
            </a:endParaRPr>
          </a:p>
        </p:txBody>
      </p:sp>
    </p:spTree>
    <p:extLst>
      <p:ext uri="{BB962C8B-B14F-4D97-AF65-F5344CB8AC3E}">
        <p14:creationId xmlns:p14="http://schemas.microsoft.com/office/powerpoint/2010/main" val="1006749021"/>
      </p:ext>
    </p:extLst>
  </p:cSld>
  <p:clrMapOvr>
    <a:masterClrMapping/>
  </p:clrMapOvr>
</p:sld>
</file>

<file path=ppt/slides/slide4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052F6558-CCF4-2148-8F1D-4C5332802188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View example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5053AB72-B933-C544-AFE1-10DAB76227FE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>
            <a:normAutofit/>
          </a:bodyPr>
          <a:lstStyle/>
          <a:p>
            <a:pPr marL="0" lvl="0" indent="0" eaLnBrk="0" fontAlgn="base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None/>
            </a:pPr>
            <a:r>
              <a:rPr lang="en-US" altLang="en-US" sz="2500" dirty="0" err="1">
                <a:solidFill>
                  <a:srgbClr val="000000"/>
                </a:solidFill>
                <a:latin typeface="Consolas" panose="020B0609020204030204" pitchFamily="49" charset="0"/>
              </a:rPr>
              <a:t>new_dictionary</a:t>
            </a:r>
            <a:r>
              <a:rPr lang="en-US" altLang="en-US" sz="2500" dirty="0">
                <a:solidFill>
                  <a:srgbClr val="000000"/>
                </a:solidFill>
                <a:latin typeface="Consolas" panose="020B0609020204030204" pitchFamily="49" charset="0"/>
              </a:rPr>
              <a:t> = {</a:t>
            </a:r>
            <a:r>
              <a:rPr lang="en-US" altLang="en-US" sz="2500" dirty="0">
                <a:solidFill>
                  <a:srgbClr val="0000FF"/>
                </a:solidFill>
                <a:latin typeface="Consolas" panose="020B0609020204030204" pitchFamily="49" charset="0"/>
              </a:rPr>
              <a:t>1 </a:t>
            </a:r>
            <a:r>
              <a:rPr lang="en-US" altLang="en-US" sz="2500" dirty="0">
                <a:solidFill>
                  <a:srgbClr val="000000"/>
                </a:solidFill>
                <a:latin typeface="Consolas" panose="020B0609020204030204" pitchFamily="49" charset="0"/>
              </a:rPr>
              <a:t>: </a:t>
            </a:r>
            <a:r>
              <a:rPr lang="en-US" altLang="en-US" sz="2500" b="1" dirty="0">
                <a:solidFill>
                  <a:srgbClr val="008080"/>
                </a:solidFill>
                <a:latin typeface="Consolas" panose="020B0609020204030204" pitchFamily="49" charset="0"/>
              </a:rPr>
              <a:t>'</a:t>
            </a:r>
            <a:r>
              <a:rPr lang="en-US" altLang="en-US" sz="2500" b="1" dirty="0" err="1">
                <a:solidFill>
                  <a:srgbClr val="008080"/>
                </a:solidFill>
                <a:latin typeface="Consolas" panose="020B0609020204030204" pitchFamily="49" charset="0"/>
              </a:rPr>
              <a:t>jeff</a:t>
            </a:r>
            <a:r>
              <a:rPr lang="en-US" altLang="en-US" sz="2500" b="1" dirty="0">
                <a:solidFill>
                  <a:srgbClr val="008080"/>
                </a:solidFill>
                <a:latin typeface="Consolas" panose="020B0609020204030204" pitchFamily="49" charset="0"/>
              </a:rPr>
              <a:t>'</a:t>
            </a:r>
            <a:r>
              <a:rPr lang="en-US" altLang="en-US" sz="2500" dirty="0">
                <a:solidFill>
                  <a:srgbClr val="000000"/>
                </a:solidFill>
                <a:latin typeface="Consolas" panose="020B0609020204030204" pitchFamily="49" charset="0"/>
              </a:rPr>
              <a:t>, </a:t>
            </a:r>
            <a:r>
              <a:rPr lang="en-US" altLang="en-US" sz="2500" dirty="0">
                <a:solidFill>
                  <a:srgbClr val="0000FF"/>
                </a:solidFill>
                <a:latin typeface="Consolas" panose="020B0609020204030204" pitchFamily="49" charset="0"/>
              </a:rPr>
              <a:t>2 </a:t>
            </a:r>
            <a:r>
              <a:rPr lang="en-US" altLang="en-US" sz="2500" dirty="0">
                <a:solidFill>
                  <a:srgbClr val="000000"/>
                </a:solidFill>
                <a:latin typeface="Consolas" panose="020B0609020204030204" pitchFamily="49" charset="0"/>
              </a:rPr>
              <a:t>: </a:t>
            </a:r>
            <a:r>
              <a:rPr lang="en-US" altLang="en-US" sz="2500" b="1" dirty="0">
                <a:solidFill>
                  <a:srgbClr val="008080"/>
                </a:solidFill>
                <a:latin typeface="Consolas" panose="020B0609020204030204" pitchFamily="49" charset="0"/>
              </a:rPr>
              <a:t>'</a:t>
            </a:r>
            <a:r>
              <a:rPr lang="en-US" altLang="en-US" sz="2500" b="1" dirty="0" err="1">
                <a:solidFill>
                  <a:srgbClr val="008080"/>
                </a:solidFill>
                <a:latin typeface="Consolas" panose="020B0609020204030204" pitchFamily="49" charset="0"/>
              </a:rPr>
              <a:t>eric</a:t>
            </a:r>
            <a:r>
              <a:rPr lang="en-US" altLang="en-US" sz="2500" b="1" dirty="0">
                <a:solidFill>
                  <a:srgbClr val="008080"/>
                </a:solidFill>
                <a:latin typeface="Consolas" panose="020B0609020204030204" pitchFamily="49" charset="0"/>
              </a:rPr>
              <a:t>'</a:t>
            </a:r>
            <a:r>
              <a:rPr lang="en-US" altLang="en-US" sz="2500" dirty="0">
                <a:solidFill>
                  <a:srgbClr val="000000"/>
                </a:solidFill>
                <a:latin typeface="Consolas" panose="020B0609020204030204" pitchFamily="49" charset="0"/>
              </a:rPr>
              <a:t>}</a:t>
            </a:r>
            <a:br>
              <a:rPr lang="en-US" altLang="en-US" sz="2500" dirty="0">
                <a:solidFill>
                  <a:srgbClr val="000000"/>
                </a:solidFill>
                <a:latin typeface="Consolas" panose="020B0609020204030204" pitchFamily="49" charset="0"/>
              </a:rPr>
            </a:br>
            <a:r>
              <a:rPr lang="en-US" altLang="en-US" sz="2500" dirty="0">
                <a:solidFill>
                  <a:srgbClr val="000000"/>
                </a:solidFill>
                <a:latin typeface="Consolas" panose="020B0609020204030204" pitchFamily="49" charset="0"/>
              </a:rPr>
              <a:t>entries = </a:t>
            </a:r>
            <a:r>
              <a:rPr lang="en-US" altLang="en-US" sz="2500" dirty="0" err="1">
                <a:solidFill>
                  <a:srgbClr val="000000"/>
                </a:solidFill>
                <a:latin typeface="Consolas" panose="020B0609020204030204" pitchFamily="49" charset="0"/>
              </a:rPr>
              <a:t>new_dictionary.items</a:t>
            </a:r>
            <a:r>
              <a:rPr lang="en-US" altLang="en-US" sz="2500" dirty="0">
                <a:solidFill>
                  <a:srgbClr val="000000"/>
                </a:solidFill>
                <a:latin typeface="Consolas" panose="020B0609020204030204" pitchFamily="49" charset="0"/>
              </a:rPr>
              <a:t>()</a:t>
            </a:r>
            <a:br>
              <a:rPr lang="en-US" altLang="en-US" sz="2500" dirty="0">
                <a:solidFill>
                  <a:srgbClr val="000000"/>
                </a:solidFill>
                <a:latin typeface="Consolas" panose="020B0609020204030204" pitchFamily="49" charset="0"/>
              </a:rPr>
            </a:br>
            <a:r>
              <a:rPr lang="en-US" altLang="en-US" sz="2500" dirty="0">
                <a:solidFill>
                  <a:srgbClr val="000080"/>
                </a:solidFill>
                <a:latin typeface="Consolas" panose="020B0609020204030204" pitchFamily="49" charset="0"/>
              </a:rPr>
              <a:t>print</a:t>
            </a:r>
            <a:r>
              <a:rPr lang="en-US" altLang="en-US" sz="2500" dirty="0">
                <a:solidFill>
                  <a:srgbClr val="000000"/>
                </a:solidFill>
                <a:latin typeface="Consolas" panose="020B0609020204030204" pitchFamily="49" charset="0"/>
              </a:rPr>
              <a:t>(</a:t>
            </a:r>
            <a:r>
              <a:rPr lang="en-US" altLang="en-US" sz="2500" dirty="0" err="1">
                <a:solidFill>
                  <a:srgbClr val="000000"/>
                </a:solidFill>
                <a:latin typeface="Consolas" panose="020B0609020204030204" pitchFamily="49" charset="0"/>
              </a:rPr>
              <a:t>new_dictionary</a:t>
            </a:r>
            <a:r>
              <a:rPr lang="en-US" altLang="en-US" sz="2500" dirty="0">
                <a:solidFill>
                  <a:srgbClr val="000000"/>
                </a:solidFill>
                <a:latin typeface="Consolas" panose="020B0609020204030204" pitchFamily="49" charset="0"/>
              </a:rPr>
              <a:t>)</a:t>
            </a:r>
            <a:br>
              <a:rPr lang="en-US" altLang="en-US" sz="2500" dirty="0">
                <a:solidFill>
                  <a:srgbClr val="000000"/>
                </a:solidFill>
                <a:latin typeface="Consolas" panose="020B0609020204030204" pitchFamily="49" charset="0"/>
              </a:rPr>
            </a:br>
            <a:r>
              <a:rPr lang="en-US" altLang="en-US" sz="2500" dirty="0">
                <a:solidFill>
                  <a:srgbClr val="000080"/>
                </a:solidFill>
                <a:latin typeface="Consolas" panose="020B0609020204030204" pitchFamily="49" charset="0"/>
              </a:rPr>
              <a:t>print</a:t>
            </a:r>
            <a:r>
              <a:rPr lang="en-US" altLang="en-US" sz="2500" dirty="0">
                <a:solidFill>
                  <a:srgbClr val="000000"/>
                </a:solidFill>
                <a:latin typeface="Consolas" panose="020B0609020204030204" pitchFamily="49" charset="0"/>
              </a:rPr>
              <a:t>(entries)</a:t>
            </a:r>
            <a:br>
              <a:rPr lang="en-US" altLang="en-US" sz="2500" dirty="0">
                <a:solidFill>
                  <a:srgbClr val="000000"/>
                </a:solidFill>
                <a:latin typeface="Consolas" panose="020B0609020204030204" pitchFamily="49" charset="0"/>
              </a:rPr>
            </a:br>
            <a:br>
              <a:rPr lang="en-US" altLang="en-US" sz="2500" dirty="0">
                <a:solidFill>
                  <a:srgbClr val="000000"/>
                </a:solidFill>
                <a:latin typeface="Consolas" panose="020B0609020204030204" pitchFamily="49" charset="0"/>
              </a:rPr>
            </a:br>
            <a:r>
              <a:rPr lang="en-US" altLang="en-US" sz="2500" b="1" dirty="0">
                <a:solidFill>
                  <a:srgbClr val="000080"/>
                </a:solidFill>
                <a:latin typeface="Consolas" panose="020B0609020204030204" pitchFamily="49" charset="0"/>
              </a:rPr>
              <a:t>del </a:t>
            </a:r>
            <a:r>
              <a:rPr lang="en-US" altLang="en-US" sz="2500" dirty="0" err="1">
                <a:solidFill>
                  <a:srgbClr val="000000"/>
                </a:solidFill>
                <a:latin typeface="Consolas" panose="020B0609020204030204" pitchFamily="49" charset="0"/>
              </a:rPr>
              <a:t>new_dictionary</a:t>
            </a:r>
            <a:r>
              <a:rPr lang="en-US" altLang="en-US" sz="2500" dirty="0">
                <a:solidFill>
                  <a:srgbClr val="000000"/>
                </a:solidFill>
                <a:latin typeface="Consolas" panose="020B0609020204030204" pitchFamily="49" charset="0"/>
              </a:rPr>
              <a:t>[</a:t>
            </a:r>
            <a:r>
              <a:rPr lang="en-US" altLang="en-US" sz="2500" dirty="0">
                <a:solidFill>
                  <a:srgbClr val="0000FF"/>
                </a:solidFill>
                <a:latin typeface="Consolas" panose="020B0609020204030204" pitchFamily="49" charset="0"/>
              </a:rPr>
              <a:t>1</a:t>
            </a:r>
            <a:r>
              <a:rPr lang="en-US" altLang="en-US" sz="2500" dirty="0">
                <a:solidFill>
                  <a:srgbClr val="000000"/>
                </a:solidFill>
                <a:latin typeface="Consolas" panose="020B0609020204030204" pitchFamily="49" charset="0"/>
              </a:rPr>
              <a:t>]</a:t>
            </a:r>
            <a:br>
              <a:rPr lang="en-US" altLang="en-US" sz="2500" dirty="0">
                <a:solidFill>
                  <a:srgbClr val="000000"/>
                </a:solidFill>
                <a:latin typeface="Consolas" panose="020B0609020204030204" pitchFamily="49" charset="0"/>
              </a:rPr>
            </a:br>
            <a:r>
              <a:rPr lang="en-US" altLang="en-US" sz="2500" dirty="0">
                <a:solidFill>
                  <a:srgbClr val="000080"/>
                </a:solidFill>
                <a:latin typeface="Consolas" panose="020B0609020204030204" pitchFamily="49" charset="0"/>
              </a:rPr>
              <a:t>print</a:t>
            </a:r>
            <a:r>
              <a:rPr lang="en-US" altLang="en-US" sz="2500" dirty="0">
                <a:solidFill>
                  <a:srgbClr val="000000"/>
                </a:solidFill>
                <a:latin typeface="Consolas" panose="020B0609020204030204" pitchFamily="49" charset="0"/>
              </a:rPr>
              <a:t>(</a:t>
            </a:r>
            <a:r>
              <a:rPr lang="en-US" altLang="en-US" sz="2500" dirty="0" err="1">
                <a:solidFill>
                  <a:srgbClr val="000000"/>
                </a:solidFill>
                <a:latin typeface="Consolas" panose="020B0609020204030204" pitchFamily="49" charset="0"/>
              </a:rPr>
              <a:t>new_dictionary</a:t>
            </a:r>
            <a:r>
              <a:rPr lang="en-US" altLang="en-US" sz="2500" dirty="0">
                <a:solidFill>
                  <a:srgbClr val="000000"/>
                </a:solidFill>
                <a:latin typeface="Consolas" panose="020B0609020204030204" pitchFamily="49" charset="0"/>
              </a:rPr>
              <a:t>)</a:t>
            </a:r>
            <a:br>
              <a:rPr lang="en-US" altLang="en-US" sz="2500" dirty="0">
                <a:solidFill>
                  <a:srgbClr val="000000"/>
                </a:solidFill>
                <a:latin typeface="Consolas" panose="020B0609020204030204" pitchFamily="49" charset="0"/>
              </a:rPr>
            </a:br>
            <a:r>
              <a:rPr lang="en-US" altLang="en-US" sz="2500" dirty="0">
                <a:solidFill>
                  <a:srgbClr val="000080"/>
                </a:solidFill>
                <a:latin typeface="Consolas" panose="020B0609020204030204" pitchFamily="49" charset="0"/>
              </a:rPr>
              <a:t>print</a:t>
            </a:r>
            <a:r>
              <a:rPr lang="en-US" altLang="en-US" sz="2500" dirty="0">
                <a:solidFill>
                  <a:srgbClr val="000000"/>
                </a:solidFill>
                <a:latin typeface="Consolas" panose="020B0609020204030204" pitchFamily="49" charset="0"/>
              </a:rPr>
              <a:t>(entries)</a:t>
            </a:r>
            <a:endParaRPr lang="en-US" altLang="en-US" sz="2500" dirty="0">
              <a:solidFill>
                <a:schemeClr val="tx1"/>
              </a:solidFill>
              <a:latin typeface="Arial" panose="020B0604020202020204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3735273154"/>
      </p:ext>
    </p:extLst>
  </p:cSld>
  <p:clrMapOvr>
    <a:masterClrMapping/>
  </p:clrMapOvr>
</p:sld>
</file>

<file path=ppt/slides/slide4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052F6558-CCF4-2148-8F1D-4C5332802188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View example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5053AB72-B933-C544-AFE1-10DAB76227FE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>
            <a:normAutofit/>
          </a:bodyPr>
          <a:lstStyle/>
          <a:p>
            <a:pPr marL="0" indent="0" eaLnBrk="0" fontAlgn="base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None/>
            </a:pPr>
            <a:r>
              <a:rPr lang="en-US" altLang="en-US" sz="2500" dirty="0" err="1">
                <a:solidFill>
                  <a:srgbClr val="000000"/>
                </a:solidFill>
                <a:latin typeface="Consolas" panose="020B0609020204030204" pitchFamily="49" charset="0"/>
              </a:rPr>
              <a:t>new_dictionary</a:t>
            </a:r>
            <a:r>
              <a:rPr lang="en-US" altLang="en-US" sz="2500" dirty="0">
                <a:solidFill>
                  <a:srgbClr val="000000"/>
                </a:solidFill>
                <a:latin typeface="Consolas" panose="020B0609020204030204" pitchFamily="49" charset="0"/>
              </a:rPr>
              <a:t> = {</a:t>
            </a:r>
            <a:r>
              <a:rPr lang="en-US" altLang="en-US" sz="2500" dirty="0">
                <a:solidFill>
                  <a:srgbClr val="0000FF"/>
                </a:solidFill>
                <a:latin typeface="Consolas" panose="020B0609020204030204" pitchFamily="49" charset="0"/>
              </a:rPr>
              <a:t>1 </a:t>
            </a:r>
            <a:r>
              <a:rPr lang="en-US" altLang="en-US" sz="2500" dirty="0">
                <a:solidFill>
                  <a:srgbClr val="000000"/>
                </a:solidFill>
                <a:latin typeface="Consolas" panose="020B0609020204030204" pitchFamily="49" charset="0"/>
              </a:rPr>
              <a:t>: </a:t>
            </a:r>
            <a:r>
              <a:rPr lang="en-US" altLang="en-US" sz="2500" b="1" dirty="0">
                <a:solidFill>
                  <a:srgbClr val="008080"/>
                </a:solidFill>
                <a:latin typeface="Consolas" panose="020B0609020204030204" pitchFamily="49" charset="0"/>
              </a:rPr>
              <a:t>'</a:t>
            </a:r>
            <a:r>
              <a:rPr lang="en-US" altLang="en-US" sz="2500" b="1" dirty="0" err="1">
                <a:solidFill>
                  <a:srgbClr val="008080"/>
                </a:solidFill>
                <a:latin typeface="Consolas" panose="020B0609020204030204" pitchFamily="49" charset="0"/>
              </a:rPr>
              <a:t>jeff</a:t>
            </a:r>
            <a:r>
              <a:rPr lang="en-US" altLang="en-US" sz="2500" b="1" dirty="0">
                <a:solidFill>
                  <a:srgbClr val="008080"/>
                </a:solidFill>
                <a:latin typeface="Consolas" panose="020B0609020204030204" pitchFamily="49" charset="0"/>
              </a:rPr>
              <a:t>'</a:t>
            </a:r>
            <a:r>
              <a:rPr lang="en-US" altLang="en-US" sz="2500" dirty="0">
                <a:solidFill>
                  <a:srgbClr val="000000"/>
                </a:solidFill>
                <a:latin typeface="Consolas" panose="020B0609020204030204" pitchFamily="49" charset="0"/>
              </a:rPr>
              <a:t>, </a:t>
            </a:r>
            <a:r>
              <a:rPr lang="en-US" altLang="en-US" sz="2500" dirty="0">
                <a:solidFill>
                  <a:srgbClr val="0000FF"/>
                </a:solidFill>
                <a:latin typeface="Consolas" panose="020B0609020204030204" pitchFamily="49" charset="0"/>
              </a:rPr>
              <a:t>2 </a:t>
            </a:r>
            <a:r>
              <a:rPr lang="en-US" altLang="en-US" sz="2500" dirty="0">
                <a:solidFill>
                  <a:srgbClr val="000000"/>
                </a:solidFill>
                <a:latin typeface="Consolas" panose="020B0609020204030204" pitchFamily="49" charset="0"/>
              </a:rPr>
              <a:t>: </a:t>
            </a:r>
            <a:r>
              <a:rPr lang="en-US" altLang="en-US" sz="2500" b="1" dirty="0">
                <a:solidFill>
                  <a:srgbClr val="008080"/>
                </a:solidFill>
                <a:latin typeface="Consolas" panose="020B0609020204030204" pitchFamily="49" charset="0"/>
              </a:rPr>
              <a:t>'</a:t>
            </a:r>
            <a:r>
              <a:rPr lang="en-US" altLang="en-US" sz="2500" b="1" dirty="0" err="1">
                <a:solidFill>
                  <a:srgbClr val="008080"/>
                </a:solidFill>
                <a:latin typeface="Consolas" panose="020B0609020204030204" pitchFamily="49" charset="0"/>
              </a:rPr>
              <a:t>eric</a:t>
            </a:r>
            <a:r>
              <a:rPr lang="en-US" altLang="en-US" sz="2500" b="1" dirty="0">
                <a:solidFill>
                  <a:srgbClr val="008080"/>
                </a:solidFill>
                <a:latin typeface="Consolas" panose="020B0609020204030204" pitchFamily="49" charset="0"/>
              </a:rPr>
              <a:t>'</a:t>
            </a:r>
            <a:r>
              <a:rPr lang="en-US" altLang="en-US" sz="2500" dirty="0">
                <a:solidFill>
                  <a:srgbClr val="000000"/>
                </a:solidFill>
                <a:latin typeface="Consolas" panose="020B0609020204030204" pitchFamily="49" charset="0"/>
              </a:rPr>
              <a:t>}</a:t>
            </a:r>
            <a:br>
              <a:rPr lang="en-US" altLang="en-US" sz="2500" dirty="0">
                <a:solidFill>
                  <a:srgbClr val="000000"/>
                </a:solidFill>
                <a:latin typeface="Consolas" panose="020B0609020204030204" pitchFamily="49" charset="0"/>
              </a:rPr>
            </a:br>
            <a:r>
              <a:rPr lang="en-US" altLang="en-US" sz="2500" dirty="0">
                <a:solidFill>
                  <a:srgbClr val="000000"/>
                </a:solidFill>
                <a:latin typeface="Consolas" panose="020B0609020204030204" pitchFamily="49" charset="0"/>
              </a:rPr>
              <a:t>entries = </a:t>
            </a:r>
            <a:r>
              <a:rPr lang="en-US" altLang="en-US" sz="2500" dirty="0" err="1">
                <a:solidFill>
                  <a:srgbClr val="000000"/>
                </a:solidFill>
                <a:latin typeface="Consolas" panose="020B0609020204030204" pitchFamily="49" charset="0"/>
              </a:rPr>
              <a:t>new_dictionary.items</a:t>
            </a:r>
            <a:r>
              <a:rPr lang="en-US" altLang="en-US" sz="2500" dirty="0">
                <a:solidFill>
                  <a:srgbClr val="000000"/>
                </a:solidFill>
                <a:latin typeface="Consolas" panose="020B0609020204030204" pitchFamily="49" charset="0"/>
              </a:rPr>
              <a:t>()</a:t>
            </a:r>
            <a:br>
              <a:rPr lang="en-US" altLang="en-US" sz="2500" dirty="0">
                <a:solidFill>
                  <a:srgbClr val="000000"/>
                </a:solidFill>
                <a:latin typeface="Consolas" panose="020B0609020204030204" pitchFamily="49" charset="0"/>
              </a:rPr>
            </a:br>
            <a:r>
              <a:rPr lang="en-US" altLang="en-US" sz="2500" dirty="0">
                <a:solidFill>
                  <a:srgbClr val="000080"/>
                </a:solidFill>
                <a:latin typeface="Consolas" panose="020B0609020204030204" pitchFamily="49" charset="0"/>
              </a:rPr>
              <a:t>print</a:t>
            </a:r>
            <a:r>
              <a:rPr lang="en-US" altLang="en-US" sz="2500" dirty="0">
                <a:solidFill>
                  <a:srgbClr val="000000"/>
                </a:solidFill>
                <a:latin typeface="Consolas" panose="020B0609020204030204" pitchFamily="49" charset="0"/>
              </a:rPr>
              <a:t>(</a:t>
            </a:r>
            <a:r>
              <a:rPr lang="en-US" altLang="en-US" sz="2500" dirty="0" err="1">
                <a:solidFill>
                  <a:srgbClr val="000000"/>
                </a:solidFill>
                <a:latin typeface="Consolas" panose="020B0609020204030204" pitchFamily="49" charset="0"/>
              </a:rPr>
              <a:t>new_dictionary</a:t>
            </a:r>
            <a:r>
              <a:rPr lang="en-US" altLang="en-US" sz="2500" dirty="0">
                <a:solidFill>
                  <a:srgbClr val="000000"/>
                </a:solidFill>
                <a:latin typeface="Consolas" panose="020B0609020204030204" pitchFamily="49" charset="0"/>
              </a:rPr>
              <a:t>) </a:t>
            </a:r>
            <a:r>
              <a:rPr lang="en-US" altLang="en-US" sz="2500" dirty="0">
                <a:solidFill>
                  <a:srgbClr val="00B050"/>
                </a:solidFill>
                <a:latin typeface="Consolas" panose="020B0609020204030204" pitchFamily="49" charset="0"/>
              </a:rPr>
              <a:t>#</a:t>
            </a:r>
            <a:r>
              <a:rPr lang="en-CA" sz="2500" dirty="0">
                <a:solidFill>
                  <a:srgbClr val="00B050"/>
                </a:solidFill>
                <a:latin typeface="Consolas" panose="020B0609020204030204" pitchFamily="49" charset="0"/>
              </a:rPr>
              <a:t>{1: '</a:t>
            </a:r>
            <a:r>
              <a:rPr lang="en-CA" sz="2500" dirty="0" err="1">
                <a:solidFill>
                  <a:srgbClr val="00B050"/>
                </a:solidFill>
                <a:latin typeface="Consolas" panose="020B0609020204030204" pitchFamily="49" charset="0"/>
              </a:rPr>
              <a:t>jeff</a:t>
            </a:r>
            <a:r>
              <a:rPr lang="en-CA" sz="2500" dirty="0">
                <a:solidFill>
                  <a:srgbClr val="00B050"/>
                </a:solidFill>
                <a:latin typeface="Consolas" panose="020B0609020204030204" pitchFamily="49" charset="0"/>
              </a:rPr>
              <a:t>', 2: '</a:t>
            </a:r>
            <a:r>
              <a:rPr lang="en-CA" sz="2500" dirty="0" err="1">
                <a:solidFill>
                  <a:srgbClr val="00B050"/>
                </a:solidFill>
                <a:latin typeface="Consolas" panose="020B0609020204030204" pitchFamily="49" charset="0"/>
              </a:rPr>
              <a:t>eric</a:t>
            </a:r>
            <a:r>
              <a:rPr lang="en-CA" sz="2500" dirty="0">
                <a:solidFill>
                  <a:srgbClr val="00B050"/>
                </a:solidFill>
                <a:latin typeface="Consolas" panose="020B0609020204030204" pitchFamily="49" charset="0"/>
              </a:rPr>
              <a:t>'}</a:t>
            </a:r>
            <a:br>
              <a:rPr lang="en-US" altLang="en-US" sz="2500" dirty="0">
                <a:solidFill>
                  <a:srgbClr val="00B050"/>
                </a:solidFill>
                <a:latin typeface="Consolas" panose="020B0609020204030204" pitchFamily="49" charset="0"/>
              </a:rPr>
            </a:br>
            <a:r>
              <a:rPr lang="en-US" altLang="en-US" sz="2500" dirty="0">
                <a:solidFill>
                  <a:srgbClr val="000080"/>
                </a:solidFill>
                <a:latin typeface="Consolas" panose="020B0609020204030204" pitchFamily="49" charset="0"/>
              </a:rPr>
              <a:t>print</a:t>
            </a:r>
            <a:r>
              <a:rPr lang="en-US" altLang="en-US" sz="2500" dirty="0">
                <a:solidFill>
                  <a:srgbClr val="000000"/>
                </a:solidFill>
                <a:latin typeface="Consolas" panose="020B0609020204030204" pitchFamily="49" charset="0"/>
              </a:rPr>
              <a:t>(entries) </a:t>
            </a:r>
            <a:r>
              <a:rPr lang="en-US" altLang="en-US" sz="2500" dirty="0">
                <a:solidFill>
                  <a:srgbClr val="00B050"/>
                </a:solidFill>
                <a:latin typeface="Consolas" panose="020B0609020204030204" pitchFamily="49" charset="0"/>
              </a:rPr>
              <a:t>#</a:t>
            </a:r>
            <a:r>
              <a:rPr lang="en-CA" sz="2500" dirty="0" err="1">
                <a:solidFill>
                  <a:srgbClr val="00B050"/>
                </a:solidFill>
                <a:latin typeface="Consolas" panose="020B0609020204030204" pitchFamily="49" charset="0"/>
              </a:rPr>
              <a:t>dict_items</a:t>
            </a:r>
            <a:r>
              <a:rPr lang="en-CA" sz="2500" dirty="0">
                <a:solidFill>
                  <a:srgbClr val="00B050"/>
                </a:solidFill>
                <a:latin typeface="Consolas" panose="020B0609020204030204" pitchFamily="49" charset="0"/>
              </a:rPr>
              <a:t>([(1, '</a:t>
            </a:r>
            <a:r>
              <a:rPr lang="en-CA" sz="2500" dirty="0" err="1">
                <a:solidFill>
                  <a:srgbClr val="00B050"/>
                </a:solidFill>
                <a:latin typeface="Consolas" panose="020B0609020204030204" pitchFamily="49" charset="0"/>
              </a:rPr>
              <a:t>jeff</a:t>
            </a:r>
            <a:r>
              <a:rPr lang="en-CA" sz="2500" dirty="0">
                <a:solidFill>
                  <a:srgbClr val="00B050"/>
                </a:solidFill>
                <a:latin typeface="Consolas" panose="020B0609020204030204" pitchFamily="49" charset="0"/>
              </a:rPr>
              <a:t>'), (2, '</a:t>
            </a:r>
            <a:r>
              <a:rPr lang="en-CA" sz="2500" dirty="0" err="1">
                <a:solidFill>
                  <a:srgbClr val="00B050"/>
                </a:solidFill>
                <a:latin typeface="Consolas" panose="020B0609020204030204" pitchFamily="49" charset="0"/>
              </a:rPr>
              <a:t>eric</a:t>
            </a:r>
            <a:r>
              <a:rPr lang="en-CA" sz="2500" dirty="0">
                <a:solidFill>
                  <a:srgbClr val="00B050"/>
                </a:solidFill>
                <a:latin typeface="Consolas" panose="020B0609020204030204" pitchFamily="49" charset="0"/>
              </a:rPr>
              <a:t>')])</a:t>
            </a:r>
            <a:br>
              <a:rPr lang="en-US" altLang="en-US" sz="2500" dirty="0">
                <a:solidFill>
                  <a:srgbClr val="00B050"/>
                </a:solidFill>
                <a:latin typeface="Consolas" panose="020B0609020204030204" pitchFamily="49" charset="0"/>
              </a:rPr>
            </a:br>
            <a:br>
              <a:rPr lang="en-US" altLang="en-US" sz="2500" dirty="0">
                <a:solidFill>
                  <a:srgbClr val="000000"/>
                </a:solidFill>
                <a:latin typeface="Consolas" panose="020B0609020204030204" pitchFamily="49" charset="0"/>
              </a:rPr>
            </a:br>
            <a:r>
              <a:rPr lang="en-US" altLang="en-US" sz="2500" b="1" dirty="0">
                <a:solidFill>
                  <a:srgbClr val="000080"/>
                </a:solidFill>
                <a:latin typeface="Consolas" panose="020B0609020204030204" pitchFamily="49" charset="0"/>
              </a:rPr>
              <a:t>del </a:t>
            </a:r>
            <a:r>
              <a:rPr lang="en-US" altLang="en-US" sz="2500" dirty="0" err="1">
                <a:solidFill>
                  <a:srgbClr val="000000"/>
                </a:solidFill>
                <a:latin typeface="Consolas" panose="020B0609020204030204" pitchFamily="49" charset="0"/>
              </a:rPr>
              <a:t>new_dictionary</a:t>
            </a:r>
            <a:r>
              <a:rPr lang="en-US" altLang="en-US" sz="2500" dirty="0">
                <a:solidFill>
                  <a:srgbClr val="000000"/>
                </a:solidFill>
                <a:latin typeface="Consolas" panose="020B0609020204030204" pitchFamily="49" charset="0"/>
              </a:rPr>
              <a:t>[</a:t>
            </a:r>
            <a:r>
              <a:rPr lang="en-US" altLang="en-US" sz="2500" dirty="0">
                <a:solidFill>
                  <a:srgbClr val="0000FF"/>
                </a:solidFill>
                <a:latin typeface="Consolas" panose="020B0609020204030204" pitchFamily="49" charset="0"/>
              </a:rPr>
              <a:t>1</a:t>
            </a:r>
            <a:r>
              <a:rPr lang="en-US" altLang="en-US" sz="2500" dirty="0">
                <a:solidFill>
                  <a:srgbClr val="000000"/>
                </a:solidFill>
                <a:latin typeface="Consolas" panose="020B0609020204030204" pitchFamily="49" charset="0"/>
              </a:rPr>
              <a:t>]</a:t>
            </a:r>
            <a:br>
              <a:rPr lang="en-US" altLang="en-US" sz="2500" dirty="0">
                <a:solidFill>
                  <a:srgbClr val="000000"/>
                </a:solidFill>
                <a:latin typeface="Consolas" panose="020B0609020204030204" pitchFamily="49" charset="0"/>
              </a:rPr>
            </a:br>
            <a:r>
              <a:rPr lang="en-US" altLang="en-US" sz="2500" dirty="0">
                <a:solidFill>
                  <a:srgbClr val="000080"/>
                </a:solidFill>
                <a:latin typeface="Consolas" panose="020B0609020204030204" pitchFamily="49" charset="0"/>
              </a:rPr>
              <a:t>print</a:t>
            </a:r>
            <a:r>
              <a:rPr lang="en-US" altLang="en-US" sz="2500" dirty="0">
                <a:solidFill>
                  <a:srgbClr val="000000"/>
                </a:solidFill>
                <a:latin typeface="Consolas" panose="020B0609020204030204" pitchFamily="49" charset="0"/>
              </a:rPr>
              <a:t>(</a:t>
            </a:r>
            <a:r>
              <a:rPr lang="en-US" altLang="en-US" sz="2500" dirty="0" err="1">
                <a:solidFill>
                  <a:srgbClr val="000000"/>
                </a:solidFill>
                <a:latin typeface="Consolas" panose="020B0609020204030204" pitchFamily="49" charset="0"/>
              </a:rPr>
              <a:t>new_dictionary</a:t>
            </a:r>
            <a:r>
              <a:rPr lang="en-US" altLang="en-US" sz="2500" dirty="0">
                <a:solidFill>
                  <a:srgbClr val="000000"/>
                </a:solidFill>
                <a:latin typeface="Consolas" panose="020B0609020204030204" pitchFamily="49" charset="0"/>
              </a:rPr>
              <a:t>) </a:t>
            </a:r>
            <a:r>
              <a:rPr lang="en-US" altLang="en-US" sz="2500" dirty="0">
                <a:solidFill>
                  <a:srgbClr val="00B050"/>
                </a:solidFill>
                <a:latin typeface="Consolas" panose="020B0609020204030204" pitchFamily="49" charset="0"/>
              </a:rPr>
              <a:t>#</a:t>
            </a:r>
            <a:r>
              <a:rPr lang="en-CA" sz="2500" dirty="0">
                <a:solidFill>
                  <a:srgbClr val="00B050"/>
                </a:solidFill>
                <a:latin typeface="Consolas" panose="020B0609020204030204" pitchFamily="49" charset="0"/>
              </a:rPr>
              <a:t>{2: '</a:t>
            </a:r>
            <a:r>
              <a:rPr lang="en-CA" sz="2500" dirty="0" err="1">
                <a:solidFill>
                  <a:srgbClr val="00B050"/>
                </a:solidFill>
                <a:latin typeface="Consolas" panose="020B0609020204030204" pitchFamily="49" charset="0"/>
              </a:rPr>
              <a:t>eric</a:t>
            </a:r>
            <a:r>
              <a:rPr lang="en-CA" sz="2500" dirty="0">
                <a:solidFill>
                  <a:srgbClr val="00B050"/>
                </a:solidFill>
                <a:latin typeface="Consolas" panose="020B0609020204030204" pitchFamily="49" charset="0"/>
              </a:rPr>
              <a:t>'}</a:t>
            </a:r>
            <a:br>
              <a:rPr lang="en-US" altLang="en-US" sz="2500" dirty="0">
                <a:solidFill>
                  <a:srgbClr val="000000"/>
                </a:solidFill>
                <a:latin typeface="Consolas" panose="020B0609020204030204" pitchFamily="49" charset="0"/>
              </a:rPr>
            </a:br>
            <a:r>
              <a:rPr lang="en-US" altLang="en-US" sz="2500" dirty="0">
                <a:solidFill>
                  <a:srgbClr val="000080"/>
                </a:solidFill>
                <a:latin typeface="Consolas" panose="020B0609020204030204" pitchFamily="49" charset="0"/>
              </a:rPr>
              <a:t>print</a:t>
            </a:r>
            <a:r>
              <a:rPr lang="en-US" altLang="en-US" sz="2500" dirty="0">
                <a:solidFill>
                  <a:srgbClr val="000000"/>
                </a:solidFill>
                <a:latin typeface="Consolas" panose="020B0609020204030204" pitchFamily="49" charset="0"/>
              </a:rPr>
              <a:t>(entries) </a:t>
            </a:r>
            <a:r>
              <a:rPr lang="en-US" altLang="en-US" sz="2500" dirty="0">
                <a:solidFill>
                  <a:srgbClr val="00B050"/>
                </a:solidFill>
                <a:latin typeface="Consolas" panose="020B0609020204030204" pitchFamily="49" charset="0"/>
              </a:rPr>
              <a:t>#</a:t>
            </a:r>
            <a:r>
              <a:rPr lang="en-CA" sz="2500" dirty="0" err="1">
                <a:solidFill>
                  <a:srgbClr val="00B050"/>
                </a:solidFill>
                <a:latin typeface="Consolas" panose="020B0609020204030204" pitchFamily="49" charset="0"/>
              </a:rPr>
              <a:t>dict_items</a:t>
            </a:r>
            <a:r>
              <a:rPr lang="en-CA" sz="2500" dirty="0">
                <a:solidFill>
                  <a:srgbClr val="00B050"/>
                </a:solidFill>
                <a:latin typeface="Consolas" panose="020B0609020204030204" pitchFamily="49" charset="0"/>
              </a:rPr>
              <a:t>([(2, '</a:t>
            </a:r>
            <a:r>
              <a:rPr lang="en-CA" sz="2500" dirty="0" err="1">
                <a:solidFill>
                  <a:srgbClr val="00B050"/>
                </a:solidFill>
                <a:latin typeface="Consolas" panose="020B0609020204030204" pitchFamily="49" charset="0"/>
              </a:rPr>
              <a:t>eric</a:t>
            </a:r>
            <a:r>
              <a:rPr lang="en-CA" sz="2500" dirty="0">
                <a:solidFill>
                  <a:srgbClr val="00B050"/>
                </a:solidFill>
                <a:latin typeface="Consolas" panose="020B0609020204030204" pitchFamily="49" charset="0"/>
              </a:rPr>
              <a:t>')])</a:t>
            </a:r>
          </a:p>
        </p:txBody>
      </p:sp>
    </p:spTree>
    <p:extLst>
      <p:ext uri="{BB962C8B-B14F-4D97-AF65-F5344CB8AC3E}">
        <p14:creationId xmlns:p14="http://schemas.microsoft.com/office/powerpoint/2010/main" val="2219336404"/>
      </p:ext>
    </p:extLst>
  </p:cSld>
  <p:clrMapOvr>
    <a:masterClrMapping/>
  </p:clrMapOvr>
</p:sld>
</file>

<file path=ppt/slides/slide4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/>
        <p:txBody>
          <a:bodyPr/>
          <a:lstStyle/>
          <a:p>
            <a:r>
              <a:rPr lang="en-CA" dirty="0"/>
              <a:t>Iteration - Loops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/>
        <p:txBody>
          <a:bodyPr/>
          <a:lstStyle/>
          <a:p>
            <a:endParaRPr lang="en-CA"/>
          </a:p>
        </p:txBody>
      </p:sp>
    </p:spTree>
    <p:extLst>
      <p:ext uri="{BB962C8B-B14F-4D97-AF65-F5344CB8AC3E}">
        <p14:creationId xmlns:p14="http://schemas.microsoft.com/office/powerpoint/2010/main" val="3477463327"/>
      </p:ext>
    </p:extLst>
  </p:cSld>
  <p:clrMapOvr>
    <a:masterClrMapping/>
  </p:clrMapOvr>
</p:sld>
</file>

<file path=ppt/slides/slide4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8B182803-916D-422A-A805-04B9A72D47A0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For Loops</a:t>
            </a:r>
            <a:endParaRPr lang="en-CA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28840539-7326-4C61-BC2F-1A37B5AC34C5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dirty="0"/>
              <a:t>Used with sequence types</a:t>
            </a:r>
          </a:p>
          <a:p>
            <a:r>
              <a:rPr lang="en-US" dirty="0"/>
              <a:t>Will Loop over every element in the given sequence or view</a:t>
            </a:r>
          </a:p>
          <a:p>
            <a:r>
              <a:rPr lang="en-US" dirty="0"/>
              <a:t>Very efficient</a:t>
            </a:r>
          </a:p>
          <a:p>
            <a:pPr algn="ctr"/>
            <a:r>
              <a:rPr lang="en-US" dirty="0">
                <a:latin typeface="Courier"/>
              </a:rPr>
              <a:t>for x in sequence:</a:t>
            </a:r>
            <a:endParaRPr lang="en-CA" dirty="0">
              <a:latin typeface="Courier"/>
            </a:endParaRPr>
          </a:p>
          <a:p>
            <a:pPr algn="ctr"/>
            <a:r>
              <a:rPr lang="en-CA" dirty="0">
                <a:latin typeface="Courier"/>
              </a:rPr>
              <a:t>    do something</a:t>
            </a:r>
          </a:p>
          <a:p>
            <a:pPr algn="ctr"/>
            <a:endParaRPr lang="en-CA" dirty="0">
              <a:latin typeface="Courier"/>
            </a:endParaRPr>
          </a:p>
          <a:p>
            <a:pPr marL="0" indent="0">
              <a:buNone/>
            </a:pPr>
            <a:r>
              <a:rPr lang="en-CA" dirty="0"/>
              <a:t>Like other languages we can </a:t>
            </a:r>
            <a:r>
              <a:rPr lang="en-CA" b="1" dirty="0"/>
              <a:t>break</a:t>
            </a:r>
            <a:r>
              <a:rPr lang="en-CA" dirty="0"/>
              <a:t> and </a:t>
            </a:r>
            <a:r>
              <a:rPr lang="en-CA" b="1" dirty="0"/>
              <a:t>continue</a:t>
            </a:r>
            <a:endParaRPr lang="en-US" b="1" dirty="0"/>
          </a:p>
        </p:txBody>
      </p:sp>
    </p:spTree>
    <p:extLst>
      <p:ext uri="{BB962C8B-B14F-4D97-AF65-F5344CB8AC3E}">
        <p14:creationId xmlns:p14="http://schemas.microsoft.com/office/powerpoint/2010/main" val="1987033979"/>
      </p:ext>
    </p:extLst>
  </p:cSld>
  <p:clrMapOvr>
    <a:masterClrMapping/>
  </p:clrMapOvr>
</p:sld>
</file>

<file path=ppt/slides/slide4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2BA0AAE2-361A-4492-8B7B-67747CA523FD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For Loops</a:t>
            </a:r>
            <a:endParaRPr lang="en-CA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DC3BFA6B-2BC0-4963-AD78-574198D946D0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>
            <a:normAutofit fontScale="85000" lnSpcReduction="20000"/>
          </a:bodyPr>
          <a:lstStyle/>
          <a:p>
            <a:pPr marL="0" indent="0">
              <a:buNone/>
            </a:pPr>
            <a:r>
              <a:rPr lang="en-US" dirty="0">
                <a:latin typeface="Courier" pitchFamily="2" charset="0"/>
              </a:rPr>
              <a:t>&gt;&gt;&gt; dishes = {'eggs': 2, 'sausage': 1,</a:t>
            </a:r>
          </a:p>
          <a:p>
            <a:pPr marL="0" indent="0">
              <a:buNone/>
            </a:pPr>
            <a:r>
              <a:rPr lang="en-US" dirty="0">
                <a:latin typeface="Courier" pitchFamily="2" charset="0"/>
              </a:rPr>
              <a:t>              'bacon': 1, 'spam': 500}</a:t>
            </a:r>
          </a:p>
          <a:p>
            <a:pPr marL="0" indent="0">
              <a:buNone/>
            </a:pPr>
            <a:r>
              <a:rPr lang="en-US" dirty="0">
                <a:latin typeface="Courier" pitchFamily="2" charset="0"/>
              </a:rPr>
              <a:t>&gt;&gt;&gt; keys = </a:t>
            </a:r>
            <a:r>
              <a:rPr lang="en-US" dirty="0" err="1">
                <a:latin typeface="Courier" pitchFamily="2" charset="0"/>
              </a:rPr>
              <a:t>dishes.keys</a:t>
            </a:r>
            <a:r>
              <a:rPr lang="en-US" dirty="0">
                <a:latin typeface="Courier" pitchFamily="2" charset="0"/>
              </a:rPr>
              <a:t>()</a:t>
            </a:r>
          </a:p>
          <a:p>
            <a:pPr marL="0" indent="0">
              <a:buNone/>
            </a:pPr>
            <a:r>
              <a:rPr lang="en-US" dirty="0">
                <a:latin typeface="Courier" pitchFamily="2" charset="0"/>
              </a:rPr>
              <a:t>&gt;&gt;&gt; values = </a:t>
            </a:r>
            <a:r>
              <a:rPr lang="en-US" dirty="0" err="1">
                <a:latin typeface="Courier" pitchFamily="2" charset="0"/>
              </a:rPr>
              <a:t>dishes.values</a:t>
            </a:r>
            <a:r>
              <a:rPr lang="en-US" dirty="0">
                <a:latin typeface="Courier" pitchFamily="2" charset="0"/>
              </a:rPr>
              <a:t>()</a:t>
            </a:r>
          </a:p>
          <a:p>
            <a:pPr marL="0" indent="0">
              <a:buNone/>
            </a:pPr>
            <a:endParaRPr lang="en-US" dirty="0">
              <a:latin typeface="Courier" pitchFamily="2" charset="0"/>
            </a:endParaRPr>
          </a:p>
          <a:p>
            <a:pPr marL="0" indent="0">
              <a:buNone/>
            </a:pPr>
            <a:r>
              <a:rPr lang="en-US" dirty="0">
                <a:latin typeface="Courier" pitchFamily="2" charset="0"/>
              </a:rPr>
              <a:t>&gt;&gt;&gt; </a:t>
            </a:r>
            <a:r>
              <a:rPr lang="en-US" b="1" dirty="0">
                <a:latin typeface="Courier" pitchFamily="2" charset="0"/>
              </a:rPr>
              <a:t># Use a view for iteration</a:t>
            </a:r>
          </a:p>
          <a:p>
            <a:pPr marL="0" indent="0">
              <a:buNone/>
            </a:pPr>
            <a:r>
              <a:rPr lang="en-US" dirty="0">
                <a:latin typeface="Courier" pitchFamily="2" charset="0"/>
              </a:rPr>
              <a:t>&gt;&gt;&gt; n = 0</a:t>
            </a:r>
          </a:p>
          <a:p>
            <a:pPr marL="0" indent="0">
              <a:buNone/>
            </a:pPr>
            <a:r>
              <a:rPr lang="en-US" dirty="0">
                <a:latin typeface="Courier" pitchFamily="2" charset="0"/>
              </a:rPr>
              <a:t>&gt;&gt;&gt; </a:t>
            </a:r>
            <a:r>
              <a:rPr lang="en-US" b="1" dirty="0">
                <a:latin typeface="Courier" pitchFamily="2" charset="0"/>
              </a:rPr>
              <a:t>for </a:t>
            </a:r>
            <a:r>
              <a:rPr lang="en-US" b="1" dirty="0" err="1">
                <a:latin typeface="Courier" pitchFamily="2" charset="0"/>
              </a:rPr>
              <a:t>val</a:t>
            </a:r>
            <a:r>
              <a:rPr lang="en-US" b="1" dirty="0">
                <a:latin typeface="Courier" pitchFamily="2" charset="0"/>
              </a:rPr>
              <a:t> in values: </a:t>
            </a:r>
            <a:r>
              <a:rPr lang="en-US" dirty="0">
                <a:latin typeface="Courier" pitchFamily="2" charset="0"/>
              </a:rPr>
              <a:t>#values contains (2, 1, 1, 500)</a:t>
            </a:r>
          </a:p>
          <a:p>
            <a:pPr marL="0" indent="0">
              <a:buNone/>
            </a:pPr>
            <a:r>
              <a:rPr lang="en-US" dirty="0">
                <a:latin typeface="Courier" pitchFamily="2" charset="0"/>
              </a:rPr>
              <a:t>...     </a:t>
            </a:r>
            <a:r>
              <a:rPr lang="en-US" b="1" dirty="0">
                <a:latin typeface="Courier" pitchFamily="2" charset="0"/>
              </a:rPr>
              <a:t>n += </a:t>
            </a:r>
            <a:r>
              <a:rPr lang="en-US" b="1" dirty="0" err="1">
                <a:latin typeface="Courier" pitchFamily="2" charset="0"/>
              </a:rPr>
              <a:t>val</a:t>
            </a:r>
            <a:endParaRPr lang="en-US" b="1" dirty="0">
              <a:latin typeface="Courier" pitchFamily="2" charset="0"/>
            </a:endParaRPr>
          </a:p>
          <a:p>
            <a:pPr marL="0" indent="0">
              <a:buNone/>
            </a:pPr>
            <a:r>
              <a:rPr lang="en-US" dirty="0">
                <a:latin typeface="Courier" pitchFamily="2" charset="0"/>
              </a:rPr>
              <a:t>&gt;&gt;&gt; print(n)</a:t>
            </a:r>
          </a:p>
          <a:p>
            <a:pPr marL="0" indent="0">
              <a:buNone/>
            </a:pPr>
            <a:r>
              <a:rPr lang="en-US" dirty="0">
                <a:latin typeface="Courier" pitchFamily="2" charset="0"/>
              </a:rPr>
              <a:t>504</a:t>
            </a:r>
          </a:p>
          <a:p>
            <a:endParaRPr lang="en-CA" dirty="0"/>
          </a:p>
        </p:txBody>
      </p:sp>
    </p:spTree>
    <p:extLst>
      <p:ext uri="{BB962C8B-B14F-4D97-AF65-F5344CB8AC3E}">
        <p14:creationId xmlns:p14="http://schemas.microsoft.com/office/powerpoint/2010/main" val="1059836087"/>
      </p:ext>
    </p:extLst>
  </p:cSld>
  <p:clrMapOvr>
    <a:masterClrMapping/>
  </p:clrMapOvr>
</p:sld>
</file>

<file path=ppt/slides/slide4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74FC7763-F082-4D54-BFDB-26489FD4448E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For Loops</a:t>
            </a:r>
            <a:endParaRPr lang="en-CA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A3AE06D6-50C6-4985-A5CC-D219EC2FDA6B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>
            <a:normAutofit lnSpcReduction="10000"/>
          </a:bodyPr>
          <a:lstStyle/>
          <a:p>
            <a:r>
              <a:rPr lang="en-US" dirty="0"/>
              <a:t>What do these two pieces of code do?</a:t>
            </a:r>
          </a:p>
          <a:p>
            <a:endParaRPr lang="en-US" dirty="0">
              <a:latin typeface="Courier"/>
            </a:endParaRPr>
          </a:p>
          <a:p>
            <a:r>
              <a:rPr lang="en-US" dirty="0">
                <a:latin typeface="Courier"/>
              </a:rPr>
              <a:t>for (</a:t>
            </a:r>
            <a:r>
              <a:rPr lang="en-US" dirty="0" err="1">
                <a:latin typeface="Courier"/>
              </a:rPr>
              <a:t>name,age</a:t>
            </a:r>
            <a:r>
              <a:rPr lang="en-US" dirty="0">
                <a:latin typeface="Courier"/>
              </a:rPr>
              <a:t>) in [(“James”, 22), (“Danica”, 35), (“Rohit”,28)]:</a:t>
            </a:r>
            <a:br>
              <a:rPr lang="en-US" dirty="0">
                <a:latin typeface="Courier"/>
              </a:rPr>
            </a:br>
            <a:r>
              <a:rPr lang="en-US" dirty="0">
                <a:latin typeface="Courier"/>
              </a:rPr>
              <a:t>	if age &gt; 30:</a:t>
            </a:r>
            <a:br>
              <a:rPr lang="en-US" dirty="0">
                <a:latin typeface="Courier"/>
              </a:rPr>
            </a:br>
            <a:r>
              <a:rPr lang="en-US" dirty="0">
                <a:latin typeface="Courier"/>
              </a:rPr>
              <a:t>		print(“Name: {0}, Age: {1}”.format(name, age))</a:t>
            </a:r>
            <a:br>
              <a:rPr lang="en-US" dirty="0">
                <a:latin typeface="Courier"/>
              </a:rPr>
            </a:br>
            <a:r>
              <a:rPr lang="en-US" dirty="0">
                <a:latin typeface="Courier"/>
              </a:rPr>
              <a:t>		break</a:t>
            </a:r>
          </a:p>
          <a:p>
            <a:pPr algn="ctr"/>
            <a:endParaRPr lang="en-US" dirty="0">
              <a:latin typeface="Courier"/>
            </a:endParaRPr>
          </a:p>
          <a:p>
            <a:r>
              <a:rPr lang="en-US" dirty="0">
                <a:latin typeface="Courier"/>
              </a:rPr>
              <a:t>for </a:t>
            </a:r>
            <a:r>
              <a:rPr lang="en-US" dirty="0" err="1">
                <a:latin typeface="Courier"/>
              </a:rPr>
              <a:t>val</a:t>
            </a:r>
            <a:r>
              <a:rPr lang="en-US" dirty="0">
                <a:latin typeface="Courier"/>
              </a:rPr>
              <a:t> in "string":    </a:t>
            </a:r>
            <a:br>
              <a:rPr lang="en-US" dirty="0">
                <a:latin typeface="Courier"/>
              </a:rPr>
            </a:br>
            <a:r>
              <a:rPr lang="en-US" dirty="0">
                <a:latin typeface="Courier"/>
              </a:rPr>
              <a:t>    if </a:t>
            </a:r>
            <a:r>
              <a:rPr lang="en-US" dirty="0" err="1">
                <a:latin typeface="Courier"/>
              </a:rPr>
              <a:t>val</a:t>
            </a:r>
            <a:r>
              <a:rPr lang="en-US" dirty="0">
                <a:latin typeface="Courier"/>
              </a:rPr>
              <a:t> == "</a:t>
            </a:r>
            <a:r>
              <a:rPr lang="en-US" dirty="0" err="1">
                <a:latin typeface="Courier"/>
              </a:rPr>
              <a:t>i</a:t>
            </a:r>
            <a:r>
              <a:rPr lang="en-US" dirty="0">
                <a:latin typeface="Courier"/>
              </a:rPr>
              <a:t>":        </a:t>
            </a:r>
            <a:br>
              <a:rPr lang="en-US" dirty="0">
                <a:latin typeface="Courier"/>
              </a:rPr>
            </a:br>
            <a:r>
              <a:rPr lang="en-US" dirty="0">
                <a:latin typeface="Courier"/>
              </a:rPr>
              <a:t>        continue    </a:t>
            </a:r>
            <a:br>
              <a:rPr lang="en-US" dirty="0">
                <a:latin typeface="Courier"/>
              </a:rPr>
            </a:br>
            <a:r>
              <a:rPr lang="en-US" dirty="0">
                <a:latin typeface="Courier"/>
              </a:rPr>
              <a:t>    print(</a:t>
            </a:r>
            <a:r>
              <a:rPr lang="en-US" dirty="0" err="1">
                <a:latin typeface="Courier"/>
              </a:rPr>
              <a:t>val</a:t>
            </a:r>
            <a:r>
              <a:rPr lang="en-US" dirty="0">
                <a:latin typeface="Courier"/>
              </a:rPr>
              <a:t>)</a:t>
            </a:r>
          </a:p>
          <a:p>
            <a:r>
              <a:rPr lang="en-US" dirty="0">
                <a:latin typeface="Courier"/>
              </a:rPr>
              <a:t>print("The end")</a:t>
            </a:r>
            <a:endParaRPr lang="en-CA" dirty="0">
              <a:latin typeface="Courier"/>
            </a:endParaRPr>
          </a:p>
        </p:txBody>
      </p:sp>
    </p:spTree>
    <p:extLst>
      <p:ext uri="{BB962C8B-B14F-4D97-AF65-F5344CB8AC3E}">
        <p14:creationId xmlns:p14="http://schemas.microsoft.com/office/powerpoint/2010/main" val="2814627479"/>
      </p:ext>
    </p:extLst>
  </p:cSld>
  <p:clrMapOvr>
    <a:masterClrMapping/>
  </p:clrMapOvr>
</p:sld>
</file>

<file path=ppt/slides/slide5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74FC7763-F082-4D54-BFDB-26489FD4448E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For Loops</a:t>
            </a:r>
            <a:endParaRPr lang="en-CA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A3AE06D6-50C6-4985-A5CC-D219EC2FDA6B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>
            <a:normAutofit/>
          </a:bodyPr>
          <a:lstStyle/>
          <a:p>
            <a:pPr marL="0" lvl="0" indent="0" eaLnBrk="0" fontAlgn="base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None/>
            </a:pPr>
            <a:r>
              <a:rPr lang="en-US" altLang="en-US" dirty="0">
                <a:solidFill>
                  <a:schemeClr val="tx1"/>
                </a:solidFill>
                <a:latin typeface="Courier"/>
              </a:rPr>
              <a:t>#the classic for loop, iterating over number range</a:t>
            </a:r>
          </a:p>
          <a:p>
            <a:pPr marL="0" lvl="0" indent="0" eaLnBrk="0" fontAlgn="base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None/>
            </a:pPr>
            <a:r>
              <a:rPr lang="en-US" altLang="en-US" sz="2500" b="1" dirty="0">
                <a:solidFill>
                  <a:srgbClr val="000080"/>
                </a:solidFill>
                <a:latin typeface="Consolas" panose="020B0609020204030204" pitchFamily="49" charset="0"/>
              </a:rPr>
              <a:t>for </a:t>
            </a:r>
            <a:r>
              <a:rPr lang="en-US" altLang="en-US" sz="2500" dirty="0">
                <a:solidFill>
                  <a:srgbClr val="000000"/>
                </a:solidFill>
                <a:latin typeface="Consolas" panose="020B0609020204030204" pitchFamily="49" charset="0"/>
              </a:rPr>
              <a:t>x </a:t>
            </a:r>
            <a:r>
              <a:rPr lang="en-US" altLang="en-US" sz="2500" b="1" dirty="0">
                <a:solidFill>
                  <a:srgbClr val="000080"/>
                </a:solidFill>
                <a:latin typeface="Consolas" panose="020B0609020204030204" pitchFamily="49" charset="0"/>
              </a:rPr>
              <a:t>in </a:t>
            </a:r>
            <a:r>
              <a:rPr lang="en-US" altLang="en-US" sz="2500" dirty="0">
                <a:solidFill>
                  <a:srgbClr val="000080"/>
                </a:solidFill>
                <a:latin typeface="Consolas" panose="020B0609020204030204" pitchFamily="49" charset="0"/>
              </a:rPr>
              <a:t>range</a:t>
            </a:r>
            <a:r>
              <a:rPr lang="en-US" altLang="en-US" sz="2500" dirty="0">
                <a:solidFill>
                  <a:srgbClr val="000000"/>
                </a:solidFill>
                <a:latin typeface="Consolas" panose="020B0609020204030204" pitchFamily="49" charset="0"/>
              </a:rPr>
              <a:t>(</a:t>
            </a:r>
            <a:r>
              <a:rPr lang="en-US" altLang="en-US" sz="2500" dirty="0">
                <a:solidFill>
                  <a:srgbClr val="0000FF"/>
                </a:solidFill>
                <a:latin typeface="Consolas" panose="020B0609020204030204" pitchFamily="49" charset="0"/>
              </a:rPr>
              <a:t>0</a:t>
            </a:r>
            <a:r>
              <a:rPr lang="en-US" altLang="en-US" sz="2500" dirty="0">
                <a:solidFill>
                  <a:srgbClr val="000000"/>
                </a:solidFill>
                <a:latin typeface="Consolas" panose="020B0609020204030204" pitchFamily="49" charset="0"/>
              </a:rPr>
              <a:t>,</a:t>
            </a:r>
            <a:r>
              <a:rPr lang="en-US" altLang="en-US" sz="2500" dirty="0">
                <a:solidFill>
                  <a:srgbClr val="0000FF"/>
                </a:solidFill>
                <a:latin typeface="Consolas" panose="020B0609020204030204" pitchFamily="49" charset="0"/>
              </a:rPr>
              <a:t>5</a:t>
            </a:r>
            <a:r>
              <a:rPr lang="en-US" altLang="en-US" sz="2500" dirty="0">
                <a:solidFill>
                  <a:srgbClr val="000000"/>
                </a:solidFill>
                <a:latin typeface="Consolas" panose="020B0609020204030204" pitchFamily="49" charset="0"/>
              </a:rPr>
              <a:t>):</a:t>
            </a:r>
            <a:br>
              <a:rPr lang="en-US" altLang="en-US" sz="2500" dirty="0">
                <a:solidFill>
                  <a:srgbClr val="000000"/>
                </a:solidFill>
                <a:latin typeface="Consolas" panose="020B0609020204030204" pitchFamily="49" charset="0"/>
              </a:rPr>
            </a:br>
            <a:r>
              <a:rPr lang="en-US" altLang="en-US" sz="2500" dirty="0">
                <a:solidFill>
                  <a:srgbClr val="000000"/>
                </a:solidFill>
                <a:latin typeface="Consolas" panose="020B0609020204030204" pitchFamily="49" charset="0"/>
              </a:rPr>
              <a:t>    </a:t>
            </a:r>
            <a:r>
              <a:rPr lang="en-US" altLang="en-US" sz="2500" dirty="0">
                <a:solidFill>
                  <a:srgbClr val="000080"/>
                </a:solidFill>
                <a:latin typeface="Consolas" panose="020B0609020204030204" pitchFamily="49" charset="0"/>
              </a:rPr>
              <a:t>print</a:t>
            </a:r>
            <a:r>
              <a:rPr lang="en-US" altLang="en-US" sz="2500" dirty="0">
                <a:solidFill>
                  <a:srgbClr val="000000"/>
                </a:solidFill>
                <a:latin typeface="Consolas" panose="020B0609020204030204" pitchFamily="49" charset="0"/>
              </a:rPr>
              <a:t>(x)</a:t>
            </a:r>
          </a:p>
          <a:p>
            <a:pPr marL="0" lvl="0" indent="0" eaLnBrk="0" fontAlgn="base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None/>
            </a:pPr>
            <a:endParaRPr lang="en-US" altLang="en-US" sz="3600" dirty="0">
              <a:solidFill>
                <a:srgbClr val="000000"/>
              </a:solidFill>
              <a:latin typeface="Consolas" panose="020B0609020204030204" pitchFamily="49" charset="0"/>
            </a:endParaRPr>
          </a:p>
          <a:p>
            <a:pPr marL="0" lvl="0" indent="0" eaLnBrk="0" fontAlgn="base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None/>
            </a:pPr>
            <a:r>
              <a:rPr lang="en-US" altLang="en-US" dirty="0">
                <a:solidFill>
                  <a:srgbClr val="000000"/>
                </a:solidFill>
                <a:latin typeface="Courier"/>
              </a:rPr>
              <a:t>Output:</a:t>
            </a:r>
          </a:p>
          <a:p>
            <a:pPr marL="0" lvl="0" indent="0" eaLnBrk="0" fontAlgn="base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None/>
            </a:pPr>
            <a:r>
              <a:rPr lang="en-US" altLang="en-US" dirty="0">
                <a:solidFill>
                  <a:schemeClr val="tx1"/>
                </a:solidFill>
                <a:latin typeface="Courier"/>
              </a:rPr>
              <a:t>0</a:t>
            </a:r>
          </a:p>
          <a:p>
            <a:pPr marL="0" lvl="0" indent="0" eaLnBrk="0" fontAlgn="base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None/>
            </a:pPr>
            <a:r>
              <a:rPr lang="en-US" altLang="en-US" dirty="0">
                <a:solidFill>
                  <a:schemeClr val="tx1"/>
                </a:solidFill>
                <a:latin typeface="Courier"/>
              </a:rPr>
              <a:t>1</a:t>
            </a:r>
          </a:p>
          <a:p>
            <a:pPr marL="0" lvl="0" indent="0" eaLnBrk="0" fontAlgn="base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None/>
            </a:pPr>
            <a:r>
              <a:rPr lang="en-US" altLang="en-US" dirty="0">
                <a:solidFill>
                  <a:schemeClr val="tx1"/>
                </a:solidFill>
                <a:latin typeface="Courier"/>
              </a:rPr>
              <a:t>2</a:t>
            </a:r>
          </a:p>
          <a:p>
            <a:pPr marL="0" lvl="0" indent="0" eaLnBrk="0" fontAlgn="base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None/>
            </a:pPr>
            <a:r>
              <a:rPr lang="en-US" altLang="en-US" dirty="0">
                <a:solidFill>
                  <a:schemeClr val="tx1"/>
                </a:solidFill>
                <a:latin typeface="Courier"/>
              </a:rPr>
              <a:t>3</a:t>
            </a:r>
          </a:p>
          <a:p>
            <a:pPr marL="0" lvl="0" indent="0" eaLnBrk="0" fontAlgn="base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None/>
            </a:pPr>
            <a:r>
              <a:rPr lang="en-US" altLang="en-US" dirty="0">
                <a:solidFill>
                  <a:schemeClr val="tx1"/>
                </a:solidFill>
                <a:latin typeface="Courier"/>
              </a:rPr>
              <a:t>4 #notice range does not include 5</a:t>
            </a:r>
          </a:p>
        </p:txBody>
      </p:sp>
    </p:spTree>
    <p:extLst>
      <p:ext uri="{BB962C8B-B14F-4D97-AF65-F5344CB8AC3E}">
        <p14:creationId xmlns:p14="http://schemas.microsoft.com/office/powerpoint/2010/main" val="1489108504"/>
      </p:ext>
    </p:extLst>
  </p:cSld>
  <p:clrMapOvr>
    <a:masterClrMapping/>
  </p:clrMapOvr>
</p:sld>
</file>

<file path=ppt/slides/slide5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74FC7763-F082-4D54-BFDB-26489FD4448E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While Loops</a:t>
            </a:r>
            <a:endParaRPr lang="en-CA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A3AE06D6-50C6-4985-A5CC-D219EC2FDA6B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dirty="0" err="1">
                <a:latin typeface="Courier"/>
              </a:rPr>
              <a:t>i</a:t>
            </a:r>
            <a:r>
              <a:rPr lang="en-US" dirty="0">
                <a:latin typeface="Courier"/>
              </a:rPr>
              <a:t> = 1</a:t>
            </a:r>
          </a:p>
          <a:p>
            <a:r>
              <a:rPr lang="en-US" dirty="0">
                <a:latin typeface="Courier"/>
              </a:rPr>
              <a:t>while </a:t>
            </a:r>
            <a:r>
              <a:rPr lang="en-US" dirty="0" err="1">
                <a:latin typeface="Courier"/>
              </a:rPr>
              <a:t>i</a:t>
            </a:r>
            <a:r>
              <a:rPr lang="en-US" dirty="0">
                <a:latin typeface="Courier"/>
              </a:rPr>
              <a:t> &lt; 6:</a:t>
            </a:r>
          </a:p>
          <a:p>
            <a:r>
              <a:rPr lang="en-US" dirty="0">
                <a:latin typeface="Courier"/>
              </a:rPr>
              <a:t>    print(</a:t>
            </a:r>
            <a:r>
              <a:rPr lang="en-US" dirty="0" err="1">
                <a:latin typeface="Courier"/>
              </a:rPr>
              <a:t>i</a:t>
            </a:r>
            <a:r>
              <a:rPr lang="en-US" dirty="0">
                <a:latin typeface="Courier"/>
              </a:rPr>
              <a:t>)</a:t>
            </a:r>
          </a:p>
          <a:p>
            <a:r>
              <a:rPr lang="en-US" dirty="0">
                <a:latin typeface="Courier"/>
              </a:rPr>
              <a:t>    </a:t>
            </a:r>
            <a:r>
              <a:rPr lang="en-US" dirty="0" err="1">
                <a:latin typeface="Courier"/>
              </a:rPr>
              <a:t>i</a:t>
            </a:r>
            <a:r>
              <a:rPr lang="en-US" dirty="0">
                <a:latin typeface="Courier"/>
              </a:rPr>
              <a:t> += 1</a:t>
            </a:r>
          </a:p>
          <a:p>
            <a:endParaRPr lang="en-CA" dirty="0">
              <a:latin typeface="Courier"/>
            </a:endParaRPr>
          </a:p>
          <a:p>
            <a:r>
              <a:rPr lang="en-CA" dirty="0"/>
              <a:t>Use while loops when you need to loop over something that is not a sequence.</a:t>
            </a:r>
          </a:p>
          <a:p>
            <a:r>
              <a:rPr lang="en-CA" dirty="0"/>
              <a:t>Remember to update the test expression!</a:t>
            </a:r>
          </a:p>
        </p:txBody>
      </p:sp>
    </p:spTree>
    <p:extLst>
      <p:ext uri="{BB962C8B-B14F-4D97-AF65-F5344CB8AC3E}">
        <p14:creationId xmlns:p14="http://schemas.microsoft.com/office/powerpoint/2010/main" val="1905575710"/>
      </p:ext>
    </p:extLst>
  </p:cSld>
  <p:clrMapOvr>
    <a:masterClrMapping/>
  </p:clrMapOvr>
</p:sld>
</file>

<file path=ppt/slides/slide5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238BCF51-31D3-4859-87B2-4020750D2AD0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Treat Python With Care</a:t>
            </a:r>
            <a:endParaRPr lang="en-CA" dirty="0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AD229408-FB17-4F86-8BD8-17A2E5971B44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CA"/>
          </a:p>
        </p:txBody>
      </p:sp>
    </p:spTree>
    <p:extLst>
      <p:ext uri="{BB962C8B-B14F-4D97-AF65-F5344CB8AC3E}">
        <p14:creationId xmlns:p14="http://schemas.microsoft.com/office/powerpoint/2010/main" val="2581926983"/>
      </p:ext>
    </p:extLst>
  </p:cSld>
  <p:clrMapOvr>
    <a:masterClrMapping/>
  </p:clrMapOvr>
</p:sld>
</file>

<file path=ppt/slides/slide5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itle 3">
            <a:extLst>
              <a:ext uri="{FF2B5EF4-FFF2-40B4-BE49-F238E27FC236}">
                <a16:creationId xmlns:a16="http://schemas.microsoft.com/office/drawing/2014/main" id="{E4AC8F22-008A-486E-8314-8C728371146A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Python Pitfalls</a:t>
            </a:r>
            <a:endParaRPr lang="en-CA" dirty="0"/>
          </a:p>
        </p:txBody>
      </p:sp>
      <p:sp>
        <p:nvSpPr>
          <p:cNvPr id="5" name="Content Placeholder 4">
            <a:extLst>
              <a:ext uri="{FF2B5EF4-FFF2-40B4-BE49-F238E27FC236}">
                <a16:creationId xmlns:a16="http://schemas.microsoft.com/office/drawing/2014/main" id="{70586A59-CD6F-46BA-A54A-A375797E8E7D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1097280" y="1845734"/>
            <a:ext cx="5157746" cy="4023360"/>
          </a:xfrm>
        </p:spPr>
        <p:txBody>
          <a:bodyPr/>
          <a:lstStyle/>
          <a:p>
            <a:pPr>
              <a:buFont typeface="Wingdings" panose="05000000000000000000" pitchFamily="2" charset="2"/>
              <a:buChar char="§"/>
            </a:pPr>
            <a:r>
              <a:rPr lang="en-US" dirty="0"/>
              <a:t> At first glance Python feels more like a scripting language without rigid rules.</a:t>
            </a:r>
          </a:p>
          <a:p>
            <a:pPr>
              <a:buFont typeface="Wingdings" panose="05000000000000000000" pitchFamily="2" charset="2"/>
              <a:buChar char="§"/>
            </a:pPr>
            <a:r>
              <a:rPr lang="en-US" dirty="0"/>
              <a:t> It’s “</a:t>
            </a:r>
            <a:r>
              <a:rPr lang="en-US" dirty="0" err="1"/>
              <a:t>Loosey</a:t>
            </a:r>
            <a:r>
              <a:rPr lang="en-US" dirty="0"/>
              <a:t> Goosey”</a:t>
            </a:r>
          </a:p>
          <a:p>
            <a:pPr>
              <a:buFont typeface="Wingdings" panose="05000000000000000000" pitchFamily="2" charset="2"/>
              <a:buChar char="§"/>
            </a:pPr>
            <a:r>
              <a:rPr lang="en-US" dirty="0"/>
              <a:t> It is tempting to use Python to write bad code</a:t>
            </a:r>
          </a:p>
          <a:p>
            <a:pPr>
              <a:buFont typeface="Wingdings" panose="05000000000000000000" pitchFamily="2" charset="2"/>
              <a:buChar char="§"/>
            </a:pPr>
            <a:r>
              <a:rPr lang="en-CA" dirty="0"/>
              <a:t> We will come across situations where this flexible nature of Python is an asset</a:t>
            </a:r>
          </a:p>
          <a:p>
            <a:pPr marL="0" indent="0">
              <a:buNone/>
            </a:pPr>
            <a:endParaRPr lang="en-CA" dirty="0"/>
          </a:p>
        </p:txBody>
      </p:sp>
      <p:pic>
        <p:nvPicPr>
          <p:cNvPr id="12290" name="Picture 2" descr="Image result for spider man with great power">
            <a:extLst>
              <a:ext uri="{FF2B5EF4-FFF2-40B4-BE49-F238E27FC236}">
                <a16:creationId xmlns:a16="http://schemas.microsoft.com/office/drawing/2014/main" id="{A908901B-E06F-42D0-8E1C-8BECBD0F81FE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6603104" y="1929343"/>
            <a:ext cx="4048125" cy="4048125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  <p:extLst>
      <p:ext uri="{BB962C8B-B14F-4D97-AF65-F5344CB8AC3E}">
        <p14:creationId xmlns:p14="http://schemas.microsoft.com/office/powerpoint/2010/main" val="2402978702"/>
      </p:ext>
    </p:extLst>
  </p:cSld>
  <p:clrMapOvr>
    <a:masterClrMapping/>
  </p:clrMapOvr>
</p:sld>
</file>

<file path=ppt/slides/slide5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itle 3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CA" dirty="0"/>
              <a:t>That’s All For Week 1!</a:t>
            </a:r>
          </a:p>
        </p:txBody>
      </p:sp>
      <p:sp>
        <p:nvSpPr>
          <p:cNvPr id="5" name="Content Placeholder 4"/>
          <p:cNvSpPr>
            <a:spLocks noGrp="1"/>
          </p:cNvSpPr>
          <p:nvPr>
            <p:ph idx="1"/>
          </p:nvPr>
        </p:nvSpPr>
        <p:spPr>
          <a:xfrm>
            <a:off x="1097280" y="1845734"/>
            <a:ext cx="6032390" cy="4023360"/>
          </a:xfrm>
        </p:spPr>
        <p:txBody>
          <a:bodyPr>
            <a:normAutofit/>
          </a:bodyPr>
          <a:lstStyle/>
          <a:p>
            <a:r>
              <a:rPr lang="en-CA" b="1" u="sng" dirty="0"/>
              <a:t>Quizzes start next week! </a:t>
            </a:r>
          </a:p>
          <a:p>
            <a:pPr>
              <a:buFont typeface="Wingdings" panose="05000000000000000000" pitchFamily="2" charset="2"/>
              <a:buChar char="§"/>
            </a:pPr>
            <a:r>
              <a:rPr lang="en-CA" dirty="0"/>
              <a:t> The Quiz next week will be during the first lecture</a:t>
            </a:r>
          </a:p>
          <a:p>
            <a:pPr>
              <a:buFont typeface="Wingdings" panose="05000000000000000000" pitchFamily="2" charset="2"/>
              <a:buChar char="§"/>
            </a:pPr>
            <a:r>
              <a:rPr lang="en-CA"/>
              <a:t> Next </a:t>
            </a:r>
            <a:r>
              <a:rPr lang="en-CA" dirty="0"/>
              <a:t>week we will cover Ranges and Slicing. This will be followed by Scope. That will give you all enough knowledge to get familiar with Python! (If you aren’t already).</a:t>
            </a:r>
          </a:p>
          <a:p>
            <a:pPr>
              <a:buFont typeface="Wingdings" panose="05000000000000000000" pitchFamily="2" charset="2"/>
              <a:buChar char="§"/>
            </a:pPr>
            <a:r>
              <a:rPr lang="en-CA" dirty="0"/>
              <a:t> Next week we will also get into OOP concepts and all the good stuff!</a:t>
            </a:r>
          </a:p>
        </p:txBody>
      </p:sp>
      <p:pic>
        <p:nvPicPr>
          <p:cNvPr id="13314" name="Picture 2" descr="Image result for thats all folks">
            <a:extLst>
              <a:ext uri="{FF2B5EF4-FFF2-40B4-BE49-F238E27FC236}">
                <a16:creationId xmlns:a16="http://schemas.microsoft.com/office/drawing/2014/main" id="{7F99401C-8C75-4914-AC78-476156ADEF2D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7243554" y="1975012"/>
            <a:ext cx="4206324" cy="4206324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  <p:extLst>
      <p:ext uri="{BB962C8B-B14F-4D97-AF65-F5344CB8AC3E}">
        <p14:creationId xmlns:p14="http://schemas.microsoft.com/office/powerpoint/2010/main" val="2609912581"/>
      </p:ext>
    </p:extLst>
  </p:cSld>
  <p:clrMapOvr>
    <a:masterClrMapping/>
  </p:clrMapOvr>
</p:sld>
</file>

<file path=ppt/theme/theme1.xml><?xml version="1.0" encoding="utf-8"?>
<a:theme xmlns:a="http://schemas.openxmlformats.org/drawingml/2006/main" name="Retrospect">
  <a:themeElements>
    <a:clrScheme name="Retrospect">
      <a:dk1>
        <a:sysClr val="windowText" lastClr="000000"/>
      </a:dk1>
      <a:lt1>
        <a:sysClr val="window" lastClr="FFFFFF"/>
      </a:lt1>
      <a:dk2>
        <a:srgbClr val="696464"/>
      </a:dk2>
      <a:lt2>
        <a:srgbClr val="E9E5DC"/>
      </a:lt2>
      <a:accent1>
        <a:srgbClr val="D34817"/>
      </a:accent1>
      <a:accent2>
        <a:srgbClr val="9B2D1F"/>
      </a:accent2>
      <a:accent3>
        <a:srgbClr val="A28E6A"/>
      </a:accent3>
      <a:accent4>
        <a:srgbClr val="956251"/>
      </a:accent4>
      <a:accent5>
        <a:srgbClr val="918485"/>
      </a:accent5>
      <a:accent6>
        <a:srgbClr val="855D5D"/>
      </a:accent6>
      <a:hlink>
        <a:srgbClr val="CC9900"/>
      </a:hlink>
      <a:folHlink>
        <a:srgbClr val="96A9A9"/>
      </a:folHlink>
    </a:clrScheme>
    <a:fontScheme name="Retrospect">
      <a:majorFont>
        <a:latin typeface="Calibri Light" panose="020F0302020204030204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 panose="020F0502020204030204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Retrospect">
      <a:fillStyleLst>
        <a:solidFill>
          <a:schemeClr val="phClr"/>
        </a:solidFill>
        <a:gradFill rotWithShape="1">
          <a:gsLst>
            <a:gs pos="0">
              <a:schemeClr val="phClr">
                <a:tint val="65000"/>
                <a:shade val="92000"/>
                <a:satMod val="130000"/>
              </a:schemeClr>
            </a:gs>
            <a:gs pos="45000">
              <a:schemeClr val="phClr">
                <a:tint val="60000"/>
                <a:shade val="99000"/>
                <a:satMod val="120000"/>
              </a:schemeClr>
            </a:gs>
            <a:gs pos="100000">
              <a:schemeClr val="phClr">
                <a:tint val="55000"/>
                <a:satMod val="140000"/>
              </a:schemeClr>
            </a:gs>
          </a:gsLst>
          <a:path path="circle">
            <a:fillToRect l="100000" t="100000" r="100000" b="100000"/>
          </a:path>
        </a:gradFill>
        <a:gradFill rotWithShape="1">
          <a:gsLst>
            <a:gs pos="0">
              <a:schemeClr val="phClr">
                <a:shade val="85000"/>
                <a:satMod val="130000"/>
              </a:schemeClr>
            </a:gs>
            <a:gs pos="34000">
              <a:schemeClr val="phClr">
                <a:shade val="87000"/>
                <a:satMod val="125000"/>
              </a:schemeClr>
            </a:gs>
            <a:gs pos="70000">
              <a:schemeClr val="phClr">
                <a:tint val="100000"/>
                <a:shade val="90000"/>
                <a:satMod val="130000"/>
              </a:schemeClr>
            </a:gs>
            <a:gs pos="100000">
              <a:schemeClr val="phClr">
                <a:tint val="100000"/>
                <a:shade val="100000"/>
                <a:satMod val="110000"/>
              </a:schemeClr>
            </a:gs>
          </a:gsLst>
          <a:path path="circle">
            <a:fillToRect l="100000" t="100000" r="100000" b="100000"/>
          </a:path>
        </a:gradFill>
      </a:fillStyleLst>
      <a:lnStyleLst>
        <a:ln w="12700" cap="flat" cmpd="sng" algn="ctr">
          <a:solidFill>
            <a:schemeClr val="phClr"/>
          </a:solidFill>
          <a:prstDash val="solid"/>
        </a:ln>
        <a:ln w="15875" cap="flat" cmpd="sng" algn="ctr">
          <a:solidFill>
            <a:schemeClr val="phClr"/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>
            <a:outerShdw blurRad="38100" dist="25400" dir="2700000" algn="br" rotWithShape="0">
              <a:srgbClr val="000000">
                <a:alpha val="60000"/>
              </a:srgbClr>
            </a:outerShdw>
          </a:effectLst>
        </a:effectStyle>
        <a:effectStyle>
          <a:effectLst>
            <a:outerShdw blurRad="44450" dist="25400" dir="2700000" algn="br" rotWithShape="0">
              <a:srgbClr val="000000">
                <a:alpha val="60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9800000"/>
            </a:lightRig>
          </a:scene3d>
          <a:sp3d prstMaterial="flat">
            <a:bevelT w="25400" h="31750"/>
          </a:sp3d>
        </a:effectStyle>
      </a:effectStyleLst>
      <a:bgFillStyleLst>
        <a:solidFill>
          <a:schemeClr val="phClr"/>
        </a:solidFill>
        <a:solidFill>
          <a:schemeClr val="phClr">
            <a:tint val="90000"/>
            <a:shade val="97000"/>
            <a:satMod val="130000"/>
          </a:schemeClr>
        </a:solidFill>
        <a:gradFill rotWithShape="1">
          <a:gsLst>
            <a:gs pos="0">
              <a:schemeClr val="phClr">
                <a:tint val="96000"/>
                <a:shade val="99000"/>
                <a:satMod val="140000"/>
              </a:schemeClr>
            </a:gs>
            <a:gs pos="65000">
              <a:schemeClr val="phClr">
                <a:tint val="100000"/>
                <a:shade val="80000"/>
                <a:satMod val="130000"/>
              </a:schemeClr>
            </a:gs>
            <a:gs pos="100000">
              <a:schemeClr val="phClr">
                <a:tint val="100000"/>
                <a:shade val="48000"/>
                <a:satMod val="120000"/>
              </a:schemeClr>
            </a:gs>
          </a:gsLst>
          <a:lin ang="162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Retrospect" id="{5F128B03-DCCA-4EEB-AB3B-CF2899314A46}" vid="{02006FA4-1611-4B07-AF7F-85CF6D20EB3E}"/>
    </a:ext>
  </a:extLst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5B9BD5"/>
      </a:accent1>
      <a:accent2>
        <a:srgbClr val="ED7D31"/>
      </a:accent2>
      <a:accent3>
        <a:srgbClr val="A5A5A5"/>
      </a:accent3>
      <a:accent4>
        <a:srgbClr val="FFC000"/>
      </a:accent4>
      <a:accent5>
        <a:srgbClr val="4472C4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emplate>Retrospect</Template>
  <TotalTime>9614</TotalTime>
  <Words>3333</Words>
  <Application>Microsoft Office PowerPoint</Application>
  <PresentationFormat>Widescreen</PresentationFormat>
  <Paragraphs>405</Paragraphs>
  <Slides>54</Slides>
  <Notes>11</Notes>
  <HiddenSlides>0</HiddenSlides>
  <MMClips>0</MMClips>
  <ScaleCrop>false</ScaleCrop>
  <HeadingPairs>
    <vt:vector size="6" baseType="variant">
      <vt:variant>
        <vt:lpstr>Fonts Used</vt:lpstr>
      </vt:variant>
      <vt:variant>
        <vt:i4>8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54</vt:i4>
      </vt:variant>
    </vt:vector>
  </HeadingPairs>
  <TitlesOfParts>
    <vt:vector size="63" baseType="lpstr">
      <vt:lpstr>Arial</vt:lpstr>
      <vt:lpstr>Calibri</vt:lpstr>
      <vt:lpstr>Calibri Light</vt:lpstr>
      <vt:lpstr>Consolas</vt:lpstr>
      <vt:lpstr>Courier</vt:lpstr>
      <vt:lpstr>Futura Condensed Medium</vt:lpstr>
      <vt:lpstr>Rockwell</vt:lpstr>
      <vt:lpstr>Wingdings</vt:lpstr>
      <vt:lpstr>Retrospect</vt:lpstr>
      <vt:lpstr>Welcome!</vt:lpstr>
      <vt:lpstr>Agenda</vt:lpstr>
      <vt:lpstr>Questions/Review</vt:lpstr>
      <vt:lpstr>__name__</vt:lpstr>
      <vt:lpstr>__name__</vt:lpstr>
      <vt:lpstr>__name__</vt:lpstr>
      <vt:lpstr>__name__</vt:lpstr>
      <vt:lpstr>Importance of indentation</vt:lpstr>
      <vt:lpstr>Importance of indentation</vt:lpstr>
      <vt:lpstr>Decimal places, extra curly braces</vt:lpstr>
      <vt:lpstr>Mutability</vt:lpstr>
      <vt:lpstr>PowerPoint Presentation</vt:lpstr>
      <vt:lpstr>String are Immutable</vt:lpstr>
      <vt:lpstr>Python Immutable Types</vt:lpstr>
      <vt:lpstr>Assignment Is Not Mutation</vt:lpstr>
      <vt:lpstr>Sequence Types</vt:lpstr>
      <vt:lpstr>Sequence Types</vt:lpstr>
      <vt:lpstr>Common Sequence Operations</vt:lpstr>
      <vt:lpstr>Mutable Sequence  Operations</vt:lpstr>
      <vt:lpstr>List</vt:lpstr>
      <vt:lpstr>Containers</vt:lpstr>
      <vt:lpstr>List </vt:lpstr>
      <vt:lpstr>List</vt:lpstr>
      <vt:lpstr>Lists are Mutable</vt:lpstr>
      <vt:lpstr>PowerPoint Presentation</vt:lpstr>
      <vt:lpstr>Sequence Functions and Methods</vt:lpstr>
      <vt:lpstr>Membership Operator</vt:lpstr>
      <vt:lpstr>Membership Operators</vt:lpstr>
      <vt:lpstr>Test Your Understanding</vt:lpstr>
      <vt:lpstr>Tuples</vt:lpstr>
      <vt:lpstr>Tuples</vt:lpstr>
      <vt:lpstr>Tuples (Example)</vt:lpstr>
      <vt:lpstr>Dictionaries</vt:lpstr>
      <vt:lpstr>Dictionaries</vt:lpstr>
      <vt:lpstr>What can we use for keys?</vt:lpstr>
      <vt:lpstr>Challenge: what’s this?</vt:lpstr>
      <vt:lpstr>Growing a dictionary</vt:lpstr>
      <vt:lpstr>Dictionaries are mutable</vt:lpstr>
      <vt:lpstr>We can use a dictionary in many ways</vt:lpstr>
      <vt:lpstr>We can use a dictionary in many ways</vt:lpstr>
      <vt:lpstr>Views</vt:lpstr>
      <vt:lpstr>When a list is not a list but in fact a view</vt:lpstr>
      <vt:lpstr>What is a view</vt:lpstr>
      <vt:lpstr>View example</vt:lpstr>
      <vt:lpstr>View example</vt:lpstr>
      <vt:lpstr>Iteration - Loops</vt:lpstr>
      <vt:lpstr>For Loops</vt:lpstr>
      <vt:lpstr>For Loops</vt:lpstr>
      <vt:lpstr>For Loops</vt:lpstr>
      <vt:lpstr>For Loops</vt:lpstr>
      <vt:lpstr>While Loops</vt:lpstr>
      <vt:lpstr>Treat Python With Care</vt:lpstr>
      <vt:lpstr>Python Pitfalls</vt:lpstr>
      <vt:lpstr>That’s All For Week 1!</vt:lpstr>
    </vt:vector>
  </TitlesOfParts>
  <Company>BCIT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Welcome!</dc:title>
  <dc:creator>Rahul Kukreja</dc:creator>
  <cp:lastModifiedBy>Nabil Al-Rousan</cp:lastModifiedBy>
  <cp:revision>196</cp:revision>
  <dcterms:created xsi:type="dcterms:W3CDTF">2019-09-02T04:13:47Z</dcterms:created>
  <dcterms:modified xsi:type="dcterms:W3CDTF">2025-10-03T00:09:48Z</dcterms:modified>
</cp:coreProperties>
</file>