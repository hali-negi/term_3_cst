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5"/>
  </p:notesMasterIdLst>
  <p:sldIdLst>
    <p:sldId id="256" r:id="rId2"/>
    <p:sldId id="303" r:id="rId3"/>
    <p:sldId id="1332" r:id="rId4"/>
    <p:sldId id="1318" r:id="rId5"/>
    <p:sldId id="1319" r:id="rId6"/>
    <p:sldId id="1320" r:id="rId7"/>
    <p:sldId id="1321" r:id="rId8"/>
    <p:sldId id="1322" r:id="rId9"/>
    <p:sldId id="1323" r:id="rId10"/>
    <p:sldId id="1324" r:id="rId11"/>
    <p:sldId id="1325" r:id="rId12"/>
    <p:sldId id="1326" r:id="rId13"/>
    <p:sldId id="1327" r:id="rId14"/>
    <p:sldId id="1328" r:id="rId15"/>
    <p:sldId id="1339" r:id="rId16"/>
    <p:sldId id="1340" r:id="rId17"/>
    <p:sldId id="1329" r:id="rId18"/>
    <p:sldId id="1330" r:id="rId19"/>
    <p:sldId id="1333" r:id="rId20"/>
    <p:sldId id="1265" r:id="rId21"/>
    <p:sldId id="1298" r:id="rId22"/>
    <p:sldId id="1299" r:id="rId23"/>
    <p:sldId id="1239" r:id="rId24"/>
    <p:sldId id="1301" r:id="rId25"/>
    <p:sldId id="1300" r:id="rId26"/>
    <p:sldId id="1302" r:id="rId27"/>
    <p:sldId id="1304" r:id="rId28"/>
    <p:sldId id="1259" r:id="rId29"/>
    <p:sldId id="1269" r:id="rId30"/>
    <p:sldId id="1341" r:id="rId31"/>
    <p:sldId id="1334" r:id="rId32"/>
    <p:sldId id="1270" r:id="rId33"/>
    <p:sldId id="1263" r:id="rId34"/>
    <p:sldId id="1305" r:id="rId35"/>
    <p:sldId id="1306" r:id="rId36"/>
    <p:sldId id="1271" r:id="rId37"/>
    <p:sldId id="1272" r:id="rId38"/>
    <p:sldId id="1307" r:id="rId39"/>
    <p:sldId id="1311" r:id="rId40"/>
    <p:sldId id="1312" r:id="rId41"/>
    <p:sldId id="1308" r:id="rId42"/>
    <p:sldId id="1309" r:id="rId43"/>
    <p:sldId id="1313" r:id="rId44"/>
    <p:sldId id="1310" r:id="rId45"/>
    <p:sldId id="1335" r:id="rId46"/>
    <p:sldId id="1336" r:id="rId47"/>
    <p:sldId id="547" r:id="rId48"/>
    <p:sldId id="1337" r:id="rId49"/>
    <p:sldId id="540" r:id="rId50"/>
    <p:sldId id="1278" r:id="rId51"/>
    <p:sldId id="1277" r:id="rId52"/>
    <p:sldId id="1282" r:id="rId53"/>
    <p:sldId id="1279" r:id="rId54"/>
    <p:sldId id="1314" r:id="rId55"/>
    <p:sldId id="1315" r:id="rId56"/>
    <p:sldId id="680" r:id="rId57"/>
    <p:sldId id="681" r:id="rId58"/>
    <p:sldId id="1338" r:id="rId59"/>
    <p:sldId id="615" r:id="rId60"/>
    <p:sldId id="616" r:id="rId61"/>
    <p:sldId id="1316" r:id="rId62"/>
    <p:sldId id="1280" r:id="rId63"/>
    <p:sldId id="1317"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3C52B1B-8552-4EA8-9F30-F71A1F646BFC}">
          <p14:sldIdLst>
            <p14:sldId id="256"/>
            <p14:sldId id="303"/>
            <p14:sldId id="1332"/>
            <p14:sldId id="1318"/>
            <p14:sldId id="1319"/>
            <p14:sldId id="1320"/>
            <p14:sldId id="1321"/>
            <p14:sldId id="1322"/>
            <p14:sldId id="1323"/>
            <p14:sldId id="1324"/>
            <p14:sldId id="1325"/>
            <p14:sldId id="1326"/>
            <p14:sldId id="1327"/>
            <p14:sldId id="1328"/>
            <p14:sldId id="1339"/>
            <p14:sldId id="1340"/>
            <p14:sldId id="1329"/>
            <p14:sldId id="1330"/>
            <p14:sldId id="1333"/>
            <p14:sldId id="1265"/>
            <p14:sldId id="1298"/>
            <p14:sldId id="1299"/>
            <p14:sldId id="1239"/>
            <p14:sldId id="1301"/>
            <p14:sldId id="1300"/>
            <p14:sldId id="1302"/>
            <p14:sldId id="1304"/>
            <p14:sldId id="1259"/>
            <p14:sldId id="1269"/>
            <p14:sldId id="1341"/>
            <p14:sldId id="1334"/>
            <p14:sldId id="1270"/>
            <p14:sldId id="1263"/>
            <p14:sldId id="1305"/>
            <p14:sldId id="1306"/>
            <p14:sldId id="1271"/>
            <p14:sldId id="1272"/>
            <p14:sldId id="1307"/>
            <p14:sldId id="1311"/>
            <p14:sldId id="1312"/>
            <p14:sldId id="1308"/>
            <p14:sldId id="1309"/>
            <p14:sldId id="1313"/>
            <p14:sldId id="1310"/>
            <p14:sldId id="1335"/>
            <p14:sldId id="1336"/>
            <p14:sldId id="547"/>
            <p14:sldId id="1337"/>
            <p14:sldId id="540"/>
            <p14:sldId id="1278"/>
            <p14:sldId id="1277"/>
            <p14:sldId id="1282"/>
            <p14:sldId id="1279"/>
            <p14:sldId id="1314"/>
            <p14:sldId id="1315"/>
            <p14:sldId id="680"/>
            <p14:sldId id="681"/>
            <p14:sldId id="1338"/>
            <p14:sldId id="615"/>
            <p14:sldId id="616"/>
            <p14:sldId id="1316"/>
            <p14:sldId id="1280"/>
            <p14:sldId id="131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CB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3" autoAdjust="0"/>
    <p:restoredTop sz="81402" autoAdjust="0"/>
  </p:normalViewPr>
  <p:slideViewPr>
    <p:cSldViewPr snapToGrid="0">
      <p:cViewPr varScale="1">
        <p:scale>
          <a:sx n="74" d="100"/>
          <a:sy n="74" d="100"/>
        </p:scale>
        <p:origin x="77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97FE11-279C-4A31-AF18-49445EF40DF0}" type="datetimeFigureOut">
              <a:rPr lang="en-CA" smtClean="0"/>
              <a:t>2023-09-12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969246-A70B-4C9F-A67E-C2E21AFF715D}" type="slidenum">
              <a:rPr lang="en-CA" smtClean="0"/>
              <a:t>‹#›</a:t>
            </a:fld>
            <a:endParaRPr lang="en-CA"/>
          </a:p>
        </p:txBody>
      </p:sp>
    </p:spTree>
    <p:extLst>
      <p:ext uri="{BB962C8B-B14F-4D97-AF65-F5344CB8AC3E}">
        <p14:creationId xmlns:p14="http://schemas.microsoft.com/office/powerpoint/2010/main" val="1132055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6969246-A70B-4C9F-A67E-C2E21AFF715D}" type="slidenum">
              <a:rPr lang="en-CA" smtClean="0"/>
              <a:t>2</a:t>
            </a:fld>
            <a:endParaRPr lang="en-CA"/>
          </a:p>
        </p:txBody>
      </p:sp>
    </p:spTree>
    <p:extLst>
      <p:ext uri="{BB962C8B-B14F-4D97-AF65-F5344CB8AC3E}">
        <p14:creationId xmlns:p14="http://schemas.microsoft.com/office/powerpoint/2010/main" val="3994204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6969246-A70B-4C9F-A67E-C2E21AFF715D}" type="slidenum">
              <a:rPr lang="en-CA" smtClean="0"/>
              <a:t>3</a:t>
            </a:fld>
            <a:endParaRPr lang="en-CA"/>
          </a:p>
        </p:txBody>
      </p:sp>
    </p:spTree>
    <p:extLst>
      <p:ext uri="{BB962C8B-B14F-4D97-AF65-F5344CB8AC3E}">
        <p14:creationId xmlns:p14="http://schemas.microsoft.com/office/powerpoint/2010/main" val="345530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err="1">
                <a:solidFill>
                  <a:srgbClr val="080808"/>
                </a:solidFill>
                <a:latin typeface="Consolas" panose="020B0609020204030204" pitchFamily="49" charset="0"/>
              </a:rPr>
              <a:t>datetime.datetime</a:t>
            </a:r>
            <a:r>
              <a:rPr lang="en-US" altLang="en-US" sz="1200" dirty="0">
                <a:solidFill>
                  <a:srgbClr val="080808"/>
                </a:solidFill>
                <a:latin typeface="Consolas" panose="020B0609020204030204" pitchFamily="49" charset="0"/>
              </a:rPr>
              <a:t>(</a:t>
            </a:r>
            <a:r>
              <a:rPr lang="en-US" altLang="en-US" sz="1200" dirty="0">
                <a:solidFill>
                  <a:srgbClr val="1750EB"/>
                </a:solidFill>
                <a:latin typeface="Consolas" panose="020B0609020204030204" pitchFamily="49" charset="0"/>
              </a:rPr>
              <a:t>year</a:t>
            </a:r>
            <a:r>
              <a:rPr lang="en-US" altLang="en-US" sz="1200" dirty="0">
                <a:solidFill>
                  <a:srgbClr val="080808"/>
                </a:solidFill>
                <a:latin typeface="Consolas" panose="020B0609020204030204" pitchFamily="49" charset="0"/>
              </a:rPr>
              <a:t>, </a:t>
            </a:r>
            <a:r>
              <a:rPr lang="en-US" altLang="en-US" sz="1200" dirty="0">
                <a:solidFill>
                  <a:srgbClr val="1750EB"/>
                </a:solidFill>
                <a:latin typeface="Consolas" panose="020B0609020204030204" pitchFamily="49" charset="0"/>
              </a:rPr>
              <a:t>month</a:t>
            </a:r>
            <a:r>
              <a:rPr lang="en-US" altLang="en-US" sz="1200" dirty="0">
                <a:solidFill>
                  <a:srgbClr val="080808"/>
                </a:solidFill>
                <a:latin typeface="Consolas" panose="020B0609020204030204" pitchFamily="49" charset="0"/>
              </a:rPr>
              <a:t>, </a:t>
            </a:r>
            <a:r>
              <a:rPr lang="en-US" altLang="en-US" sz="1200" dirty="0">
                <a:solidFill>
                  <a:srgbClr val="1750EB"/>
                </a:solidFill>
                <a:latin typeface="Consolas" panose="020B0609020204030204" pitchFamily="49" charset="0"/>
              </a:rPr>
              <a:t>day</a:t>
            </a:r>
            <a:r>
              <a:rPr lang="en-US" altLang="en-US" sz="1200" dirty="0">
                <a:solidFill>
                  <a:srgbClr val="080808"/>
                </a:solidFill>
                <a:latin typeface="Consolas" panose="020B0609020204030204" pitchFamily="49" charset="0"/>
              </a:rPr>
              <a:t>, </a:t>
            </a:r>
            <a:r>
              <a:rPr lang="en-US" altLang="en-US" sz="1200" dirty="0">
                <a:solidFill>
                  <a:srgbClr val="1750EB"/>
                </a:solidFill>
                <a:latin typeface="Consolas" panose="020B0609020204030204" pitchFamily="49" charset="0"/>
              </a:rPr>
              <a:t>hour</a:t>
            </a:r>
            <a:r>
              <a:rPr lang="en-US" altLang="en-US" sz="1200" dirty="0">
                <a:solidFill>
                  <a:srgbClr val="080808"/>
                </a:solidFill>
                <a:latin typeface="Consolas" panose="020B0609020204030204" pitchFamily="49" charset="0"/>
              </a:rPr>
              <a:t>)</a:t>
            </a:r>
            <a:br>
              <a:rPr lang="en-US" altLang="en-US" sz="1200" dirty="0">
                <a:solidFill>
                  <a:srgbClr val="080808"/>
                </a:solidFill>
                <a:latin typeface="Consolas" panose="020B0609020204030204" pitchFamily="49" charset="0"/>
              </a:rPr>
            </a:br>
            <a:endParaRPr lang="en-CA" dirty="0"/>
          </a:p>
        </p:txBody>
      </p:sp>
      <p:sp>
        <p:nvSpPr>
          <p:cNvPr id="4" name="Slide Number Placeholder 3"/>
          <p:cNvSpPr>
            <a:spLocks noGrp="1"/>
          </p:cNvSpPr>
          <p:nvPr>
            <p:ph type="sldNum" sz="quarter" idx="5"/>
          </p:nvPr>
        </p:nvSpPr>
        <p:spPr/>
        <p:txBody>
          <a:bodyPr/>
          <a:lstStyle/>
          <a:p>
            <a:fld id="{F6969246-A70B-4C9F-A67E-C2E21AFF715D}" type="slidenum">
              <a:rPr lang="en-CA" smtClean="0"/>
              <a:t>19</a:t>
            </a:fld>
            <a:endParaRPr lang="en-CA"/>
          </a:p>
        </p:txBody>
      </p:sp>
    </p:spTree>
    <p:extLst>
      <p:ext uri="{BB962C8B-B14F-4D97-AF65-F5344CB8AC3E}">
        <p14:creationId xmlns:p14="http://schemas.microsoft.com/office/powerpoint/2010/main" val="427904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6969246-A70B-4C9F-A67E-C2E21AFF715D}" type="slidenum">
              <a:rPr lang="en-CA" smtClean="0"/>
              <a:t>20</a:t>
            </a:fld>
            <a:endParaRPr lang="en-CA"/>
          </a:p>
        </p:txBody>
      </p:sp>
    </p:spTree>
    <p:extLst>
      <p:ext uri="{BB962C8B-B14F-4D97-AF65-F5344CB8AC3E}">
        <p14:creationId xmlns:p14="http://schemas.microsoft.com/office/powerpoint/2010/main" val="4169792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6969246-A70B-4C9F-A67E-C2E21AFF715D}" type="slidenum">
              <a:rPr lang="en-CA" smtClean="0"/>
              <a:t>40</a:t>
            </a:fld>
            <a:endParaRPr lang="en-CA"/>
          </a:p>
        </p:txBody>
      </p:sp>
    </p:spTree>
    <p:extLst>
      <p:ext uri="{BB962C8B-B14F-4D97-AF65-F5344CB8AC3E}">
        <p14:creationId xmlns:p14="http://schemas.microsoft.com/office/powerpoint/2010/main" val="4151612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969246-A70B-4C9F-A67E-C2E21AFF715D}" type="slidenum">
              <a:rPr lang="en-CA" smtClean="0"/>
              <a:t>58</a:t>
            </a:fld>
            <a:endParaRPr lang="en-CA"/>
          </a:p>
        </p:txBody>
      </p:sp>
    </p:spTree>
    <p:extLst>
      <p:ext uri="{BB962C8B-B14F-4D97-AF65-F5344CB8AC3E}">
        <p14:creationId xmlns:p14="http://schemas.microsoft.com/office/powerpoint/2010/main" val="1272080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CA" b="0" i="0" dirty="0">
                <a:solidFill>
                  <a:srgbClr val="374151"/>
                </a:solidFill>
                <a:effectLst/>
                <a:latin typeface="Söhne"/>
              </a:rPr>
              <a:t>Abstraction is a technique for separating the interface of a class from its implementation. It allows you to focus on what a class does, rather than how it does it. The idea is to hide the implementation details from the user, so that the user can interact with the class only through its interface.</a:t>
            </a:r>
          </a:p>
          <a:p>
            <a:pPr algn="l"/>
            <a:endParaRPr lang="en-CA" b="0" i="0" dirty="0">
              <a:solidFill>
                <a:srgbClr val="374151"/>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F6969246-A70B-4C9F-A67E-C2E21AFF715D}" type="slidenum">
              <a:rPr lang="en-CA" smtClean="0"/>
              <a:t>59</a:t>
            </a:fld>
            <a:endParaRPr lang="en-CA"/>
          </a:p>
        </p:txBody>
      </p:sp>
    </p:spTree>
    <p:extLst>
      <p:ext uri="{BB962C8B-B14F-4D97-AF65-F5344CB8AC3E}">
        <p14:creationId xmlns:p14="http://schemas.microsoft.com/office/powerpoint/2010/main" val="2831453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CA" b="0" i="0" dirty="0">
                <a:solidFill>
                  <a:srgbClr val="374151"/>
                </a:solidFill>
                <a:effectLst/>
                <a:latin typeface="Söhne"/>
              </a:rPr>
              <a:t>Modularization is a software design technique that involves dividing a large, complex program into smaller, more manageable modules. Each module is a self-contained unit that performs a specific task and has a well-defined interface through which it communicates with other modules. Modularization makes it easier to develop, test, and maintain large programs by allowing you to work on one module at a time.</a:t>
            </a:r>
          </a:p>
          <a:p>
            <a:pPr algn="l"/>
            <a:endParaRPr lang="en-CA" b="0" i="0" dirty="0">
              <a:solidFill>
                <a:srgbClr val="374151"/>
              </a:solidFill>
              <a:effectLst/>
              <a:latin typeface="Söhne"/>
            </a:endParaRPr>
          </a:p>
          <a:p>
            <a:pPr algn="l"/>
            <a:r>
              <a:rPr lang="en-CA" b="0" i="0" dirty="0">
                <a:solidFill>
                  <a:srgbClr val="374151"/>
                </a:solidFill>
                <a:effectLst/>
                <a:latin typeface="Söhne"/>
              </a:rPr>
              <a:t>In object-oriented programming, abstraction and modularization are often used together to create reusable and modular code. Abstraction helps to hide the implementation details of a module from other parts of the program, while modularization helps to organize the code into smaller, more manageable units.</a:t>
            </a:r>
            <a:endParaRPr lang="en-CA" dirty="0"/>
          </a:p>
          <a:p>
            <a:endParaRPr lang="en-CA" dirty="0"/>
          </a:p>
          <a:p>
            <a:r>
              <a:rPr lang="en-CA" dirty="0"/>
              <a:t>If an Entity isn’</a:t>
            </a:r>
            <a:r>
              <a:rPr lang="en-CA" baseline="0" dirty="0"/>
              <a:t>t focused to be one thing and it', need to split into different entities. </a:t>
            </a:r>
          </a:p>
          <a:p>
            <a:endParaRPr lang="en-CA" baseline="0" dirty="0"/>
          </a:p>
          <a:p>
            <a:r>
              <a:rPr lang="en-CA" b="0" i="0" dirty="0">
                <a:solidFill>
                  <a:srgbClr val="202124"/>
                </a:solidFill>
                <a:effectLst/>
                <a:latin typeface="arial" panose="020B0604020202020204" pitchFamily="34" charset="0"/>
              </a:rPr>
              <a:t>Modular programming (also referred to as modular architecture) is a general programming concept. It involves </a:t>
            </a:r>
            <a:r>
              <a:rPr lang="en-CA" b="1" i="0" dirty="0">
                <a:solidFill>
                  <a:srgbClr val="202124"/>
                </a:solidFill>
                <a:effectLst/>
                <a:latin typeface="arial" panose="020B0604020202020204" pitchFamily="34" charset="0"/>
              </a:rPr>
              <a:t>separating a program's functions into independent pieces or building blocks, each containing all the parts needed to execute a single aspect of the functionality</a:t>
            </a:r>
            <a:endParaRPr lang="en-CA" dirty="0"/>
          </a:p>
        </p:txBody>
      </p:sp>
      <p:sp>
        <p:nvSpPr>
          <p:cNvPr id="4" name="Slide Number Placeholder 3"/>
          <p:cNvSpPr>
            <a:spLocks noGrp="1"/>
          </p:cNvSpPr>
          <p:nvPr>
            <p:ph type="sldNum" sz="quarter" idx="10"/>
          </p:nvPr>
        </p:nvSpPr>
        <p:spPr/>
        <p:txBody>
          <a:bodyPr/>
          <a:lstStyle/>
          <a:p>
            <a:fld id="{F6969246-A70B-4C9F-A67E-C2E21AFF715D}" type="slidenum">
              <a:rPr lang="en-CA" smtClean="0"/>
              <a:t>60</a:t>
            </a:fld>
            <a:endParaRPr lang="en-CA"/>
          </a:p>
        </p:txBody>
      </p:sp>
    </p:spTree>
    <p:extLst>
      <p:ext uri="{BB962C8B-B14F-4D97-AF65-F5344CB8AC3E}">
        <p14:creationId xmlns:p14="http://schemas.microsoft.com/office/powerpoint/2010/main" val="19695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069CB8-F204-4D06-B913-C5A26A89888A}" type="datetimeFigureOut">
              <a:rPr lang="en-US" dirty="0"/>
              <a:t>9/12/2023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0BB376-B19C-488D-ABEB-03C7E6E9E3E0}" type="datetimeFigureOut">
              <a:rPr lang="en-US" dirty="0"/>
              <a:t>9/12/2023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29637A9-119A-49DA-BD12-AAC58B377D80}"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6F077B-A50F-4D64-8574-E2D6A98A5553}" type="datetimeFigureOut">
              <a:rPr lang="en-US" dirty="0"/>
              <a:t>9/12/2023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9E2A62-1983-43A1-A163-D8AA46534C80}" type="datetimeFigureOut">
              <a:rPr lang="en-US" dirty="0"/>
              <a:t>9/12/2023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8F3E3B-34E3-4345-B2A1-994B83598A9C}" type="datetimeFigureOut">
              <a:rPr lang="en-US" dirty="0"/>
              <a:t>9/12/2023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816C96-82A1-4D77-8ADA-627AC6FE3D65}" type="datetimeFigureOut">
              <a:rPr lang="en-US" dirty="0"/>
              <a:t>9/12/2023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102C1E-28F2-47E9-802D-339E64E2F920}" type="datetimeFigureOut">
              <a:rPr lang="en-US" dirty="0"/>
              <a:t>9/12/2023</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t>9/12/2023</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5B747F8-9654-4282-85D2-65F41AAE7A75}" type="datetimeFigureOut">
              <a:rPr lang="en-US" dirty="0"/>
              <a:t>9/12/2023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B6E300-0A13-4A81-945A-7333C271A069}" type="datetimeFigureOut">
              <a:rPr lang="en-US" dirty="0"/>
              <a:t>9/12/2023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671962-1EA4-46E7-BCB0-F36CE46D1A59}" type="datetimeFigureOut">
              <a:rPr lang="en-US" dirty="0"/>
              <a:t>9/12/2023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t>9/12/2023</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ocs.python.org/3.7/library/time.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docs.python.org/3.7/library/datetime.html#module-datetim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ocs.python.org/3.7/library/datetime.html#module-datetime"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Welcome!</a:t>
            </a:r>
          </a:p>
        </p:txBody>
      </p:sp>
      <p:sp>
        <p:nvSpPr>
          <p:cNvPr id="3" name="Subtitle 2"/>
          <p:cNvSpPr>
            <a:spLocks noGrp="1"/>
          </p:cNvSpPr>
          <p:nvPr>
            <p:ph type="subTitle" idx="1"/>
          </p:nvPr>
        </p:nvSpPr>
        <p:spPr/>
        <p:txBody>
          <a:bodyPr>
            <a:normAutofit fontScale="85000" lnSpcReduction="20000"/>
          </a:bodyPr>
          <a:lstStyle/>
          <a:p>
            <a:r>
              <a:rPr lang="en-CA" dirty="0"/>
              <a:t>COMP 3522 Object Oriented Programming 2</a:t>
            </a:r>
          </a:p>
          <a:p>
            <a:r>
              <a:rPr lang="en-CA" dirty="0"/>
              <a:t>Week 2: Revisiting Object Oriented Programming</a:t>
            </a:r>
          </a:p>
          <a:p>
            <a:r>
              <a:rPr lang="en-CA" dirty="0"/>
              <a:t>Slides by Jeffrey Yim</a:t>
            </a:r>
          </a:p>
        </p:txBody>
      </p:sp>
    </p:spTree>
    <p:extLst>
      <p:ext uri="{BB962C8B-B14F-4D97-AF65-F5344CB8AC3E}">
        <p14:creationId xmlns:p14="http://schemas.microsoft.com/office/powerpoint/2010/main" val="1132307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8856F-1EFF-4185-93B9-3C2B73FA14C8}"/>
              </a:ext>
            </a:extLst>
          </p:cNvPr>
          <p:cNvSpPr>
            <a:spLocks noGrp="1"/>
          </p:cNvSpPr>
          <p:nvPr>
            <p:ph type="title"/>
          </p:nvPr>
        </p:nvSpPr>
        <p:spPr/>
        <p:txBody>
          <a:bodyPr/>
          <a:lstStyle/>
          <a:p>
            <a:r>
              <a:rPr lang="en-CA" dirty="0"/>
              <a:t>Agenda</a:t>
            </a:r>
          </a:p>
        </p:txBody>
      </p:sp>
      <p:sp>
        <p:nvSpPr>
          <p:cNvPr id="3" name="Content Placeholder 2">
            <a:extLst>
              <a:ext uri="{FF2B5EF4-FFF2-40B4-BE49-F238E27FC236}">
                <a16:creationId xmlns:a16="http://schemas.microsoft.com/office/drawing/2014/main" id="{EF8BF406-B0B7-4A7A-BB97-3391AD3984B6}"/>
              </a:ext>
            </a:extLst>
          </p:cNvPr>
          <p:cNvSpPr>
            <a:spLocks noGrp="1"/>
          </p:cNvSpPr>
          <p:nvPr>
            <p:ph idx="1"/>
          </p:nvPr>
        </p:nvSpPr>
        <p:spPr>
          <a:xfrm>
            <a:off x="1097280" y="1845734"/>
            <a:ext cx="10058400" cy="4023360"/>
          </a:xfrm>
        </p:spPr>
        <p:txBody>
          <a:bodyPr numCol="2">
            <a:normAutofit/>
          </a:bodyPr>
          <a:lstStyle/>
          <a:p>
            <a:pPr marL="514350" indent="-514350">
              <a:buFont typeface="+mj-lt"/>
              <a:buAutoNum type="arabicPeriod"/>
            </a:pPr>
            <a:r>
              <a:rPr lang="en-US" dirty="0" err="1"/>
              <a:t>Datetime</a:t>
            </a:r>
            <a:endParaRPr lang="en-US" dirty="0"/>
          </a:p>
          <a:p>
            <a:pPr marL="514350" indent="-514350">
              <a:buFont typeface="+mj-lt"/>
              <a:buAutoNum type="arabicPeriod"/>
            </a:pPr>
            <a:r>
              <a:rPr lang="en-US" dirty="0"/>
              <a:t>Essential Object Oriented Programming. (All about Classes &amp; Objects)</a:t>
            </a:r>
          </a:p>
          <a:p>
            <a:pPr marL="514350" indent="-514350">
              <a:buFont typeface="+mj-lt"/>
              <a:buAutoNum type="arabicPeriod"/>
            </a:pPr>
            <a:r>
              <a:rPr lang="en-US" dirty="0"/>
              <a:t>The core tenets of Object Oriented Programming</a:t>
            </a:r>
          </a:p>
          <a:p>
            <a:pPr marL="806958" lvl="1" indent="-514350">
              <a:buFont typeface="+mj-lt"/>
              <a:buAutoNum type="arabicPeriod"/>
            </a:pPr>
            <a:r>
              <a:rPr lang="en-US" dirty="0"/>
              <a:t>Abstraction and Modularization</a:t>
            </a:r>
          </a:p>
          <a:p>
            <a:pPr marL="806958" lvl="1" indent="-514350">
              <a:buFont typeface="+mj-lt"/>
              <a:buAutoNum type="arabicPeriod"/>
            </a:pPr>
            <a:r>
              <a:rPr lang="en-US" dirty="0"/>
              <a:t>Polymorphism</a:t>
            </a:r>
          </a:p>
          <a:p>
            <a:pPr marL="806958" lvl="1" indent="-514350">
              <a:buFont typeface="+mj-lt"/>
              <a:buAutoNum type="arabicPeriod"/>
            </a:pPr>
            <a:r>
              <a:rPr lang="en-US" dirty="0"/>
              <a:t>Encapsulation</a:t>
            </a:r>
          </a:p>
          <a:p>
            <a:pPr marL="806958" lvl="1" indent="-514350">
              <a:buFont typeface="+mj-lt"/>
              <a:buAutoNum type="arabicPeriod"/>
            </a:pPr>
            <a:r>
              <a:rPr lang="en-US" dirty="0"/>
              <a:t>Inheritance</a:t>
            </a:r>
          </a:p>
        </p:txBody>
      </p:sp>
    </p:spTree>
    <p:extLst>
      <p:ext uri="{BB962C8B-B14F-4D97-AF65-F5344CB8AC3E}">
        <p14:creationId xmlns:p14="http://schemas.microsoft.com/office/powerpoint/2010/main" val="199519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21C8B-18A0-AC44-B895-BC122647E75B}"/>
              </a:ext>
            </a:extLst>
          </p:cNvPr>
          <p:cNvSpPr>
            <a:spLocks noGrp="1"/>
          </p:cNvSpPr>
          <p:nvPr>
            <p:ph type="title"/>
          </p:nvPr>
        </p:nvSpPr>
        <p:spPr/>
        <p:txBody>
          <a:bodyPr/>
          <a:lstStyle/>
          <a:p>
            <a:r>
              <a:rPr lang="en-US" dirty="0"/>
              <a:t>DATETIME</a:t>
            </a:r>
          </a:p>
        </p:txBody>
      </p:sp>
      <p:sp>
        <p:nvSpPr>
          <p:cNvPr id="3" name="Text Placeholder 2">
            <a:extLst>
              <a:ext uri="{FF2B5EF4-FFF2-40B4-BE49-F238E27FC236}">
                <a16:creationId xmlns:a16="http://schemas.microsoft.com/office/drawing/2014/main" id="{5866C6BB-411D-634C-A8F0-F991945877B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84744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7CB2-0173-0B4D-BE78-FEB94C9C10A4}"/>
              </a:ext>
            </a:extLst>
          </p:cNvPr>
          <p:cNvSpPr>
            <a:spLocks noGrp="1"/>
          </p:cNvSpPr>
          <p:nvPr>
            <p:ph type="title"/>
          </p:nvPr>
        </p:nvSpPr>
        <p:spPr/>
        <p:txBody>
          <a:bodyPr/>
          <a:lstStyle/>
          <a:p>
            <a:r>
              <a:rPr lang="en-US" dirty="0"/>
              <a:t>An interesting idea</a:t>
            </a:r>
          </a:p>
        </p:txBody>
      </p:sp>
      <p:sp>
        <p:nvSpPr>
          <p:cNvPr id="3" name="Content Placeholder 2">
            <a:extLst>
              <a:ext uri="{FF2B5EF4-FFF2-40B4-BE49-F238E27FC236}">
                <a16:creationId xmlns:a16="http://schemas.microsoft.com/office/drawing/2014/main" id="{7A186F90-9B95-7D4D-858B-B47C390099B9}"/>
              </a:ext>
            </a:extLst>
          </p:cNvPr>
          <p:cNvSpPr>
            <a:spLocks noGrp="1"/>
          </p:cNvSpPr>
          <p:nvPr>
            <p:ph idx="1"/>
          </p:nvPr>
        </p:nvSpPr>
        <p:spPr/>
        <p:txBody>
          <a:bodyPr/>
          <a:lstStyle/>
          <a:p>
            <a:r>
              <a:rPr lang="en-US" dirty="0"/>
              <a:t>Running programs while you’re at your computer is fine</a:t>
            </a:r>
          </a:p>
          <a:p>
            <a:r>
              <a:rPr lang="en-US" dirty="0"/>
              <a:t>But it’s also useful for programs to execute without our direct supervisions</a:t>
            </a:r>
          </a:p>
          <a:p>
            <a:r>
              <a:rPr lang="en-US" dirty="0"/>
              <a:t>We can use our computer’s clock to run code:</a:t>
            </a:r>
          </a:p>
          <a:p>
            <a:pPr lvl="1"/>
            <a:r>
              <a:rPr lang="en-US" dirty="0"/>
              <a:t>At some specified time and date</a:t>
            </a:r>
          </a:p>
          <a:p>
            <a:pPr lvl="1"/>
            <a:r>
              <a:rPr lang="en-US" dirty="0"/>
              <a:t>At regular intervals</a:t>
            </a:r>
          </a:p>
          <a:p>
            <a:r>
              <a:rPr lang="en-US" dirty="0"/>
              <a:t>We can also write programs that launch other programs on a schedule by using the subprocess and threading modules…</a:t>
            </a:r>
          </a:p>
        </p:txBody>
      </p:sp>
    </p:spTree>
    <p:extLst>
      <p:ext uri="{BB962C8B-B14F-4D97-AF65-F5344CB8AC3E}">
        <p14:creationId xmlns:p14="http://schemas.microsoft.com/office/powerpoint/2010/main" val="275264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04748-1DEA-9445-89ED-E7AF328F2302}"/>
              </a:ext>
            </a:extLst>
          </p:cNvPr>
          <p:cNvSpPr>
            <a:spLocks noGrp="1"/>
          </p:cNvSpPr>
          <p:nvPr>
            <p:ph type="title"/>
          </p:nvPr>
        </p:nvSpPr>
        <p:spPr/>
        <p:txBody>
          <a:bodyPr/>
          <a:lstStyle/>
          <a:p>
            <a:r>
              <a:rPr lang="en-US" dirty="0"/>
              <a:t>Let’s start with the time module</a:t>
            </a:r>
          </a:p>
        </p:txBody>
      </p:sp>
      <p:sp>
        <p:nvSpPr>
          <p:cNvPr id="3" name="Content Placeholder 2">
            <a:extLst>
              <a:ext uri="{FF2B5EF4-FFF2-40B4-BE49-F238E27FC236}">
                <a16:creationId xmlns:a16="http://schemas.microsoft.com/office/drawing/2014/main" id="{68ADF47E-7CC8-8C44-BF18-1AED1C17646D}"/>
              </a:ext>
            </a:extLst>
          </p:cNvPr>
          <p:cNvSpPr>
            <a:spLocks noGrp="1"/>
          </p:cNvSpPr>
          <p:nvPr>
            <p:ph idx="1"/>
          </p:nvPr>
        </p:nvSpPr>
        <p:spPr/>
        <p:txBody>
          <a:bodyPr>
            <a:normAutofit/>
          </a:bodyPr>
          <a:lstStyle/>
          <a:p>
            <a:r>
              <a:rPr lang="en-US" dirty="0"/>
              <a:t>Your system’s clock is set to a specific date, time, and time zone</a:t>
            </a:r>
          </a:p>
          <a:p>
            <a:r>
              <a:rPr lang="en-US" dirty="0"/>
              <a:t>The </a:t>
            </a:r>
            <a:r>
              <a:rPr lang="en-US" b="1" dirty="0"/>
              <a:t>time</a:t>
            </a:r>
            <a:r>
              <a:rPr lang="en-US" dirty="0"/>
              <a:t> module gives us access to the current time</a:t>
            </a:r>
          </a:p>
          <a:p>
            <a:r>
              <a:rPr lang="en-US" dirty="0"/>
              <a:t>We will look at two functions:</a:t>
            </a:r>
          </a:p>
          <a:p>
            <a:pPr marL="914400" lvl="1" indent="-457200">
              <a:buFont typeface="+mj-lt"/>
              <a:buAutoNum type="arabicPeriod"/>
            </a:pPr>
            <a:r>
              <a:rPr lang="en-US" sz="2800" dirty="0" err="1"/>
              <a:t>time.time</a:t>
            </a:r>
            <a:r>
              <a:rPr lang="en-US" sz="2800" dirty="0"/>
              <a:t>( )</a:t>
            </a:r>
          </a:p>
          <a:p>
            <a:pPr marL="914400" lvl="1" indent="-457200">
              <a:buFont typeface="+mj-lt"/>
              <a:buAutoNum type="arabicPeriod"/>
            </a:pPr>
            <a:r>
              <a:rPr lang="en-US" sz="2800" dirty="0" err="1"/>
              <a:t>time.sleep</a:t>
            </a:r>
            <a:r>
              <a:rPr lang="en-US" sz="2800" dirty="0"/>
              <a:t>( )</a:t>
            </a:r>
          </a:p>
          <a:p>
            <a:r>
              <a:rPr lang="en-US" dirty="0"/>
              <a:t>Everything is predicated on the Unix epoch</a:t>
            </a:r>
          </a:p>
        </p:txBody>
      </p:sp>
      <p:sp>
        <p:nvSpPr>
          <p:cNvPr id="4" name="TextBox 3">
            <a:extLst>
              <a:ext uri="{FF2B5EF4-FFF2-40B4-BE49-F238E27FC236}">
                <a16:creationId xmlns:a16="http://schemas.microsoft.com/office/drawing/2014/main" id="{BFC02CD0-BA45-D944-A359-365E9AE8D9A2}"/>
              </a:ext>
            </a:extLst>
          </p:cNvPr>
          <p:cNvSpPr txBox="1"/>
          <p:nvPr/>
        </p:nvSpPr>
        <p:spPr>
          <a:xfrm>
            <a:off x="4941558" y="5638261"/>
            <a:ext cx="4938018" cy="461665"/>
          </a:xfrm>
          <a:prstGeom prst="rect">
            <a:avLst/>
          </a:prstGeom>
          <a:noFill/>
        </p:spPr>
        <p:txBody>
          <a:bodyPr wrap="none" rtlCol="0">
            <a:spAutoFit/>
          </a:bodyPr>
          <a:lstStyle/>
          <a:p>
            <a:r>
              <a:rPr lang="en-US" sz="2400" dirty="0">
                <a:latin typeface="Futura Condensed Medium" panose="020B0602020204020303" pitchFamily="34" charset="-79"/>
                <a:cs typeface="Futura Condensed Medium" panose="020B0602020204020303" pitchFamily="34" charset="-79"/>
                <a:hlinkClick r:id="rId2"/>
              </a:rPr>
              <a:t>https://docs.python.org/3.7/library/time.html</a:t>
            </a:r>
            <a:endParaRPr lang="en-US" sz="2400" dirty="0">
              <a:latin typeface="Futura Condensed Medium" panose="020B0602020204020303" pitchFamily="34" charset="-79"/>
              <a:cs typeface="Futura Condensed Medium" panose="020B0602020204020303" pitchFamily="34" charset="-79"/>
            </a:endParaRPr>
          </a:p>
        </p:txBody>
      </p:sp>
    </p:spTree>
    <p:extLst>
      <p:ext uri="{BB962C8B-B14F-4D97-AF65-F5344CB8AC3E}">
        <p14:creationId xmlns:p14="http://schemas.microsoft.com/office/powerpoint/2010/main" val="4076993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5D5F1-AC7D-F143-8035-2FEDE0AF2E7B}"/>
              </a:ext>
            </a:extLst>
          </p:cNvPr>
          <p:cNvSpPr>
            <a:spLocks noGrp="1"/>
          </p:cNvSpPr>
          <p:nvPr>
            <p:ph type="title"/>
          </p:nvPr>
        </p:nvSpPr>
        <p:spPr/>
        <p:txBody>
          <a:bodyPr/>
          <a:lstStyle/>
          <a:p>
            <a:r>
              <a:rPr lang="en-US" dirty="0"/>
              <a:t>Unix epoch</a:t>
            </a:r>
          </a:p>
        </p:txBody>
      </p:sp>
      <p:sp>
        <p:nvSpPr>
          <p:cNvPr id="3" name="Content Placeholder 2">
            <a:extLst>
              <a:ext uri="{FF2B5EF4-FFF2-40B4-BE49-F238E27FC236}">
                <a16:creationId xmlns:a16="http://schemas.microsoft.com/office/drawing/2014/main" id="{3CEE3B5E-D674-544F-8CC8-F1124692ADAB}"/>
              </a:ext>
            </a:extLst>
          </p:cNvPr>
          <p:cNvSpPr>
            <a:spLocks noGrp="1"/>
          </p:cNvSpPr>
          <p:nvPr>
            <p:ph idx="1"/>
          </p:nvPr>
        </p:nvSpPr>
        <p:spPr/>
        <p:txBody>
          <a:bodyPr/>
          <a:lstStyle/>
          <a:p>
            <a:r>
              <a:rPr lang="en-US" dirty="0"/>
              <a:t>Time reference used in programming</a:t>
            </a:r>
          </a:p>
          <a:p>
            <a:r>
              <a:rPr lang="en-US" dirty="0"/>
              <a:t>The </a:t>
            </a:r>
            <a:r>
              <a:rPr lang="en-US" dirty="0" err="1"/>
              <a:t>unix</a:t>
            </a:r>
            <a:r>
              <a:rPr lang="en-US" dirty="0"/>
              <a:t> epoch is the </a:t>
            </a:r>
            <a:r>
              <a:rPr lang="en-US" sz="3600" dirty="0"/>
              <a:t>“</a:t>
            </a:r>
            <a:r>
              <a:rPr lang="en-US" sz="4400" i="1" dirty="0"/>
              <a:t>point where time starts</a:t>
            </a:r>
            <a:r>
              <a:rPr lang="en-US" sz="3600" dirty="0"/>
              <a:t>”</a:t>
            </a:r>
            <a:endParaRPr lang="en-US" dirty="0"/>
          </a:p>
          <a:p>
            <a:r>
              <a:rPr lang="en-US" dirty="0"/>
              <a:t>Everything begins on January 01 1970 at 00:00:00, Coordinated Universal Time (UTC)</a:t>
            </a:r>
          </a:p>
          <a:p>
            <a:r>
              <a:rPr lang="en-US" dirty="0"/>
              <a:t>We count the number of seconds since this time and call it </a:t>
            </a:r>
            <a:r>
              <a:rPr lang="en-US" b="1" dirty="0"/>
              <a:t>seconds since the epoch</a:t>
            </a:r>
          </a:p>
        </p:txBody>
      </p:sp>
    </p:spTree>
    <p:extLst>
      <p:ext uri="{BB962C8B-B14F-4D97-AF65-F5344CB8AC3E}">
        <p14:creationId xmlns:p14="http://schemas.microsoft.com/office/powerpoint/2010/main" val="3852821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3DBC0-DBB3-0B4B-A318-47D1202BCE27}"/>
              </a:ext>
            </a:extLst>
          </p:cNvPr>
          <p:cNvSpPr>
            <a:spLocks noGrp="1"/>
          </p:cNvSpPr>
          <p:nvPr>
            <p:ph type="title"/>
          </p:nvPr>
        </p:nvSpPr>
        <p:spPr/>
        <p:txBody>
          <a:bodyPr/>
          <a:lstStyle/>
          <a:p>
            <a:r>
              <a:rPr lang="en-US" dirty="0" err="1"/>
              <a:t>time.time</a:t>
            </a:r>
            <a:r>
              <a:rPr lang="en-US" dirty="0"/>
              <a:t>( )</a:t>
            </a:r>
          </a:p>
        </p:txBody>
      </p:sp>
      <p:sp>
        <p:nvSpPr>
          <p:cNvPr id="3" name="Content Placeholder 2">
            <a:extLst>
              <a:ext uri="{FF2B5EF4-FFF2-40B4-BE49-F238E27FC236}">
                <a16:creationId xmlns:a16="http://schemas.microsoft.com/office/drawing/2014/main" id="{3D1E3CD7-8F22-224D-A466-A57EA86AE75A}"/>
              </a:ext>
            </a:extLst>
          </p:cNvPr>
          <p:cNvSpPr>
            <a:spLocks noGrp="1"/>
          </p:cNvSpPr>
          <p:nvPr>
            <p:ph idx="1"/>
          </p:nvPr>
        </p:nvSpPr>
        <p:spPr/>
        <p:txBody>
          <a:bodyPr/>
          <a:lstStyle/>
          <a:p>
            <a:pPr marL="0" indent="0">
              <a:buNone/>
            </a:pPr>
            <a:r>
              <a:rPr lang="en-US" dirty="0">
                <a:latin typeface="Courier" pitchFamily="2" charset="0"/>
              </a:rPr>
              <a:t>import time</a:t>
            </a:r>
          </a:p>
          <a:p>
            <a:pPr marL="0" indent="0">
              <a:buNone/>
            </a:pPr>
            <a:r>
              <a:rPr lang="en-US" dirty="0" err="1">
                <a:latin typeface="Courier" pitchFamily="2" charset="0"/>
              </a:rPr>
              <a:t>time.time</a:t>
            </a:r>
            <a:r>
              <a:rPr lang="en-US" dirty="0">
                <a:latin typeface="Courier" pitchFamily="2" charset="0"/>
              </a:rPr>
              <a:t>( )</a:t>
            </a:r>
          </a:p>
          <a:p>
            <a:pPr marL="0" indent="0">
              <a:buNone/>
            </a:pPr>
            <a:endParaRPr lang="en-US" dirty="0">
              <a:latin typeface="Courier" pitchFamily="2" charset="0"/>
            </a:endParaRPr>
          </a:p>
          <a:p>
            <a:r>
              <a:rPr lang="en-US" dirty="0"/>
              <a:t>It returns the number of seconds that have elapsed “since time began”</a:t>
            </a:r>
          </a:p>
          <a:p>
            <a:r>
              <a:rPr lang="en-US" dirty="0"/>
              <a:t>It’s a float (very precise!)</a:t>
            </a:r>
          </a:p>
          <a:p>
            <a:r>
              <a:rPr lang="en-US" dirty="0"/>
              <a:t>We can use this to profile* code!</a:t>
            </a:r>
          </a:p>
        </p:txBody>
      </p:sp>
      <p:sp>
        <p:nvSpPr>
          <p:cNvPr id="4" name="TextBox 3">
            <a:extLst>
              <a:ext uri="{FF2B5EF4-FFF2-40B4-BE49-F238E27FC236}">
                <a16:creationId xmlns:a16="http://schemas.microsoft.com/office/drawing/2014/main" id="{50B13F3D-36A9-FD4A-B45C-3B16A7F1634C}"/>
              </a:ext>
            </a:extLst>
          </p:cNvPr>
          <p:cNvSpPr txBox="1"/>
          <p:nvPr/>
        </p:nvSpPr>
        <p:spPr>
          <a:xfrm>
            <a:off x="2965336" y="5500414"/>
            <a:ext cx="8916223" cy="477054"/>
          </a:xfrm>
          <a:prstGeom prst="rect">
            <a:avLst/>
          </a:prstGeom>
          <a:noFill/>
        </p:spPr>
        <p:txBody>
          <a:bodyPr wrap="none" rtlCol="0">
            <a:spAutoFit/>
          </a:bodyPr>
          <a:lstStyle/>
          <a:p>
            <a:r>
              <a:rPr lang="en-US" sz="2500" dirty="0">
                <a:latin typeface="Futura Condensed Medium" panose="020B0602020204020303" pitchFamily="34" charset="-79"/>
                <a:cs typeface="Futura Condensed Medium" panose="020B0602020204020303" pitchFamily="34" charset="-79"/>
              </a:rPr>
              <a:t>* Profile: measure how long a piece of code takes to run</a:t>
            </a:r>
          </a:p>
        </p:txBody>
      </p:sp>
    </p:spTree>
    <p:extLst>
      <p:ext uri="{BB962C8B-B14F-4D97-AF65-F5344CB8AC3E}">
        <p14:creationId xmlns:p14="http://schemas.microsoft.com/office/powerpoint/2010/main" val="3315717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2CE10-A7E5-FC42-BEF6-E75B703A7187}"/>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570FF7DD-8D8B-B444-B285-F207F4CB8923}"/>
              </a:ext>
            </a:extLst>
          </p:cNvPr>
          <p:cNvSpPr>
            <a:spLocks noGrp="1"/>
          </p:cNvSpPr>
          <p:nvPr>
            <p:ph idx="1"/>
          </p:nvPr>
        </p:nvSpPr>
        <p:spPr>
          <a:xfrm>
            <a:off x="838200" y="1825625"/>
            <a:ext cx="10855362" cy="4351338"/>
          </a:xfrm>
        </p:spPr>
        <p:txBody>
          <a:bodyPr>
            <a:normAutofit/>
          </a:bodyPr>
          <a:lstStyle/>
          <a:p>
            <a:pPr marL="0" indent="0">
              <a:buNone/>
            </a:pPr>
            <a:r>
              <a:rPr lang="en-CA" sz="2000" dirty="0">
                <a:latin typeface="Courier" pitchFamily="2" charset="0"/>
              </a:rPr>
              <a:t>import time</a:t>
            </a:r>
          </a:p>
          <a:p>
            <a:pPr marL="0" indent="0">
              <a:buNone/>
            </a:pPr>
            <a:endParaRPr lang="en-CA" sz="2000" dirty="0">
              <a:latin typeface="Courier" pitchFamily="2" charset="0"/>
            </a:endParaRPr>
          </a:p>
          <a:p>
            <a:pPr marL="0" indent="0">
              <a:buNone/>
            </a:pPr>
            <a:r>
              <a:rPr lang="en-CA" sz="2000" dirty="0">
                <a:latin typeface="Courier" pitchFamily="2" charset="0"/>
              </a:rPr>
              <a:t>product = 1</a:t>
            </a:r>
          </a:p>
          <a:p>
            <a:pPr marL="0" indent="0">
              <a:buNone/>
            </a:pPr>
            <a:r>
              <a:rPr lang="en-CA" sz="2000" b="1" dirty="0" err="1">
                <a:latin typeface="Courier" pitchFamily="2" charset="0"/>
              </a:rPr>
              <a:t>start_time</a:t>
            </a:r>
            <a:r>
              <a:rPr lang="en-CA" sz="2000" b="1" dirty="0">
                <a:latin typeface="Courier" pitchFamily="2" charset="0"/>
              </a:rPr>
              <a:t> = </a:t>
            </a:r>
            <a:r>
              <a:rPr lang="en-CA" sz="2000" b="1" dirty="0" err="1">
                <a:latin typeface="Courier" pitchFamily="2" charset="0"/>
              </a:rPr>
              <a:t>time.time</a:t>
            </a:r>
            <a:r>
              <a:rPr lang="en-CA" sz="2000" b="1" dirty="0">
                <a:latin typeface="Courier" pitchFamily="2" charset="0"/>
              </a:rPr>
              <a:t>()</a:t>
            </a:r>
          </a:p>
          <a:p>
            <a:pPr marL="0" indent="0">
              <a:buNone/>
            </a:pPr>
            <a:r>
              <a:rPr lang="en-CA" sz="2000" dirty="0">
                <a:latin typeface="Courier" pitchFamily="2" charset="0"/>
              </a:rPr>
              <a:t>for </a:t>
            </a:r>
            <a:r>
              <a:rPr lang="en-CA" sz="2000" dirty="0" err="1">
                <a:latin typeface="Courier" pitchFamily="2" charset="0"/>
              </a:rPr>
              <a:t>i</a:t>
            </a:r>
            <a:r>
              <a:rPr lang="en-CA" sz="2000" dirty="0">
                <a:latin typeface="Courier" pitchFamily="2" charset="0"/>
              </a:rPr>
              <a:t> in range(1, 100000): #perform operation that takes a lot of time</a:t>
            </a:r>
          </a:p>
          <a:p>
            <a:pPr marL="0" indent="0">
              <a:buNone/>
            </a:pPr>
            <a:r>
              <a:rPr lang="en-CA" sz="2000" dirty="0">
                <a:latin typeface="Courier" pitchFamily="2" charset="0"/>
              </a:rPr>
              <a:t>    product = product * </a:t>
            </a:r>
            <a:r>
              <a:rPr lang="en-CA" dirty="0">
                <a:latin typeface="Courier" pitchFamily="2" charset="0"/>
              </a:rPr>
              <a:t>i</a:t>
            </a:r>
            <a:r>
              <a:rPr lang="en-CA" sz="2000" dirty="0">
                <a:latin typeface="Courier" pitchFamily="2" charset="0"/>
              </a:rPr>
              <a:t> </a:t>
            </a:r>
          </a:p>
          <a:p>
            <a:pPr marL="0" indent="0">
              <a:buNone/>
            </a:pPr>
            <a:r>
              <a:rPr lang="en-CA" sz="2000" b="1" dirty="0" err="1">
                <a:latin typeface="Courier" pitchFamily="2" charset="0"/>
              </a:rPr>
              <a:t>end_time</a:t>
            </a:r>
            <a:r>
              <a:rPr lang="en-CA" sz="2000" b="1" dirty="0">
                <a:latin typeface="Courier" pitchFamily="2" charset="0"/>
              </a:rPr>
              <a:t> = </a:t>
            </a:r>
            <a:r>
              <a:rPr lang="en-CA" sz="2000" b="1" dirty="0" err="1">
                <a:latin typeface="Courier" pitchFamily="2" charset="0"/>
              </a:rPr>
              <a:t>time.time</a:t>
            </a:r>
            <a:r>
              <a:rPr lang="en-CA" sz="2000" b="1" dirty="0">
                <a:latin typeface="Courier" pitchFamily="2" charset="0"/>
              </a:rPr>
              <a:t>()</a:t>
            </a:r>
          </a:p>
          <a:p>
            <a:pPr marL="0" indent="0">
              <a:buNone/>
            </a:pPr>
            <a:r>
              <a:rPr lang="en-CA" sz="2000" dirty="0">
                <a:latin typeface="Courier" pitchFamily="2" charset="0"/>
              </a:rPr>
              <a:t>print('The result is %s digits long.' % (</a:t>
            </a:r>
            <a:r>
              <a:rPr lang="en-CA" sz="2000" dirty="0" err="1">
                <a:latin typeface="Courier" pitchFamily="2" charset="0"/>
              </a:rPr>
              <a:t>len</a:t>
            </a:r>
            <a:r>
              <a:rPr lang="en-CA" sz="2000" dirty="0">
                <a:latin typeface="Courier" pitchFamily="2" charset="0"/>
              </a:rPr>
              <a:t>(</a:t>
            </a:r>
            <a:r>
              <a:rPr lang="en-CA" sz="2000" dirty="0" err="1">
                <a:latin typeface="Courier" pitchFamily="2" charset="0"/>
              </a:rPr>
              <a:t>str</a:t>
            </a:r>
            <a:r>
              <a:rPr lang="en-CA" sz="2000" dirty="0">
                <a:latin typeface="Courier" pitchFamily="2" charset="0"/>
              </a:rPr>
              <a:t>(product))))</a:t>
            </a:r>
          </a:p>
          <a:p>
            <a:pPr marL="0" indent="0">
              <a:buNone/>
            </a:pPr>
            <a:r>
              <a:rPr lang="en-CA" sz="2000" dirty="0">
                <a:latin typeface="Courier" pitchFamily="2" charset="0"/>
              </a:rPr>
              <a:t>print('Took %s seconds to calculate.' % (</a:t>
            </a:r>
            <a:r>
              <a:rPr lang="en-CA" sz="2000" b="1" dirty="0" err="1">
                <a:latin typeface="Courier" pitchFamily="2" charset="0"/>
              </a:rPr>
              <a:t>end_time</a:t>
            </a:r>
            <a:r>
              <a:rPr lang="en-CA" sz="2000" b="1" dirty="0">
                <a:latin typeface="Courier" pitchFamily="2" charset="0"/>
              </a:rPr>
              <a:t> - </a:t>
            </a:r>
            <a:r>
              <a:rPr lang="en-CA" sz="2000" b="1" dirty="0" err="1">
                <a:latin typeface="Courier" pitchFamily="2" charset="0"/>
              </a:rPr>
              <a:t>start_time</a:t>
            </a:r>
            <a:r>
              <a:rPr lang="en-CA" sz="2000" dirty="0">
                <a:latin typeface="Courier" pitchFamily="2" charset="0"/>
              </a:rPr>
              <a:t>))</a:t>
            </a:r>
          </a:p>
        </p:txBody>
      </p:sp>
    </p:spTree>
    <p:extLst>
      <p:ext uri="{BB962C8B-B14F-4D97-AF65-F5344CB8AC3E}">
        <p14:creationId xmlns:p14="http://schemas.microsoft.com/office/powerpoint/2010/main" val="3747995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3BF39-AD3F-AC4A-B344-19F7DAB4918F}"/>
              </a:ext>
            </a:extLst>
          </p:cNvPr>
          <p:cNvSpPr>
            <a:spLocks noGrp="1"/>
          </p:cNvSpPr>
          <p:nvPr>
            <p:ph type="title"/>
          </p:nvPr>
        </p:nvSpPr>
        <p:spPr/>
        <p:txBody>
          <a:bodyPr/>
          <a:lstStyle/>
          <a:p>
            <a:r>
              <a:rPr lang="en-US" dirty="0" err="1"/>
              <a:t>time.sleep</a:t>
            </a:r>
            <a:r>
              <a:rPr lang="en-US" dirty="0"/>
              <a:t>(seconds)</a:t>
            </a:r>
          </a:p>
        </p:txBody>
      </p:sp>
      <p:sp>
        <p:nvSpPr>
          <p:cNvPr id="3" name="Content Placeholder 2">
            <a:extLst>
              <a:ext uri="{FF2B5EF4-FFF2-40B4-BE49-F238E27FC236}">
                <a16:creationId xmlns:a16="http://schemas.microsoft.com/office/drawing/2014/main" id="{9438FC39-2A22-BA4D-8738-F1976A32970A}"/>
              </a:ext>
            </a:extLst>
          </p:cNvPr>
          <p:cNvSpPr>
            <a:spLocks noGrp="1"/>
          </p:cNvSpPr>
          <p:nvPr>
            <p:ph idx="1"/>
          </p:nvPr>
        </p:nvSpPr>
        <p:spPr/>
        <p:txBody>
          <a:bodyPr/>
          <a:lstStyle/>
          <a:p>
            <a:r>
              <a:rPr lang="en-US" dirty="0"/>
              <a:t>We can pause our code for a specified number of seconds (can be a float for precision)</a:t>
            </a:r>
          </a:p>
          <a:p>
            <a:r>
              <a:rPr lang="en-US" dirty="0"/>
              <a:t>The </a:t>
            </a:r>
            <a:r>
              <a:rPr lang="en-US" dirty="0" err="1"/>
              <a:t>time.sleep</a:t>
            </a:r>
            <a:r>
              <a:rPr lang="en-US" dirty="0"/>
              <a:t>(seconds) function will </a:t>
            </a:r>
            <a:r>
              <a:rPr lang="en-US" i="1" dirty="0"/>
              <a:t>block</a:t>
            </a:r>
            <a:r>
              <a:rPr lang="en-US" dirty="0"/>
              <a:t> until at least the specified number of seconds has elapsed</a:t>
            </a:r>
          </a:p>
          <a:p>
            <a:endParaRPr lang="en-US" dirty="0"/>
          </a:p>
        </p:txBody>
      </p:sp>
      <p:sp>
        <p:nvSpPr>
          <p:cNvPr id="4" name="TextBox 3">
            <a:extLst>
              <a:ext uri="{FF2B5EF4-FFF2-40B4-BE49-F238E27FC236}">
                <a16:creationId xmlns:a16="http://schemas.microsoft.com/office/drawing/2014/main" id="{50D123DF-09FF-1F4D-8F3E-CE68FF6F7024}"/>
              </a:ext>
            </a:extLst>
          </p:cNvPr>
          <p:cNvSpPr txBox="1"/>
          <p:nvPr/>
        </p:nvSpPr>
        <p:spPr>
          <a:xfrm>
            <a:off x="612083" y="5500414"/>
            <a:ext cx="11282256" cy="477054"/>
          </a:xfrm>
          <a:prstGeom prst="rect">
            <a:avLst/>
          </a:prstGeom>
          <a:noFill/>
        </p:spPr>
        <p:txBody>
          <a:bodyPr wrap="none" rtlCol="0">
            <a:spAutoFit/>
          </a:bodyPr>
          <a:lstStyle/>
          <a:p>
            <a:r>
              <a:rPr lang="en-US" sz="2500" dirty="0">
                <a:latin typeface="Futura Condensed Medium" panose="020B0602020204020303" pitchFamily="34" charset="-79"/>
                <a:cs typeface="Futura Condensed Medium" panose="020B0602020204020303" pitchFamily="34" charset="-79"/>
              </a:rPr>
              <a:t>* </a:t>
            </a:r>
            <a:r>
              <a:rPr lang="en-US" sz="2500" i="1" dirty="0">
                <a:latin typeface="Futura Condensed Medium" panose="020B0602020204020303" pitchFamily="34" charset="-79"/>
                <a:cs typeface="Futura Condensed Medium" panose="020B0602020204020303" pitchFamily="34" charset="-79"/>
              </a:rPr>
              <a:t>Block</a:t>
            </a:r>
            <a:r>
              <a:rPr lang="en-US" sz="2500" dirty="0">
                <a:latin typeface="Futura Condensed Medium" panose="020B0602020204020303" pitchFamily="34" charset="-79"/>
                <a:cs typeface="Futura Condensed Medium" panose="020B0602020204020303" pitchFamily="34" charset="-79"/>
              </a:rPr>
              <a:t>: will not return and release your program to execute other code</a:t>
            </a:r>
          </a:p>
        </p:txBody>
      </p:sp>
    </p:spTree>
    <p:extLst>
      <p:ext uri="{BB962C8B-B14F-4D97-AF65-F5344CB8AC3E}">
        <p14:creationId xmlns:p14="http://schemas.microsoft.com/office/powerpoint/2010/main" val="1925153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58B46-FA22-2743-B4FD-26B4C9AB6CD7}"/>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0DC2A057-4639-DB4B-80BF-2B996D9775DE}"/>
              </a:ext>
            </a:extLst>
          </p:cNvPr>
          <p:cNvSpPr>
            <a:spLocks noGrp="1"/>
          </p:cNvSpPr>
          <p:nvPr>
            <p:ph idx="1"/>
          </p:nvPr>
        </p:nvSpPr>
        <p:spPr/>
        <p:txBody>
          <a:bodyPr>
            <a:normAutofit/>
          </a:bodyPr>
          <a:lstStyle/>
          <a:p>
            <a:pPr marL="0" indent="0">
              <a:buNone/>
            </a:pPr>
            <a:r>
              <a:rPr lang="en-CA" dirty="0">
                <a:latin typeface="Courier" pitchFamily="2" charset="0"/>
              </a:rPr>
              <a:t>import time</a:t>
            </a:r>
          </a:p>
          <a:p>
            <a:pPr marL="0" indent="0">
              <a:buNone/>
            </a:pPr>
            <a:r>
              <a:rPr lang="en-CA" dirty="0">
                <a:latin typeface="Courier" pitchFamily="2" charset="0"/>
              </a:rPr>
              <a:t>for _ in range(3):</a:t>
            </a:r>
          </a:p>
          <a:p>
            <a:pPr marL="0" indent="0">
              <a:buNone/>
            </a:pPr>
            <a:r>
              <a:rPr lang="en-CA" dirty="0">
                <a:latin typeface="Courier" pitchFamily="2" charset="0"/>
              </a:rPr>
              <a:t>    print(‘Tick’)</a:t>
            </a:r>
          </a:p>
          <a:p>
            <a:pPr marL="0" indent="0">
              <a:buNone/>
            </a:pPr>
            <a:r>
              <a:rPr lang="en-CA" b="1" dirty="0">
                <a:latin typeface="Courier" pitchFamily="2" charset="0"/>
              </a:rPr>
              <a:t>    </a:t>
            </a:r>
            <a:r>
              <a:rPr lang="en-CA" b="1" dirty="0" err="1">
                <a:latin typeface="Courier" pitchFamily="2" charset="0"/>
              </a:rPr>
              <a:t>time.sleep</a:t>
            </a:r>
            <a:r>
              <a:rPr lang="en-CA" b="1" dirty="0">
                <a:latin typeface="Courier" pitchFamily="2" charset="0"/>
              </a:rPr>
              <a:t>(1)</a:t>
            </a:r>
          </a:p>
          <a:p>
            <a:pPr marL="0" indent="0">
              <a:buNone/>
            </a:pPr>
            <a:r>
              <a:rPr lang="en-CA" dirty="0">
                <a:latin typeface="Courier" pitchFamily="2" charset="0"/>
              </a:rPr>
              <a:t>    print(‘Tock’)</a:t>
            </a:r>
          </a:p>
          <a:p>
            <a:pPr marL="0" indent="0">
              <a:buNone/>
            </a:pPr>
            <a:r>
              <a:rPr lang="en-CA" b="1" dirty="0">
                <a:latin typeface="Courier" pitchFamily="2" charset="0"/>
              </a:rPr>
              <a:t>    </a:t>
            </a:r>
            <a:r>
              <a:rPr lang="en-CA" b="1" dirty="0" err="1">
                <a:latin typeface="Courier" pitchFamily="2" charset="0"/>
              </a:rPr>
              <a:t>time.sleep</a:t>
            </a:r>
            <a:r>
              <a:rPr lang="en-CA" b="1" dirty="0">
                <a:latin typeface="Courier" pitchFamily="2" charset="0"/>
              </a:rPr>
              <a:t>(1)</a:t>
            </a:r>
          </a:p>
          <a:p>
            <a:pPr marL="0" indent="0">
              <a:buNone/>
            </a:pPr>
            <a:endParaRPr lang="en-CA" dirty="0">
              <a:latin typeface="Courier" pitchFamily="2" charset="0"/>
            </a:endParaRPr>
          </a:p>
        </p:txBody>
      </p:sp>
    </p:spTree>
    <p:extLst>
      <p:ext uri="{BB962C8B-B14F-4D97-AF65-F5344CB8AC3E}">
        <p14:creationId xmlns:p14="http://schemas.microsoft.com/office/powerpoint/2010/main" val="390098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85FF9-2333-A64C-874B-4D5BC4C226FF}"/>
              </a:ext>
            </a:extLst>
          </p:cNvPr>
          <p:cNvSpPr>
            <a:spLocks noGrp="1"/>
          </p:cNvSpPr>
          <p:nvPr>
            <p:ph type="title"/>
          </p:nvPr>
        </p:nvSpPr>
        <p:spPr/>
        <p:txBody>
          <a:bodyPr/>
          <a:lstStyle/>
          <a:p>
            <a:r>
              <a:rPr lang="en-US" dirty="0"/>
              <a:t>The datetime module</a:t>
            </a:r>
          </a:p>
        </p:txBody>
      </p:sp>
      <p:sp>
        <p:nvSpPr>
          <p:cNvPr id="3" name="Content Placeholder 2">
            <a:extLst>
              <a:ext uri="{FF2B5EF4-FFF2-40B4-BE49-F238E27FC236}">
                <a16:creationId xmlns:a16="http://schemas.microsoft.com/office/drawing/2014/main" id="{67506327-422B-6943-92F3-DEC4E63EF95C}"/>
              </a:ext>
            </a:extLst>
          </p:cNvPr>
          <p:cNvSpPr>
            <a:spLocks noGrp="1"/>
          </p:cNvSpPr>
          <p:nvPr>
            <p:ph idx="1"/>
          </p:nvPr>
        </p:nvSpPr>
        <p:spPr>
          <a:xfrm>
            <a:off x="838200" y="1825625"/>
            <a:ext cx="10615863" cy="4351338"/>
          </a:xfrm>
        </p:spPr>
        <p:txBody>
          <a:bodyPr>
            <a:normAutofit/>
          </a:bodyPr>
          <a:lstStyle/>
          <a:p>
            <a:r>
              <a:rPr lang="en-US" dirty="0"/>
              <a:t>The time module is good for getting a Unix epoch timestamp to work with</a:t>
            </a:r>
          </a:p>
          <a:p>
            <a:r>
              <a:rPr lang="en-US" dirty="0"/>
              <a:t>What if we want a date in a more convenient format?</a:t>
            </a:r>
          </a:p>
          <a:p>
            <a:r>
              <a:rPr lang="en-US" dirty="0"/>
              <a:t>Use the </a:t>
            </a:r>
            <a:r>
              <a:rPr lang="en-US" sz="3200" b="1" i="1" u="sng" dirty="0"/>
              <a:t>datetime module</a:t>
            </a:r>
            <a:endParaRPr lang="en-US" b="1" i="1" u="sng" dirty="0"/>
          </a:p>
          <a:p>
            <a:r>
              <a:rPr lang="en-US" dirty="0"/>
              <a:t>Lets us manipulate dates and times</a:t>
            </a:r>
          </a:p>
          <a:p>
            <a:r>
              <a:rPr lang="en-US" b="1" dirty="0"/>
              <a:t>The datetime module contains a new datatype called datetime</a:t>
            </a:r>
          </a:p>
          <a:p>
            <a:r>
              <a:rPr lang="en-US" dirty="0"/>
              <a:t>a datetime </a:t>
            </a:r>
            <a:r>
              <a:rPr lang="en-US" sz="4000" i="1" dirty="0"/>
              <a:t>represents a specific moment in time</a:t>
            </a:r>
            <a:endParaRPr lang="en-US" i="1" dirty="0"/>
          </a:p>
        </p:txBody>
      </p:sp>
    </p:spTree>
    <p:extLst>
      <p:ext uri="{BB962C8B-B14F-4D97-AF65-F5344CB8AC3E}">
        <p14:creationId xmlns:p14="http://schemas.microsoft.com/office/powerpoint/2010/main" val="3853113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8782-8282-624A-BB6D-DB9AE41A9AEF}"/>
              </a:ext>
            </a:extLst>
          </p:cNvPr>
          <p:cNvSpPr>
            <a:spLocks noGrp="1"/>
          </p:cNvSpPr>
          <p:nvPr>
            <p:ph type="title"/>
          </p:nvPr>
        </p:nvSpPr>
        <p:spPr/>
        <p:txBody>
          <a:bodyPr/>
          <a:lstStyle/>
          <a:p>
            <a:r>
              <a:rPr lang="en-US"/>
              <a:t>datetime object</a:t>
            </a:r>
            <a:endParaRPr lang="en-US" dirty="0"/>
          </a:p>
        </p:txBody>
      </p:sp>
      <p:sp>
        <p:nvSpPr>
          <p:cNvPr id="3" name="Content Placeholder 2">
            <a:extLst>
              <a:ext uri="{FF2B5EF4-FFF2-40B4-BE49-F238E27FC236}">
                <a16:creationId xmlns:a16="http://schemas.microsoft.com/office/drawing/2014/main" id="{FD544A35-9151-FC46-94B4-FD1B184509EF}"/>
              </a:ext>
            </a:extLst>
          </p:cNvPr>
          <p:cNvSpPr>
            <a:spLocks noGrp="1"/>
          </p:cNvSpPr>
          <p:nvPr>
            <p:ph idx="1"/>
          </p:nvPr>
        </p:nvSpPr>
        <p:spPr/>
        <p:txBody>
          <a:bodyPr/>
          <a:lstStyle/>
          <a:p>
            <a:r>
              <a:rPr lang="en-US"/>
              <a:t>The datetime data type in the datetime module can be used to create datetime objects</a:t>
            </a:r>
          </a:p>
          <a:p>
            <a:r>
              <a:rPr lang="en-US"/>
              <a:t>A datetime object uses integers to store:</a:t>
            </a:r>
          </a:p>
          <a:p>
            <a:pPr marL="971550" lvl="1" indent="-514350">
              <a:buFont typeface="+mj-lt"/>
              <a:buAutoNum type="arabicPeriod"/>
            </a:pPr>
            <a:r>
              <a:rPr lang="en-US" sz="2800"/>
              <a:t>Year</a:t>
            </a:r>
          </a:p>
          <a:p>
            <a:pPr marL="971550" lvl="1" indent="-514350">
              <a:buFont typeface="+mj-lt"/>
              <a:buAutoNum type="arabicPeriod"/>
            </a:pPr>
            <a:r>
              <a:rPr lang="en-US" sz="2800"/>
              <a:t>Month</a:t>
            </a:r>
          </a:p>
          <a:p>
            <a:pPr marL="971550" lvl="1" indent="-514350">
              <a:buFont typeface="+mj-lt"/>
              <a:buAutoNum type="arabicPeriod"/>
            </a:pPr>
            <a:r>
              <a:rPr lang="en-US" sz="2800"/>
              <a:t>Day</a:t>
            </a:r>
          </a:p>
          <a:p>
            <a:pPr marL="971550" lvl="1" indent="-514350">
              <a:buFont typeface="+mj-lt"/>
              <a:buAutoNum type="arabicPeriod"/>
            </a:pPr>
            <a:r>
              <a:rPr lang="en-US" sz="2800"/>
              <a:t>Hour</a:t>
            </a:r>
          </a:p>
          <a:p>
            <a:pPr marL="971550" lvl="1" indent="-514350">
              <a:buFont typeface="+mj-lt"/>
              <a:buAutoNum type="arabicPeriod"/>
            </a:pPr>
            <a:r>
              <a:rPr lang="en-US" sz="2800"/>
              <a:t>Minute</a:t>
            </a:r>
          </a:p>
          <a:p>
            <a:pPr marL="971550" lvl="1" indent="-514350">
              <a:buFont typeface="+mj-lt"/>
              <a:buAutoNum type="arabicPeriod"/>
            </a:pPr>
            <a:r>
              <a:rPr lang="en-US" sz="2800"/>
              <a:t>Second</a:t>
            </a:r>
          </a:p>
          <a:p>
            <a:pPr marL="0" indent="0">
              <a:buNone/>
            </a:pPr>
            <a:endParaRPr lang="en-US" dirty="0"/>
          </a:p>
        </p:txBody>
      </p:sp>
    </p:spTree>
    <p:extLst>
      <p:ext uri="{BB962C8B-B14F-4D97-AF65-F5344CB8AC3E}">
        <p14:creationId xmlns:p14="http://schemas.microsoft.com/office/powerpoint/2010/main" val="1162501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D60BA-4D03-4B4A-8FD8-2FE32652AC0D}"/>
              </a:ext>
            </a:extLst>
          </p:cNvPr>
          <p:cNvSpPr>
            <a:spLocks noGrp="1"/>
          </p:cNvSpPr>
          <p:nvPr>
            <p:ph type="title"/>
          </p:nvPr>
        </p:nvSpPr>
        <p:spPr/>
        <p:txBody>
          <a:bodyPr/>
          <a:lstStyle/>
          <a:p>
            <a:r>
              <a:rPr lang="en-US" dirty="0"/>
              <a:t>Converting time types</a:t>
            </a:r>
          </a:p>
        </p:txBody>
      </p:sp>
      <p:sp>
        <p:nvSpPr>
          <p:cNvPr id="3" name="Content Placeholder 2">
            <a:extLst>
              <a:ext uri="{FF2B5EF4-FFF2-40B4-BE49-F238E27FC236}">
                <a16:creationId xmlns:a16="http://schemas.microsoft.com/office/drawing/2014/main" id="{B1497780-8ED4-FB43-82E3-93FAF922FBD7}"/>
              </a:ext>
            </a:extLst>
          </p:cNvPr>
          <p:cNvSpPr>
            <a:spLocks noGrp="1"/>
          </p:cNvSpPr>
          <p:nvPr>
            <p:ph idx="1"/>
          </p:nvPr>
        </p:nvSpPr>
        <p:spPr/>
        <p:txBody>
          <a:bodyPr>
            <a:normAutofit/>
          </a:bodyPr>
          <a:lstStyle/>
          <a:p>
            <a:r>
              <a:rPr lang="en-US" dirty="0"/>
              <a:t>We can convert a Unix epoch timestamp to a datetime object using the datetime module’s </a:t>
            </a:r>
            <a:r>
              <a:rPr lang="en-US" dirty="0" err="1"/>
              <a:t>fromtimestamp</a:t>
            </a:r>
            <a:r>
              <a:rPr lang="en-US" dirty="0"/>
              <a:t>( ) function</a:t>
            </a:r>
          </a:p>
          <a:p>
            <a:r>
              <a:rPr lang="en-US" dirty="0"/>
              <a:t>The date and time of the datetime will be converted to the local time zone</a:t>
            </a:r>
          </a:p>
          <a:p>
            <a:pPr marL="0" indent="0">
              <a:buNone/>
            </a:pPr>
            <a:r>
              <a:rPr lang="en-US" dirty="0">
                <a:latin typeface="Courier"/>
              </a:rPr>
              <a:t>import datetime</a:t>
            </a:r>
          </a:p>
          <a:p>
            <a:pPr marL="0" indent="0">
              <a:buNone/>
            </a:pPr>
            <a:r>
              <a:rPr lang="en-CA" sz="2400" dirty="0">
                <a:latin typeface="Courier"/>
              </a:rPr>
              <a:t>print(</a:t>
            </a:r>
            <a:r>
              <a:rPr lang="en-CA" sz="2400" dirty="0" err="1">
                <a:latin typeface="Courier"/>
              </a:rPr>
              <a:t>datetime.datetime.fromtimestamp</a:t>
            </a:r>
            <a:r>
              <a:rPr lang="en-CA" sz="2400" dirty="0">
                <a:latin typeface="Courier"/>
              </a:rPr>
              <a:t>(1000000)) </a:t>
            </a:r>
            <a:r>
              <a:rPr lang="en-CA" sz="2400" dirty="0">
                <a:solidFill>
                  <a:srgbClr val="00B050"/>
                </a:solidFill>
                <a:latin typeface="Courier"/>
              </a:rPr>
              <a:t>#1970-01-12 05:46:40</a:t>
            </a:r>
          </a:p>
          <a:p>
            <a:pPr marL="0" indent="0">
              <a:buNone/>
            </a:pPr>
            <a:r>
              <a:rPr lang="en-CA" dirty="0">
                <a:latin typeface="Courier"/>
              </a:rPr>
              <a:t>import time</a:t>
            </a:r>
          </a:p>
          <a:p>
            <a:pPr marL="0" indent="0">
              <a:buNone/>
            </a:pPr>
            <a:r>
              <a:rPr lang="en-CA" sz="2400" dirty="0">
                <a:latin typeface="Courier"/>
              </a:rPr>
              <a:t>print(</a:t>
            </a:r>
            <a:r>
              <a:rPr lang="en-CA" sz="2400" dirty="0" err="1">
                <a:latin typeface="Courier"/>
              </a:rPr>
              <a:t>datetime.datetime.fromtimestamp</a:t>
            </a:r>
            <a:r>
              <a:rPr lang="en-CA" sz="2400" dirty="0">
                <a:latin typeface="Courier"/>
              </a:rPr>
              <a:t>(</a:t>
            </a:r>
            <a:r>
              <a:rPr lang="en-CA" sz="2400" dirty="0" err="1">
                <a:latin typeface="Courier"/>
              </a:rPr>
              <a:t>time.time</a:t>
            </a:r>
            <a:r>
              <a:rPr lang="en-CA" sz="2400" dirty="0">
                <a:latin typeface="Courier"/>
              </a:rPr>
              <a:t>())) </a:t>
            </a:r>
            <a:r>
              <a:rPr lang="en-CA" sz="2400" dirty="0">
                <a:solidFill>
                  <a:srgbClr val="00B050"/>
                </a:solidFill>
                <a:latin typeface="Courier"/>
              </a:rPr>
              <a:t>#2020-01-12 16:25:04.843986 Whatever the time is at the moment you ran the code</a:t>
            </a:r>
            <a:endParaRPr lang="en-US" sz="2400" dirty="0">
              <a:solidFill>
                <a:srgbClr val="00B050"/>
              </a:solidFill>
              <a:latin typeface="Courier"/>
            </a:endParaRPr>
          </a:p>
        </p:txBody>
      </p:sp>
    </p:spTree>
    <p:extLst>
      <p:ext uri="{BB962C8B-B14F-4D97-AF65-F5344CB8AC3E}">
        <p14:creationId xmlns:p14="http://schemas.microsoft.com/office/powerpoint/2010/main" val="2603376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950B3-815F-794D-B302-5A81290B96E2}"/>
              </a:ext>
            </a:extLst>
          </p:cNvPr>
          <p:cNvSpPr>
            <a:spLocks noGrp="1"/>
          </p:cNvSpPr>
          <p:nvPr>
            <p:ph type="title"/>
          </p:nvPr>
        </p:nvSpPr>
        <p:spPr/>
        <p:txBody>
          <a:bodyPr/>
          <a:lstStyle/>
          <a:p>
            <a:r>
              <a:rPr lang="en-US" dirty="0"/>
              <a:t>Comparing times</a:t>
            </a:r>
          </a:p>
        </p:txBody>
      </p:sp>
      <p:sp>
        <p:nvSpPr>
          <p:cNvPr id="3" name="Content Placeholder 2">
            <a:extLst>
              <a:ext uri="{FF2B5EF4-FFF2-40B4-BE49-F238E27FC236}">
                <a16:creationId xmlns:a16="http://schemas.microsoft.com/office/drawing/2014/main" id="{DE0EE140-46EA-BB4E-B33C-F541F53FE02E}"/>
              </a:ext>
            </a:extLst>
          </p:cNvPr>
          <p:cNvSpPr>
            <a:spLocks noGrp="1"/>
          </p:cNvSpPr>
          <p:nvPr>
            <p:ph idx="1"/>
          </p:nvPr>
        </p:nvSpPr>
        <p:spPr/>
        <p:txBody>
          <a:bodyPr/>
          <a:lstStyle/>
          <a:p>
            <a:r>
              <a:rPr lang="en-US" dirty="0"/>
              <a:t>datetime objects can be compared using the comparison operators</a:t>
            </a:r>
          </a:p>
          <a:p>
            <a:r>
              <a:rPr lang="en-US" dirty="0"/>
              <a:t>The later datetime object is the “greater” value</a:t>
            </a:r>
          </a:p>
          <a:p>
            <a:pPr marL="0" indent="0">
              <a:buNone/>
            </a:pPr>
            <a:endParaRPr lang="en-US" dirty="0">
              <a:latin typeface="Consolas" panose="020B0609020204030204" pitchFamily="49" charset="0"/>
            </a:endParaRPr>
          </a:p>
          <a:p>
            <a:pPr marL="0" lvl="0" indent="0" eaLnBrk="0" fontAlgn="base" hangingPunct="0">
              <a:lnSpc>
                <a:spcPct val="100000"/>
              </a:lnSpc>
              <a:spcBef>
                <a:spcPct val="0"/>
              </a:spcBef>
              <a:spcAft>
                <a:spcPct val="0"/>
              </a:spcAft>
              <a:buClrTx/>
              <a:buSzTx/>
              <a:buNone/>
            </a:pPr>
            <a:r>
              <a:rPr lang="en-US" altLang="en-US" dirty="0">
                <a:solidFill>
                  <a:srgbClr val="0033B3"/>
                </a:solidFill>
                <a:latin typeface="Consolas" panose="020B0609020204030204" pitchFamily="49" charset="0"/>
              </a:rPr>
              <a:t>import </a:t>
            </a:r>
            <a:r>
              <a:rPr lang="en-US" altLang="en-US" dirty="0">
                <a:solidFill>
                  <a:srgbClr val="080808"/>
                </a:solidFill>
                <a:latin typeface="Consolas" panose="020B0609020204030204" pitchFamily="49" charset="0"/>
              </a:rPr>
              <a:t>datetime</a:t>
            </a:r>
          </a:p>
          <a:p>
            <a:pPr marL="0" lvl="0" indent="0" eaLnBrk="0" fontAlgn="base" hangingPunct="0">
              <a:lnSpc>
                <a:spcPct val="100000"/>
              </a:lnSpc>
              <a:spcBef>
                <a:spcPct val="0"/>
              </a:spcBef>
              <a:spcAft>
                <a:spcPct val="0"/>
              </a:spcAft>
              <a:buClrTx/>
              <a:buSzTx/>
              <a:buNone/>
            </a:pPr>
            <a:br>
              <a:rPr lang="en-US" altLang="en-US" dirty="0">
                <a:solidFill>
                  <a:srgbClr val="080808"/>
                </a:solidFill>
                <a:latin typeface="Consolas" panose="020B0609020204030204" pitchFamily="49" charset="0"/>
              </a:rPr>
            </a:br>
            <a:r>
              <a:rPr lang="en-US" altLang="en-US" dirty="0" err="1">
                <a:solidFill>
                  <a:srgbClr val="080808"/>
                </a:solidFill>
                <a:latin typeface="Consolas" panose="020B0609020204030204" pitchFamily="49" charset="0"/>
              </a:rPr>
              <a:t>halloween</a:t>
            </a:r>
            <a:r>
              <a:rPr lang="en-US" altLang="en-US" dirty="0">
                <a:solidFill>
                  <a:srgbClr val="080808"/>
                </a:solidFill>
                <a:latin typeface="Consolas" panose="020B0609020204030204" pitchFamily="49" charset="0"/>
              </a:rPr>
              <a:t> = </a:t>
            </a:r>
            <a:r>
              <a:rPr lang="en-US" altLang="en-US" dirty="0" err="1">
                <a:solidFill>
                  <a:srgbClr val="080808"/>
                </a:solidFill>
                <a:latin typeface="Consolas" panose="020B0609020204030204" pitchFamily="49" charset="0"/>
              </a:rPr>
              <a:t>datetime.datetime</a:t>
            </a:r>
            <a:r>
              <a:rPr lang="en-US" altLang="en-US" dirty="0">
                <a:solidFill>
                  <a:srgbClr val="080808"/>
                </a:solidFill>
                <a:latin typeface="Consolas" panose="020B0609020204030204" pitchFamily="49" charset="0"/>
              </a:rPr>
              <a:t>(</a:t>
            </a:r>
            <a:r>
              <a:rPr lang="en-US" altLang="en-US" dirty="0">
                <a:solidFill>
                  <a:srgbClr val="1750EB"/>
                </a:solidFill>
                <a:latin typeface="Consolas" panose="020B0609020204030204" pitchFamily="49" charset="0"/>
              </a:rPr>
              <a:t>2018</a:t>
            </a:r>
            <a:r>
              <a:rPr lang="en-US" altLang="en-US" dirty="0">
                <a:solidFill>
                  <a:srgbClr val="080808"/>
                </a:solidFill>
                <a:latin typeface="Consolas" panose="020B0609020204030204" pitchFamily="49" charset="0"/>
              </a:rPr>
              <a:t>, </a:t>
            </a:r>
            <a:r>
              <a:rPr lang="en-US" altLang="en-US" dirty="0">
                <a:solidFill>
                  <a:srgbClr val="1750EB"/>
                </a:solidFill>
                <a:latin typeface="Consolas" panose="020B0609020204030204" pitchFamily="49" charset="0"/>
              </a:rPr>
              <a:t>10</a:t>
            </a:r>
            <a:r>
              <a:rPr lang="en-US" altLang="en-US" dirty="0">
                <a:solidFill>
                  <a:srgbClr val="080808"/>
                </a:solidFill>
                <a:latin typeface="Consolas" panose="020B0609020204030204" pitchFamily="49" charset="0"/>
              </a:rPr>
              <a:t>, </a:t>
            </a:r>
            <a:r>
              <a:rPr lang="en-US" altLang="en-US" dirty="0">
                <a:solidFill>
                  <a:srgbClr val="1750EB"/>
                </a:solidFill>
                <a:latin typeface="Consolas" panose="020B0609020204030204" pitchFamily="49" charset="0"/>
              </a:rPr>
              <a:t>31</a:t>
            </a:r>
            <a:r>
              <a:rPr lang="en-US" altLang="en-US" dirty="0">
                <a:solidFill>
                  <a:srgbClr val="080808"/>
                </a:solidFill>
                <a:latin typeface="Consolas" panose="020B0609020204030204" pitchFamily="49" charset="0"/>
              </a:rPr>
              <a:t>)</a:t>
            </a:r>
            <a:br>
              <a:rPr lang="en-US" altLang="en-US" dirty="0">
                <a:solidFill>
                  <a:srgbClr val="080808"/>
                </a:solidFill>
                <a:latin typeface="Consolas" panose="020B0609020204030204" pitchFamily="49" charset="0"/>
              </a:rPr>
            </a:br>
            <a:r>
              <a:rPr lang="en-US" altLang="en-US" dirty="0" err="1">
                <a:solidFill>
                  <a:srgbClr val="080808"/>
                </a:solidFill>
                <a:latin typeface="Consolas" panose="020B0609020204030204" pitchFamily="49" charset="0"/>
              </a:rPr>
              <a:t>nyd</a:t>
            </a:r>
            <a:r>
              <a:rPr lang="en-US" altLang="en-US" dirty="0">
                <a:solidFill>
                  <a:srgbClr val="080808"/>
                </a:solidFill>
                <a:latin typeface="Consolas" panose="020B0609020204030204" pitchFamily="49" charset="0"/>
              </a:rPr>
              <a:t> = </a:t>
            </a:r>
            <a:r>
              <a:rPr lang="en-US" altLang="en-US" dirty="0" err="1">
                <a:solidFill>
                  <a:srgbClr val="080808"/>
                </a:solidFill>
                <a:latin typeface="Consolas" panose="020B0609020204030204" pitchFamily="49" charset="0"/>
              </a:rPr>
              <a:t>datetime.datetime</a:t>
            </a:r>
            <a:r>
              <a:rPr lang="en-US" altLang="en-US" dirty="0">
                <a:solidFill>
                  <a:srgbClr val="080808"/>
                </a:solidFill>
                <a:latin typeface="Consolas" panose="020B0609020204030204" pitchFamily="49" charset="0"/>
              </a:rPr>
              <a:t>(</a:t>
            </a:r>
            <a:r>
              <a:rPr lang="en-US" altLang="en-US" dirty="0">
                <a:solidFill>
                  <a:srgbClr val="1750EB"/>
                </a:solidFill>
                <a:latin typeface="Consolas" panose="020B0609020204030204" pitchFamily="49" charset="0"/>
              </a:rPr>
              <a:t>2019</a:t>
            </a:r>
            <a:r>
              <a:rPr lang="en-US" altLang="en-US" dirty="0">
                <a:solidFill>
                  <a:srgbClr val="080808"/>
                </a:solidFill>
                <a:latin typeface="Consolas" panose="020B0609020204030204" pitchFamily="49" charset="0"/>
              </a:rPr>
              <a:t>, </a:t>
            </a:r>
            <a:r>
              <a:rPr lang="en-US" altLang="en-US" dirty="0">
                <a:solidFill>
                  <a:srgbClr val="1750EB"/>
                </a:solidFill>
                <a:latin typeface="Consolas" panose="020B0609020204030204" pitchFamily="49" charset="0"/>
              </a:rPr>
              <a:t>1</a:t>
            </a:r>
            <a:r>
              <a:rPr lang="en-US" altLang="en-US" dirty="0">
                <a:solidFill>
                  <a:srgbClr val="080808"/>
                </a:solidFill>
                <a:latin typeface="Consolas" panose="020B0609020204030204" pitchFamily="49" charset="0"/>
              </a:rPr>
              <a:t>, </a:t>
            </a:r>
            <a:r>
              <a:rPr lang="en-US" altLang="en-US" dirty="0">
                <a:solidFill>
                  <a:srgbClr val="1750EB"/>
                </a:solidFill>
                <a:latin typeface="Consolas" panose="020B0609020204030204" pitchFamily="49" charset="0"/>
              </a:rPr>
              <a:t>1</a:t>
            </a:r>
            <a:r>
              <a:rPr lang="en-US" altLang="en-US" dirty="0">
                <a:solidFill>
                  <a:srgbClr val="080808"/>
                </a:solidFill>
                <a:latin typeface="Consolas" panose="020B0609020204030204" pitchFamily="49" charset="0"/>
              </a:rPr>
              <a:t>)</a:t>
            </a:r>
            <a:br>
              <a:rPr lang="en-US" altLang="en-US" dirty="0">
                <a:solidFill>
                  <a:srgbClr val="080808"/>
                </a:solidFill>
                <a:latin typeface="Consolas" panose="020B0609020204030204" pitchFamily="49" charset="0"/>
              </a:rPr>
            </a:br>
            <a:r>
              <a:rPr lang="en-US" altLang="en-US" dirty="0">
                <a:solidFill>
                  <a:srgbClr val="080808"/>
                </a:solidFill>
                <a:latin typeface="Consolas" panose="020B0609020204030204" pitchFamily="49" charset="0"/>
              </a:rPr>
              <a:t>oct_31 = </a:t>
            </a:r>
            <a:r>
              <a:rPr lang="en-US" altLang="en-US" dirty="0" err="1">
                <a:solidFill>
                  <a:srgbClr val="080808"/>
                </a:solidFill>
                <a:latin typeface="Consolas" panose="020B0609020204030204" pitchFamily="49" charset="0"/>
              </a:rPr>
              <a:t>datetime.datetime</a:t>
            </a:r>
            <a:r>
              <a:rPr lang="en-US" altLang="en-US" dirty="0">
                <a:solidFill>
                  <a:srgbClr val="080808"/>
                </a:solidFill>
                <a:latin typeface="Consolas" panose="020B0609020204030204" pitchFamily="49" charset="0"/>
              </a:rPr>
              <a:t>(</a:t>
            </a:r>
            <a:r>
              <a:rPr lang="en-US" altLang="en-US" dirty="0">
                <a:solidFill>
                  <a:srgbClr val="1750EB"/>
                </a:solidFill>
                <a:latin typeface="Consolas" panose="020B0609020204030204" pitchFamily="49" charset="0"/>
              </a:rPr>
              <a:t>2018</a:t>
            </a:r>
            <a:r>
              <a:rPr lang="en-US" altLang="en-US" dirty="0">
                <a:solidFill>
                  <a:srgbClr val="080808"/>
                </a:solidFill>
                <a:latin typeface="Consolas" panose="020B0609020204030204" pitchFamily="49" charset="0"/>
              </a:rPr>
              <a:t>, </a:t>
            </a:r>
            <a:r>
              <a:rPr lang="en-US" altLang="en-US" dirty="0">
                <a:solidFill>
                  <a:srgbClr val="1750EB"/>
                </a:solidFill>
                <a:latin typeface="Consolas" panose="020B0609020204030204" pitchFamily="49" charset="0"/>
              </a:rPr>
              <a:t>10</a:t>
            </a:r>
            <a:r>
              <a:rPr lang="en-US" altLang="en-US" dirty="0">
                <a:solidFill>
                  <a:srgbClr val="080808"/>
                </a:solidFill>
                <a:latin typeface="Consolas" panose="020B0609020204030204" pitchFamily="49" charset="0"/>
              </a:rPr>
              <a:t>, </a:t>
            </a:r>
            <a:r>
              <a:rPr lang="en-US" altLang="en-US" dirty="0">
                <a:solidFill>
                  <a:srgbClr val="1750EB"/>
                </a:solidFill>
                <a:latin typeface="Consolas" panose="020B0609020204030204" pitchFamily="49" charset="0"/>
              </a:rPr>
              <a:t>31</a:t>
            </a:r>
            <a:r>
              <a:rPr lang="en-US" altLang="en-US" dirty="0">
                <a:solidFill>
                  <a:srgbClr val="080808"/>
                </a:solidFill>
                <a:latin typeface="Consolas" panose="020B0609020204030204" pitchFamily="49" charset="0"/>
              </a:rPr>
              <a:t>)</a:t>
            </a:r>
            <a:br>
              <a:rPr lang="en-US" altLang="en-US" dirty="0">
                <a:solidFill>
                  <a:srgbClr val="080808"/>
                </a:solidFill>
                <a:latin typeface="Consolas" panose="020B0609020204030204" pitchFamily="49" charset="0"/>
              </a:rPr>
            </a:br>
            <a:r>
              <a:rPr lang="en-US" altLang="en-US" dirty="0">
                <a:solidFill>
                  <a:srgbClr val="000080"/>
                </a:solidFill>
                <a:latin typeface="Consolas" panose="020B0609020204030204" pitchFamily="49" charset="0"/>
              </a:rPr>
              <a:t>print</a:t>
            </a:r>
            <a:r>
              <a:rPr lang="en-US" altLang="en-US" dirty="0">
                <a:solidFill>
                  <a:srgbClr val="080808"/>
                </a:solidFill>
                <a:latin typeface="Consolas" panose="020B0609020204030204" pitchFamily="49" charset="0"/>
              </a:rPr>
              <a:t>(</a:t>
            </a:r>
            <a:r>
              <a:rPr lang="en-US" altLang="en-US" dirty="0" err="1">
                <a:solidFill>
                  <a:srgbClr val="080808"/>
                </a:solidFill>
                <a:latin typeface="Consolas" panose="020B0609020204030204" pitchFamily="49" charset="0"/>
              </a:rPr>
              <a:t>halloween</a:t>
            </a:r>
            <a:r>
              <a:rPr lang="en-US" altLang="en-US" dirty="0">
                <a:solidFill>
                  <a:srgbClr val="080808"/>
                </a:solidFill>
                <a:latin typeface="Consolas" panose="020B0609020204030204" pitchFamily="49" charset="0"/>
              </a:rPr>
              <a:t> == oct_31) </a:t>
            </a:r>
            <a:r>
              <a:rPr lang="en-US" altLang="en-US" i="1" dirty="0">
                <a:solidFill>
                  <a:srgbClr val="8C8C8C"/>
                </a:solidFill>
                <a:latin typeface="Consolas" panose="020B0609020204030204" pitchFamily="49" charset="0"/>
              </a:rPr>
              <a:t>#True</a:t>
            </a:r>
            <a:br>
              <a:rPr lang="en-US" altLang="en-US" i="1" dirty="0">
                <a:solidFill>
                  <a:srgbClr val="8C8C8C"/>
                </a:solidFill>
                <a:latin typeface="Consolas" panose="020B0609020204030204" pitchFamily="49" charset="0"/>
              </a:rPr>
            </a:br>
            <a:r>
              <a:rPr lang="en-US" altLang="en-US" dirty="0">
                <a:solidFill>
                  <a:srgbClr val="000080"/>
                </a:solidFill>
                <a:latin typeface="Consolas" panose="020B0609020204030204" pitchFamily="49" charset="0"/>
              </a:rPr>
              <a:t>print</a:t>
            </a:r>
            <a:r>
              <a:rPr lang="en-US" altLang="en-US" dirty="0">
                <a:solidFill>
                  <a:srgbClr val="080808"/>
                </a:solidFill>
                <a:latin typeface="Consolas" panose="020B0609020204030204" pitchFamily="49" charset="0"/>
              </a:rPr>
              <a:t>(</a:t>
            </a:r>
            <a:r>
              <a:rPr lang="en-US" altLang="en-US" dirty="0" err="1">
                <a:solidFill>
                  <a:srgbClr val="080808"/>
                </a:solidFill>
                <a:latin typeface="Consolas" panose="020B0609020204030204" pitchFamily="49" charset="0"/>
              </a:rPr>
              <a:t>halloween</a:t>
            </a:r>
            <a:r>
              <a:rPr lang="en-US" altLang="en-US" dirty="0">
                <a:solidFill>
                  <a:srgbClr val="080808"/>
                </a:solidFill>
                <a:latin typeface="Consolas" panose="020B0609020204030204" pitchFamily="49" charset="0"/>
              </a:rPr>
              <a:t> &gt; </a:t>
            </a:r>
            <a:r>
              <a:rPr lang="en-US" altLang="en-US" dirty="0" err="1">
                <a:solidFill>
                  <a:srgbClr val="080808"/>
                </a:solidFill>
                <a:latin typeface="Consolas" panose="020B0609020204030204" pitchFamily="49" charset="0"/>
              </a:rPr>
              <a:t>nyd</a:t>
            </a:r>
            <a:r>
              <a:rPr lang="en-US" altLang="en-US" dirty="0">
                <a:solidFill>
                  <a:srgbClr val="080808"/>
                </a:solidFill>
                <a:latin typeface="Consolas" panose="020B0609020204030204" pitchFamily="49" charset="0"/>
              </a:rPr>
              <a:t>) </a:t>
            </a:r>
            <a:r>
              <a:rPr lang="en-US" altLang="en-US" i="1" dirty="0">
                <a:solidFill>
                  <a:srgbClr val="8C8C8C"/>
                </a:solidFill>
                <a:latin typeface="Consolas" panose="020B0609020204030204" pitchFamily="49" charset="0"/>
              </a:rPr>
              <a:t>#False</a:t>
            </a:r>
            <a:br>
              <a:rPr lang="en-US" altLang="en-US" i="1" dirty="0">
                <a:solidFill>
                  <a:srgbClr val="8C8C8C"/>
                </a:solidFill>
                <a:latin typeface="Consolas" panose="020B0609020204030204" pitchFamily="49" charset="0"/>
              </a:rPr>
            </a:br>
            <a:r>
              <a:rPr lang="en-US" altLang="en-US" dirty="0">
                <a:solidFill>
                  <a:srgbClr val="000080"/>
                </a:solidFill>
                <a:latin typeface="Consolas" panose="020B0609020204030204" pitchFamily="49" charset="0"/>
              </a:rPr>
              <a:t>print </a:t>
            </a:r>
            <a:r>
              <a:rPr lang="en-US" altLang="en-US" dirty="0">
                <a:solidFill>
                  <a:srgbClr val="080808"/>
                </a:solidFill>
                <a:latin typeface="Consolas" panose="020B0609020204030204" pitchFamily="49" charset="0"/>
              </a:rPr>
              <a:t>(</a:t>
            </a:r>
            <a:r>
              <a:rPr lang="en-US" altLang="en-US" dirty="0" err="1">
                <a:solidFill>
                  <a:srgbClr val="080808"/>
                </a:solidFill>
                <a:latin typeface="Consolas" panose="020B0609020204030204" pitchFamily="49" charset="0"/>
              </a:rPr>
              <a:t>nyd</a:t>
            </a:r>
            <a:r>
              <a:rPr lang="en-US" altLang="en-US" dirty="0">
                <a:solidFill>
                  <a:srgbClr val="080808"/>
                </a:solidFill>
                <a:latin typeface="Consolas" panose="020B0609020204030204" pitchFamily="49" charset="0"/>
              </a:rPr>
              <a:t> != oct_31) </a:t>
            </a:r>
            <a:r>
              <a:rPr lang="en-US" altLang="en-US" i="1" dirty="0">
                <a:solidFill>
                  <a:srgbClr val="8C8C8C"/>
                </a:solidFill>
                <a:latin typeface="Consolas" panose="020B0609020204030204" pitchFamily="49" charset="0"/>
              </a:rPr>
              <a:t>#True</a:t>
            </a:r>
            <a:endParaRPr lang="en-US" altLang="en-US" sz="4400" dirty="0">
              <a:solidFill>
                <a:schemeClr val="tx1"/>
              </a:solidFill>
              <a:latin typeface="Consolas" panose="020B0609020204030204" pitchFamily="49" charset="0"/>
            </a:endParaRPr>
          </a:p>
        </p:txBody>
      </p:sp>
      <p:sp>
        <p:nvSpPr>
          <p:cNvPr id="4" name="Rectangle 1">
            <a:extLst>
              <a:ext uri="{FF2B5EF4-FFF2-40B4-BE49-F238E27FC236}">
                <a16:creationId xmlns:a16="http://schemas.microsoft.com/office/drawing/2014/main" id="{C370F59B-DFA1-41BE-B323-EBE4423ED534}"/>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7525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950B3-815F-794D-B302-5A81290B96E2}"/>
              </a:ext>
            </a:extLst>
          </p:cNvPr>
          <p:cNvSpPr>
            <a:spLocks noGrp="1"/>
          </p:cNvSpPr>
          <p:nvPr>
            <p:ph type="title"/>
          </p:nvPr>
        </p:nvSpPr>
        <p:spPr/>
        <p:txBody>
          <a:bodyPr/>
          <a:lstStyle/>
          <a:p>
            <a:r>
              <a:rPr lang="en-US" dirty="0"/>
              <a:t>Comparing times</a:t>
            </a:r>
          </a:p>
        </p:txBody>
      </p:sp>
      <p:sp>
        <p:nvSpPr>
          <p:cNvPr id="3" name="Content Placeholder 2">
            <a:extLst>
              <a:ext uri="{FF2B5EF4-FFF2-40B4-BE49-F238E27FC236}">
                <a16:creationId xmlns:a16="http://schemas.microsoft.com/office/drawing/2014/main" id="{DE0EE140-46EA-BB4E-B33C-F541F53FE02E}"/>
              </a:ext>
            </a:extLst>
          </p:cNvPr>
          <p:cNvSpPr>
            <a:spLocks noGrp="1"/>
          </p:cNvSpPr>
          <p:nvPr>
            <p:ph idx="1"/>
          </p:nvPr>
        </p:nvSpPr>
        <p:spPr>
          <a:xfrm>
            <a:off x="1097279" y="1845734"/>
            <a:ext cx="10387149" cy="4023360"/>
          </a:xfrm>
        </p:spPr>
        <p:txBody>
          <a:bodyPr>
            <a:normAutofit fontScale="92500" lnSpcReduction="10000"/>
          </a:bodyPr>
          <a:lstStyle/>
          <a:p>
            <a:r>
              <a:rPr lang="en-US" b="1" dirty="0"/>
              <a:t>HANDY TIP: </a:t>
            </a:r>
          </a:p>
          <a:p>
            <a:r>
              <a:rPr lang="en-US" dirty="0"/>
              <a:t>Change “import </a:t>
            </a:r>
            <a:r>
              <a:rPr lang="en-US" dirty="0">
                <a:solidFill>
                  <a:srgbClr val="FF0000"/>
                </a:solidFill>
              </a:rPr>
              <a:t>datetime</a:t>
            </a:r>
            <a:r>
              <a:rPr lang="en-US" dirty="0"/>
              <a:t>” to “from </a:t>
            </a:r>
            <a:r>
              <a:rPr lang="en-US" dirty="0">
                <a:solidFill>
                  <a:srgbClr val="FF0000"/>
                </a:solidFill>
              </a:rPr>
              <a:t>datetime</a:t>
            </a:r>
            <a:r>
              <a:rPr lang="en-US" dirty="0"/>
              <a:t> import </a:t>
            </a:r>
            <a:r>
              <a:rPr lang="en-US" dirty="0">
                <a:solidFill>
                  <a:srgbClr val="00B050"/>
                </a:solidFill>
              </a:rPr>
              <a:t>datetime</a:t>
            </a:r>
            <a:r>
              <a:rPr lang="en-US" dirty="0"/>
              <a:t>”</a:t>
            </a:r>
          </a:p>
          <a:p>
            <a:r>
              <a:rPr lang="en-US" dirty="0"/>
              <a:t>This imports just the </a:t>
            </a:r>
            <a:r>
              <a:rPr lang="en-US" b="1" dirty="0">
                <a:solidFill>
                  <a:srgbClr val="00B050"/>
                </a:solidFill>
              </a:rPr>
              <a:t>datetime</a:t>
            </a:r>
            <a:r>
              <a:rPr lang="en-US" dirty="0"/>
              <a:t> </a:t>
            </a:r>
            <a:r>
              <a:rPr lang="en-US" b="1" dirty="0">
                <a:solidFill>
                  <a:srgbClr val="00B050"/>
                </a:solidFill>
              </a:rPr>
              <a:t>class</a:t>
            </a:r>
            <a:r>
              <a:rPr lang="en-US" dirty="0"/>
              <a:t> from the </a:t>
            </a:r>
            <a:r>
              <a:rPr lang="en-US" b="1" dirty="0">
                <a:solidFill>
                  <a:srgbClr val="FF0000"/>
                </a:solidFill>
              </a:rPr>
              <a:t>datetime</a:t>
            </a:r>
            <a:r>
              <a:rPr lang="en-US" dirty="0"/>
              <a:t> </a:t>
            </a:r>
            <a:r>
              <a:rPr lang="en-US" b="1" dirty="0">
                <a:solidFill>
                  <a:srgbClr val="FF0000"/>
                </a:solidFill>
              </a:rPr>
              <a:t>module</a:t>
            </a:r>
            <a:r>
              <a:rPr lang="en-US" dirty="0"/>
              <a:t>.</a:t>
            </a:r>
          </a:p>
          <a:p>
            <a:pPr marL="0" indent="0">
              <a:buNone/>
            </a:pPr>
            <a:r>
              <a:rPr lang="en-US" dirty="0"/>
              <a:t> This allows you to use the datetime class by calling “</a:t>
            </a:r>
            <a:r>
              <a:rPr lang="en-US" b="1" dirty="0">
                <a:solidFill>
                  <a:srgbClr val="00B050"/>
                </a:solidFill>
              </a:rPr>
              <a:t>datetime</a:t>
            </a:r>
            <a:r>
              <a:rPr lang="en-US" dirty="0"/>
              <a:t>” vs “</a:t>
            </a:r>
            <a:r>
              <a:rPr lang="en-US" b="1" dirty="0" err="1">
                <a:solidFill>
                  <a:srgbClr val="FF0000"/>
                </a:solidFill>
              </a:rPr>
              <a:t>datetime</a:t>
            </a:r>
            <a:r>
              <a:rPr lang="en-US" dirty="0" err="1"/>
              <a:t>.</a:t>
            </a:r>
            <a:r>
              <a:rPr lang="en-US" b="1" dirty="0" err="1">
                <a:solidFill>
                  <a:srgbClr val="00B050"/>
                </a:solidFill>
              </a:rPr>
              <a:t>datetime</a:t>
            </a:r>
            <a:r>
              <a:rPr lang="en-US" dirty="0"/>
              <a:t>”</a:t>
            </a:r>
          </a:p>
          <a:p>
            <a:pPr marL="0" indent="0">
              <a:buNone/>
            </a:pPr>
            <a:endParaRPr lang="en-US" dirty="0"/>
          </a:p>
          <a:p>
            <a:pPr marL="0" lvl="0" indent="0" eaLnBrk="0" fontAlgn="base" hangingPunct="0">
              <a:spcBef>
                <a:spcPct val="0"/>
              </a:spcBef>
              <a:spcAft>
                <a:spcPct val="0"/>
              </a:spcAft>
              <a:buNone/>
            </a:pPr>
            <a:r>
              <a:rPr lang="en-US" altLang="en-US" sz="2200" b="1" dirty="0">
                <a:solidFill>
                  <a:srgbClr val="0033B3"/>
                </a:solidFill>
                <a:latin typeface="Consolas" panose="020B0609020204030204" pitchFamily="49" charset="0"/>
              </a:rPr>
              <a:t>from </a:t>
            </a:r>
            <a:r>
              <a:rPr lang="en-US" altLang="en-US" sz="2200" b="1" dirty="0">
                <a:solidFill>
                  <a:srgbClr val="FF0000"/>
                </a:solidFill>
                <a:latin typeface="Consolas" panose="020B0609020204030204" pitchFamily="49" charset="0"/>
              </a:rPr>
              <a:t>datetime</a:t>
            </a:r>
            <a:r>
              <a:rPr lang="en-US" altLang="en-US" sz="2200" dirty="0">
                <a:solidFill>
                  <a:srgbClr val="080808"/>
                </a:solidFill>
                <a:latin typeface="Consolas" panose="020B0609020204030204" pitchFamily="49" charset="0"/>
              </a:rPr>
              <a:t> </a:t>
            </a:r>
            <a:r>
              <a:rPr lang="en-US" altLang="en-US" sz="2200" b="1" dirty="0">
                <a:solidFill>
                  <a:srgbClr val="0033B3"/>
                </a:solidFill>
                <a:latin typeface="Consolas" panose="020B0609020204030204" pitchFamily="49" charset="0"/>
              </a:rPr>
              <a:t>import</a:t>
            </a:r>
            <a:r>
              <a:rPr lang="en-US" altLang="en-US" sz="2200" dirty="0">
                <a:solidFill>
                  <a:srgbClr val="0033B3"/>
                </a:solidFill>
                <a:latin typeface="Consolas" panose="020B0609020204030204" pitchFamily="49" charset="0"/>
              </a:rPr>
              <a:t> </a:t>
            </a:r>
            <a:r>
              <a:rPr lang="en-US" altLang="en-US" sz="2200" b="1" dirty="0">
                <a:solidFill>
                  <a:srgbClr val="00B050"/>
                </a:solidFill>
                <a:latin typeface="Consolas" panose="020B0609020204030204" pitchFamily="49" charset="0"/>
              </a:rPr>
              <a:t>datetime</a:t>
            </a:r>
          </a:p>
          <a:p>
            <a:pPr lvl="0" eaLnBrk="0" fontAlgn="base" hangingPunct="0">
              <a:spcBef>
                <a:spcPct val="0"/>
              </a:spcBef>
              <a:spcAft>
                <a:spcPct val="0"/>
              </a:spcAft>
            </a:pPr>
            <a:br>
              <a:rPr lang="en-US" altLang="en-US" sz="2200" dirty="0">
                <a:solidFill>
                  <a:srgbClr val="080808"/>
                </a:solidFill>
                <a:latin typeface="Consolas" panose="020B0609020204030204" pitchFamily="49" charset="0"/>
              </a:rPr>
            </a:br>
            <a:r>
              <a:rPr lang="en-US" altLang="en-US" sz="2200" dirty="0" err="1">
                <a:solidFill>
                  <a:srgbClr val="080808"/>
                </a:solidFill>
                <a:latin typeface="Consolas" panose="020B0609020204030204" pitchFamily="49" charset="0"/>
              </a:rPr>
              <a:t>halloween</a:t>
            </a:r>
            <a:r>
              <a:rPr lang="en-US" altLang="en-US" sz="2200" dirty="0">
                <a:solidFill>
                  <a:srgbClr val="080808"/>
                </a:solidFill>
                <a:latin typeface="Consolas" panose="020B0609020204030204" pitchFamily="49" charset="0"/>
              </a:rPr>
              <a:t> = </a:t>
            </a:r>
            <a:r>
              <a:rPr lang="en-US" altLang="en-US" sz="2200" b="1" dirty="0">
                <a:solidFill>
                  <a:srgbClr val="00B050"/>
                </a:solidFill>
                <a:latin typeface="Consolas" panose="020B0609020204030204" pitchFamily="49" charset="0"/>
              </a:rPr>
              <a:t>datetime</a:t>
            </a:r>
            <a:r>
              <a:rPr lang="en-US" altLang="en-US" sz="2200" dirty="0">
                <a:solidFill>
                  <a:srgbClr val="080808"/>
                </a:solidFill>
                <a:latin typeface="Consolas" panose="020B0609020204030204" pitchFamily="49" charset="0"/>
              </a:rPr>
              <a:t>(</a:t>
            </a:r>
            <a:r>
              <a:rPr lang="en-US" altLang="en-US" sz="2200" dirty="0">
                <a:solidFill>
                  <a:srgbClr val="1750EB"/>
                </a:solidFill>
                <a:latin typeface="Consolas" panose="020B0609020204030204" pitchFamily="49" charset="0"/>
              </a:rPr>
              <a:t>2018</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10</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31</a:t>
            </a:r>
            <a:r>
              <a:rPr lang="en-US" altLang="en-US" sz="2200" dirty="0">
                <a:solidFill>
                  <a:srgbClr val="080808"/>
                </a:solidFill>
                <a:latin typeface="Consolas" panose="020B0609020204030204" pitchFamily="49" charset="0"/>
              </a:rPr>
              <a:t>)</a:t>
            </a:r>
            <a:br>
              <a:rPr lang="en-US" altLang="en-US" sz="2200" dirty="0">
                <a:solidFill>
                  <a:srgbClr val="080808"/>
                </a:solidFill>
                <a:latin typeface="Consolas" panose="020B0609020204030204" pitchFamily="49" charset="0"/>
              </a:rPr>
            </a:br>
            <a:r>
              <a:rPr lang="en-US" altLang="en-US" sz="2200" dirty="0" err="1">
                <a:solidFill>
                  <a:srgbClr val="080808"/>
                </a:solidFill>
                <a:latin typeface="Consolas" panose="020B0609020204030204" pitchFamily="49" charset="0"/>
              </a:rPr>
              <a:t>nyd</a:t>
            </a:r>
            <a:r>
              <a:rPr lang="en-US" altLang="en-US" sz="2200" dirty="0">
                <a:solidFill>
                  <a:srgbClr val="080808"/>
                </a:solidFill>
                <a:latin typeface="Consolas" panose="020B0609020204030204" pitchFamily="49" charset="0"/>
              </a:rPr>
              <a:t> = </a:t>
            </a:r>
            <a:r>
              <a:rPr lang="en-US" altLang="en-US" sz="2200" b="1" dirty="0">
                <a:solidFill>
                  <a:srgbClr val="00B050"/>
                </a:solidFill>
                <a:latin typeface="Consolas" panose="020B0609020204030204" pitchFamily="49" charset="0"/>
              </a:rPr>
              <a:t>datetime</a:t>
            </a:r>
            <a:r>
              <a:rPr lang="en-US" altLang="en-US" sz="2200" dirty="0">
                <a:solidFill>
                  <a:srgbClr val="080808"/>
                </a:solidFill>
                <a:latin typeface="Consolas" panose="020B0609020204030204" pitchFamily="49" charset="0"/>
              </a:rPr>
              <a:t>(</a:t>
            </a:r>
            <a:r>
              <a:rPr lang="en-US" altLang="en-US" sz="2200" dirty="0">
                <a:solidFill>
                  <a:srgbClr val="1750EB"/>
                </a:solidFill>
                <a:latin typeface="Consolas" panose="020B0609020204030204" pitchFamily="49" charset="0"/>
              </a:rPr>
              <a:t>2019</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1</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1</a:t>
            </a:r>
            <a:r>
              <a:rPr lang="en-US" altLang="en-US" sz="2200" dirty="0">
                <a:solidFill>
                  <a:srgbClr val="080808"/>
                </a:solidFill>
                <a:latin typeface="Consolas" panose="020B0609020204030204" pitchFamily="49" charset="0"/>
              </a:rPr>
              <a:t>)</a:t>
            </a:r>
            <a:br>
              <a:rPr lang="en-US" altLang="en-US" sz="2200" dirty="0">
                <a:solidFill>
                  <a:srgbClr val="080808"/>
                </a:solidFill>
                <a:latin typeface="Consolas" panose="020B0609020204030204" pitchFamily="49" charset="0"/>
              </a:rPr>
            </a:br>
            <a:r>
              <a:rPr lang="en-US" altLang="en-US" sz="2200" dirty="0">
                <a:solidFill>
                  <a:srgbClr val="080808"/>
                </a:solidFill>
                <a:latin typeface="Consolas" panose="020B0609020204030204" pitchFamily="49" charset="0"/>
              </a:rPr>
              <a:t>oct_31 = </a:t>
            </a:r>
            <a:r>
              <a:rPr lang="en-US" altLang="en-US" sz="2200" b="1" dirty="0">
                <a:solidFill>
                  <a:srgbClr val="00B050"/>
                </a:solidFill>
                <a:latin typeface="Consolas" panose="020B0609020204030204" pitchFamily="49" charset="0"/>
              </a:rPr>
              <a:t>datetime</a:t>
            </a:r>
            <a:r>
              <a:rPr lang="en-US" altLang="en-US" sz="2200" dirty="0">
                <a:solidFill>
                  <a:srgbClr val="080808"/>
                </a:solidFill>
                <a:latin typeface="Consolas" panose="020B0609020204030204" pitchFamily="49" charset="0"/>
              </a:rPr>
              <a:t>(</a:t>
            </a:r>
            <a:r>
              <a:rPr lang="en-US" altLang="en-US" sz="2200" dirty="0">
                <a:solidFill>
                  <a:srgbClr val="1750EB"/>
                </a:solidFill>
                <a:latin typeface="Consolas" panose="020B0609020204030204" pitchFamily="49" charset="0"/>
              </a:rPr>
              <a:t>2018</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10</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31</a:t>
            </a:r>
            <a:r>
              <a:rPr lang="en-US" altLang="en-US" sz="2200" dirty="0">
                <a:solidFill>
                  <a:srgbClr val="080808"/>
                </a:solidFill>
                <a:latin typeface="Consolas" panose="020B0609020204030204" pitchFamily="49" charset="0"/>
              </a:rPr>
              <a:t>)</a:t>
            </a:r>
            <a:br>
              <a:rPr lang="en-US" altLang="en-US" sz="2200" dirty="0">
                <a:solidFill>
                  <a:srgbClr val="080808"/>
                </a:solidFill>
                <a:latin typeface="Consolas" panose="020B0609020204030204" pitchFamily="49" charset="0"/>
              </a:rPr>
            </a:br>
            <a:r>
              <a:rPr lang="en-US" altLang="en-US" sz="2200" dirty="0">
                <a:solidFill>
                  <a:srgbClr val="000080"/>
                </a:solidFill>
                <a:latin typeface="Consolas" panose="020B0609020204030204" pitchFamily="49" charset="0"/>
              </a:rPr>
              <a:t>print</a:t>
            </a:r>
            <a:r>
              <a:rPr lang="en-US" altLang="en-US" sz="2200" dirty="0">
                <a:solidFill>
                  <a:srgbClr val="080808"/>
                </a:solidFill>
                <a:latin typeface="Consolas" panose="020B0609020204030204" pitchFamily="49" charset="0"/>
              </a:rPr>
              <a:t>(</a:t>
            </a:r>
            <a:r>
              <a:rPr lang="en-US" altLang="en-US" sz="2200" dirty="0" err="1">
                <a:solidFill>
                  <a:srgbClr val="080808"/>
                </a:solidFill>
                <a:latin typeface="Consolas" panose="020B0609020204030204" pitchFamily="49" charset="0"/>
              </a:rPr>
              <a:t>halloween</a:t>
            </a:r>
            <a:r>
              <a:rPr lang="en-US" altLang="en-US" sz="2200" dirty="0">
                <a:solidFill>
                  <a:srgbClr val="080808"/>
                </a:solidFill>
                <a:latin typeface="Consolas" panose="020B0609020204030204" pitchFamily="49" charset="0"/>
              </a:rPr>
              <a:t> == oct_31) </a:t>
            </a:r>
            <a:r>
              <a:rPr lang="en-US" altLang="en-US" sz="2200" i="1" dirty="0">
                <a:solidFill>
                  <a:srgbClr val="8C8C8C"/>
                </a:solidFill>
                <a:latin typeface="Consolas" panose="020B0609020204030204" pitchFamily="49" charset="0"/>
              </a:rPr>
              <a:t>#True</a:t>
            </a:r>
            <a:br>
              <a:rPr lang="en-US" altLang="en-US" sz="2200" i="1" dirty="0">
                <a:solidFill>
                  <a:srgbClr val="8C8C8C"/>
                </a:solidFill>
                <a:latin typeface="Consolas" panose="020B0609020204030204" pitchFamily="49" charset="0"/>
              </a:rPr>
            </a:br>
            <a:r>
              <a:rPr lang="en-US" altLang="en-US" sz="2200" dirty="0">
                <a:solidFill>
                  <a:srgbClr val="000080"/>
                </a:solidFill>
                <a:latin typeface="Consolas" panose="020B0609020204030204" pitchFamily="49" charset="0"/>
              </a:rPr>
              <a:t>print</a:t>
            </a:r>
            <a:r>
              <a:rPr lang="en-US" altLang="en-US" sz="2200" dirty="0">
                <a:solidFill>
                  <a:srgbClr val="080808"/>
                </a:solidFill>
                <a:latin typeface="Consolas" panose="020B0609020204030204" pitchFamily="49" charset="0"/>
              </a:rPr>
              <a:t>(</a:t>
            </a:r>
            <a:r>
              <a:rPr lang="en-US" altLang="en-US" sz="2200" dirty="0" err="1">
                <a:solidFill>
                  <a:srgbClr val="080808"/>
                </a:solidFill>
                <a:latin typeface="Consolas" panose="020B0609020204030204" pitchFamily="49" charset="0"/>
              </a:rPr>
              <a:t>halloween</a:t>
            </a:r>
            <a:r>
              <a:rPr lang="en-US" altLang="en-US" sz="2200" dirty="0">
                <a:solidFill>
                  <a:srgbClr val="080808"/>
                </a:solidFill>
                <a:latin typeface="Consolas" panose="020B0609020204030204" pitchFamily="49" charset="0"/>
              </a:rPr>
              <a:t> &gt; </a:t>
            </a:r>
            <a:r>
              <a:rPr lang="en-US" altLang="en-US" sz="2200" dirty="0" err="1">
                <a:solidFill>
                  <a:srgbClr val="080808"/>
                </a:solidFill>
                <a:latin typeface="Consolas" panose="020B0609020204030204" pitchFamily="49" charset="0"/>
              </a:rPr>
              <a:t>nyd</a:t>
            </a:r>
            <a:r>
              <a:rPr lang="en-US" altLang="en-US" sz="2200" dirty="0">
                <a:solidFill>
                  <a:srgbClr val="080808"/>
                </a:solidFill>
                <a:latin typeface="Consolas" panose="020B0609020204030204" pitchFamily="49" charset="0"/>
              </a:rPr>
              <a:t>) </a:t>
            </a:r>
            <a:r>
              <a:rPr lang="en-US" altLang="en-US" sz="2200" i="1" dirty="0">
                <a:solidFill>
                  <a:srgbClr val="8C8C8C"/>
                </a:solidFill>
                <a:latin typeface="Consolas" panose="020B0609020204030204" pitchFamily="49" charset="0"/>
              </a:rPr>
              <a:t>#False</a:t>
            </a:r>
            <a:br>
              <a:rPr lang="en-US" altLang="en-US" sz="2200" i="1" dirty="0">
                <a:solidFill>
                  <a:srgbClr val="8C8C8C"/>
                </a:solidFill>
                <a:latin typeface="Consolas" panose="020B0609020204030204" pitchFamily="49" charset="0"/>
              </a:rPr>
            </a:br>
            <a:r>
              <a:rPr lang="en-US" altLang="en-US" sz="2200" dirty="0">
                <a:solidFill>
                  <a:srgbClr val="000080"/>
                </a:solidFill>
                <a:latin typeface="Consolas" panose="020B0609020204030204" pitchFamily="49" charset="0"/>
              </a:rPr>
              <a:t>print </a:t>
            </a:r>
            <a:r>
              <a:rPr lang="en-US" altLang="en-US" sz="2200" dirty="0">
                <a:solidFill>
                  <a:srgbClr val="080808"/>
                </a:solidFill>
                <a:latin typeface="Consolas" panose="020B0609020204030204" pitchFamily="49" charset="0"/>
              </a:rPr>
              <a:t>(</a:t>
            </a:r>
            <a:r>
              <a:rPr lang="en-US" altLang="en-US" sz="2200" dirty="0" err="1">
                <a:solidFill>
                  <a:srgbClr val="080808"/>
                </a:solidFill>
                <a:latin typeface="Consolas" panose="020B0609020204030204" pitchFamily="49" charset="0"/>
              </a:rPr>
              <a:t>nyd</a:t>
            </a:r>
            <a:r>
              <a:rPr lang="en-US" altLang="en-US" sz="2200" dirty="0">
                <a:solidFill>
                  <a:srgbClr val="080808"/>
                </a:solidFill>
                <a:latin typeface="Consolas" panose="020B0609020204030204" pitchFamily="49" charset="0"/>
              </a:rPr>
              <a:t> != oct_31) </a:t>
            </a:r>
            <a:r>
              <a:rPr lang="en-US" altLang="en-US" sz="2200" i="1" dirty="0">
                <a:solidFill>
                  <a:srgbClr val="8C8C8C"/>
                </a:solidFill>
                <a:latin typeface="Consolas" panose="020B0609020204030204" pitchFamily="49" charset="0"/>
              </a:rPr>
              <a:t>#True</a:t>
            </a:r>
          </a:p>
        </p:txBody>
      </p:sp>
      <p:sp>
        <p:nvSpPr>
          <p:cNvPr id="4" name="Rectangle 1">
            <a:extLst>
              <a:ext uri="{FF2B5EF4-FFF2-40B4-BE49-F238E27FC236}">
                <a16:creationId xmlns:a16="http://schemas.microsoft.com/office/drawing/2014/main" id="{2380A6E8-F5AA-4B6B-ABBE-03507EB02A8C}"/>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08426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950B3-815F-794D-B302-5A81290B96E2}"/>
              </a:ext>
            </a:extLst>
          </p:cNvPr>
          <p:cNvSpPr>
            <a:spLocks noGrp="1"/>
          </p:cNvSpPr>
          <p:nvPr>
            <p:ph type="title"/>
          </p:nvPr>
        </p:nvSpPr>
        <p:spPr/>
        <p:txBody>
          <a:bodyPr/>
          <a:lstStyle/>
          <a:p>
            <a:r>
              <a:rPr lang="en-US" dirty="0"/>
              <a:t>Comparing times</a:t>
            </a:r>
          </a:p>
        </p:txBody>
      </p:sp>
      <p:sp>
        <p:nvSpPr>
          <p:cNvPr id="3" name="Content Placeholder 2">
            <a:extLst>
              <a:ext uri="{FF2B5EF4-FFF2-40B4-BE49-F238E27FC236}">
                <a16:creationId xmlns:a16="http://schemas.microsoft.com/office/drawing/2014/main" id="{DE0EE140-46EA-BB4E-B33C-F541F53FE02E}"/>
              </a:ext>
            </a:extLst>
          </p:cNvPr>
          <p:cNvSpPr>
            <a:spLocks noGrp="1"/>
          </p:cNvSpPr>
          <p:nvPr>
            <p:ph idx="1"/>
          </p:nvPr>
        </p:nvSpPr>
        <p:spPr>
          <a:xfrm>
            <a:off x="1097279" y="1845734"/>
            <a:ext cx="10387149" cy="4023360"/>
          </a:xfrm>
        </p:spPr>
        <p:txBody>
          <a:bodyPr>
            <a:normAutofit fontScale="92500" lnSpcReduction="20000"/>
          </a:bodyPr>
          <a:lstStyle/>
          <a:p>
            <a:r>
              <a:rPr lang="en-US" b="1" dirty="0"/>
              <a:t>ULTRA HANDY TIP: </a:t>
            </a:r>
          </a:p>
          <a:p>
            <a:r>
              <a:rPr lang="en-US" dirty="0"/>
              <a:t>Change “import </a:t>
            </a:r>
            <a:r>
              <a:rPr lang="en-US" dirty="0">
                <a:solidFill>
                  <a:srgbClr val="FF0000"/>
                </a:solidFill>
              </a:rPr>
              <a:t>datetime</a:t>
            </a:r>
            <a:r>
              <a:rPr lang="en-US" dirty="0"/>
              <a:t>” to “from </a:t>
            </a:r>
            <a:r>
              <a:rPr lang="en-US" dirty="0">
                <a:solidFill>
                  <a:srgbClr val="FF0000"/>
                </a:solidFill>
              </a:rPr>
              <a:t>datetime</a:t>
            </a:r>
            <a:r>
              <a:rPr lang="en-US" dirty="0"/>
              <a:t> import </a:t>
            </a:r>
            <a:r>
              <a:rPr lang="en-US" sz="2700" b="1" dirty="0">
                <a:solidFill>
                  <a:srgbClr val="00B050"/>
                </a:solidFill>
              </a:rPr>
              <a:t>*</a:t>
            </a:r>
            <a:r>
              <a:rPr lang="en-US" dirty="0"/>
              <a:t>”</a:t>
            </a:r>
          </a:p>
          <a:p>
            <a:r>
              <a:rPr lang="en-US" dirty="0"/>
              <a:t>This imports </a:t>
            </a:r>
            <a:r>
              <a:rPr lang="en-US" b="1" dirty="0">
                <a:solidFill>
                  <a:srgbClr val="00B050"/>
                </a:solidFill>
              </a:rPr>
              <a:t>ALL</a:t>
            </a:r>
            <a:r>
              <a:rPr lang="en-US" dirty="0"/>
              <a:t> </a:t>
            </a:r>
            <a:r>
              <a:rPr lang="en-US" b="1" dirty="0">
                <a:solidFill>
                  <a:srgbClr val="00B050"/>
                </a:solidFill>
              </a:rPr>
              <a:t>CLASSES</a:t>
            </a:r>
            <a:r>
              <a:rPr lang="en-US" dirty="0"/>
              <a:t> from the </a:t>
            </a:r>
            <a:r>
              <a:rPr lang="en-US" b="1" dirty="0">
                <a:solidFill>
                  <a:srgbClr val="FF0000"/>
                </a:solidFill>
              </a:rPr>
              <a:t>datetime</a:t>
            </a:r>
            <a:r>
              <a:rPr lang="en-US" dirty="0"/>
              <a:t> </a:t>
            </a:r>
            <a:r>
              <a:rPr lang="en-US" b="1" dirty="0">
                <a:solidFill>
                  <a:srgbClr val="FF0000"/>
                </a:solidFill>
              </a:rPr>
              <a:t>module</a:t>
            </a:r>
            <a:r>
              <a:rPr lang="en-US" dirty="0"/>
              <a:t>.</a:t>
            </a:r>
          </a:p>
          <a:p>
            <a:pPr marL="0" indent="0">
              <a:buNone/>
            </a:pPr>
            <a:r>
              <a:rPr lang="en-US" dirty="0"/>
              <a:t> This allows you to use </a:t>
            </a:r>
            <a:r>
              <a:rPr lang="en-US" b="1" dirty="0">
                <a:solidFill>
                  <a:srgbClr val="00B050"/>
                </a:solidFill>
              </a:rPr>
              <a:t>any class </a:t>
            </a:r>
            <a:r>
              <a:rPr lang="en-US" dirty="0"/>
              <a:t>within the module by their </a:t>
            </a:r>
            <a:r>
              <a:rPr lang="en-US" dirty="0">
                <a:solidFill>
                  <a:srgbClr val="00B050"/>
                </a:solidFill>
              </a:rPr>
              <a:t>class name </a:t>
            </a:r>
            <a:r>
              <a:rPr lang="en-US" dirty="0"/>
              <a:t>class by calling “</a:t>
            </a:r>
            <a:r>
              <a:rPr lang="en-US" b="1" dirty="0" err="1">
                <a:solidFill>
                  <a:srgbClr val="00B050"/>
                </a:solidFill>
              </a:rPr>
              <a:t>classname</a:t>
            </a:r>
            <a:r>
              <a:rPr lang="en-US" dirty="0"/>
              <a:t>” vs “</a:t>
            </a:r>
            <a:r>
              <a:rPr lang="en-US" b="1" dirty="0" err="1">
                <a:solidFill>
                  <a:srgbClr val="FF0000"/>
                </a:solidFill>
              </a:rPr>
              <a:t>datetime</a:t>
            </a:r>
            <a:r>
              <a:rPr lang="en-US" dirty="0" err="1"/>
              <a:t>.</a:t>
            </a:r>
            <a:r>
              <a:rPr lang="en-US" b="1" dirty="0" err="1">
                <a:solidFill>
                  <a:srgbClr val="00B050"/>
                </a:solidFill>
              </a:rPr>
              <a:t>classname</a:t>
            </a:r>
            <a:r>
              <a:rPr lang="en-US" dirty="0"/>
              <a:t>”</a:t>
            </a:r>
          </a:p>
          <a:p>
            <a:pPr marL="0" indent="0">
              <a:buNone/>
            </a:pPr>
            <a:endParaRPr lang="en-US" dirty="0"/>
          </a:p>
          <a:p>
            <a:pPr marL="0" lvl="0" indent="0" eaLnBrk="0" fontAlgn="base" hangingPunct="0">
              <a:spcBef>
                <a:spcPct val="0"/>
              </a:spcBef>
              <a:spcAft>
                <a:spcPct val="0"/>
              </a:spcAft>
              <a:buNone/>
            </a:pPr>
            <a:r>
              <a:rPr lang="en-US" altLang="en-US" sz="2200" b="1" dirty="0">
                <a:solidFill>
                  <a:srgbClr val="0033B3"/>
                </a:solidFill>
                <a:latin typeface="Consolas" panose="020B0609020204030204" pitchFamily="49" charset="0"/>
              </a:rPr>
              <a:t>from </a:t>
            </a:r>
            <a:r>
              <a:rPr lang="en-US" altLang="en-US" sz="2200" b="1" dirty="0">
                <a:solidFill>
                  <a:srgbClr val="FF0000"/>
                </a:solidFill>
                <a:latin typeface="Consolas" panose="020B0609020204030204" pitchFamily="49" charset="0"/>
              </a:rPr>
              <a:t>datetime</a:t>
            </a:r>
            <a:r>
              <a:rPr lang="en-US" altLang="en-US" sz="2200" dirty="0">
                <a:solidFill>
                  <a:srgbClr val="080808"/>
                </a:solidFill>
                <a:latin typeface="Consolas" panose="020B0609020204030204" pitchFamily="49" charset="0"/>
              </a:rPr>
              <a:t> </a:t>
            </a:r>
            <a:r>
              <a:rPr lang="en-US" altLang="en-US" sz="2200" b="1" dirty="0">
                <a:solidFill>
                  <a:srgbClr val="0033B3"/>
                </a:solidFill>
                <a:latin typeface="Consolas" panose="020B0609020204030204" pitchFamily="49" charset="0"/>
              </a:rPr>
              <a:t>import</a:t>
            </a:r>
            <a:r>
              <a:rPr lang="en-US" altLang="en-US" sz="2200" dirty="0">
                <a:solidFill>
                  <a:srgbClr val="0033B3"/>
                </a:solidFill>
                <a:latin typeface="Consolas" panose="020B0609020204030204" pitchFamily="49" charset="0"/>
              </a:rPr>
              <a:t> </a:t>
            </a:r>
            <a:r>
              <a:rPr lang="en-US" altLang="en-US" sz="2700" b="1" dirty="0">
                <a:solidFill>
                  <a:srgbClr val="00B050"/>
                </a:solidFill>
                <a:latin typeface="Consolas" panose="020B0609020204030204" pitchFamily="49" charset="0"/>
              </a:rPr>
              <a:t>*</a:t>
            </a:r>
          </a:p>
          <a:p>
            <a:pPr lvl="0" eaLnBrk="0" fontAlgn="base" hangingPunct="0">
              <a:spcBef>
                <a:spcPct val="0"/>
              </a:spcBef>
              <a:spcAft>
                <a:spcPct val="0"/>
              </a:spcAft>
            </a:pPr>
            <a:br>
              <a:rPr lang="en-US" altLang="en-US" sz="2200" dirty="0">
                <a:solidFill>
                  <a:srgbClr val="080808"/>
                </a:solidFill>
                <a:latin typeface="Consolas" panose="020B0609020204030204" pitchFamily="49" charset="0"/>
              </a:rPr>
            </a:br>
            <a:r>
              <a:rPr lang="en-US" altLang="en-US" sz="2200" dirty="0" err="1">
                <a:solidFill>
                  <a:srgbClr val="080808"/>
                </a:solidFill>
                <a:latin typeface="Consolas" panose="020B0609020204030204" pitchFamily="49" charset="0"/>
              </a:rPr>
              <a:t>halloween</a:t>
            </a:r>
            <a:r>
              <a:rPr lang="en-US" altLang="en-US" sz="2200" dirty="0">
                <a:solidFill>
                  <a:srgbClr val="080808"/>
                </a:solidFill>
                <a:latin typeface="Consolas" panose="020B0609020204030204" pitchFamily="49" charset="0"/>
              </a:rPr>
              <a:t> = </a:t>
            </a:r>
            <a:r>
              <a:rPr lang="en-US" altLang="en-US" sz="2200" b="1" dirty="0">
                <a:solidFill>
                  <a:srgbClr val="00B050"/>
                </a:solidFill>
                <a:latin typeface="Consolas" panose="020B0609020204030204" pitchFamily="49" charset="0"/>
              </a:rPr>
              <a:t>datetime</a:t>
            </a:r>
            <a:r>
              <a:rPr lang="en-US" altLang="en-US" sz="2200" dirty="0">
                <a:solidFill>
                  <a:srgbClr val="080808"/>
                </a:solidFill>
                <a:latin typeface="Consolas" panose="020B0609020204030204" pitchFamily="49" charset="0"/>
              </a:rPr>
              <a:t>(</a:t>
            </a:r>
            <a:r>
              <a:rPr lang="en-US" altLang="en-US" sz="2200" dirty="0">
                <a:solidFill>
                  <a:srgbClr val="1750EB"/>
                </a:solidFill>
                <a:latin typeface="Consolas" panose="020B0609020204030204" pitchFamily="49" charset="0"/>
              </a:rPr>
              <a:t>2018</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10</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31</a:t>
            </a:r>
            <a:r>
              <a:rPr lang="en-US" altLang="en-US" sz="2200" dirty="0">
                <a:solidFill>
                  <a:srgbClr val="080808"/>
                </a:solidFill>
                <a:latin typeface="Consolas" panose="020B0609020204030204" pitchFamily="49" charset="0"/>
              </a:rPr>
              <a:t>)</a:t>
            </a:r>
            <a:br>
              <a:rPr lang="en-US" altLang="en-US" sz="2200" dirty="0">
                <a:solidFill>
                  <a:srgbClr val="080808"/>
                </a:solidFill>
                <a:latin typeface="Consolas" panose="020B0609020204030204" pitchFamily="49" charset="0"/>
              </a:rPr>
            </a:br>
            <a:r>
              <a:rPr lang="en-US" altLang="en-US" sz="2200" dirty="0" err="1">
                <a:solidFill>
                  <a:srgbClr val="080808"/>
                </a:solidFill>
                <a:latin typeface="Consolas" panose="020B0609020204030204" pitchFamily="49" charset="0"/>
              </a:rPr>
              <a:t>nyd</a:t>
            </a:r>
            <a:r>
              <a:rPr lang="en-US" altLang="en-US" sz="2200" dirty="0">
                <a:solidFill>
                  <a:srgbClr val="080808"/>
                </a:solidFill>
                <a:latin typeface="Consolas" panose="020B0609020204030204" pitchFamily="49" charset="0"/>
              </a:rPr>
              <a:t> = </a:t>
            </a:r>
            <a:r>
              <a:rPr lang="en-US" altLang="en-US" sz="2200" b="1" dirty="0">
                <a:solidFill>
                  <a:srgbClr val="00B050"/>
                </a:solidFill>
                <a:latin typeface="Consolas" panose="020B0609020204030204" pitchFamily="49" charset="0"/>
              </a:rPr>
              <a:t>datetime</a:t>
            </a:r>
            <a:r>
              <a:rPr lang="en-US" altLang="en-US" sz="2200" dirty="0">
                <a:solidFill>
                  <a:srgbClr val="080808"/>
                </a:solidFill>
                <a:latin typeface="Consolas" panose="020B0609020204030204" pitchFamily="49" charset="0"/>
              </a:rPr>
              <a:t>(</a:t>
            </a:r>
            <a:r>
              <a:rPr lang="en-US" altLang="en-US" sz="2200" dirty="0">
                <a:solidFill>
                  <a:srgbClr val="1750EB"/>
                </a:solidFill>
                <a:latin typeface="Consolas" panose="020B0609020204030204" pitchFamily="49" charset="0"/>
              </a:rPr>
              <a:t>2019</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1</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1</a:t>
            </a:r>
            <a:r>
              <a:rPr lang="en-US" altLang="en-US" sz="2200" dirty="0">
                <a:solidFill>
                  <a:srgbClr val="080808"/>
                </a:solidFill>
                <a:latin typeface="Consolas" panose="020B0609020204030204" pitchFamily="49" charset="0"/>
              </a:rPr>
              <a:t>)</a:t>
            </a:r>
            <a:br>
              <a:rPr lang="en-US" altLang="en-US" sz="2200" dirty="0">
                <a:solidFill>
                  <a:srgbClr val="080808"/>
                </a:solidFill>
                <a:latin typeface="Consolas" panose="020B0609020204030204" pitchFamily="49" charset="0"/>
              </a:rPr>
            </a:br>
            <a:r>
              <a:rPr lang="en-US" altLang="en-US" sz="2200" dirty="0">
                <a:solidFill>
                  <a:srgbClr val="080808"/>
                </a:solidFill>
                <a:latin typeface="Consolas" panose="020B0609020204030204" pitchFamily="49" charset="0"/>
              </a:rPr>
              <a:t>oct_31 = </a:t>
            </a:r>
            <a:r>
              <a:rPr lang="en-US" altLang="en-US" sz="2200" b="1" dirty="0">
                <a:solidFill>
                  <a:srgbClr val="00B050"/>
                </a:solidFill>
                <a:latin typeface="Consolas" panose="020B0609020204030204" pitchFamily="49" charset="0"/>
              </a:rPr>
              <a:t>datetime</a:t>
            </a:r>
            <a:r>
              <a:rPr lang="en-US" altLang="en-US" sz="2200" dirty="0">
                <a:solidFill>
                  <a:srgbClr val="080808"/>
                </a:solidFill>
                <a:latin typeface="Consolas" panose="020B0609020204030204" pitchFamily="49" charset="0"/>
              </a:rPr>
              <a:t>(</a:t>
            </a:r>
            <a:r>
              <a:rPr lang="en-US" altLang="en-US" sz="2200" dirty="0">
                <a:solidFill>
                  <a:srgbClr val="1750EB"/>
                </a:solidFill>
                <a:latin typeface="Consolas" panose="020B0609020204030204" pitchFamily="49" charset="0"/>
              </a:rPr>
              <a:t>2018</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10</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31</a:t>
            </a:r>
            <a:r>
              <a:rPr lang="en-US" altLang="en-US" sz="2200" dirty="0">
                <a:solidFill>
                  <a:srgbClr val="080808"/>
                </a:solidFill>
                <a:latin typeface="Consolas" panose="020B0609020204030204" pitchFamily="49" charset="0"/>
              </a:rPr>
              <a:t>)</a:t>
            </a:r>
            <a:br>
              <a:rPr lang="en-US" altLang="en-US" sz="2200" dirty="0">
                <a:solidFill>
                  <a:srgbClr val="080808"/>
                </a:solidFill>
                <a:latin typeface="Consolas" panose="020B0609020204030204" pitchFamily="49" charset="0"/>
              </a:rPr>
            </a:br>
            <a:r>
              <a:rPr lang="en-US" altLang="en-US" sz="2200" dirty="0">
                <a:solidFill>
                  <a:srgbClr val="000080"/>
                </a:solidFill>
                <a:latin typeface="Consolas" panose="020B0609020204030204" pitchFamily="49" charset="0"/>
              </a:rPr>
              <a:t>print</a:t>
            </a:r>
            <a:r>
              <a:rPr lang="en-US" altLang="en-US" sz="2200" dirty="0">
                <a:solidFill>
                  <a:srgbClr val="080808"/>
                </a:solidFill>
                <a:latin typeface="Consolas" panose="020B0609020204030204" pitchFamily="49" charset="0"/>
              </a:rPr>
              <a:t>(</a:t>
            </a:r>
            <a:r>
              <a:rPr lang="en-US" altLang="en-US" sz="2200" dirty="0" err="1">
                <a:solidFill>
                  <a:srgbClr val="080808"/>
                </a:solidFill>
                <a:latin typeface="Consolas" panose="020B0609020204030204" pitchFamily="49" charset="0"/>
              </a:rPr>
              <a:t>halloween</a:t>
            </a:r>
            <a:r>
              <a:rPr lang="en-US" altLang="en-US" sz="2200" dirty="0">
                <a:solidFill>
                  <a:srgbClr val="080808"/>
                </a:solidFill>
                <a:latin typeface="Consolas" panose="020B0609020204030204" pitchFamily="49" charset="0"/>
              </a:rPr>
              <a:t> == oct_31) </a:t>
            </a:r>
            <a:r>
              <a:rPr lang="en-US" altLang="en-US" sz="2200" i="1" dirty="0">
                <a:solidFill>
                  <a:srgbClr val="8C8C8C"/>
                </a:solidFill>
                <a:latin typeface="Consolas" panose="020B0609020204030204" pitchFamily="49" charset="0"/>
              </a:rPr>
              <a:t>#True</a:t>
            </a:r>
            <a:br>
              <a:rPr lang="en-US" altLang="en-US" sz="2200" i="1" dirty="0">
                <a:solidFill>
                  <a:srgbClr val="8C8C8C"/>
                </a:solidFill>
                <a:latin typeface="Consolas" panose="020B0609020204030204" pitchFamily="49" charset="0"/>
              </a:rPr>
            </a:br>
            <a:r>
              <a:rPr lang="en-US" altLang="en-US" sz="2200" dirty="0">
                <a:solidFill>
                  <a:srgbClr val="000080"/>
                </a:solidFill>
                <a:latin typeface="Consolas" panose="020B0609020204030204" pitchFamily="49" charset="0"/>
              </a:rPr>
              <a:t>print</a:t>
            </a:r>
            <a:r>
              <a:rPr lang="en-US" altLang="en-US" sz="2200" dirty="0">
                <a:solidFill>
                  <a:srgbClr val="080808"/>
                </a:solidFill>
                <a:latin typeface="Consolas" panose="020B0609020204030204" pitchFamily="49" charset="0"/>
              </a:rPr>
              <a:t>(</a:t>
            </a:r>
            <a:r>
              <a:rPr lang="en-US" altLang="en-US" sz="2200" dirty="0" err="1">
                <a:solidFill>
                  <a:srgbClr val="080808"/>
                </a:solidFill>
                <a:latin typeface="Consolas" panose="020B0609020204030204" pitchFamily="49" charset="0"/>
              </a:rPr>
              <a:t>halloween</a:t>
            </a:r>
            <a:r>
              <a:rPr lang="en-US" altLang="en-US" sz="2200" dirty="0">
                <a:solidFill>
                  <a:srgbClr val="080808"/>
                </a:solidFill>
                <a:latin typeface="Consolas" panose="020B0609020204030204" pitchFamily="49" charset="0"/>
              </a:rPr>
              <a:t> &gt; </a:t>
            </a:r>
            <a:r>
              <a:rPr lang="en-US" altLang="en-US" sz="2200" dirty="0" err="1">
                <a:solidFill>
                  <a:srgbClr val="080808"/>
                </a:solidFill>
                <a:latin typeface="Consolas" panose="020B0609020204030204" pitchFamily="49" charset="0"/>
              </a:rPr>
              <a:t>nyd</a:t>
            </a:r>
            <a:r>
              <a:rPr lang="en-US" altLang="en-US" sz="2200" dirty="0">
                <a:solidFill>
                  <a:srgbClr val="080808"/>
                </a:solidFill>
                <a:latin typeface="Consolas" panose="020B0609020204030204" pitchFamily="49" charset="0"/>
              </a:rPr>
              <a:t>) </a:t>
            </a:r>
            <a:r>
              <a:rPr lang="en-US" altLang="en-US" sz="2200" i="1" dirty="0">
                <a:solidFill>
                  <a:srgbClr val="8C8C8C"/>
                </a:solidFill>
                <a:latin typeface="Consolas" panose="020B0609020204030204" pitchFamily="49" charset="0"/>
              </a:rPr>
              <a:t>#False</a:t>
            </a:r>
            <a:br>
              <a:rPr lang="en-US" altLang="en-US" sz="2200" i="1" dirty="0">
                <a:solidFill>
                  <a:srgbClr val="8C8C8C"/>
                </a:solidFill>
                <a:latin typeface="Consolas" panose="020B0609020204030204" pitchFamily="49" charset="0"/>
              </a:rPr>
            </a:br>
            <a:r>
              <a:rPr lang="en-US" altLang="en-US" sz="2200" dirty="0">
                <a:solidFill>
                  <a:srgbClr val="000080"/>
                </a:solidFill>
                <a:latin typeface="Consolas" panose="020B0609020204030204" pitchFamily="49" charset="0"/>
              </a:rPr>
              <a:t>print </a:t>
            </a:r>
            <a:r>
              <a:rPr lang="en-US" altLang="en-US" sz="2200" dirty="0">
                <a:solidFill>
                  <a:srgbClr val="080808"/>
                </a:solidFill>
                <a:latin typeface="Consolas" panose="020B0609020204030204" pitchFamily="49" charset="0"/>
              </a:rPr>
              <a:t>(</a:t>
            </a:r>
            <a:r>
              <a:rPr lang="en-US" altLang="en-US" sz="2200" dirty="0" err="1">
                <a:solidFill>
                  <a:srgbClr val="080808"/>
                </a:solidFill>
                <a:latin typeface="Consolas" panose="020B0609020204030204" pitchFamily="49" charset="0"/>
              </a:rPr>
              <a:t>nyd</a:t>
            </a:r>
            <a:r>
              <a:rPr lang="en-US" altLang="en-US" sz="2200" dirty="0">
                <a:solidFill>
                  <a:srgbClr val="080808"/>
                </a:solidFill>
                <a:latin typeface="Consolas" panose="020B0609020204030204" pitchFamily="49" charset="0"/>
              </a:rPr>
              <a:t> != oct_31) </a:t>
            </a:r>
            <a:r>
              <a:rPr lang="en-US" altLang="en-US" sz="2200" i="1" dirty="0">
                <a:solidFill>
                  <a:srgbClr val="8C8C8C"/>
                </a:solidFill>
                <a:latin typeface="Consolas" panose="020B0609020204030204" pitchFamily="49" charset="0"/>
              </a:rPr>
              <a:t>#True</a:t>
            </a:r>
            <a:endParaRPr lang="en-US" altLang="en-US" sz="2200" dirty="0">
              <a:latin typeface="Consolas" panose="020B0609020204030204" pitchFamily="49" charset="0"/>
            </a:endParaRPr>
          </a:p>
        </p:txBody>
      </p:sp>
      <p:sp>
        <p:nvSpPr>
          <p:cNvPr id="4" name="Rectangle 1">
            <a:extLst>
              <a:ext uri="{FF2B5EF4-FFF2-40B4-BE49-F238E27FC236}">
                <a16:creationId xmlns:a16="http://schemas.microsoft.com/office/drawing/2014/main" id="{2380A6E8-F5AA-4B6B-ABBE-03507EB02A8C}"/>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82236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E40C3-7150-DA47-8F0C-01A07D2186ED}"/>
              </a:ext>
            </a:extLst>
          </p:cNvPr>
          <p:cNvSpPr>
            <a:spLocks noGrp="1"/>
          </p:cNvSpPr>
          <p:nvPr>
            <p:ph type="title"/>
          </p:nvPr>
        </p:nvSpPr>
        <p:spPr/>
        <p:txBody>
          <a:bodyPr/>
          <a:lstStyle/>
          <a:p>
            <a:r>
              <a:rPr lang="en-US" dirty="0"/>
              <a:t>The </a:t>
            </a:r>
            <a:r>
              <a:rPr lang="en-US" dirty="0" err="1"/>
              <a:t>timedelta</a:t>
            </a:r>
            <a:r>
              <a:rPr lang="en-US" dirty="0"/>
              <a:t> datatype</a:t>
            </a:r>
          </a:p>
        </p:txBody>
      </p:sp>
      <p:sp>
        <p:nvSpPr>
          <p:cNvPr id="3" name="Content Placeholder 2">
            <a:extLst>
              <a:ext uri="{FF2B5EF4-FFF2-40B4-BE49-F238E27FC236}">
                <a16:creationId xmlns:a16="http://schemas.microsoft.com/office/drawing/2014/main" id="{7ECBA164-20E6-CC42-8975-2557E926481C}"/>
              </a:ext>
            </a:extLst>
          </p:cNvPr>
          <p:cNvSpPr>
            <a:spLocks noGrp="1"/>
          </p:cNvSpPr>
          <p:nvPr>
            <p:ph idx="1"/>
          </p:nvPr>
        </p:nvSpPr>
        <p:spPr/>
        <p:txBody>
          <a:bodyPr/>
          <a:lstStyle/>
          <a:p>
            <a:r>
              <a:rPr lang="en-US" dirty="0"/>
              <a:t>datetime represents a </a:t>
            </a:r>
            <a:r>
              <a:rPr lang="en-US" i="1" dirty="0"/>
              <a:t>point in time</a:t>
            </a:r>
          </a:p>
          <a:p>
            <a:r>
              <a:rPr lang="en-US" dirty="0" err="1"/>
              <a:t>timedelta</a:t>
            </a:r>
            <a:r>
              <a:rPr lang="en-US" dirty="0"/>
              <a:t> represents a </a:t>
            </a:r>
            <a:r>
              <a:rPr lang="en-US" i="1" dirty="0"/>
              <a:t>duration of time</a:t>
            </a:r>
          </a:p>
          <a:p>
            <a:r>
              <a:rPr lang="en-US" dirty="0"/>
              <a:t>We can create a </a:t>
            </a:r>
            <a:r>
              <a:rPr lang="en-US" dirty="0" err="1"/>
              <a:t>timedelta</a:t>
            </a:r>
            <a:r>
              <a:rPr lang="en-US" dirty="0"/>
              <a:t> that stores:</a:t>
            </a:r>
          </a:p>
          <a:p>
            <a:pPr marL="914400" lvl="1" indent="-457200">
              <a:buFont typeface="+mj-lt"/>
              <a:buAutoNum type="arabicPeriod"/>
            </a:pPr>
            <a:r>
              <a:rPr lang="en-US" dirty="0"/>
              <a:t>Weeks</a:t>
            </a:r>
          </a:p>
          <a:p>
            <a:pPr marL="914400" lvl="1" indent="-457200">
              <a:buFont typeface="+mj-lt"/>
              <a:buAutoNum type="arabicPeriod"/>
            </a:pPr>
            <a:r>
              <a:rPr lang="en-US" dirty="0"/>
              <a:t>Days</a:t>
            </a:r>
          </a:p>
          <a:p>
            <a:pPr marL="914400" lvl="1" indent="-457200">
              <a:buFont typeface="+mj-lt"/>
              <a:buAutoNum type="arabicPeriod"/>
            </a:pPr>
            <a:r>
              <a:rPr lang="en-US" dirty="0"/>
              <a:t>Hours</a:t>
            </a:r>
          </a:p>
          <a:p>
            <a:pPr marL="914400" lvl="1" indent="-457200">
              <a:buFont typeface="+mj-lt"/>
              <a:buAutoNum type="arabicPeriod"/>
            </a:pPr>
            <a:r>
              <a:rPr lang="en-US" dirty="0"/>
              <a:t>Minutes</a:t>
            </a:r>
          </a:p>
          <a:p>
            <a:pPr marL="914400" lvl="1" indent="-457200">
              <a:buFont typeface="+mj-lt"/>
              <a:buAutoNum type="arabicPeriod"/>
            </a:pPr>
            <a:r>
              <a:rPr lang="en-US" dirty="0"/>
              <a:t>Seconds</a:t>
            </a:r>
          </a:p>
          <a:p>
            <a:pPr marL="914400" lvl="1" indent="-457200">
              <a:buFont typeface="+mj-lt"/>
              <a:buAutoNum type="arabicPeriod"/>
            </a:pPr>
            <a:r>
              <a:rPr lang="en-US" dirty="0"/>
              <a:t>Milliseconds</a:t>
            </a:r>
          </a:p>
          <a:p>
            <a:pPr marL="914400" lvl="1" indent="-457200">
              <a:buFont typeface="+mj-lt"/>
              <a:buAutoNum type="arabicPeriod"/>
            </a:pPr>
            <a:r>
              <a:rPr lang="en-US" dirty="0"/>
              <a:t>Microseconds</a:t>
            </a:r>
          </a:p>
        </p:txBody>
      </p:sp>
    </p:spTree>
    <p:extLst>
      <p:ext uri="{BB962C8B-B14F-4D97-AF65-F5344CB8AC3E}">
        <p14:creationId xmlns:p14="http://schemas.microsoft.com/office/powerpoint/2010/main" val="179022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2912-E9F4-294F-BF9D-0C3BE2D217BB}"/>
              </a:ext>
            </a:extLst>
          </p:cNvPr>
          <p:cNvSpPr>
            <a:spLocks noGrp="1"/>
          </p:cNvSpPr>
          <p:nvPr>
            <p:ph type="title"/>
          </p:nvPr>
        </p:nvSpPr>
        <p:spPr/>
        <p:txBody>
          <a:bodyPr/>
          <a:lstStyle/>
          <a:p>
            <a:r>
              <a:rPr lang="en-US" dirty="0" err="1"/>
              <a:t>timedelta</a:t>
            </a:r>
            <a:r>
              <a:rPr lang="en-US" dirty="0"/>
              <a:t> example</a:t>
            </a:r>
          </a:p>
        </p:txBody>
      </p:sp>
      <p:sp>
        <p:nvSpPr>
          <p:cNvPr id="4" name="Rectangle 3"/>
          <p:cNvSpPr/>
          <p:nvPr/>
        </p:nvSpPr>
        <p:spPr>
          <a:xfrm>
            <a:off x="4652210" y="5792802"/>
            <a:ext cx="7347284" cy="369332"/>
          </a:xfrm>
          <a:prstGeom prst="rect">
            <a:avLst/>
          </a:prstGeom>
        </p:spPr>
        <p:txBody>
          <a:bodyPr wrap="square">
            <a:spAutoFit/>
          </a:bodyPr>
          <a:lstStyle/>
          <a:p>
            <a:pPr algn="r"/>
            <a:r>
              <a:rPr lang="en-US" dirty="0">
                <a:hlinkClick r:id="rId2"/>
              </a:rPr>
              <a:t>https://docs.python.org/3.7/library/datetime.html#module-datetime</a:t>
            </a:r>
            <a:endParaRPr lang="en-US" dirty="0"/>
          </a:p>
        </p:txBody>
      </p:sp>
      <p:sp>
        <p:nvSpPr>
          <p:cNvPr id="5"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Content Placeholder 5"/>
          <p:cNvSpPr>
            <a:spLocks noGrp="1"/>
          </p:cNvSpPr>
          <p:nvPr>
            <p:ph idx="1"/>
          </p:nvPr>
        </p:nvSpPr>
        <p:spPr/>
        <p:txBody>
          <a:bodyPr/>
          <a:lstStyle/>
          <a:p>
            <a:pPr marL="0" indent="0">
              <a:buNone/>
            </a:pPr>
            <a:r>
              <a:rPr lang="en-US" altLang="en-US" sz="2200" dirty="0">
                <a:solidFill>
                  <a:srgbClr val="000000"/>
                </a:solidFill>
                <a:latin typeface="Consolas" panose="020B0609020204030204" pitchFamily="49" charset="0"/>
              </a:rPr>
              <a:t>import datetime</a:t>
            </a:r>
          </a:p>
          <a:p>
            <a:pPr marL="0" indent="0">
              <a:buNone/>
            </a:pPr>
            <a:r>
              <a:rPr lang="en-US" altLang="en-US" sz="2200" dirty="0" err="1">
                <a:solidFill>
                  <a:srgbClr val="000000"/>
                </a:solidFill>
                <a:latin typeface="Consolas" panose="020B0609020204030204" pitchFamily="49" charset="0"/>
              </a:rPr>
              <a:t>halloween</a:t>
            </a:r>
            <a:r>
              <a:rPr lang="en-US" altLang="en-US" sz="2200" dirty="0">
                <a:solidFill>
                  <a:srgbClr val="000000"/>
                </a:solidFill>
                <a:latin typeface="Consolas" panose="020B0609020204030204" pitchFamily="49" charset="0"/>
              </a:rPr>
              <a:t> = </a:t>
            </a:r>
            <a:r>
              <a:rPr lang="en-US" altLang="en-US" sz="2200" dirty="0" err="1">
                <a:solidFill>
                  <a:srgbClr val="000000"/>
                </a:solidFill>
                <a:latin typeface="Consolas" panose="020B0609020204030204" pitchFamily="49" charset="0"/>
              </a:rPr>
              <a:t>datetime.datetime</a:t>
            </a:r>
            <a:r>
              <a:rPr lang="en-US" altLang="en-US" sz="2200" dirty="0">
                <a:solidFill>
                  <a:srgbClr val="000000"/>
                </a:solidFill>
                <a:latin typeface="Consolas" panose="020B0609020204030204" pitchFamily="49" charset="0"/>
              </a:rPr>
              <a:t>(</a:t>
            </a:r>
            <a:r>
              <a:rPr lang="en-US" altLang="en-US" sz="2200" dirty="0">
                <a:solidFill>
                  <a:srgbClr val="0000FF"/>
                </a:solidFill>
                <a:latin typeface="Consolas" panose="020B0609020204030204" pitchFamily="49" charset="0"/>
              </a:rPr>
              <a:t>2018</a:t>
            </a:r>
            <a:r>
              <a:rPr lang="en-US" altLang="en-US" sz="2200" dirty="0">
                <a:solidFill>
                  <a:srgbClr val="000000"/>
                </a:solidFill>
                <a:latin typeface="Consolas" panose="020B0609020204030204" pitchFamily="49" charset="0"/>
              </a:rPr>
              <a:t>, </a:t>
            </a:r>
            <a:r>
              <a:rPr lang="en-US" altLang="en-US" sz="2200" dirty="0">
                <a:solidFill>
                  <a:srgbClr val="0000FF"/>
                </a:solidFill>
                <a:latin typeface="Consolas" panose="020B0609020204030204" pitchFamily="49" charset="0"/>
              </a:rPr>
              <a:t>10</a:t>
            </a:r>
            <a:r>
              <a:rPr lang="en-US" altLang="en-US" sz="2200" dirty="0">
                <a:solidFill>
                  <a:srgbClr val="000000"/>
                </a:solidFill>
                <a:latin typeface="Consolas" panose="020B0609020204030204" pitchFamily="49" charset="0"/>
              </a:rPr>
              <a:t>, </a:t>
            </a:r>
            <a:r>
              <a:rPr lang="en-US" altLang="en-US" sz="2200" dirty="0">
                <a:solidFill>
                  <a:srgbClr val="0000FF"/>
                </a:solidFill>
                <a:latin typeface="Consolas" panose="020B0609020204030204" pitchFamily="49" charset="0"/>
              </a:rPr>
              <a:t>31</a:t>
            </a:r>
            <a:r>
              <a:rPr lang="en-US" altLang="en-US" sz="2200" dirty="0">
                <a:solidFill>
                  <a:srgbClr val="000000"/>
                </a:solidFill>
                <a:latin typeface="Consolas" panose="020B0609020204030204" pitchFamily="49" charset="0"/>
              </a:rPr>
              <a:t>)</a:t>
            </a:r>
            <a:br>
              <a:rPr lang="en-US" altLang="en-US" sz="2200" dirty="0">
                <a:solidFill>
                  <a:srgbClr val="000000"/>
                </a:solidFill>
                <a:latin typeface="Consolas" panose="020B0609020204030204" pitchFamily="49" charset="0"/>
              </a:rPr>
            </a:br>
            <a:r>
              <a:rPr lang="en-US" altLang="en-US" sz="2200" dirty="0" err="1">
                <a:solidFill>
                  <a:srgbClr val="000000"/>
                </a:solidFill>
                <a:latin typeface="Consolas" panose="020B0609020204030204" pitchFamily="49" charset="0"/>
              </a:rPr>
              <a:t>nyd</a:t>
            </a:r>
            <a:r>
              <a:rPr lang="en-US" altLang="en-US" sz="2200" dirty="0">
                <a:solidFill>
                  <a:srgbClr val="000000"/>
                </a:solidFill>
                <a:latin typeface="Consolas" panose="020B0609020204030204" pitchFamily="49" charset="0"/>
              </a:rPr>
              <a:t> = </a:t>
            </a:r>
            <a:r>
              <a:rPr lang="en-US" altLang="en-US" sz="2200" dirty="0" err="1">
                <a:solidFill>
                  <a:srgbClr val="000000"/>
                </a:solidFill>
                <a:latin typeface="Consolas" panose="020B0609020204030204" pitchFamily="49" charset="0"/>
              </a:rPr>
              <a:t>datetime.datetime</a:t>
            </a:r>
            <a:r>
              <a:rPr lang="en-US" altLang="en-US" sz="2200" dirty="0">
                <a:solidFill>
                  <a:srgbClr val="000000"/>
                </a:solidFill>
                <a:latin typeface="Consolas" panose="020B0609020204030204" pitchFamily="49" charset="0"/>
              </a:rPr>
              <a:t>(</a:t>
            </a:r>
            <a:r>
              <a:rPr lang="en-US" altLang="en-US" sz="2200" dirty="0">
                <a:solidFill>
                  <a:srgbClr val="0000FF"/>
                </a:solidFill>
                <a:latin typeface="Consolas" panose="020B0609020204030204" pitchFamily="49" charset="0"/>
              </a:rPr>
              <a:t>2019</a:t>
            </a:r>
            <a:r>
              <a:rPr lang="en-US" altLang="en-US" sz="2200" dirty="0">
                <a:solidFill>
                  <a:srgbClr val="000000"/>
                </a:solidFill>
                <a:latin typeface="Consolas" panose="020B0609020204030204" pitchFamily="49" charset="0"/>
              </a:rPr>
              <a:t>, </a:t>
            </a:r>
            <a:r>
              <a:rPr lang="en-US" altLang="en-US" sz="2200" dirty="0">
                <a:solidFill>
                  <a:srgbClr val="0000FF"/>
                </a:solidFill>
                <a:latin typeface="Consolas" panose="020B0609020204030204" pitchFamily="49" charset="0"/>
              </a:rPr>
              <a:t>1</a:t>
            </a:r>
            <a:r>
              <a:rPr lang="en-US" altLang="en-US" sz="2200" dirty="0">
                <a:solidFill>
                  <a:srgbClr val="000000"/>
                </a:solidFill>
                <a:latin typeface="Consolas" panose="020B0609020204030204" pitchFamily="49" charset="0"/>
              </a:rPr>
              <a:t>, </a:t>
            </a:r>
            <a:r>
              <a:rPr lang="en-US" altLang="en-US" sz="2200" dirty="0">
                <a:solidFill>
                  <a:srgbClr val="0000FF"/>
                </a:solidFill>
                <a:latin typeface="Consolas" panose="020B0609020204030204" pitchFamily="49" charset="0"/>
              </a:rPr>
              <a:t>1</a:t>
            </a:r>
            <a:r>
              <a:rPr lang="en-US" altLang="en-US" sz="2200" dirty="0">
                <a:solidFill>
                  <a:srgbClr val="000000"/>
                </a:solidFill>
                <a:latin typeface="Consolas" panose="020B0609020204030204" pitchFamily="49" charset="0"/>
              </a:rPr>
              <a:t>)</a:t>
            </a:r>
            <a:br>
              <a:rPr lang="en-US" altLang="en-US" sz="2200" dirty="0">
                <a:solidFill>
                  <a:srgbClr val="000000"/>
                </a:solidFill>
                <a:latin typeface="Consolas" panose="020B0609020204030204" pitchFamily="49" charset="0"/>
              </a:rPr>
            </a:br>
            <a:r>
              <a:rPr lang="en-US" altLang="en-US" sz="2200" dirty="0">
                <a:solidFill>
                  <a:srgbClr val="000000"/>
                </a:solidFill>
                <a:latin typeface="Consolas" panose="020B0609020204030204" pitchFamily="49" charset="0"/>
              </a:rPr>
              <a:t>delta = </a:t>
            </a:r>
            <a:r>
              <a:rPr lang="en-US" altLang="en-US" sz="2200" dirty="0" err="1">
                <a:solidFill>
                  <a:srgbClr val="000000"/>
                </a:solidFill>
                <a:latin typeface="Consolas" panose="020B0609020204030204" pitchFamily="49" charset="0"/>
              </a:rPr>
              <a:t>nyd</a:t>
            </a:r>
            <a:r>
              <a:rPr lang="en-US" altLang="en-US" sz="2200" dirty="0">
                <a:solidFill>
                  <a:srgbClr val="000000"/>
                </a:solidFill>
                <a:latin typeface="Consolas" panose="020B0609020204030204" pitchFamily="49" charset="0"/>
              </a:rPr>
              <a:t> - </a:t>
            </a:r>
            <a:r>
              <a:rPr lang="en-US" altLang="en-US" sz="2200" dirty="0" err="1">
                <a:solidFill>
                  <a:srgbClr val="000000"/>
                </a:solidFill>
                <a:latin typeface="Consolas" panose="020B0609020204030204" pitchFamily="49" charset="0"/>
              </a:rPr>
              <a:t>halloween</a:t>
            </a:r>
            <a:br>
              <a:rPr lang="en-US" altLang="en-US" sz="2200" dirty="0">
                <a:solidFill>
                  <a:srgbClr val="000000"/>
                </a:solidFill>
                <a:latin typeface="Consolas" panose="020B0609020204030204" pitchFamily="49" charset="0"/>
              </a:rPr>
            </a:br>
            <a:r>
              <a:rPr lang="en-US" altLang="en-US" sz="2200" dirty="0">
                <a:solidFill>
                  <a:srgbClr val="000080"/>
                </a:solidFill>
                <a:latin typeface="Consolas" panose="020B0609020204030204" pitchFamily="49" charset="0"/>
              </a:rPr>
              <a:t>print</a:t>
            </a:r>
            <a:r>
              <a:rPr lang="en-US" altLang="en-US" sz="2200" dirty="0">
                <a:solidFill>
                  <a:srgbClr val="000000"/>
                </a:solidFill>
                <a:latin typeface="Consolas" panose="020B0609020204030204" pitchFamily="49" charset="0"/>
              </a:rPr>
              <a:t>(delta) #62 days, 0:00:00</a:t>
            </a:r>
            <a:br>
              <a:rPr lang="en-US" altLang="en-US" sz="2200" dirty="0">
                <a:solidFill>
                  <a:srgbClr val="000000"/>
                </a:solidFill>
                <a:latin typeface="Consolas" panose="020B0609020204030204" pitchFamily="49" charset="0"/>
              </a:rPr>
            </a:br>
            <a:endParaRPr lang="en-US" altLang="en-US" sz="2200" dirty="0">
              <a:solidFill>
                <a:srgbClr val="000000"/>
              </a:solidFill>
              <a:latin typeface="Consolas" panose="020B0609020204030204" pitchFamily="49" charset="0"/>
            </a:endParaRPr>
          </a:p>
          <a:p>
            <a:pPr marL="0" indent="0">
              <a:buNone/>
            </a:pPr>
            <a:r>
              <a:rPr lang="en-US" altLang="en-US" sz="2200" dirty="0">
                <a:solidFill>
                  <a:srgbClr val="000000"/>
                </a:solidFill>
                <a:latin typeface="Consolas" panose="020B0609020204030204" pitchFamily="49" charset="0"/>
              </a:rPr>
              <a:t>delta2 = </a:t>
            </a:r>
            <a:r>
              <a:rPr lang="en-US" altLang="en-US" sz="2200" dirty="0" err="1">
                <a:solidFill>
                  <a:srgbClr val="000000"/>
                </a:solidFill>
                <a:latin typeface="Consolas" panose="020B0609020204030204" pitchFamily="49" charset="0"/>
              </a:rPr>
              <a:t>datetime.timedelta</a:t>
            </a:r>
            <a:r>
              <a:rPr lang="en-US" altLang="en-US" sz="2200" dirty="0">
                <a:solidFill>
                  <a:srgbClr val="000000"/>
                </a:solidFill>
                <a:latin typeface="Consolas" panose="020B0609020204030204" pitchFamily="49" charset="0"/>
              </a:rPr>
              <a:t>(</a:t>
            </a:r>
            <a:r>
              <a:rPr lang="en-US" altLang="en-US" sz="2200" b="1" dirty="0">
                <a:solidFill>
                  <a:srgbClr val="660099"/>
                </a:solidFill>
                <a:latin typeface="Consolas" panose="020B0609020204030204" pitchFamily="49" charset="0"/>
              </a:rPr>
              <a:t>days</a:t>
            </a:r>
            <a:r>
              <a:rPr lang="en-US" altLang="en-US" sz="2200" dirty="0">
                <a:solidFill>
                  <a:srgbClr val="660099"/>
                </a:solidFill>
                <a:latin typeface="Consolas" panose="020B0609020204030204" pitchFamily="49" charset="0"/>
              </a:rPr>
              <a:t> </a:t>
            </a:r>
            <a:r>
              <a:rPr lang="en-US" altLang="en-US" sz="2200" dirty="0">
                <a:solidFill>
                  <a:srgbClr val="000000"/>
                </a:solidFill>
                <a:latin typeface="Consolas" panose="020B0609020204030204" pitchFamily="49" charset="0"/>
              </a:rPr>
              <a:t>= </a:t>
            </a:r>
            <a:r>
              <a:rPr lang="en-US" altLang="en-US" sz="2200" dirty="0">
                <a:solidFill>
                  <a:srgbClr val="0000FF"/>
                </a:solidFill>
                <a:latin typeface="Consolas" panose="020B0609020204030204" pitchFamily="49" charset="0"/>
              </a:rPr>
              <a:t>5</a:t>
            </a:r>
            <a:r>
              <a:rPr lang="en-US" altLang="en-US" sz="2200" dirty="0">
                <a:solidFill>
                  <a:srgbClr val="000000"/>
                </a:solidFill>
                <a:latin typeface="Consolas" panose="020B0609020204030204" pitchFamily="49" charset="0"/>
              </a:rPr>
              <a:t>, </a:t>
            </a:r>
            <a:r>
              <a:rPr lang="en-US" altLang="en-US" sz="2200" b="1" dirty="0">
                <a:solidFill>
                  <a:srgbClr val="660099"/>
                </a:solidFill>
                <a:latin typeface="Consolas" panose="020B0609020204030204" pitchFamily="49" charset="0"/>
              </a:rPr>
              <a:t>minutes</a:t>
            </a:r>
            <a:r>
              <a:rPr lang="en-US" altLang="en-US" sz="2200" dirty="0">
                <a:solidFill>
                  <a:srgbClr val="660099"/>
                </a:solidFill>
                <a:latin typeface="Consolas" panose="020B0609020204030204" pitchFamily="49" charset="0"/>
              </a:rPr>
              <a:t> </a:t>
            </a:r>
            <a:r>
              <a:rPr lang="en-US" altLang="en-US" sz="2200" dirty="0">
                <a:solidFill>
                  <a:srgbClr val="000000"/>
                </a:solidFill>
                <a:latin typeface="Consolas" panose="020B0609020204030204" pitchFamily="49" charset="0"/>
              </a:rPr>
              <a:t>= </a:t>
            </a:r>
            <a:r>
              <a:rPr lang="en-US" altLang="en-US" sz="2200" dirty="0">
                <a:solidFill>
                  <a:srgbClr val="0000FF"/>
                </a:solidFill>
                <a:latin typeface="Consolas" panose="020B0609020204030204" pitchFamily="49" charset="0"/>
              </a:rPr>
              <a:t>11</a:t>
            </a:r>
            <a:r>
              <a:rPr lang="en-US" altLang="en-US" sz="2200" dirty="0">
                <a:solidFill>
                  <a:srgbClr val="000000"/>
                </a:solidFill>
                <a:latin typeface="Consolas" panose="020B0609020204030204" pitchFamily="49" charset="0"/>
              </a:rPr>
              <a:t>, </a:t>
            </a:r>
            <a:r>
              <a:rPr lang="en-US" altLang="en-US" sz="2200" b="1" dirty="0">
                <a:solidFill>
                  <a:srgbClr val="660099"/>
                </a:solidFill>
                <a:latin typeface="Consolas" panose="020B0609020204030204" pitchFamily="49" charset="0"/>
              </a:rPr>
              <a:t>seconds</a:t>
            </a:r>
            <a:r>
              <a:rPr lang="en-US" altLang="en-US" sz="2200" dirty="0">
                <a:solidFill>
                  <a:srgbClr val="660099"/>
                </a:solidFill>
                <a:latin typeface="Consolas" panose="020B0609020204030204" pitchFamily="49" charset="0"/>
              </a:rPr>
              <a:t> </a:t>
            </a:r>
            <a:r>
              <a:rPr lang="en-US" altLang="en-US" sz="2200" dirty="0">
                <a:solidFill>
                  <a:srgbClr val="000000"/>
                </a:solidFill>
                <a:latin typeface="Consolas" panose="020B0609020204030204" pitchFamily="49" charset="0"/>
              </a:rPr>
              <a:t>= </a:t>
            </a:r>
            <a:r>
              <a:rPr lang="en-US" altLang="en-US" sz="2200" dirty="0">
                <a:solidFill>
                  <a:srgbClr val="0000FF"/>
                </a:solidFill>
                <a:latin typeface="Consolas" panose="020B0609020204030204" pitchFamily="49" charset="0"/>
              </a:rPr>
              <a:t>7</a:t>
            </a:r>
            <a:r>
              <a:rPr lang="en-US" altLang="en-US" sz="2200" dirty="0">
                <a:solidFill>
                  <a:srgbClr val="000000"/>
                </a:solidFill>
                <a:latin typeface="Consolas" panose="020B0609020204030204" pitchFamily="49" charset="0"/>
              </a:rPr>
              <a:t>) </a:t>
            </a:r>
            <a:br>
              <a:rPr lang="en-US" altLang="en-US" sz="2200" dirty="0">
                <a:solidFill>
                  <a:srgbClr val="000000"/>
                </a:solidFill>
                <a:latin typeface="Consolas" panose="020B0609020204030204" pitchFamily="49" charset="0"/>
              </a:rPr>
            </a:br>
            <a:r>
              <a:rPr lang="en-US" altLang="en-US" sz="2200" dirty="0">
                <a:solidFill>
                  <a:srgbClr val="000080"/>
                </a:solidFill>
                <a:latin typeface="Consolas" panose="020B0609020204030204" pitchFamily="49" charset="0"/>
              </a:rPr>
              <a:t>print</a:t>
            </a:r>
            <a:r>
              <a:rPr lang="en-US" altLang="en-US" sz="2200" dirty="0">
                <a:solidFill>
                  <a:srgbClr val="000000"/>
                </a:solidFill>
                <a:latin typeface="Consolas" panose="020B0609020204030204" pitchFamily="49" charset="0"/>
              </a:rPr>
              <a:t>(delta2) #5 days, 0:11:07</a:t>
            </a:r>
            <a:endParaRPr lang="en-US" altLang="en-US" sz="2200" dirty="0">
              <a:solidFill>
                <a:schemeClr val="tx1"/>
              </a:solidFill>
              <a:latin typeface="Arial" panose="020B0604020202020204" pitchFamily="34" charset="0"/>
            </a:endParaRPr>
          </a:p>
          <a:p>
            <a:endParaRPr lang="en-CA" dirty="0"/>
          </a:p>
        </p:txBody>
      </p:sp>
    </p:spTree>
    <p:extLst>
      <p:ext uri="{BB962C8B-B14F-4D97-AF65-F5344CB8AC3E}">
        <p14:creationId xmlns:p14="http://schemas.microsoft.com/office/powerpoint/2010/main" val="2954633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2912-E9F4-294F-BF9D-0C3BE2D217BB}"/>
              </a:ext>
            </a:extLst>
          </p:cNvPr>
          <p:cNvSpPr>
            <a:spLocks noGrp="1"/>
          </p:cNvSpPr>
          <p:nvPr>
            <p:ph type="title"/>
          </p:nvPr>
        </p:nvSpPr>
        <p:spPr/>
        <p:txBody>
          <a:bodyPr/>
          <a:lstStyle/>
          <a:p>
            <a:r>
              <a:rPr lang="en-US" dirty="0"/>
              <a:t>Hacking time</a:t>
            </a:r>
          </a:p>
        </p:txBody>
      </p:sp>
      <p:sp>
        <p:nvSpPr>
          <p:cNvPr id="3" name="Content Placeholder 2">
            <a:extLst>
              <a:ext uri="{FF2B5EF4-FFF2-40B4-BE49-F238E27FC236}">
                <a16:creationId xmlns:a16="http://schemas.microsoft.com/office/drawing/2014/main" id="{4257FA80-972D-DC47-8A9C-6549F5E303DD}"/>
              </a:ext>
            </a:extLst>
          </p:cNvPr>
          <p:cNvSpPr>
            <a:spLocks noGrp="1"/>
          </p:cNvSpPr>
          <p:nvPr>
            <p:ph idx="1"/>
          </p:nvPr>
        </p:nvSpPr>
        <p:spPr/>
        <p:txBody>
          <a:bodyPr>
            <a:normAutofit/>
          </a:bodyPr>
          <a:lstStyle/>
          <a:p>
            <a:r>
              <a:rPr lang="en-US" dirty="0"/>
              <a:t>We can pause a program until a specific time or date:</a:t>
            </a:r>
          </a:p>
          <a:p>
            <a:endParaRPr lang="en-US" dirty="0"/>
          </a:p>
          <a:p>
            <a:pPr marL="0" lvl="0" indent="0" eaLnBrk="0" fontAlgn="base" hangingPunct="0">
              <a:lnSpc>
                <a:spcPct val="100000"/>
              </a:lnSpc>
              <a:spcBef>
                <a:spcPct val="0"/>
              </a:spcBef>
              <a:spcAft>
                <a:spcPct val="0"/>
              </a:spcAft>
              <a:buClrTx/>
              <a:buSzTx/>
              <a:buNone/>
            </a:pPr>
            <a:r>
              <a:rPr lang="en-US" altLang="en-US" sz="2200" dirty="0">
                <a:solidFill>
                  <a:srgbClr val="0033B3"/>
                </a:solidFill>
                <a:latin typeface="Consolas" panose="020B0609020204030204" pitchFamily="49" charset="0"/>
              </a:rPr>
              <a:t>import </a:t>
            </a:r>
            <a:r>
              <a:rPr lang="en-US" altLang="en-US" sz="2200" dirty="0">
                <a:solidFill>
                  <a:srgbClr val="080808"/>
                </a:solidFill>
                <a:latin typeface="Consolas" panose="020B0609020204030204" pitchFamily="49" charset="0"/>
              </a:rPr>
              <a:t>datetime</a:t>
            </a:r>
            <a:br>
              <a:rPr lang="en-US" altLang="en-US" sz="2200" dirty="0">
                <a:solidFill>
                  <a:srgbClr val="080808"/>
                </a:solidFill>
                <a:latin typeface="Consolas" panose="020B0609020204030204" pitchFamily="49" charset="0"/>
              </a:rPr>
            </a:br>
            <a:r>
              <a:rPr lang="en-US" altLang="en-US" sz="2200" dirty="0">
                <a:solidFill>
                  <a:srgbClr val="0033B3"/>
                </a:solidFill>
                <a:latin typeface="Consolas" panose="020B0609020204030204" pitchFamily="49" charset="0"/>
              </a:rPr>
              <a:t>import </a:t>
            </a:r>
            <a:r>
              <a:rPr lang="en-US" altLang="en-US" sz="2200" dirty="0">
                <a:solidFill>
                  <a:srgbClr val="080808"/>
                </a:solidFill>
                <a:latin typeface="Consolas" panose="020B0609020204030204" pitchFamily="49" charset="0"/>
              </a:rPr>
              <a:t>time</a:t>
            </a:r>
          </a:p>
          <a:p>
            <a:pPr marL="0" lvl="0" indent="0" eaLnBrk="0" fontAlgn="base" hangingPunct="0">
              <a:lnSpc>
                <a:spcPct val="100000"/>
              </a:lnSpc>
              <a:spcBef>
                <a:spcPct val="0"/>
              </a:spcBef>
              <a:spcAft>
                <a:spcPct val="0"/>
              </a:spcAft>
              <a:buClrTx/>
              <a:buSzTx/>
              <a:buNone/>
            </a:pPr>
            <a:br>
              <a:rPr lang="en-US" altLang="en-US" sz="2200" dirty="0">
                <a:solidFill>
                  <a:srgbClr val="080808"/>
                </a:solidFill>
                <a:latin typeface="Consolas" panose="020B0609020204030204" pitchFamily="49" charset="0"/>
              </a:rPr>
            </a:br>
            <a:r>
              <a:rPr lang="en-US" altLang="en-US" sz="2200" dirty="0" err="1">
                <a:solidFill>
                  <a:srgbClr val="080808"/>
                </a:solidFill>
                <a:latin typeface="Consolas" panose="020B0609020204030204" pitchFamily="49" charset="0"/>
              </a:rPr>
              <a:t>final_exam</a:t>
            </a:r>
            <a:r>
              <a:rPr lang="en-US" altLang="en-US" sz="2200" dirty="0">
                <a:solidFill>
                  <a:srgbClr val="080808"/>
                </a:solidFill>
                <a:latin typeface="Consolas" panose="020B0609020204030204" pitchFamily="49" charset="0"/>
              </a:rPr>
              <a:t> = </a:t>
            </a:r>
            <a:r>
              <a:rPr lang="en-US" altLang="en-US" sz="2200" dirty="0" err="1">
                <a:solidFill>
                  <a:srgbClr val="080808"/>
                </a:solidFill>
                <a:latin typeface="Consolas" panose="020B0609020204030204" pitchFamily="49" charset="0"/>
              </a:rPr>
              <a:t>datetime.datetime</a:t>
            </a:r>
            <a:r>
              <a:rPr lang="en-US" altLang="en-US" sz="2200" dirty="0">
                <a:solidFill>
                  <a:srgbClr val="080808"/>
                </a:solidFill>
                <a:latin typeface="Consolas" panose="020B0609020204030204" pitchFamily="49" charset="0"/>
              </a:rPr>
              <a:t>(</a:t>
            </a:r>
            <a:r>
              <a:rPr lang="en-US" altLang="en-US" sz="2200" dirty="0">
                <a:solidFill>
                  <a:srgbClr val="1750EB"/>
                </a:solidFill>
                <a:latin typeface="Consolas" panose="020B0609020204030204" pitchFamily="49" charset="0"/>
              </a:rPr>
              <a:t>2023</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4</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10</a:t>
            </a:r>
            <a:r>
              <a:rPr lang="en-US" altLang="en-US" sz="2200" dirty="0">
                <a:solidFill>
                  <a:srgbClr val="080808"/>
                </a:solidFill>
                <a:latin typeface="Consolas" panose="020B0609020204030204" pitchFamily="49" charset="0"/>
              </a:rPr>
              <a:t>, </a:t>
            </a:r>
            <a:r>
              <a:rPr lang="en-US" altLang="en-US" sz="2200" dirty="0">
                <a:solidFill>
                  <a:srgbClr val="1750EB"/>
                </a:solidFill>
                <a:latin typeface="Consolas" panose="020B0609020204030204" pitchFamily="49" charset="0"/>
              </a:rPr>
              <a:t>9</a:t>
            </a:r>
            <a:r>
              <a:rPr lang="en-US" altLang="en-US" sz="2200" dirty="0">
                <a:solidFill>
                  <a:srgbClr val="080808"/>
                </a:solidFill>
                <a:latin typeface="Consolas" panose="020B0609020204030204" pitchFamily="49" charset="0"/>
              </a:rPr>
              <a:t>)</a:t>
            </a:r>
            <a:br>
              <a:rPr lang="en-US" altLang="en-US" sz="2200" dirty="0">
                <a:solidFill>
                  <a:srgbClr val="080808"/>
                </a:solidFill>
                <a:latin typeface="Consolas" panose="020B0609020204030204" pitchFamily="49" charset="0"/>
              </a:rPr>
            </a:br>
            <a:r>
              <a:rPr lang="en-US" altLang="en-US" sz="2200" dirty="0">
                <a:solidFill>
                  <a:srgbClr val="0033B3"/>
                </a:solidFill>
                <a:latin typeface="Consolas" panose="020B0609020204030204" pitchFamily="49" charset="0"/>
              </a:rPr>
              <a:t>while </a:t>
            </a:r>
            <a:r>
              <a:rPr lang="en-US" altLang="en-US" sz="2200" dirty="0" err="1">
                <a:solidFill>
                  <a:srgbClr val="080808"/>
                </a:solidFill>
                <a:latin typeface="Consolas" panose="020B0609020204030204" pitchFamily="49" charset="0"/>
              </a:rPr>
              <a:t>datetime.datetime.now</a:t>
            </a:r>
            <a:r>
              <a:rPr lang="en-US" altLang="en-US" sz="2200" dirty="0">
                <a:solidFill>
                  <a:srgbClr val="080808"/>
                </a:solidFill>
                <a:latin typeface="Consolas" panose="020B0609020204030204" pitchFamily="49" charset="0"/>
              </a:rPr>
              <a:t>() &lt; </a:t>
            </a:r>
            <a:r>
              <a:rPr lang="en-US" altLang="en-US" sz="2200" dirty="0" err="1">
                <a:solidFill>
                  <a:srgbClr val="080808"/>
                </a:solidFill>
                <a:latin typeface="Consolas" panose="020B0609020204030204" pitchFamily="49" charset="0"/>
              </a:rPr>
              <a:t>final_exam</a:t>
            </a:r>
            <a:r>
              <a:rPr lang="en-US" altLang="en-US" sz="2200" dirty="0">
                <a:solidFill>
                  <a:srgbClr val="080808"/>
                </a:solidFill>
                <a:latin typeface="Consolas" panose="020B0609020204030204" pitchFamily="49" charset="0"/>
              </a:rPr>
              <a:t>:</a:t>
            </a:r>
            <a:br>
              <a:rPr lang="en-US" altLang="en-US" sz="2200" dirty="0">
                <a:solidFill>
                  <a:srgbClr val="080808"/>
                </a:solidFill>
                <a:latin typeface="Consolas" panose="020B0609020204030204" pitchFamily="49" charset="0"/>
              </a:rPr>
            </a:br>
            <a:r>
              <a:rPr lang="en-US" altLang="en-US" sz="2200" dirty="0">
                <a:solidFill>
                  <a:srgbClr val="080808"/>
                </a:solidFill>
                <a:latin typeface="Consolas" panose="020B0609020204030204" pitchFamily="49" charset="0"/>
              </a:rPr>
              <a:t>    </a:t>
            </a:r>
            <a:r>
              <a:rPr lang="en-US" altLang="en-US" sz="2200" dirty="0" err="1">
                <a:solidFill>
                  <a:srgbClr val="080808"/>
                </a:solidFill>
                <a:latin typeface="Consolas" panose="020B0609020204030204" pitchFamily="49" charset="0"/>
              </a:rPr>
              <a:t>time.sleep</a:t>
            </a:r>
            <a:r>
              <a:rPr lang="en-US" altLang="en-US" sz="2200" dirty="0">
                <a:solidFill>
                  <a:srgbClr val="080808"/>
                </a:solidFill>
                <a:latin typeface="Consolas" panose="020B0609020204030204" pitchFamily="49" charset="0"/>
              </a:rPr>
              <a:t>(</a:t>
            </a:r>
            <a:r>
              <a:rPr lang="en-US" altLang="en-US" sz="2200" dirty="0">
                <a:solidFill>
                  <a:srgbClr val="1750EB"/>
                </a:solidFill>
                <a:latin typeface="Consolas" panose="020B0609020204030204" pitchFamily="49" charset="0"/>
              </a:rPr>
              <a:t>1</a:t>
            </a:r>
            <a:r>
              <a:rPr lang="en-US" altLang="en-US" sz="2200" dirty="0">
                <a:solidFill>
                  <a:srgbClr val="080808"/>
                </a:solidFill>
                <a:latin typeface="Consolas" panose="020B0609020204030204" pitchFamily="49" charset="0"/>
              </a:rPr>
              <a:t>)</a:t>
            </a:r>
            <a:endParaRPr lang="en-US" altLang="en-US" sz="2200" dirty="0">
              <a:solidFill>
                <a:schemeClr val="tx1"/>
              </a:solidFill>
              <a:latin typeface="Consolas" panose="020B0609020204030204" pitchFamily="49" charset="0"/>
            </a:endParaRPr>
          </a:p>
        </p:txBody>
      </p:sp>
      <p:sp>
        <p:nvSpPr>
          <p:cNvPr id="4" name="Rectangle 3"/>
          <p:cNvSpPr/>
          <p:nvPr/>
        </p:nvSpPr>
        <p:spPr>
          <a:xfrm>
            <a:off x="4652210" y="5792802"/>
            <a:ext cx="7347284" cy="369332"/>
          </a:xfrm>
          <a:prstGeom prst="rect">
            <a:avLst/>
          </a:prstGeom>
        </p:spPr>
        <p:txBody>
          <a:bodyPr wrap="square">
            <a:spAutoFit/>
          </a:bodyPr>
          <a:lstStyle/>
          <a:p>
            <a:pPr algn="r"/>
            <a:r>
              <a:rPr lang="en-US" dirty="0">
                <a:hlinkClick r:id="rId3"/>
              </a:rPr>
              <a:t>https://docs.python.org/3.7/library/datetime.html#module-datetime</a:t>
            </a:r>
            <a:endParaRPr lang="en-US" dirty="0"/>
          </a:p>
        </p:txBody>
      </p:sp>
      <p:sp>
        <p:nvSpPr>
          <p:cNvPr id="5" name="Rectangle 1">
            <a:extLst>
              <a:ext uri="{FF2B5EF4-FFF2-40B4-BE49-F238E27FC236}">
                <a16:creationId xmlns:a16="http://schemas.microsoft.com/office/drawing/2014/main" id="{25AEF19C-0152-48F9-B4CF-AEEAC17E6E0B}"/>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47131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21C8B-18A0-AC44-B895-BC122647E75B}"/>
              </a:ext>
            </a:extLst>
          </p:cNvPr>
          <p:cNvSpPr>
            <a:spLocks noGrp="1"/>
          </p:cNvSpPr>
          <p:nvPr>
            <p:ph type="title"/>
          </p:nvPr>
        </p:nvSpPr>
        <p:spPr/>
        <p:txBody>
          <a:bodyPr/>
          <a:lstStyle/>
          <a:p>
            <a:r>
              <a:rPr lang="en-US" dirty="0"/>
              <a:t>CLASSES AND OBJECTS</a:t>
            </a:r>
          </a:p>
        </p:txBody>
      </p:sp>
      <p:sp>
        <p:nvSpPr>
          <p:cNvPr id="3" name="Text Placeholder 2">
            <a:extLst>
              <a:ext uri="{FF2B5EF4-FFF2-40B4-BE49-F238E27FC236}">
                <a16:creationId xmlns:a16="http://schemas.microsoft.com/office/drawing/2014/main" id="{5866C6BB-411D-634C-A8F0-F991945877B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40858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AC25C73-FE83-4932-A948-ED163ADB440E}"/>
              </a:ext>
            </a:extLst>
          </p:cNvPr>
          <p:cNvSpPr>
            <a:spLocks noGrp="1"/>
          </p:cNvSpPr>
          <p:nvPr>
            <p:ph type="title"/>
          </p:nvPr>
        </p:nvSpPr>
        <p:spPr/>
        <p:txBody>
          <a:bodyPr/>
          <a:lstStyle/>
          <a:p>
            <a:r>
              <a:rPr lang="en-US" dirty="0"/>
              <a:t>What?</a:t>
            </a:r>
            <a:endParaRPr lang="en-CA" dirty="0"/>
          </a:p>
        </p:txBody>
      </p:sp>
      <p:sp>
        <p:nvSpPr>
          <p:cNvPr id="7" name="Content Placeholder 6">
            <a:extLst>
              <a:ext uri="{FF2B5EF4-FFF2-40B4-BE49-F238E27FC236}">
                <a16:creationId xmlns:a16="http://schemas.microsoft.com/office/drawing/2014/main" id="{4F7A8638-E0D9-4FBD-9B0D-F706B14DE977}"/>
              </a:ext>
            </a:extLst>
          </p:cNvPr>
          <p:cNvSpPr>
            <a:spLocks noGrp="1"/>
          </p:cNvSpPr>
          <p:nvPr>
            <p:ph idx="1"/>
          </p:nvPr>
        </p:nvSpPr>
        <p:spPr/>
        <p:txBody>
          <a:bodyPr/>
          <a:lstStyle/>
          <a:p>
            <a:r>
              <a:rPr lang="en-US" dirty="0"/>
              <a:t>What is Object Oriented Programming?</a:t>
            </a:r>
          </a:p>
          <a:p>
            <a:endParaRPr lang="en-US" dirty="0"/>
          </a:p>
          <a:p>
            <a:r>
              <a:rPr lang="en-US" dirty="0"/>
              <a:t>What are Classes?</a:t>
            </a:r>
          </a:p>
          <a:p>
            <a:endParaRPr lang="en-US" dirty="0"/>
          </a:p>
          <a:p>
            <a:r>
              <a:rPr lang="en-US" dirty="0"/>
              <a:t>What are Objects?</a:t>
            </a:r>
          </a:p>
          <a:p>
            <a:endParaRPr lang="en-CA" dirty="0"/>
          </a:p>
        </p:txBody>
      </p:sp>
    </p:spTree>
    <p:extLst>
      <p:ext uri="{BB962C8B-B14F-4D97-AF65-F5344CB8AC3E}">
        <p14:creationId xmlns:p14="http://schemas.microsoft.com/office/powerpoint/2010/main" val="1118609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8B521-CA60-4829-8869-B1717AD77672}"/>
              </a:ext>
            </a:extLst>
          </p:cNvPr>
          <p:cNvSpPr>
            <a:spLocks noGrp="1"/>
          </p:cNvSpPr>
          <p:nvPr>
            <p:ph type="title"/>
          </p:nvPr>
        </p:nvSpPr>
        <p:spPr/>
        <p:txBody>
          <a:bodyPr/>
          <a:lstStyle/>
          <a:p>
            <a:r>
              <a:rPr lang="en-US" dirty="0"/>
              <a:t>Object Oriented Programming</a:t>
            </a:r>
            <a:endParaRPr lang="en-CA" dirty="0"/>
          </a:p>
        </p:txBody>
      </p:sp>
      <p:sp>
        <p:nvSpPr>
          <p:cNvPr id="3" name="Content Placeholder 2">
            <a:extLst>
              <a:ext uri="{FF2B5EF4-FFF2-40B4-BE49-F238E27FC236}">
                <a16:creationId xmlns:a16="http://schemas.microsoft.com/office/drawing/2014/main" id="{8A73F36A-14AC-446F-ACD7-923947B6A4AA}"/>
              </a:ext>
            </a:extLst>
          </p:cNvPr>
          <p:cNvSpPr>
            <a:spLocks noGrp="1"/>
          </p:cNvSpPr>
          <p:nvPr>
            <p:ph idx="1"/>
          </p:nvPr>
        </p:nvSpPr>
        <p:spPr/>
        <p:txBody>
          <a:bodyPr/>
          <a:lstStyle/>
          <a:p>
            <a:r>
              <a:rPr lang="en-US" dirty="0"/>
              <a:t>A programming paradigm that architects code as a system of interacting objects.</a:t>
            </a:r>
          </a:p>
          <a:p>
            <a:r>
              <a:rPr lang="en-US" dirty="0"/>
              <a:t>Lab 1 was procedural programming.</a:t>
            </a:r>
          </a:p>
          <a:p>
            <a:endParaRPr lang="en-US" dirty="0"/>
          </a:p>
          <a:p>
            <a:r>
              <a:rPr lang="en-US" dirty="0"/>
              <a:t>In 2522 you learned that we write classes that represent real-life things:</a:t>
            </a:r>
          </a:p>
          <a:p>
            <a:pPr lvl="1"/>
            <a:r>
              <a:rPr lang="en-US" b="1" dirty="0"/>
              <a:t>Define</a:t>
            </a:r>
            <a:r>
              <a:rPr lang="en-US" dirty="0"/>
              <a:t> </a:t>
            </a:r>
            <a:r>
              <a:rPr lang="en-US" b="1" dirty="0"/>
              <a:t>attributes</a:t>
            </a:r>
            <a:r>
              <a:rPr lang="en-US" dirty="0"/>
              <a:t> to store the state</a:t>
            </a:r>
          </a:p>
          <a:p>
            <a:pPr lvl="1"/>
            <a:r>
              <a:rPr lang="en-US" b="1" dirty="0"/>
              <a:t>Define</a:t>
            </a:r>
            <a:r>
              <a:rPr lang="en-US" dirty="0"/>
              <a:t> </a:t>
            </a:r>
            <a:r>
              <a:rPr lang="en-US" b="1" dirty="0"/>
              <a:t>behaviors</a:t>
            </a:r>
            <a:r>
              <a:rPr lang="en-US" dirty="0"/>
              <a:t> (write methods) that act on the state</a:t>
            </a:r>
          </a:p>
          <a:p>
            <a:pPr lvl="1"/>
            <a:r>
              <a:rPr lang="en-US" b="1" dirty="0"/>
              <a:t>Instantiate</a:t>
            </a:r>
            <a:r>
              <a:rPr lang="en-US" dirty="0"/>
              <a:t> the class and use it.</a:t>
            </a:r>
          </a:p>
          <a:p>
            <a:endParaRPr lang="en-US" dirty="0"/>
          </a:p>
        </p:txBody>
      </p:sp>
    </p:spTree>
    <p:extLst>
      <p:ext uri="{BB962C8B-B14F-4D97-AF65-F5344CB8AC3E}">
        <p14:creationId xmlns:p14="http://schemas.microsoft.com/office/powerpoint/2010/main" val="2839490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3D6DA-31DE-0147-9C14-408D28353FE9}"/>
              </a:ext>
            </a:extLst>
          </p:cNvPr>
          <p:cNvSpPr>
            <a:spLocks noGrp="1"/>
          </p:cNvSpPr>
          <p:nvPr>
            <p:ph type="title"/>
          </p:nvPr>
        </p:nvSpPr>
        <p:spPr/>
        <p:txBody>
          <a:bodyPr/>
          <a:lstStyle/>
          <a:p>
            <a:r>
              <a:rPr lang="en-US" dirty="0"/>
              <a:t>Why use classes and OOP?</a:t>
            </a:r>
          </a:p>
        </p:txBody>
      </p:sp>
      <p:sp>
        <p:nvSpPr>
          <p:cNvPr id="3" name="Content Placeholder 2">
            <a:extLst>
              <a:ext uri="{FF2B5EF4-FFF2-40B4-BE49-F238E27FC236}">
                <a16:creationId xmlns:a16="http://schemas.microsoft.com/office/drawing/2014/main" id="{D79C4304-36F0-C544-ADED-4A9031D3E4D1}"/>
              </a:ext>
            </a:extLst>
          </p:cNvPr>
          <p:cNvSpPr>
            <a:spLocks noGrp="1"/>
          </p:cNvSpPr>
          <p:nvPr>
            <p:ph idx="1"/>
          </p:nvPr>
        </p:nvSpPr>
        <p:spPr/>
        <p:txBody>
          <a:bodyPr>
            <a:normAutofit/>
          </a:bodyPr>
          <a:lstStyle/>
          <a:p>
            <a:r>
              <a:rPr lang="en-US" dirty="0"/>
              <a:t>Great </a:t>
            </a:r>
            <a:r>
              <a:rPr lang="en-US" sz="3600" dirty="0"/>
              <a:t>modularization</a:t>
            </a:r>
            <a:endParaRPr lang="en-US" dirty="0"/>
          </a:p>
          <a:p>
            <a:pPr lvl="1"/>
            <a:r>
              <a:rPr lang="en-US" sz="2800" b="1" dirty="0"/>
              <a:t>Easy</a:t>
            </a:r>
            <a:r>
              <a:rPr lang="en-US" sz="2800" dirty="0"/>
              <a:t> to understand</a:t>
            </a:r>
          </a:p>
          <a:p>
            <a:pPr lvl="1"/>
            <a:r>
              <a:rPr lang="en-US" sz="2800" b="1" dirty="0"/>
              <a:t>Easy</a:t>
            </a:r>
            <a:r>
              <a:rPr lang="en-US" sz="2800" dirty="0"/>
              <a:t> to collaborate</a:t>
            </a:r>
          </a:p>
          <a:p>
            <a:r>
              <a:rPr lang="en-US" dirty="0"/>
              <a:t>Great for modeling </a:t>
            </a:r>
            <a:r>
              <a:rPr lang="en-US" sz="3600" dirty="0"/>
              <a:t>real world problems</a:t>
            </a:r>
            <a:endParaRPr lang="en-US" dirty="0"/>
          </a:p>
          <a:p>
            <a:r>
              <a:rPr lang="en-US" b="1" dirty="0"/>
              <a:t>Encapsulates</a:t>
            </a:r>
            <a:r>
              <a:rPr lang="en-US" dirty="0"/>
              <a:t> data and the methods that work on it</a:t>
            </a:r>
          </a:p>
          <a:p>
            <a:r>
              <a:rPr lang="en-US" dirty="0"/>
              <a:t>Adaptable and flexible use through </a:t>
            </a:r>
            <a:r>
              <a:rPr lang="en-US" sz="3200" b="1" dirty="0"/>
              <a:t>design idioms and patterns</a:t>
            </a:r>
          </a:p>
          <a:p>
            <a:r>
              <a:rPr lang="en-US" dirty="0"/>
              <a:t>Compatible with modern software development approaches like Agile</a:t>
            </a:r>
          </a:p>
          <a:p>
            <a:endParaRPr lang="en-US" b="1" dirty="0"/>
          </a:p>
          <a:p>
            <a:endParaRPr lang="en-US" dirty="0"/>
          </a:p>
        </p:txBody>
      </p:sp>
    </p:spTree>
    <p:extLst>
      <p:ext uri="{BB962C8B-B14F-4D97-AF65-F5344CB8AC3E}">
        <p14:creationId xmlns:p14="http://schemas.microsoft.com/office/powerpoint/2010/main" val="2725309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D1EB9-CA2E-42D8-B947-734144CBE1DE}"/>
              </a:ext>
            </a:extLst>
          </p:cNvPr>
          <p:cNvSpPr>
            <a:spLocks noGrp="1"/>
          </p:cNvSpPr>
          <p:nvPr>
            <p:ph type="title"/>
          </p:nvPr>
        </p:nvSpPr>
        <p:spPr/>
        <p:txBody>
          <a:bodyPr/>
          <a:lstStyle/>
          <a:p>
            <a:r>
              <a:rPr lang="en-US" dirty="0"/>
              <a:t>Classes</a:t>
            </a:r>
            <a:endParaRPr lang="en-CA" dirty="0"/>
          </a:p>
        </p:txBody>
      </p:sp>
      <p:sp>
        <p:nvSpPr>
          <p:cNvPr id="3" name="Content Placeholder 2">
            <a:extLst>
              <a:ext uri="{FF2B5EF4-FFF2-40B4-BE49-F238E27FC236}">
                <a16:creationId xmlns:a16="http://schemas.microsoft.com/office/drawing/2014/main" id="{84DDB381-9439-4B0E-9C1C-AF2B2D7768BD}"/>
              </a:ext>
            </a:extLst>
          </p:cNvPr>
          <p:cNvSpPr>
            <a:spLocks noGrp="1"/>
          </p:cNvSpPr>
          <p:nvPr>
            <p:ph idx="1"/>
          </p:nvPr>
        </p:nvSpPr>
        <p:spPr>
          <a:xfrm>
            <a:off x="1097280" y="1845734"/>
            <a:ext cx="4078120" cy="4023360"/>
          </a:xfrm>
        </p:spPr>
        <p:txBody>
          <a:bodyPr>
            <a:normAutofit/>
          </a:bodyPr>
          <a:lstStyle/>
          <a:p>
            <a:r>
              <a:rPr lang="en-US" dirty="0"/>
              <a:t>A class is a blueprint, defining a Type. A class serves to create independent, distinct instances called objects in memory</a:t>
            </a:r>
          </a:p>
          <a:p>
            <a:r>
              <a:rPr lang="en-CA" dirty="0"/>
              <a:t>A class defines all the </a:t>
            </a:r>
            <a:r>
              <a:rPr lang="en-CA" b="1" dirty="0"/>
              <a:t>attributes</a:t>
            </a:r>
            <a:r>
              <a:rPr lang="en-CA" dirty="0"/>
              <a:t> and </a:t>
            </a:r>
            <a:r>
              <a:rPr lang="en-CA" b="1" dirty="0"/>
              <a:t>methods</a:t>
            </a:r>
            <a:r>
              <a:rPr lang="en-CA" dirty="0"/>
              <a:t> that an instance of that class </a:t>
            </a:r>
            <a:r>
              <a:rPr lang="en-CA" b="1" dirty="0"/>
              <a:t>(called an object) </a:t>
            </a:r>
            <a:r>
              <a:rPr lang="en-CA" dirty="0"/>
              <a:t>will be composed of. </a:t>
            </a:r>
          </a:p>
        </p:txBody>
      </p:sp>
      <p:cxnSp>
        <p:nvCxnSpPr>
          <p:cNvPr id="5" name="Straight Arrow Connector 4">
            <a:extLst>
              <a:ext uri="{FF2B5EF4-FFF2-40B4-BE49-F238E27FC236}">
                <a16:creationId xmlns:a16="http://schemas.microsoft.com/office/drawing/2014/main" id="{79F6954B-6777-453C-BAE8-CCF4D342A107}"/>
              </a:ext>
            </a:extLst>
          </p:cNvPr>
          <p:cNvCxnSpPr>
            <a:cxnSpLocks/>
          </p:cNvCxnSpPr>
          <p:nvPr/>
        </p:nvCxnSpPr>
        <p:spPr>
          <a:xfrm flipH="1">
            <a:off x="8618412" y="3264222"/>
            <a:ext cx="310752" cy="81649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3076" name="Picture 4" descr="Image result for home clipart">
            <a:extLst>
              <a:ext uri="{FF2B5EF4-FFF2-40B4-BE49-F238E27FC236}">
                <a16:creationId xmlns:a16="http://schemas.microsoft.com/office/drawing/2014/main" id="{A5FDD2B9-6A7F-42A7-9E23-CCE2D5E3FD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6197" y="4105658"/>
            <a:ext cx="1838111" cy="183811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mage result for home clipart">
            <a:extLst>
              <a:ext uri="{FF2B5EF4-FFF2-40B4-BE49-F238E27FC236}">
                <a16:creationId xmlns:a16="http://schemas.microsoft.com/office/drawing/2014/main" id="{F2EF5597-A848-4313-BBAC-9CB7337D2A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0271" y="4384572"/>
            <a:ext cx="1408502" cy="1450757"/>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Image result for home clipart">
            <a:extLst>
              <a:ext uri="{FF2B5EF4-FFF2-40B4-BE49-F238E27FC236}">
                <a16:creationId xmlns:a16="http://schemas.microsoft.com/office/drawing/2014/main" id="{62C8B0F3-58D4-47CD-A644-86667D2EBD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03734" y="3776853"/>
            <a:ext cx="1519460" cy="2092241"/>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FFB7511D-5125-4741-AB23-990110ACF5D9}"/>
              </a:ext>
            </a:extLst>
          </p:cNvPr>
          <p:cNvCxnSpPr>
            <a:cxnSpLocks/>
          </p:cNvCxnSpPr>
          <p:nvPr/>
        </p:nvCxnSpPr>
        <p:spPr>
          <a:xfrm flipH="1">
            <a:off x="9454020" y="3368608"/>
            <a:ext cx="1" cy="86506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4FE3535-1CFE-45E5-BD62-9A22D98053D3}"/>
              </a:ext>
            </a:extLst>
          </p:cNvPr>
          <p:cNvCxnSpPr>
            <a:cxnSpLocks/>
          </p:cNvCxnSpPr>
          <p:nvPr/>
        </p:nvCxnSpPr>
        <p:spPr>
          <a:xfrm>
            <a:off x="9944110" y="3264222"/>
            <a:ext cx="362144" cy="81649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3086" name="Picture 14" descr="Related image">
            <a:extLst>
              <a:ext uri="{FF2B5EF4-FFF2-40B4-BE49-F238E27FC236}">
                <a16:creationId xmlns:a16="http://schemas.microsoft.com/office/drawing/2014/main" id="{1A106310-1DBB-4202-9DC5-A3FF924924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3464" y="-36574"/>
            <a:ext cx="3810000" cy="2886075"/>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p:cNvSpPr/>
          <p:nvPr/>
        </p:nvSpPr>
        <p:spPr>
          <a:xfrm>
            <a:off x="6938682" y="-613186"/>
            <a:ext cx="4883972" cy="3700631"/>
          </a:xfrm>
          <a:prstGeom prst="ellipse">
            <a:avLst/>
          </a:prstGeom>
          <a:noFill/>
          <a:ln w="889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4115967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D1EB9-CA2E-42D8-B947-734144CBE1DE}"/>
              </a:ext>
            </a:extLst>
          </p:cNvPr>
          <p:cNvSpPr>
            <a:spLocks noGrp="1"/>
          </p:cNvSpPr>
          <p:nvPr>
            <p:ph type="title"/>
          </p:nvPr>
        </p:nvSpPr>
        <p:spPr/>
        <p:txBody>
          <a:bodyPr/>
          <a:lstStyle/>
          <a:p>
            <a:r>
              <a:rPr lang="en-US" dirty="0"/>
              <a:t>An Object Has A State</a:t>
            </a:r>
            <a:endParaRPr lang="en-CA" dirty="0"/>
          </a:p>
        </p:txBody>
      </p:sp>
      <p:sp>
        <p:nvSpPr>
          <p:cNvPr id="3" name="Content Placeholder 2">
            <a:extLst>
              <a:ext uri="{FF2B5EF4-FFF2-40B4-BE49-F238E27FC236}">
                <a16:creationId xmlns:a16="http://schemas.microsoft.com/office/drawing/2014/main" id="{84DDB381-9439-4B0E-9C1C-AF2B2D7768BD}"/>
              </a:ext>
            </a:extLst>
          </p:cNvPr>
          <p:cNvSpPr>
            <a:spLocks noGrp="1"/>
          </p:cNvSpPr>
          <p:nvPr>
            <p:ph idx="1"/>
          </p:nvPr>
        </p:nvSpPr>
        <p:spPr>
          <a:xfrm>
            <a:off x="1097279" y="1845734"/>
            <a:ext cx="5073949" cy="4023360"/>
          </a:xfrm>
        </p:spPr>
        <p:txBody>
          <a:bodyPr>
            <a:normAutofit lnSpcReduction="10000"/>
          </a:bodyPr>
          <a:lstStyle/>
          <a:p>
            <a:r>
              <a:rPr lang="en-US" dirty="0"/>
              <a:t>An object is an instance of a class with its own attributes (data).</a:t>
            </a:r>
          </a:p>
          <a:p>
            <a:r>
              <a:rPr lang="en-CA" dirty="0"/>
              <a:t>An object has a </a:t>
            </a:r>
            <a:r>
              <a:rPr lang="en-CA" b="1" dirty="0"/>
              <a:t>state</a:t>
            </a:r>
            <a:r>
              <a:rPr lang="en-CA" dirty="0"/>
              <a:t> and </a:t>
            </a:r>
            <a:r>
              <a:rPr lang="en-CA" b="1" dirty="0"/>
              <a:t>behavior. </a:t>
            </a:r>
            <a:r>
              <a:rPr lang="en-CA" dirty="0"/>
              <a:t>It is an encapsulation of data and methods that act on that data (and other data that it may receive from the system).</a:t>
            </a:r>
            <a:r>
              <a:rPr lang="en-US" dirty="0"/>
              <a:t> </a:t>
            </a:r>
          </a:p>
          <a:p>
            <a:r>
              <a:rPr lang="en-US" dirty="0"/>
              <a:t>The </a:t>
            </a:r>
            <a:r>
              <a:rPr lang="en-US" b="1" dirty="0"/>
              <a:t>state</a:t>
            </a:r>
            <a:r>
              <a:rPr lang="en-US" dirty="0"/>
              <a:t> of each object is the values of these variables at any given time</a:t>
            </a:r>
          </a:p>
          <a:p>
            <a:r>
              <a:rPr lang="en-US" dirty="0"/>
              <a:t>These variables are an object’s private property and last its lifetime</a:t>
            </a:r>
          </a:p>
          <a:p>
            <a:r>
              <a:rPr lang="en-US" b="1" dirty="0"/>
              <a:t>Mutating the state means we are changing the values in the instance variables</a:t>
            </a:r>
          </a:p>
          <a:p>
            <a:endParaRPr lang="en-US" dirty="0"/>
          </a:p>
        </p:txBody>
      </p:sp>
      <p:cxnSp>
        <p:nvCxnSpPr>
          <p:cNvPr id="5" name="Straight Arrow Connector 4">
            <a:extLst>
              <a:ext uri="{FF2B5EF4-FFF2-40B4-BE49-F238E27FC236}">
                <a16:creationId xmlns:a16="http://schemas.microsoft.com/office/drawing/2014/main" id="{79F6954B-6777-453C-BAE8-CCF4D342A107}"/>
              </a:ext>
            </a:extLst>
          </p:cNvPr>
          <p:cNvCxnSpPr>
            <a:cxnSpLocks/>
          </p:cNvCxnSpPr>
          <p:nvPr/>
        </p:nvCxnSpPr>
        <p:spPr>
          <a:xfrm flipH="1">
            <a:off x="8618412" y="3264222"/>
            <a:ext cx="310752" cy="81649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3076" name="Picture 4" descr="Image result for home clipart">
            <a:extLst>
              <a:ext uri="{FF2B5EF4-FFF2-40B4-BE49-F238E27FC236}">
                <a16:creationId xmlns:a16="http://schemas.microsoft.com/office/drawing/2014/main" id="{A5FDD2B9-6A7F-42A7-9E23-CCE2D5E3FD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6197" y="4105658"/>
            <a:ext cx="1838111" cy="183811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mage result for home clipart">
            <a:extLst>
              <a:ext uri="{FF2B5EF4-FFF2-40B4-BE49-F238E27FC236}">
                <a16:creationId xmlns:a16="http://schemas.microsoft.com/office/drawing/2014/main" id="{F2EF5597-A848-4313-BBAC-9CB7337D2A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0271" y="4384572"/>
            <a:ext cx="1408502" cy="1450757"/>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Image result for home clipart">
            <a:extLst>
              <a:ext uri="{FF2B5EF4-FFF2-40B4-BE49-F238E27FC236}">
                <a16:creationId xmlns:a16="http://schemas.microsoft.com/office/drawing/2014/main" id="{62C8B0F3-58D4-47CD-A644-86667D2EBD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03734" y="3776853"/>
            <a:ext cx="1519460" cy="2092241"/>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FFB7511D-5125-4741-AB23-990110ACF5D9}"/>
              </a:ext>
            </a:extLst>
          </p:cNvPr>
          <p:cNvCxnSpPr>
            <a:cxnSpLocks/>
          </p:cNvCxnSpPr>
          <p:nvPr/>
        </p:nvCxnSpPr>
        <p:spPr>
          <a:xfrm flipH="1">
            <a:off x="9454020" y="3368608"/>
            <a:ext cx="1" cy="86506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4FE3535-1CFE-45E5-BD62-9A22D98053D3}"/>
              </a:ext>
            </a:extLst>
          </p:cNvPr>
          <p:cNvCxnSpPr>
            <a:cxnSpLocks/>
          </p:cNvCxnSpPr>
          <p:nvPr/>
        </p:nvCxnSpPr>
        <p:spPr>
          <a:xfrm>
            <a:off x="9944110" y="3264222"/>
            <a:ext cx="362144" cy="81649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3086" name="Picture 14" descr="Related image">
            <a:extLst>
              <a:ext uri="{FF2B5EF4-FFF2-40B4-BE49-F238E27FC236}">
                <a16:creationId xmlns:a16="http://schemas.microsoft.com/office/drawing/2014/main" id="{1A106310-1DBB-4202-9DC5-A3FF924924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3464" y="-36574"/>
            <a:ext cx="3810000" cy="2886075"/>
          </a:xfrm>
          <a:prstGeom prst="rect">
            <a:avLst/>
          </a:prstGeom>
          <a:noFill/>
          <a:extLst>
            <a:ext uri="{909E8E84-426E-40DD-AFC4-6F175D3DCCD1}">
              <a14:hiddenFill xmlns:a14="http://schemas.microsoft.com/office/drawing/2010/main">
                <a:solidFill>
                  <a:srgbClr val="FFFFFF"/>
                </a:solidFill>
              </a14:hiddenFill>
            </a:ext>
          </a:extLst>
        </p:spPr>
      </p:pic>
      <p:sp>
        <p:nvSpPr>
          <p:cNvPr id="11" name="Oval 10"/>
          <p:cNvSpPr/>
          <p:nvPr/>
        </p:nvSpPr>
        <p:spPr>
          <a:xfrm>
            <a:off x="6368708" y="3571539"/>
            <a:ext cx="5948798" cy="3036743"/>
          </a:xfrm>
          <a:prstGeom prst="ellipse">
            <a:avLst/>
          </a:prstGeom>
          <a:noFill/>
          <a:ln w="889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959941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FA28FC7-4549-4AAA-9CFD-BE36519F76A0}"/>
              </a:ext>
            </a:extLst>
          </p:cNvPr>
          <p:cNvSpPr txBox="1">
            <a:spLocks/>
          </p:cNvSpPr>
          <p:nvPr/>
        </p:nvSpPr>
        <p:spPr>
          <a:xfrm>
            <a:off x="1097280" y="3044952"/>
            <a:ext cx="10058400" cy="128016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dirty="0"/>
              <a:t>Let’s Create A Class </a:t>
            </a:r>
          </a:p>
          <a:p>
            <a:endParaRPr lang="en-US" dirty="0"/>
          </a:p>
          <a:p>
            <a:endParaRPr lang="en-CA" dirty="0"/>
          </a:p>
        </p:txBody>
      </p:sp>
    </p:spTree>
    <p:extLst>
      <p:ext uri="{BB962C8B-B14F-4D97-AF65-F5344CB8AC3E}">
        <p14:creationId xmlns:p14="http://schemas.microsoft.com/office/powerpoint/2010/main" val="10419580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9B96F-1B4B-4E07-B8BD-9B9553AAADB9}"/>
              </a:ext>
            </a:extLst>
          </p:cNvPr>
          <p:cNvSpPr>
            <a:spLocks noGrp="1"/>
          </p:cNvSpPr>
          <p:nvPr>
            <p:ph type="title"/>
          </p:nvPr>
        </p:nvSpPr>
        <p:spPr/>
        <p:txBody>
          <a:bodyPr/>
          <a:lstStyle/>
          <a:p>
            <a:r>
              <a:rPr lang="en-US" dirty="0"/>
              <a:t>Methods vs Functions</a:t>
            </a:r>
            <a:endParaRPr lang="en-CA" dirty="0"/>
          </a:p>
        </p:txBody>
      </p:sp>
      <p:sp>
        <p:nvSpPr>
          <p:cNvPr id="3" name="Content Placeholder 2">
            <a:extLst>
              <a:ext uri="{FF2B5EF4-FFF2-40B4-BE49-F238E27FC236}">
                <a16:creationId xmlns:a16="http://schemas.microsoft.com/office/drawing/2014/main" id="{B70E81F9-ACE4-47E5-9E7A-106468C89750}"/>
              </a:ext>
            </a:extLst>
          </p:cNvPr>
          <p:cNvSpPr>
            <a:spLocks noGrp="1"/>
          </p:cNvSpPr>
          <p:nvPr>
            <p:ph idx="1"/>
          </p:nvPr>
        </p:nvSpPr>
        <p:spPr>
          <a:xfrm>
            <a:off x="1097280" y="1845733"/>
            <a:ext cx="10058400" cy="4380405"/>
          </a:xfrm>
        </p:spPr>
        <p:txBody>
          <a:bodyPr>
            <a:normAutofit fontScale="92500" lnSpcReduction="20000"/>
          </a:bodyPr>
          <a:lstStyle/>
          <a:p>
            <a:r>
              <a:rPr lang="en-US" dirty="0"/>
              <a:t>Functionally speaking, they are the same.</a:t>
            </a:r>
          </a:p>
          <a:p>
            <a:r>
              <a:rPr lang="en-CA" dirty="0"/>
              <a:t>Methods act on an object. Changing its state and working with its attributes</a:t>
            </a:r>
          </a:p>
          <a:p>
            <a:pPr lvl="1"/>
            <a:r>
              <a:rPr lang="en-CA" dirty="0"/>
              <a:t>First parameter is </a:t>
            </a:r>
            <a:r>
              <a:rPr lang="en-CA" i="1" dirty="0"/>
              <a:t>‘</a:t>
            </a:r>
            <a:r>
              <a:rPr lang="en-CA" b="1" i="1" dirty="0">
                <a:solidFill>
                  <a:srgbClr val="FF0000"/>
                </a:solidFill>
              </a:rPr>
              <a:t>self</a:t>
            </a:r>
            <a:r>
              <a:rPr lang="en-CA" i="1" dirty="0"/>
              <a:t>’ . </a:t>
            </a:r>
            <a:r>
              <a:rPr lang="en-CA" dirty="0"/>
              <a:t>This is the object it is defined on and is passed automatically</a:t>
            </a:r>
          </a:p>
          <a:p>
            <a:pPr lvl="1"/>
            <a:r>
              <a:rPr lang="en-CA" dirty="0"/>
              <a:t>Accessed through an object</a:t>
            </a:r>
          </a:p>
          <a:p>
            <a:pPr marL="201168" lvl="1" indent="0">
              <a:buNone/>
            </a:pPr>
            <a:endParaRPr lang="en-CA" dirty="0"/>
          </a:p>
          <a:p>
            <a:pPr marL="566928" lvl="3" indent="0">
              <a:buNone/>
            </a:pPr>
            <a:r>
              <a:rPr lang="en-CA" sz="1600" dirty="0">
                <a:latin typeface="Consolas" panose="020B0609020204030204" pitchFamily="49" charset="0"/>
              </a:rPr>
              <a:t>def </a:t>
            </a:r>
            <a:r>
              <a:rPr lang="en-CA" sz="1600" dirty="0" err="1">
                <a:latin typeface="Consolas" panose="020B0609020204030204" pitchFamily="49" charset="0"/>
              </a:rPr>
              <a:t>my_method</a:t>
            </a:r>
            <a:r>
              <a:rPr lang="en-CA" sz="1600" dirty="0">
                <a:latin typeface="Consolas" panose="020B0609020204030204" pitchFamily="49" charset="0"/>
              </a:rPr>
              <a:t>(</a:t>
            </a:r>
            <a:r>
              <a:rPr lang="en-CA" sz="1600" b="1" dirty="0">
                <a:solidFill>
                  <a:srgbClr val="FF0000"/>
                </a:solidFill>
                <a:latin typeface="Consolas" panose="020B0609020204030204" pitchFamily="49" charset="0"/>
              </a:rPr>
              <a:t>self</a:t>
            </a:r>
            <a:r>
              <a:rPr lang="en-CA" sz="1600" dirty="0">
                <a:latin typeface="Consolas" panose="020B0609020204030204" pitchFamily="49" charset="0"/>
              </a:rPr>
              <a:t>, param1, param2):</a:t>
            </a:r>
          </a:p>
          <a:p>
            <a:pPr marL="749808" lvl="4" indent="0">
              <a:buNone/>
            </a:pPr>
            <a:r>
              <a:rPr lang="en-CA" sz="1600" dirty="0">
                <a:latin typeface="Consolas" panose="020B0609020204030204" pitchFamily="49" charset="0"/>
              </a:rPr>
              <a:t>#execute method code</a:t>
            </a:r>
          </a:p>
          <a:p>
            <a:pPr marL="749808" lvl="4" indent="0">
              <a:buNone/>
            </a:pPr>
            <a:endParaRPr lang="en-CA" dirty="0">
              <a:latin typeface="Consolas" panose="020B0609020204030204" pitchFamily="49" charset="0"/>
            </a:endParaRPr>
          </a:p>
          <a:p>
            <a:r>
              <a:rPr lang="en-CA" dirty="0"/>
              <a:t>Functions are not object dependent</a:t>
            </a:r>
          </a:p>
          <a:p>
            <a:pPr lvl="1"/>
            <a:r>
              <a:rPr lang="en-CA" dirty="0"/>
              <a:t>Can be called without the assistance of objects</a:t>
            </a:r>
          </a:p>
          <a:p>
            <a:pPr lvl="1"/>
            <a:r>
              <a:rPr lang="en-CA" dirty="0"/>
              <a:t>Doesn’t accept self as a parameter</a:t>
            </a:r>
          </a:p>
          <a:p>
            <a:pPr lvl="1"/>
            <a:endParaRPr lang="en-CA" sz="1600" dirty="0"/>
          </a:p>
          <a:p>
            <a:pPr marL="566928" lvl="3" indent="0">
              <a:buNone/>
            </a:pPr>
            <a:r>
              <a:rPr lang="en-CA" sz="1600" dirty="0">
                <a:latin typeface="Consolas" panose="020B0609020204030204" pitchFamily="49" charset="0"/>
              </a:rPr>
              <a:t>def </a:t>
            </a:r>
            <a:r>
              <a:rPr lang="en-CA" sz="1600" dirty="0" err="1">
                <a:latin typeface="Consolas" panose="020B0609020204030204" pitchFamily="49" charset="0"/>
              </a:rPr>
              <a:t>my_function</a:t>
            </a:r>
            <a:r>
              <a:rPr lang="en-CA" sz="1600" dirty="0">
                <a:latin typeface="Consolas" panose="020B0609020204030204" pitchFamily="49" charset="0"/>
              </a:rPr>
              <a:t>(param1, param2):</a:t>
            </a:r>
          </a:p>
          <a:p>
            <a:pPr marL="749808" lvl="4" indent="0">
              <a:buNone/>
            </a:pPr>
            <a:r>
              <a:rPr lang="en-CA" sz="1600" dirty="0">
                <a:latin typeface="Consolas" panose="020B0609020204030204" pitchFamily="49" charset="0"/>
              </a:rPr>
              <a:t>#execute function code</a:t>
            </a:r>
            <a:endParaRPr lang="en-CA" sz="1600" dirty="0"/>
          </a:p>
          <a:p>
            <a:pPr lvl="1"/>
            <a:endParaRPr lang="en-US" dirty="0"/>
          </a:p>
          <a:p>
            <a:pPr marL="201168" lvl="1" indent="0">
              <a:buNone/>
            </a:pPr>
            <a:r>
              <a:rPr lang="en-US" dirty="0"/>
              <a:t>But they both </a:t>
            </a:r>
            <a:r>
              <a:rPr lang="en-US" b="1" i="1" dirty="0"/>
              <a:t>do something </a:t>
            </a:r>
            <a:r>
              <a:rPr lang="en-US" dirty="0"/>
              <a:t>and should be </a:t>
            </a:r>
            <a:r>
              <a:rPr lang="en-US" b="1" i="1" dirty="0"/>
              <a:t>atomic</a:t>
            </a:r>
            <a:r>
              <a:rPr lang="en-US" dirty="0"/>
              <a:t>.</a:t>
            </a:r>
            <a:endParaRPr lang="en-CA" dirty="0"/>
          </a:p>
        </p:txBody>
      </p:sp>
    </p:spTree>
    <p:extLst>
      <p:ext uri="{BB962C8B-B14F-4D97-AF65-F5344CB8AC3E}">
        <p14:creationId xmlns:p14="http://schemas.microsoft.com/office/powerpoint/2010/main" val="14484355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D7D72-6CE0-6946-A47C-AA51190160E4}"/>
              </a:ext>
            </a:extLst>
          </p:cNvPr>
          <p:cNvSpPr>
            <a:spLocks noGrp="1"/>
          </p:cNvSpPr>
          <p:nvPr>
            <p:ph type="title"/>
          </p:nvPr>
        </p:nvSpPr>
        <p:spPr/>
        <p:txBody>
          <a:bodyPr/>
          <a:lstStyle/>
          <a:p>
            <a:r>
              <a:rPr lang="en-US" dirty="0"/>
              <a:t>Special method #1: __</a:t>
            </a:r>
            <a:r>
              <a:rPr lang="en-US" dirty="0" err="1"/>
              <a:t>init</a:t>
            </a:r>
            <a:r>
              <a:rPr lang="en-US" dirty="0"/>
              <a:t>__(self)</a:t>
            </a:r>
          </a:p>
        </p:txBody>
      </p:sp>
      <p:sp>
        <p:nvSpPr>
          <p:cNvPr id="3" name="Content Placeholder 2">
            <a:extLst>
              <a:ext uri="{FF2B5EF4-FFF2-40B4-BE49-F238E27FC236}">
                <a16:creationId xmlns:a16="http://schemas.microsoft.com/office/drawing/2014/main" id="{B622ABE5-91FE-CD48-A61C-6D2BE8829B4D}"/>
              </a:ext>
            </a:extLst>
          </p:cNvPr>
          <p:cNvSpPr>
            <a:spLocks noGrp="1"/>
          </p:cNvSpPr>
          <p:nvPr>
            <p:ph idx="1"/>
          </p:nvPr>
        </p:nvSpPr>
        <p:spPr>
          <a:xfrm>
            <a:off x="1097280" y="1845734"/>
            <a:ext cx="6373368" cy="4023360"/>
          </a:xfrm>
        </p:spPr>
        <p:txBody>
          <a:bodyPr>
            <a:normAutofit/>
          </a:bodyPr>
          <a:lstStyle/>
          <a:p>
            <a:pPr marL="0" indent="0">
              <a:buNone/>
            </a:pPr>
            <a:r>
              <a:rPr lang="en-US" dirty="0"/>
              <a:t>__</a:t>
            </a:r>
            <a:r>
              <a:rPr lang="en-US" dirty="0" err="1"/>
              <a:t>init</a:t>
            </a:r>
            <a:r>
              <a:rPr lang="en-US" dirty="0"/>
              <a:t>__(self) method</a:t>
            </a:r>
          </a:p>
          <a:p>
            <a:pPr marL="971550" lvl="1" indent="-514350">
              <a:buFont typeface="+mj-lt"/>
              <a:buAutoNum type="alphaLcParenR"/>
            </a:pPr>
            <a:r>
              <a:rPr lang="en-US" dirty="0"/>
              <a:t>Special built-in method called the </a:t>
            </a:r>
            <a:r>
              <a:rPr lang="en-US" sz="3200" b="1" i="1" dirty="0"/>
              <a:t>initializer</a:t>
            </a:r>
            <a:endParaRPr lang="en-US" b="1" i="1" dirty="0"/>
          </a:p>
          <a:p>
            <a:pPr marL="971550" lvl="1" indent="-514350">
              <a:buFont typeface="+mj-lt"/>
              <a:buAutoNum type="alphaLcParenR"/>
            </a:pPr>
            <a:r>
              <a:rPr lang="en-US" dirty="0"/>
              <a:t>First method inside the class definition</a:t>
            </a:r>
          </a:p>
          <a:p>
            <a:pPr marL="971550" lvl="1" indent="-514350">
              <a:buFont typeface="+mj-lt"/>
              <a:buAutoNum type="alphaLcParenR"/>
            </a:pPr>
            <a:r>
              <a:rPr lang="en-US" dirty="0"/>
              <a:t>Executed once when a new object is instantiated</a:t>
            </a:r>
          </a:p>
          <a:p>
            <a:pPr marL="971550" lvl="1" indent="-514350">
              <a:buFont typeface="+mj-lt"/>
              <a:buAutoNum type="alphaLcParenR"/>
            </a:pPr>
            <a:r>
              <a:rPr lang="en-US" dirty="0"/>
              <a:t>Note the 2 leading underscores and the 2 trailing underscores </a:t>
            </a:r>
          </a:p>
          <a:p>
            <a:pPr marL="971550" lvl="1" indent="-514350">
              <a:buFont typeface="+mj-lt"/>
              <a:buAutoNum type="alphaLcParenR"/>
            </a:pPr>
            <a:r>
              <a:rPr lang="en-US" dirty="0"/>
              <a:t>Accepts one or more parameters:</a:t>
            </a:r>
          </a:p>
          <a:p>
            <a:pPr marL="1428750" lvl="2" indent="-514350">
              <a:buFont typeface="+mj-lt"/>
              <a:buAutoNum type="alphaLcParenR"/>
            </a:pPr>
            <a:r>
              <a:rPr lang="en-US" b="1" dirty="0"/>
              <a:t>self</a:t>
            </a:r>
            <a:r>
              <a:rPr lang="en-US" dirty="0"/>
              <a:t> – every method call associated with a class automatically passes self, which is a reference to the instance itself.</a:t>
            </a:r>
          </a:p>
          <a:p>
            <a:pPr marL="1428750" lvl="2" indent="-514350">
              <a:buFont typeface="+mj-lt"/>
              <a:buAutoNum type="alphaLcParenR"/>
            </a:pPr>
            <a:r>
              <a:rPr lang="en-US" dirty="0"/>
              <a:t>data for the object’s state</a:t>
            </a:r>
          </a:p>
          <a:p>
            <a:pPr marL="971550" lvl="1" indent="-514350">
              <a:buFont typeface="+mj-lt"/>
              <a:buAutoNum type="alphaLcParenR"/>
            </a:pPr>
            <a:r>
              <a:rPr lang="en-US" dirty="0"/>
              <a:t>Note that the variables defined in the __</a:t>
            </a:r>
            <a:r>
              <a:rPr lang="en-US" dirty="0" err="1"/>
              <a:t>init</a:t>
            </a:r>
            <a:r>
              <a:rPr lang="en-US" dirty="0"/>
              <a:t>__ method are prefaced with self</a:t>
            </a:r>
          </a:p>
        </p:txBody>
      </p:sp>
      <p:pic>
        <p:nvPicPr>
          <p:cNvPr id="4098" name="Picture 2" descr="Image result for initialize">
            <a:extLst>
              <a:ext uri="{FF2B5EF4-FFF2-40B4-BE49-F238E27FC236}">
                <a16:creationId xmlns:a16="http://schemas.microsoft.com/office/drawing/2014/main" id="{D17A467D-81E4-4AD8-AF45-462B8017077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505"/>
          <a:stretch/>
        </p:blipFill>
        <p:spPr bwMode="auto">
          <a:xfrm>
            <a:off x="7914132" y="2370936"/>
            <a:ext cx="3406140" cy="3379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35838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072F4-C71F-4440-9386-55FFB65F8BE8}"/>
              </a:ext>
            </a:extLst>
          </p:cNvPr>
          <p:cNvSpPr>
            <a:spLocks noGrp="1"/>
          </p:cNvSpPr>
          <p:nvPr>
            <p:ph type="title"/>
          </p:nvPr>
        </p:nvSpPr>
        <p:spPr/>
        <p:txBody>
          <a:bodyPr/>
          <a:lstStyle/>
          <a:p>
            <a:r>
              <a:rPr lang="en-US" dirty="0"/>
              <a:t>Instance Variables?</a:t>
            </a:r>
          </a:p>
        </p:txBody>
      </p:sp>
      <p:sp>
        <p:nvSpPr>
          <p:cNvPr id="3" name="Content Placeholder 2">
            <a:extLst>
              <a:ext uri="{FF2B5EF4-FFF2-40B4-BE49-F238E27FC236}">
                <a16:creationId xmlns:a16="http://schemas.microsoft.com/office/drawing/2014/main" id="{9F599A8E-3B6E-8244-8EA9-0412B17DCBB7}"/>
              </a:ext>
            </a:extLst>
          </p:cNvPr>
          <p:cNvSpPr>
            <a:spLocks noGrp="1"/>
          </p:cNvSpPr>
          <p:nvPr>
            <p:ph idx="1"/>
          </p:nvPr>
        </p:nvSpPr>
        <p:spPr/>
        <p:txBody>
          <a:bodyPr>
            <a:normAutofit/>
          </a:bodyPr>
          <a:lstStyle/>
          <a:p>
            <a:r>
              <a:rPr lang="en-US" dirty="0"/>
              <a:t>In Python we often call them </a:t>
            </a:r>
            <a:r>
              <a:rPr lang="en-US" sz="3600" b="1" i="1" u="sng" dirty="0"/>
              <a:t>data attributes</a:t>
            </a:r>
            <a:r>
              <a:rPr lang="en-US" dirty="0"/>
              <a:t>!</a:t>
            </a:r>
            <a:endParaRPr lang="en-US" sz="3600" dirty="0"/>
          </a:p>
          <a:p>
            <a:r>
              <a:rPr lang="en-US" dirty="0"/>
              <a:t>We don’t define them at the top of the class, that’s a Java approach!</a:t>
            </a:r>
          </a:p>
          <a:p>
            <a:endParaRPr lang="en-US" dirty="0"/>
          </a:p>
        </p:txBody>
      </p:sp>
      <p:sp>
        <p:nvSpPr>
          <p:cNvPr id="5" name="TextBox 4">
            <a:extLst>
              <a:ext uri="{FF2B5EF4-FFF2-40B4-BE49-F238E27FC236}">
                <a16:creationId xmlns:a16="http://schemas.microsoft.com/office/drawing/2014/main" id="{E2EE2CD9-8F10-4A23-2B1C-FE041A1C6971}"/>
              </a:ext>
            </a:extLst>
          </p:cNvPr>
          <p:cNvSpPr txBox="1"/>
          <p:nvPr/>
        </p:nvSpPr>
        <p:spPr>
          <a:xfrm>
            <a:off x="20548" y="2939683"/>
            <a:ext cx="6262097" cy="3323987"/>
          </a:xfrm>
          <a:prstGeom prst="rect">
            <a:avLst/>
          </a:prstGeom>
          <a:noFill/>
          <a:ln w="38100">
            <a:solidFill>
              <a:schemeClr val="accent1"/>
            </a:solidFill>
          </a:ln>
        </p:spPr>
        <p:txBody>
          <a:bodyPr wrap="square">
            <a:spAutoFit/>
          </a:bodyPr>
          <a:lstStyle/>
          <a:p>
            <a:r>
              <a:rPr lang="en-US" altLang="en-US" sz="1500" b="1" dirty="0">
                <a:solidFill>
                  <a:srgbClr val="00B050"/>
                </a:solidFill>
                <a:latin typeface="Consolas" panose="020B0609020204030204" pitchFamily="49" charset="0"/>
              </a:rPr>
              <a:t>//Java instance variables</a:t>
            </a:r>
          </a:p>
          <a:p>
            <a:endParaRPr lang="en-US" altLang="en-US" sz="1500" b="1" dirty="0">
              <a:solidFill>
                <a:srgbClr val="00B050"/>
              </a:solidFill>
              <a:latin typeface="Consolas" panose="020B0609020204030204" pitchFamily="49" charset="0"/>
            </a:endParaRPr>
          </a:p>
          <a:p>
            <a:r>
              <a:rPr lang="en-US" altLang="en-US" sz="1500" b="1" dirty="0">
                <a:solidFill>
                  <a:srgbClr val="000080"/>
                </a:solidFill>
                <a:latin typeface="Consolas" panose="020B0609020204030204" pitchFamily="49" charset="0"/>
              </a:rPr>
              <a:t>class </a:t>
            </a:r>
            <a:r>
              <a:rPr lang="en-US" altLang="en-US" sz="1500" dirty="0">
                <a:solidFill>
                  <a:srgbClr val="000000"/>
                </a:solidFill>
                <a:latin typeface="Consolas" panose="020B0609020204030204" pitchFamily="49" charset="0"/>
              </a:rPr>
              <a:t>Cat {</a:t>
            </a:r>
            <a:endParaRPr lang="en-US" altLang="en-US" sz="1500" dirty="0">
              <a:solidFill>
                <a:srgbClr val="00B050"/>
              </a:solidFill>
              <a:latin typeface="Consolas" panose="020B0609020204030204" pitchFamily="49" charset="0"/>
            </a:endParaRPr>
          </a:p>
          <a:p>
            <a:r>
              <a:rPr lang="en-US" altLang="en-US" sz="1500" dirty="0">
                <a:solidFill>
                  <a:srgbClr val="00B050"/>
                </a:solidFill>
                <a:latin typeface="Consolas" panose="020B0609020204030204" pitchFamily="49" charset="0"/>
              </a:rPr>
              <a:t>	private </a:t>
            </a:r>
            <a:r>
              <a:rPr lang="en-US" altLang="en-US" sz="1500" dirty="0">
                <a:solidFill>
                  <a:srgbClr val="94558D"/>
                </a:solidFill>
                <a:latin typeface="Consolas" panose="020B0609020204030204" pitchFamily="49" charset="0"/>
              </a:rPr>
              <a:t>int </a:t>
            </a:r>
            <a:r>
              <a:rPr lang="en-US" altLang="en-US" sz="1500" dirty="0">
                <a:solidFill>
                  <a:srgbClr val="000000"/>
                </a:solidFill>
                <a:latin typeface="Consolas" panose="020B0609020204030204" pitchFamily="49" charset="0"/>
              </a:rPr>
              <a:t>_age = 0</a:t>
            </a:r>
            <a:br>
              <a:rPr lang="en-US" altLang="en-US" sz="1500" dirty="0">
                <a:solidFill>
                  <a:srgbClr val="000000"/>
                </a:solidFill>
                <a:latin typeface="Consolas" panose="020B0609020204030204" pitchFamily="49" charset="0"/>
              </a:rPr>
            </a:br>
            <a:r>
              <a:rPr lang="en-US" altLang="en-US" sz="1500" dirty="0">
                <a:solidFill>
                  <a:srgbClr val="000000"/>
                </a:solidFill>
                <a:latin typeface="Consolas" panose="020B0609020204030204" pitchFamily="49" charset="0"/>
              </a:rPr>
              <a:t>	private </a:t>
            </a:r>
            <a:r>
              <a:rPr lang="en-US" altLang="en-US" sz="1500" dirty="0">
                <a:solidFill>
                  <a:srgbClr val="94558D"/>
                </a:solidFill>
                <a:latin typeface="Consolas" panose="020B0609020204030204" pitchFamily="49" charset="0"/>
              </a:rPr>
              <a:t>int</a:t>
            </a:r>
            <a:r>
              <a:rPr lang="en-US" altLang="en-US" sz="1500" dirty="0">
                <a:solidFill>
                  <a:srgbClr val="000000"/>
                </a:solidFill>
                <a:latin typeface="Consolas" panose="020B0609020204030204" pitchFamily="49" charset="0"/>
              </a:rPr>
              <a:t> _name = “”</a:t>
            </a:r>
            <a:br>
              <a:rPr lang="en-US" altLang="en-US" sz="1500" dirty="0">
                <a:solidFill>
                  <a:srgbClr val="000000"/>
                </a:solidFill>
                <a:latin typeface="Consolas" panose="020B0609020204030204" pitchFamily="49" charset="0"/>
              </a:rPr>
            </a:br>
            <a:r>
              <a:rPr lang="en-US" altLang="en-US" sz="1500" dirty="0">
                <a:solidFill>
                  <a:srgbClr val="000000"/>
                </a:solidFill>
                <a:latin typeface="Consolas" panose="020B0609020204030204" pitchFamily="49" charset="0"/>
              </a:rPr>
              <a:t>	private </a:t>
            </a:r>
            <a:r>
              <a:rPr lang="en-US" altLang="en-US" sz="1500" dirty="0">
                <a:solidFill>
                  <a:srgbClr val="94558D"/>
                </a:solidFill>
                <a:latin typeface="Consolas" panose="020B0609020204030204" pitchFamily="49" charset="0"/>
              </a:rPr>
              <a:t>String</a:t>
            </a:r>
            <a:r>
              <a:rPr lang="en-US" altLang="en-US" sz="1500" dirty="0">
                <a:solidFill>
                  <a:srgbClr val="000000"/>
                </a:solidFill>
                <a:latin typeface="Consolas" panose="020B0609020204030204" pitchFamily="49" charset="0"/>
              </a:rPr>
              <a:t> _</a:t>
            </a:r>
            <a:r>
              <a:rPr lang="en-US" altLang="en-US" sz="1500" dirty="0" err="1">
                <a:solidFill>
                  <a:srgbClr val="000000"/>
                </a:solidFill>
                <a:latin typeface="Consolas" panose="020B0609020204030204" pitchFamily="49" charset="0"/>
              </a:rPr>
              <a:t>food_prefs</a:t>
            </a:r>
            <a:r>
              <a:rPr lang="en-US" altLang="en-US" sz="1500" dirty="0">
                <a:solidFill>
                  <a:srgbClr val="000000"/>
                </a:solidFill>
                <a:latin typeface="Consolas" panose="020B0609020204030204" pitchFamily="49" charset="0"/>
              </a:rPr>
              <a:t> = “”</a:t>
            </a:r>
          </a:p>
          <a:p>
            <a:br>
              <a:rPr lang="en-US" altLang="en-US" sz="1500" dirty="0">
                <a:solidFill>
                  <a:srgbClr val="000000"/>
                </a:solidFill>
                <a:latin typeface="Consolas" panose="020B0609020204030204" pitchFamily="49" charset="0"/>
              </a:rPr>
            </a:br>
            <a:r>
              <a:rPr lang="en-US" altLang="en-US" sz="1500" dirty="0">
                <a:solidFill>
                  <a:srgbClr val="000000"/>
                </a:solidFill>
                <a:latin typeface="Consolas" panose="020B0609020204030204" pitchFamily="49" charset="0"/>
              </a:rPr>
              <a:t>    public</a:t>
            </a:r>
            <a:r>
              <a:rPr lang="en-US" altLang="en-US" sz="1500" b="1" dirty="0">
                <a:solidFill>
                  <a:srgbClr val="000080"/>
                </a:solidFill>
                <a:latin typeface="Consolas" panose="020B0609020204030204" pitchFamily="49" charset="0"/>
              </a:rPr>
              <a:t> Cat</a:t>
            </a:r>
            <a:r>
              <a:rPr lang="en-US" altLang="en-US" sz="1500" dirty="0">
                <a:solidFill>
                  <a:srgbClr val="000000"/>
                </a:solidFill>
                <a:latin typeface="Consolas" panose="020B0609020204030204" pitchFamily="49" charset="0"/>
              </a:rPr>
              <a:t>(</a:t>
            </a:r>
            <a:r>
              <a:rPr lang="en-US" altLang="en-US" sz="1500" b="1" dirty="0">
                <a:solidFill>
                  <a:srgbClr val="94558D"/>
                </a:solidFill>
                <a:latin typeface="Consolas" panose="020B0609020204030204" pitchFamily="49" charset="0"/>
              </a:rPr>
              <a:t>String </a:t>
            </a:r>
            <a:r>
              <a:rPr lang="en-US" altLang="en-US" sz="1500" dirty="0">
                <a:solidFill>
                  <a:srgbClr val="000000"/>
                </a:solidFill>
                <a:latin typeface="Consolas" panose="020B0609020204030204" pitchFamily="49" charset="0"/>
              </a:rPr>
              <a:t>name, </a:t>
            </a:r>
            <a:r>
              <a:rPr lang="en-US" altLang="en-US" sz="1500" b="1" dirty="0">
                <a:solidFill>
                  <a:srgbClr val="94558D"/>
                </a:solidFill>
                <a:latin typeface="Consolas" panose="020B0609020204030204" pitchFamily="49" charset="0"/>
              </a:rPr>
              <a:t>int</a:t>
            </a:r>
            <a:r>
              <a:rPr lang="en-US" altLang="en-US" sz="1500" dirty="0">
                <a:solidFill>
                  <a:srgbClr val="000000"/>
                </a:solidFill>
                <a:latin typeface="Consolas" panose="020B0609020204030204" pitchFamily="49" charset="0"/>
              </a:rPr>
              <a:t> age, </a:t>
            </a:r>
            <a:r>
              <a:rPr lang="en-US" altLang="en-US" sz="1500" b="1" dirty="0">
                <a:solidFill>
                  <a:srgbClr val="94558D"/>
                </a:solidFill>
                <a:latin typeface="Consolas" panose="020B0609020204030204" pitchFamily="49" charset="0"/>
              </a:rPr>
              <a:t>String</a:t>
            </a:r>
            <a:r>
              <a:rPr lang="en-US" altLang="en-US" sz="1500" dirty="0">
                <a:solidFill>
                  <a:srgbClr val="000000"/>
                </a:solidFill>
                <a:latin typeface="Consolas" panose="020B0609020204030204" pitchFamily="49" charset="0"/>
              </a:rPr>
              <a:t> </a:t>
            </a:r>
            <a:r>
              <a:rPr lang="en-US" altLang="en-US" sz="1500" dirty="0" err="1">
                <a:solidFill>
                  <a:srgbClr val="000000"/>
                </a:solidFill>
                <a:latin typeface="Consolas" panose="020B0609020204030204" pitchFamily="49" charset="0"/>
              </a:rPr>
              <a:t>favorite_food</a:t>
            </a:r>
            <a:r>
              <a:rPr lang="en-US" altLang="en-US" sz="1500" dirty="0">
                <a:solidFill>
                  <a:srgbClr val="000000"/>
                </a:solidFill>
                <a:latin typeface="Consolas" panose="020B0609020204030204" pitchFamily="49" charset="0"/>
              </a:rPr>
              <a:t>) 	{</a:t>
            </a:r>
            <a:br>
              <a:rPr lang="en-US" altLang="en-US" sz="1500" dirty="0">
                <a:solidFill>
                  <a:srgbClr val="000000"/>
                </a:solidFill>
                <a:latin typeface="Consolas" panose="020B0609020204030204" pitchFamily="49" charset="0"/>
              </a:rPr>
            </a:br>
            <a:r>
              <a:rPr lang="en-US" altLang="en-US" sz="1500" dirty="0">
                <a:solidFill>
                  <a:srgbClr val="000000"/>
                </a:solidFill>
                <a:latin typeface="Consolas" panose="020B0609020204030204" pitchFamily="49" charset="0"/>
              </a:rPr>
              <a:t>        _age = age</a:t>
            </a:r>
            <a:br>
              <a:rPr lang="en-US" altLang="en-US" sz="1500" dirty="0">
                <a:solidFill>
                  <a:srgbClr val="000000"/>
                </a:solidFill>
                <a:latin typeface="Consolas" panose="020B0609020204030204" pitchFamily="49" charset="0"/>
              </a:rPr>
            </a:br>
            <a:r>
              <a:rPr lang="en-US" altLang="en-US" sz="1500" dirty="0">
                <a:solidFill>
                  <a:srgbClr val="000000"/>
                </a:solidFill>
                <a:latin typeface="Consolas" panose="020B0609020204030204" pitchFamily="49" charset="0"/>
              </a:rPr>
              <a:t>        _name = name</a:t>
            </a:r>
            <a:br>
              <a:rPr lang="en-US" altLang="en-US" sz="1500" dirty="0">
                <a:solidFill>
                  <a:srgbClr val="000000"/>
                </a:solidFill>
                <a:latin typeface="Consolas" panose="020B0609020204030204" pitchFamily="49" charset="0"/>
              </a:rPr>
            </a:br>
            <a:r>
              <a:rPr lang="en-US" altLang="en-US" sz="1500" dirty="0">
                <a:solidFill>
                  <a:srgbClr val="000000"/>
                </a:solidFill>
                <a:latin typeface="Consolas" panose="020B0609020204030204" pitchFamily="49" charset="0"/>
              </a:rPr>
              <a:t>        _</a:t>
            </a:r>
            <a:r>
              <a:rPr lang="en-US" altLang="en-US" sz="1500" dirty="0" err="1">
                <a:solidFill>
                  <a:srgbClr val="000000"/>
                </a:solidFill>
                <a:latin typeface="Consolas" panose="020B0609020204030204" pitchFamily="49" charset="0"/>
              </a:rPr>
              <a:t>food_prefs</a:t>
            </a:r>
            <a:r>
              <a:rPr lang="en-US" altLang="en-US" sz="1500" dirty="0">
                <a:solidFill>
                  <a:srgbClr val="000000"/>
                </a:solidFill>
                <a:latin typeface="Consolas" panose="020B0609020204030204" pitchFamily="49" charset="0"/>
              </a:rPr>
              <a:t> = </a:t>
            </a:r>
            <a:r>
              <a:rPr lang="en-US" altLang="en-US" sz="1500" dirty="0" err="1">
                <a:solidFill>
                  <a:srgbClr val="000000"/>
                </a:solidFill>
                <a:latin typeface="Consolas" panose="020B0609020204030204" pitchFamily="49" charset="0"/>
              </a:rPr>
              <a:t>favorite_food</a:t>
            </a:r>
            <a:endParaRPr lang="en-US" altLang="en-US" sz="1500" dirty="0">
              <a:solidFill>
                <a:srgbClr val="000000"/>
              </a:solidFill>
              <a:latin typeface="Consolas" panose="020B0609020204030204" pitchFamily="49" charset="0"/>
            </a:endParaRPr>
          </a:p>
          <a:p>
            <a:r>
              <a:rPr lang="en-US" altLang="en-US" sz="1500" dirty="0">
                <a:solidFill>
                  <a:srgbClr val="000000"/>
                </a:solidFill>
                <a:latin typeface="Consolas" panose="020B0609020204030204" pitchFamily="49" charset="0"/>
              </a:rPr>
              <a:t>	}</a:t>
            </a:r>
          </a:p>
          <a:p>
            <a:r>
              <a:rPr lang="en-US" altLang="en-US" sz="1500" dirty="0">
                <a:solidFill>
                  <a:srgbClr val="000000"/>
                </a:solidFill>
                <a:latin typeface="Consolas" panose="020B0609020204030204" pitchFamily="49" charset="0"/>
              </a:rPr>
              <a:t>}</a:t>
            </a:r>
          </a:p>
        </p:txBody>
      </p:sp>
      <p:sp>
        <p:nvSpPr>
          <p:cNvPr id="7" name="TextBox 6">
            <a:extLst>
              <a:ext uri="{FF2B5EF4-FFF2-40B4-BE49-F238E27FC236}">
                <a16:creationId xmlns:a16="http://schemas.microsoft.com/office/drawing/2014/main" id="{631B79A8-22F3-8F1B-E71D-8552C0EBBAB2}"/>
              </a:ext>
            </a:extLst>
          </p:cNvPr>
          <p:cNvSpPr txBox="1"/>
          <p:nvPr/>
        </p:nvSpPr>
        <p:spPr>
          <a:xfrm>
            <a:off x="6438472" y="2939683"/>
            <a:ext cx="5732980" cy="1815882"/>
          </a:xfrm>
          <a:prstGeom prst="rect">
            <a:avLst/>
          </a:prstGeom>
          <a:noFill/>
          <a:ln w="38100">
            <a:solidFill>
              <a:srgbClr val="00B050"/>
            </a:solidFill>
          </a:ln>
        </p:spPr>
        <p:txBody>
          <a:bodyPr wrap="square">
            <a:spAutoFit/>
          </a:bodyPr>
          <a:lstStyle/>
          <a:p>
            <a:r>
              <a:rPr lang="en-US" altLang="en-US" sz="1600" b="1" dirty="0">
                <a:solidFill>
                  <a:srgbClr val="00B050"/>
                </a:solidFill>
                <a:latin typeface="Consolas" panose="020B0609020204030204" pitchFamily="49" charset="0"/>
              </a:rPr>
              <a:t>//Python instance variables</a:t>
            </a:r>
          </a:p>
          <a:p>
            <a:endParaRPr lang="en-US" altLang="en-US" sz="1600" b="1" dirty="0">
              <a:solidFill>
                <a:srgbClr val="000080"/>
              </a:solidFill>
              <a:latin typeface="Consolas" panose="020B0609020204030204" pitchFamily="49" charset="0"/>
            </a:endParaRPr>
          </a:p>
          <a:p>
            <a:r>
              <a:rPr lang="en-US" altLang="en-US" sz="1600" b="1" dirty="0">
                <a:solidFill>
                  <a:srgbClr val="000080"/>
                </a:solidFill>
                <a:latin typeface="Consolas" panose="020B0609020204030204" pitchFamily="49" charset="0"/>
              </a:rPr>
              <a:t>class </a:t>
            </a:r>
            <a:r>
              <a:rPr lang="en-US" altLang="en-US" sz="1600" dirty="0">
                <a:solidFill>
                  <a:srgbClr val="000000"/>
                </a:solidFill>
                <a:latin typeface="Consolas" panose="020B0609020204030204" pitchFamily="49" charset="0"/>
              </a:rPr>
              <a:t>Cat:</a:t>
            </a:r>
            <a:br>
              <a:rPr lang="en-US" altLang="en-US" sz="1600" dirty="0">
                <a:solidFill>
                  <a:srgbClr val="000000"/>
                </a:solidFill>
                <a:latin typeface="Consolas" panose="020B0609020204030204" pitchFamily="49" charset="0"/>
              </a:rPr>
            </a:br>
            <a:r>
              <a:rPr lang="en-US" altLang="en-US" sz="1600" dirty="0">
                <a:solidFill>
                  <a:srgbClr val="000000"/>
                </a:solidFill>
                <a:latin typeface="Consolas" panose="020B0609020204030204" pitchFamily="49" charset="0"/>
              </a:rPr>
              <a:t>    </a:t>
            </a:r>
            <a:r>
              <a:rPr lang="en-US" altLang="en-US" sz="1600" b="1" dirty="0">
                <a:solidFill>
                  <a:srgbClr val="000080"/>
                </a:solidFill>
                <a:latin typeface="Consolas" panose="020B0609020204030204" pitchFamily="49" charset="0"/>
              </a:rPr>
              <a:t>def </a:t>
            </a:r>
            <a:r>
              <a:rPr lang="en-US" altLang="en-US" sz="1600" dirty="0">
                <a:solidFill>
                  <a:srgbClr val="B200B2"/>
                </a:solidFill>
                <a:latin typeface="Consolas" panose="020B0609020204030204" pitchFamily="49" charset="0"/>
              </a:rPr>
              <a:t>__</a:t>
            </a:r>
            <a:r>
              <a:rPr lang="en-US" altLang="en-US" sz="1600" dirty="0" err="1">
                <a:solidFill>
                  <a:srgbClr val="B200B2"/>
                </a:solidFill>
                <a:latin typeface="Consolas" panose="020B0609020204030204" pitchFamily="49" charset="0"/>
              </a:rPr>
              <a:t>init</a:t>
            </a:r>
            <a:r>
              <a:rPr lang="en-US" altLang="en-US" sz="1600" dirty="0">
                <a:solidFill>
                  <a:srgbClr val="B200B2"/>
                </a:solidFill>
                <a:latin typeface="Consolas" panose="020B0609020204030204" pitchFamily="49" charset="0"/>
              </a:rPr>
              <a:t>__</a:t>
            </a:r>
            <a:r>
              <a:rPr lang="en-US" altLang="en-US" sz="1600" dirty="0">
                <a:solidFill>
                  <a:srgbClr val="000000"/>
                </a:solidFill>
                <a:latin typeface="Consolas" panose="020B0609020204030204" pitchFamily="49" charset="0"/>
              </a:rPr>
              <a:t>(</a:t>
            </a:r>
            <a:r>
              <a:rPr lang="en-US" altLang="en-US" sz="1600" b="1" dirty="0">
                <a:solidFill>
                  <a:srgbClr val="94558D"/>
                </a:solidFill>
                <a:latin typeface="Consolas" panose="020B0609020204030204" pitchFamily="49" charset="0"/>
              </a:rPr>
              <a:t>self</a:t>
            </a:r>
            <a:r>
              <a:rPr lang="en-US" altLang="en-US" sz="1600" dirty="0">
                <a:solidFill>
                  <a:srgbClr val="000000"/>
                </a:solidFill>
                <a:latin typeface="Consolas" panose="020B0609020204030204" pitchFamily="49" charset="0"/>
              </a:rPr>
              <a:t>, name, age, </a:t>
            </a:r>
            <a:r>
              <a:rPr lang="en-US" altLang="en-US" sz="1600" dirty="0" err="1">
                <a:solidFill>
                  <a:srgbClr val="000000"/>
                </a:solidFill>
                <a:latin typeface="Consolas" panose="020B0609020204030204" pitchFamily="49" charset="0"/>
              </a:rPr>
              <a:t>favorite_food</a:t>
            </a:r>
            <a:r>
              <a:rPr lang="en-US" altLang="en-US" sz="1600" dirty="0">
                <a:solidFill>
                  <a:srgbClr val="000000"/>
                </a:solidFill>
                <a:latin typeface="Consolas" panose="020B0609020204030204" pitchFamily="49" charset="0"/>
              </a:rPr>
              <a:t>):</a:t>
            </a:r>
            <a:br>
              <a:rPr lang="en-US" altLang="en-US" sz="1600" dirty="0">
                <a:solidFill>
                  <a:srgbClr val="000000"/>
                </a:solidFill>
                <a:latin typeface="Consolas" panose="020B0609020204030204" pitchFamily="49" charset="0"/>
              </a:rPr>
            </a:br>
            <a:r>
              <a:rPr lang="en-US" altLang="en-US" sz="1600" dirty="0">
                <a:solidFill>
                  <a:srgbClr val="000000"/>
                </a:solidFill>
                <a:latin typeface="Consolas" panose="020B0609020204030204" pitchFamily="49" charset="0"/>
              </a:rPr>
              <a:t>        </a:t>
            </a:r>
            <a:r>
              <a:rPr lang="en-US" altLang="en-US" sz="1600" dirty="0" err="1">
                <a:solidFill>
                  <a:srgbClr val="94558D"/>
                </a:solidFill>
                <a:latin typeface="Consolas" panose="020B0609020204030204" pitchFamily="49" charset="0"/>
              </a:rPr>
              <a:t>self</a:t>
            </a:r>
            <a:r>
              <a:rPr lang="en-US" altLang="en-US" sz="1600" dirty="0" err="1">
                <a:solidFill>
                  <a:srgbClr val="000000"/>
                </a:solidFill>
                <a:latin typeface="Consolas" panose="020B0609020204030204" pitchFamily="49" charset="0"/>
              </a:rPr>
              <a:t>._age</a:t>
            </a:r>
            <a:r>
              <a:rPr lang="en-US" altLang="en-US" sz="1600" dirty="0">
                <a:solidFill>
                  <a:srgbClr val="000000"/>
                </a:solidFill>
                <a:latin typeface="Consolas" panose="020B0609020204030204" pitchFamily="49" charset="0"/>
              </a:rPr>
              <a:t> = age</a:t>
            </a:r>
            <a:br>
              <a:rPr lang="en-US" altLang="en-US" sz="1600" dirty="0">
                <a:solidFill>
                  <a:srgbClr val="000000"/>
                </a:solidFill>
                <a:latin typeface="Consolas" panose="020B0609020204030204" pitchFamily="49" charset="0"/>
              </a:rPr>
            </a:br>
            <a:r>
              <a:rPr lang="en-US" altLang="en-US" sz="1600" dirty="0">
                <a:solidFill>
                  <a:srgbClr val="000000"/>
                </a:solidFill>
                <a:latin typeface="Consolas" panose="020B0609020204030204" pitchFamily="49" charset="0"/>
              </a:rPr>
              <a:t>        </a:t>
            </a:r>
            <a:r>
              <a:rPr lang="en-US" altLang="en-US" sz="1600" dirty="0" err="1">
                <a:solidFill>
                  <a:srgbClr val="94558D"/>
                </a:solidFill>
                <a:latin typeface="Consolas" panose="020B0609020204030204" pitchFamily="49" charset="0"/>
              </a:rPr>
              <a:t>self</a:t>
            </a:r>
            <a:r>
              <a:rPr lang="en-US" altLang="en-US" sz="1600" dirty="0" err="1">
                <a:solidFill>
                  <a:srgbClr val="000000"/>
                </a:solidFill>
                <a:latin typeface="Consolas" panose="020B0609020204030204" pitchFamily="49" charset="0"/>
              </a:rPr>
              <a:t>._name</a:t>
            </a:r>
            <a:r>
              <a:rPr lang="en-US" altLang="en-US" sz="1600" dirty="0">
                <a:solidFill>
                  <a:srgbClr val="000000"/>
                </a:solidFill>
                <a:latin typeface="Consolas" panose="020B0609020204030204" pitchFamily="49" charset="0"/>
              </a:rPr>
              <a:t> = name</a:t>
            </a:r>
            <a:br>
              <a:rPr lang="en-US" altLang="en-US" sz="1600" dirty="0">
                <a:solidFill>
                  <a:srgbClr val="000000"/>
                </a:solidFill>
                <a:latin typeface="Consolas" panose="020B0609020204030204" pitchFamily="49" charset="0"/>
              </a:rPr>
            </a:br>
            <a:r>
              <a:rPr lang="en-US" altLang="en-US" sz="1600" dirty="0">
                <a:solidFill>
                  <a:srgbClr val="000000"/>
                </a:solidFill>
                <a:latin typeface="Consolas" panose="020B0609020204030204" pitchFamily="49" charset="0"/>
              </a:rPr>
              <a:t>        </a:t>
            </a:r>
            <a:r>
              <a:rPr lang="en-US" altLang="en-US" sz="1600" dirty="0">
                <a:solidFill>
                  <a:srgbClr val="94558D"/>
                </a:solidFill>
                <a:latin typeface="Consolas" panose="020B0609020204030204" pitchFamily="49" charset="0"/>
              </a:rPr>
              <a:t>self</a:t>
            </a:r>
            <a:r>
              <a:rPr lang="en-US" altLang="en-US" sz="1600" dirty="0">
                <a:solidFill>
                  <a:srgbClr val="000000"/>
                </a:solidFill>
                <a:latin typeface="Consolas" panose="020B0609020204030204" pitchFamily="49" charset="0"/>
              </a:rPr>
              <a:t>._</a:t>
            </a:r>
            <a:r>
              <a:rPr lang="en-US" altLang="en-US" sz="1600" dirty="0" err="1">
                <a:solidFill>
                  <a:srgbClr val="000000"/>
                </a:solidFill>
                <a:latin typeface="Consolas" panose="020B0609020204030204" pitchFamily="49" charset="0"/>
              </a:rPr>
              <a:t>food_prefs</a:t>
            </a:r>
            <a:r>
              <a:rPr lang="en-US" altLang="en-US" sz="1600" dirty="0">
                <a:solidFill>
                  <a:srgbClr val="000000"/>
                </a:solidFill>
                <a:latin typeface="Consolas" panose="020B0609020204030204" pitchFamily="49" charset="0"/>
              </a:rPr>
              <a:t> = </a:t>
            </a:r>
            <a:r>
              <a:rPr lang="en-US" altLang="en-US" sz="1600" dirty="0" err="1">
                <a:solidFill>
                  <a:srgbClr val="000000"/>
                </a:solidFill>
                <a:latin typeface="Consolas" panose="020B0609020204030204" pitchFamily="49" charset="0"/>
              </a:rPr>
              <a:t>favorite_food</a:t>
            </a:r>
            <a:endParaRPr lang="en-US" altLang="en-US" sz="16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339392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072F4-C71F-4440-9386-55FFB65F8BE8}"/>
              </a:ext>
            </a:extLst>
          </p:cNvPr>
          <p:cNvSpPr>
            <a:spLocks noGrp="1"/>
          </p:cNvSpPr>
          <p:nvPr>
            <p:ph type="title"/>
          </p:nvPr>
        </p:nvSpPr>
        <p:spPr/>
        <p:txBody>
          <a:bodyPr/>
          <a:lstStyle/>
          <a:p>
            <a:r>
              <a:rPr lang="en-US" dirty="0"/>
              <a:t>Instance Variables?</a:t>
            </a:r>
          </a:p>
        </p:txBody>
      </p:sp>
      <p:sp>
        <p:nvSpPr>
          <p:cNvPr id="3" name="Content Placeholder 2">
            <a:extLst>
              <a:ext uri="{FF2B5EF4-FFF2-40B4-BE49-F238E27FC236}">
                <a16:creationId xmlns:a16="http://schemas.microsoft.com/office/drawing/2014/main" id="{9F599A8E-3B6E-8244-8EA9-0412B17DCBB7}"/>
              </a:ext>
            </a:extLst>
          </p:cNvPr>
          <p:cNvSpPr>
            <a:spLocks noGrp="1"/>
          </p:cNvSpPr>
          <p:nvPr>
            <p:ph idx="1"/>
          </p:nvPr>
        </p:nvSpPr>
        <p:spPr>
          <a:xfrm>
            <a:off x="1097280" y="1737360"/>
            <a:ext cx="10058400" cy="4023360"/>
          </a:xfrm>
        </p:spPr>
        <p:txBody>
          <a:bodyPr>
            <a:normAutofit/>
          </a:bodyPr>
          <a:lstStyle/>
          <a:p>
            <a:r>
              <a:rPr lang="en-US" dirty="0"/>
              <a:t>Python:</a:t>
            </a:r>
          </a:p>
          <a:p>
            <a:pPr lvl="1"/>
            <a:r>
              <a:rPr lang="en-US" sz="2800" dirty="0"/>
              <a:t>Declare our variable and assign it a value inside the __</a:t>
            </a:r>
            <a:r>
              <a:rPr lang="en-US" sz="2800" dirty="0" err="1"/>
              <a:t>init</a:t>
            </a:r>
            <a:r>
              <a:rPr lang="en-US" sz="2800" dirty="0"/>
              <a:t>__(self) method</a:t>
            </a:r>
          </a:p>
          <a:p>
            <a:pPr lvl="1"/>
            <a:r>
              <a:rPr lang="en-US" sz="2800" dirty="0"/>
              <a:t>Any variable prefaced with </a:t>
            </a:r>
            <a:r>
              <a:rPr lang="en-US" sz="2800" b="1" dirty="0">
                <a:solidFill>
                  <a:srgbClr val="FF0000"/>
                </a:solidFill>
              </a:rPr>
              <a:t>self</a:t>
            </a:r>
            <a:r>
              <a:rPr lang="en-US" sz="2800" dirty="0"/>
              <a:t> in the __</a:t>
            </a:r>
            <a:r>
              <a:rPr lang="en-US" sz="2800" dirty="0" err="1"/>
              <a:t>init</a:t>
            </a:r>
            <a:r>
              <a:rPr lang="en-US" sz="2800" dirty="0"/>
              <a:t>__(</a:t>
            </a:r>
            <a:r>
              <a:rPr lang="en-US" sz="2800" b="1" dirty="0">
                <a:solidFill>
                  <a:srgbClr val="FF0000"/>
                </a:solidFill>
              </a:rPr>
              <a:t>self</a:t>
            </a:r>
            <a:r>
              <a:rPr lang="en-US" sz="2800" dirty="0"/>
              <a:t>) method is available to every method in the class</a:t>
            </a:r>
          </a:p>
          <a:p>
            <a:pPr lvl="1"/>
            <a:r>
              <a:rPr lang="en-US" sz="2800" dirty="0"/>
              <a:t>If it is </a:t>
            </a:r>
            <a:r>
              <a:rPr lang="en-US" sz="2800" b="1" dirty="0"/>
              <a:t>not prefaced with self</a:t>
            </a:r>
            <a:r>
              <a:rPr lang="en-US" sz="2800" dirty="0"/>
              <a:t>, it is just a </a:t>
            </a:r>
            <a:r>
              <a:rPr lang="en-US" sz="2800" i="1" dirty="0">
                <a:solidFill>
                  <a:srgbClr val="0070C0"/>
                </a:solidFill>
              </a:rPr>
              <a:t>local variable</a:t>
            </a:r>
            <a:r>
              <a:rPr lang="en-US" sz="2800" dirty="0"/>
              <a:t>.</a:t>
            </a:r>
          </a:p>
          <a:p>
            <a:endParaRPr lang="en-US" dirty="0"/>
          </a:p>
        </p:txBody>
      </p:sp>
      <p:sp>
        <p:nvSpPr>
          <p:cNvPr id="4" name="TextBox 3">
            <a:extLst>
              <a:ext uri="{FF2B5EF4-FFF2-40B4-BE49-F238E27FC236}">
                <a16:creationId xmlns:a16="http://schemas.microsoft.com/office/drawing/2014/main" id="{C5EE9D9C-5331-FD3E-D6EB-4CA0786812AA}"/>
              </a:ext>
            </a:extLst>
          </p:cNvPr>
          <p:cNvSpPr txBox="1"/>
          <p:nvPr/>
        </p:nvSpPr>
        <p:spPr>
          <a:xfrm>
            <a:off x="3071973" y="4316421"/>
            <a:ext cx="6048054" cy="1815882"/>
          </a:xfrm>
          <a:prstGeom prst="rect">
            <a:avLst/>
          </a:prstGeom>
          <a:noFill/>
          <a:ln w="38100">
            <a:noFill/>
          </a:ln>
        </p:spPr>
        <p:txBody>
          <a:bodyPr wrap="square">
            <a:spAutoFit/>
          </a:bodyPr>
          <a:lstStyle/>
          <a:p>
            <a:r>
              <a:rPr lang="en-US" altLang="en-US" sz="1600" b="1" dirty="0">
                <a:solidFill>
                  <a:srgbClr val="00B050"/>
                </a:solidFill>
                <a:latin typeface="Consolas" panose="020B0609020204030204" pitchFamily="49" charset="0"/>
              </a:rPr>
              <a:t>//Python instance variables</a:t>
            </a:r>
            <a:endParaRPr lang="en-US" altLang="en-US" sz="1600" b="1" dirty="0">
              <a:solidFill>
                <a:srgbClr val="000080"/>
              </a:solidFill>
              <a:latin typeface="Consolas" panose="020B0609020204030204" pitchFamily="49" charset="0"/>
            </a:endParaRPr>
          </a:p>
          <a:p>
            <a:r>
              <a:rPr lang="en-US" altLang="en-US" sz="1600" b="1" dirty="0">
                <a:solidFill>
                  <a:srgbClr val="000080"/>
                </a:solidFill>
                <a:latin typeface="Consolas" panose="020B0609020204030204" pitchFamily="49" charset="0"/>
              </a:rPr>
              <a:t>class </a:t>
            </a:r>
            <a:r>
              <a:rPr lang="en-US" altLang="en-US" sz="1600" dirty="0">
                <a:solidFill>
                  <a:srgbClr val="000000"/>
                </a:solidFill>
                <a:latin typeface="Consolas" panose="020B0609020204030204" pitchFamily="49" charset="0"/>
              </a:rPr>
              <a:t>Cat:</a:t>
            </a:r>
            <a:br>
              <a:rPr lang="en-US" altLang="en-US" sz="1600" dirty="0">
                <a:solidFill>
                  <a:srgbClr val="000000"/>
                </a:solidFill>
                <a:latin typeface="Consolas" panose="020B0609020204030204" pitchFamily="49" charset="0"/>
              </a:rPr>
            </a:br>
            <a:r>
              <a:rPr lang="en-US" altLang="en-US" sz="1600" dirty="0">
                <a:solidFill>
                  <a:srgbClr val="000000"/>
                </a:solidFill>
                <a:latin typeface="Consolas" panose="020B0609020204030204" pitchFamily="49" charset="0"/>
              </a:rPr>
              <a:t>    </a:t>
            </a:r>
            <a:r>
              <a:rPr lang="en-US" altLang="en-US" sz="1600" b="1" dirty="0">
                <a:solidFill>
                  <a:srgbClr val="000080"/>
                </a:solidFill>
                <a:latin typeface="Consolas" panose="020B0609020204030204" pitchFamily="49" charset="0"/>
              </a:rPr>
              <a:t>def </a:t>
            </a:r>
            <a:r>
              <a:rPr lang="en-US" altLang="en-US" sz="1600" dirty="0">
                <a:solidFill>
                  <a:srgbClr val="B200B2"/>
                </a:solidFill>
                <a:latin typeface="Consolas" panose="020B0609020204030204" pitchFamily="49" charset="0"/>
              </a:rPr>
              <a:t>__</a:t>
            </a:r>
            <a:r>
              <a:rPr lang="en-US" altLang="en-US" sz="1600" dirty="0" err="1">
                <a:solidFill>
                  <a:srgbClr val="B200B2"/>
                </a:solidFill>
                <a:latin typeface="Consolas" panose="020B0609020204030204" pitchFamily="49" charset="0"/>
              </a:rPr>
              <a:t>init</a:t>
            </a:r>
            <a:r>
              <a:rPr lang="en-US" altLang="en-US" sz="1600" dirty="0">
                <a:solidFill>
                  <a:srgbClr val="B200B2"/>
                </a:solidFill>
                <a:latin typeface="Consolas" panose="020B0609020204030204" pitchFamily="49" charset="0"/>
              </a:rPr>
              <a:t>__</a:t>
            </a:r>
            <a:r>
              <a:rPr lang="en-US" altLang="en-US" sz="1600" dirty="0">
                <a:solidFill>
                  <a:srgbClr val="000000"/>
                </a:solidFill>
                <a:latin typeface="Consolas" panose="020B0609020204030204" pitchFamily="49" charset="0"/>
              </a:rPr>
              <a:t>(</a:t>
            </a:r>
            <a:r>
              <a:rPr lang="en-US" altLang="en-US" sz="1600" b="1" dirty="0">
                <a:solidFill>
                  <a:srgbClr val="FF0000"/>
                </a:solidFill>
                <a:latin typeface="Consolas" panose="020B0609020204030204" pitchFamily="49" charset="0"/>
              </a:rPr>
              <a:t>self</a:t>
            </a:r>
            <a:r>
              <a:rPr lang="en-US" altLang="en-US" sz="1600" dirty="0">
                <a:solidFill>
                  <a:srgbClr val="000000"/>
                </a:solidFill>
                <a:latin typeface="Consolas" panose="020B0609020204030204" pitchFamily="49" charset="0"/>
              </a:rPr>
              <a:t>, name, age, </a:t>
            </a:r>
            <a:r>
              <a:rPr lang="en-US" altLang="en-US" sz="1600" dirty="0" err="1">
                <a:solidFill>
                  <a:srgbClr val="000000"/>
                </a:solidFill>
                <a:latin typeface="Consolas" panose="020B0609020204030204" pitchFamily="49" charset="0"/>
              </a:rPr>
              <a:t>favorite_food</a:t>
            </a:r>
            <a:r>
              <a:rPr lang="en-US" altLang="en-US" sz="1600" dirty="0">
                <a:solidFill>
                  <a:srgbClr val="000000"/>
                </a:solidFill>
                <a:latin typeface="Consolas" panose="020B0609020204030204" pitchFamily="49" charset="0"/>
              </a:rPr>
              <a:t>):</a:t>
            </a:r>
            <a:br>
              <a:rPr lang="en-US" altLang="en-US" sz="1600" dirty="0">
                <a:solidFill>
                  <a:srgbClr val="000000"/>
                </a:solidFill>
                <a:latin typeface="Consolas" panose="020B0609020204030204" pitchFamily="49" charset="0"/>
              </a:rPr>
            </a:br>
            <a:r>
              <a:rPr lang="en-US" altLang="en-US" sz="1600" dirty="0">
                <a:solidFill>
                  <a:srgbClr val="000000"/>
                </a:solidFill>
                <a:latin typeface="Consolas" panose="020B0609020204030204" pitchFamily="49" charset="0"/>
              </a:rPr>
              <a:t>        </a:t>
            </a:r>
            <a:r>
              <a:rPr lang="en-US" altLang="en-US" sz="1600" dirty="0" err="1">
                <a:solidFill>
                  <a:srgbClr val="94558D"/>
                </a:solidFill>
                <a:latin typeface="Consolas" panose="020B0609020204030204" pitchFamily="49" charset="0"/>
              </a:rPr>
              <a:t>self</a:t>
            </a:r>
            <a:r>
              <a:rPr lang="en-US" altLang="en-US" sz="1600" dirty="0" err="1">
                <a:solidFill>
                  <a:srgbClr val="000000"/>
                </a:solidFill>
                <a:latin typeface="Consolas" panose="020B0609020204030204" pitchFamily="49" charset="0"/>
              </a:rPr>
              <a:t>._age</a:t>
            </a:r>
            <a:r>
              <a:rPr lang="en-US" altLang="en-US" sz="1600" dirty="0">
                <a:solidFill>
                  <a:srgbClr val="000000"/>
                </a:solidFill>
                <a:latin typeface="Consolas" panose="020B0609020204030204" pitchFamily="49" charset="0"/>
              </a:rPr>
              <a:t> = age</a:t>
            </a:r>
            <a:br>
              <a:rPr lang="en-US" altLang="en-US" sz="1600" dirty="0">
                <a:solidFill>
                  <a:srgbClr val="000000"/>
                </a:solidFill>
                <a:latin typeface="Consolas" panose="020B0609020204030204" pitchFamily="49" charset="0"/>
              </a:rPr>
            </a:br>
            <a:r>
              <a:rPr lang="en-US" altLang="en-US" sz="1600" dirty="0">
                <a:solidFill>
                  <a:srgbClr val="000000"/>
                </a:solidFill>
                <a:latin typeface="Consolas" panose="020B0609020204030204" pitchFamily="49" charset="0"/>
              </a:rPr>
              <a:t>        </a:t>
            </a:r>
            <a:r>
              <a:rPr lang="en-US" altLang="en-US" sz="1600" dirty="0" err="1">
                <a:solidFill>
                  <a:srgbClr val="94558D"/>
                </a:solidFill>
                <a:latin typeface="Consolas" panose="020B0609020204030204" pitchFamily="49" charset="0"/>
              </a:rPr>
              <a:t>self</a:t>
            </a:r>
            <a:r>
              <a:rPr lang="en-US" altLang="en-US" sz="1600" dirty="0" err="1">
                <a:solidFill>
                  <a:srgbClr val="000000"/>
                </a:solidFill>
                <a:latin typeface="Consolas" panose="020B0609020204030204" pitchFamily="49" charset="0"/>
              </a:rPr>
              <a:t>._name</a:t>
            </a:r>
            <a:r>
              <a:rPr lang="en-US" altLang="en-US" sz="1600" dirty="0">
                <a:solidFill>
                  <a:srgbClr val="000000"/>
                </a:solidFill>
                <a:latin typeface="Consolas" panose="020B0609020204030204" pitchFamily="49" charset="0"/>
              </a:rPr>
              <a:t> = name</a:t>
            </a:r>
            <a:br>
              <a:rPr lang="en-US" altLang="en-US" sz="1600" dirty="0">
                <a:solidFill>
                  <a:srgbClr val="000000"/>
                </a:solidFill>
                <a:latin typeface="Consolas" panose="020B0609020204030204" pitchFamily="49" charset="0"/>
              </a:rPr>
            </a:br>
            <a:r>
              <a:rPr lang="en-US" altLang="en-US" sz="1600" dirty="0">
                <a:solidFill>
                  <a:srgbClr val="000000"/>
                </a:solidFill>
                <a:latin typeface="Consolas" panose="020B0609020204030204" pitchFamily="49" charset="0"/>
              </a:rPr>
              <a:t>        </a:t>
            </a:r>
            <a:r>
              <a:rPr lang="en-US" altLang="en-US" sz="1600" dirty="0">
                <a:solidFill>
                  <a:srgbClr val="94558D"/>
                </a:solidFill>
                <a:latin typeface="Consolas" panose="020B0609020204030204" pitchFamily="49" charset="0"/>
              </a:rPr>
              <a:t>self</a:t>
            </a:r>
            <a:r>
              <a:rPr lang="en-US" altLang="en-US" sz="1600" dirty="0">
                <a:solidFill>
                  <a:srgbClr val="000000"/>
                </a:solidFill>
                <a:latin typeface="Consolas" panose="020B0609020204030204" pitchFamily="49" charset="0"/>
              </a:rPr>
              <a:t>._</a:t>
            </a:r>
            <a:r>
              <a:rPr lang="en-US" altLang="en-US" sz="1600" dirty="0" err="1">
                <a:solidFill>
                  <a:srgbClr val="000000"/>
                </a:solidFill>
                <a:latin typeface="Consolas" panose="020B0609020204030204" pitchFamily="49" charset="0"/>
              </a:rPr>
              <a:t>food_prefs</a:t>
            </a:r>
            <a:r>
              <a:rPr lang="en-US" altLang="en-US" sz="1600" dirty="0">
                <a:solidFill>
                  <a:srgbClr val="000000"/>
                </a:solidFill>
                <a:latin typeface="Consolas" panose="020B0609020204030204" pitchFamily="49" charset="0"/>
              </a:rPr>
              <a:t> = </a:t>
            </a:r>
            <a:r>
              <a:rPr lang="en-US" altLang="en-US" sz="1600" dirty="0" err="1">
                <a:solidFill>
                  <a:srgbClr val="000000"/>
                </a:solidFill>
                <a:latin typeface="Consolas" panose="020B0609020204030204" pitchFamily="49" charset="0"/>
              </a:rPr>
              <a:t>favorite_food</a:t>
            </a:r>
            <a:endParaRPr lang="en-US" altLang="en-US" sz="1600" dirty="0">
              <a:solidFill>
                <a:srgbClr val="000000"/>
              </a:solidFill>
              <a:latin typeface="Consolas" panose="020B0609020204030204" pitchFamily="49" charset="0"/>
            </a:endParaRPr>
          </a:p>
          <a:p>
            <a:r>
              <a:rPr lang="en-US" altLang="en-US" sz="1600" dirty="0">
                <a:solidFill>
                  <a:srgbClr val="000000"/>
                </a:solidFill>
                <a:latin typeface="Consolas" panose="020B0609020204030204" pitchFamily="49" charset="0"/>
              </a:rPr>
              <a:t>		</a:t>
            </a:r>
            <a:r>
              <a:rPr lang="en-US" altLang="en-US" sz="1600" dirty="0" err="1">
                <a:solidFill>
                  <a:srgbClr val="0070C0"/>
                </a:solidFill>
                <a:latin typeface="Consolas" panose="020B0609020204030204" pitchFamily="49" charset="0"/>
              </a:rPr>
              <a:t>another_var</a:t>
            </a:r>
            <a:r>
              <a:rPr lang="en-US" altLang="en-US" sz="1600" dirty="0">
                <a:solidFill>
                  <a:srgbClr val="000000"/>
                </a:solidFill>
                <a:latin typeface="Consolas" panose="020B0609020204030204" pitchFamily="49" charset="0"/>
              </a:rPr>
              <a:t> = 10 </a:t>
            </a:r>
            <a:r>
              <a:rPr lang="en-US" altLang="en-US" sz="1600" dirty="0">
                <a:solidFill>
                  <a:srgbClr val="00B050"/>
                </a:solidFill>
                <a:latin typeface="Consolas" panose="020B0609020204030204" pitchFamily="49" charset="0"/>
              </a:rPr>
              <a:t>#this is a local variable</a:t>
            </a:r>
          </a:p>
        </p:txBody>
      </p:sp>
    </p:spTree>
    <p:extLst>
      <p:ext uri="{BB962C8B-B14F-4D97-AF65-F5344CB8AC3E}">
        <p14:creationId xmlns:p14="http://schemas.microsoft.com/office/powerpoint/2010/main" val="41307932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072F4-C71F-4440-9386-55FFB65F8BE8}"/>
              </a:ext>
            </a:extLst>
          </p:cNvPr>
          <p:cNvSpPr>
            <a:spLocks noGrp="1"/>
          </p:cNvSpPr>
          <p:nvPr>
            <p:ph type="title"/>
          </p:nvPr>
        </p:nvSpPr>
        <p:spPr/>
        <p:txBody>
          <a:bodyPr/>
          <a:lstStyle/>
          <a:p>
            <a:r>
              <a:rPr lang="en-US" dirty="0"/>
              <a:t>Out first class!</a:t>
            </a:r>
          </a:p>
        </p:txBody>
      </p:sp>
      <p:sp>
        <p:nvSpPr>
          <p:cNvPr id="3" name="Content Placeholder 2">
            <a:extLst>
              <a:ext uri="{FF2B5EF4-FFF2-40B4-BE49-F238E27FC236}">
                <a16:creationId xmlns:a16="http://schemas.microsoft.com/office/drawing/2014/main" id="{9F599A8E-3B6E-8244-8EA9-0412B17DCBB7}"/>
              </a:ext>
            </a:extLst>
          </p:cNvPr>
          <p:cNvSpPr>
            <a:spLocks noGrp="1"/>
          </p:cNvSpPr>
          <p:nvPr>
            <p:ph idx="1"/>
          </p:nvPr>
        </p:nvSpPr>
        <p:spPr>
          <a:xfrm>
            <a:off x="860613" y="1845733"/>
            <a:ext cx="10617796" cy="4404460"/>
          </a:xfrm>
        </p:spPr>
        <p:txBody>
          <a:bodyPr>
            <a:normAutofit fontScale="92500"/>
          </a:bodyPr>
          <a:lstStyle/>
          <a:p>
            <a:r>
              <a:rPr lang="en-US" altLang="en-US" sz="2500" b="1" dirty="0">
                <a:solidFill>
                  <a:srgbClr val="000080"/>
                </a:solidFill>
                <a:latin typeface="Consolas" panose="020B0609020204030204" pitchFamily="49" charset="0"/>
              </a:rPr>
              <a:t>class </a:t>
            </a:r>
            <a:r>
              <a:rPr lang="en-US" altLang="en-US" sz="2500" dirty="0">
                <a:solidFill>
                  <a:srgbClr val="000000"/>
                </a:solidFill>
                <a:latin typeface="Consolas" panose="020B0609020204030204" pitchFamily="49" charset="0"/>
              </a:rPr>
              <a:t>Cat: </a:t>
            </a:r>
            <a:r>
              <a:rPr lang="en-US" altLang="en-US" sz="2500" dirty="0">
                <a:solidFill>
                  <a:srgbClr val="00B050"/>
                </a:solidFill>
                <a:latin typeface="Consolas" panose="020B0609020204030204" pitchFamily="49" charset="0"/>
              </a:rPr>
              <a:t>#notice the class keyword</a:t>
            </a:r>
            <a:br>
              <a:rPr lang="en-US" altLang="en-US" sz="2500" dirty="0">
                <a:solidFill>
                  <a:srgbClr val="000000"/>
                </a:solidFill>
                <a:latin typeface="Consolas" panose="020B0609020204030204" pitchFamily="49" charset="0"/>
              </a:rPr>
            </a:br>
            <a:r>
              <a:rPr lang="en-US" altLang="en-US" sz="2500" dirty="0">
                <a:solidFill>
                  <a:srgbClr val="000000"/>
                </a:solidFill>
                <a:latin typeface="Consolas" panose="020B0609020204030204" pitchFamily="49" charset="0"/>
              </a:rPr>
              <a:t>    </a:t>
            </a:r>
            <a:r>
              <a:rPr lang="en-US" altLang="en-US" sz="2500" b="1" dirty="0" err="1">
                <a:solidFill>
                  <a:srgbClr val="000080"/>
                </a:solidFill>
                <a:latin typeface="Consolas" panose="020B0609020204030204" pitchFamily="49" charset="0"/>
              </a:rPr>
              <a:t>def</a:t>
            </a:r>
            <a:r>
              <a:rPr lang="en-US" altLang="en-US" sz="2500" b="1" dirty="0">
                <a:solidFill>
                  <a:srgbClr val="000080"/>
                </a:solidFill>
                <a:latin typeface="Consolas" panose="020B0609020204030204" pitchFamily="49" charset="0"/>
              </a:rPr>
              <a:t> </a:t>
            </a:r>
            <a:r>
              <a:rPr lang="en-US" altLang="en-US" sz="2500" dirty="0">
                <a:solidFill>
                  <a:srgbClr val="B200B2"/>
                </a:solidFill>
                <a:latin typeface="Consolas" panose="020B0609020204030204" pitchFamily="49" charset="0"/>
              </a:rPr>
              <a:t>__</a:t>
            </a:r>
            <a:r>
              <a:rPr lang="en-US" altLang="en-US" sz="2500" dirty="0" err="1">
                <a:solidFill>
                  <a:srgbClr val="B200B2"/>
                </a:solidFill>
                <a:latin typeface="Consolas" panose="020B0609020204030204" pitchFamily="49" charset="0"/>
              </a:rPr>
              <a:t>init</a:t>
            </a:r>
            <a:r>
              <a:rPr lang="en-US" altLang="en-US" sz="2500" dirty="0">
                <a:solidFill>
                  <a:srgbClr val="B200B2"/>
                </a:solidFill>
                <a:latin typeface="Consolas" panose="020B0609020204030204" pitchFamily="49" charset="0"/>
              </a:rPr>
              <a:t>__</a:t>
            </a:r>
            <a:r>
              <a:rPr lang="en-US" altLang="en-US" sz="2500" dirty="0">
                <a:solidFill>
                  <a:srgbClr val="000000"/>
                </a:solidFill>
                <a:latin typeface="Consolas" panose="020B0609020204030204" pitchFamily="49" charset="0"/>
              </a:rPr>
              <a:t>(</a:t>
            </a:r>
            <a:r>
              <a:rPr lang="en-US" altLang="en-US" sz="2500" b="1" dirty="0">
                <a:solidFill>
                  <a:srgbClr val="94558D"/>
                </a:solidFill>
                <a:latin typeface="Consolas" panose="020B0609020204030204" pitchFamily="49" charset="0"/>
              </a:rPr>
              <a:t>self</a:t>
            </a:r>
            <a:r>
              <a:rPr lang="en-US" altLang="en-US" sz="2500" dirty="0">
                <a:solidFill>
                  <a:srgbClr val="000000"/>
                </a:solidFill>
                <a:latin typeface="Consolas" panose="020B0609020204030204" pitchFamily="49" charset="0"/>
              </a:rPr>
              <a:t>, name, age, </a:t>
            </a:r>
            <a:r>
              <a:rPr lang="en-US" altLang="en-US" sz="2500" dirty="0" err="1">
                <a:solidFill>
                  <a:srgbClr val="000000"/>
                </a:solidFill>
                <a:latin typeface="Consolas" panose="020B0609020204030204" pitchFamily="49" charset="0"/>
              </a:rPr>
              <a:t>favorite_food</a:t>
            </a:r>
            <a:r>
              <a:rPr lang="en-US" altLang="en-US" sz="2500" dirty="0">
                <a:solidFill>
                  <a:srgbClr val="000000"/>
                </a:solidFill>
                <a:latin typeface="Consolas" panose="020B0609020204030204" pitchFamily="49" charset="0"/>
              </a:rPr>
              <a:t>):</a:t>
            </a:r>
            <a:br>
              <a:rPr lang="en-US" altLang="en-US" sz="2500" dirty="0">
                <a:solidFill>
                  <a:srgbClr val="000000"/>
                </a:solidFill>
                <a:latin typeface="Consolas" panose="020B0609020204030204" pitchFamily="49" charset="0"/>
              </a:rPr>
            </a:br>
            <a:r>
              <a:rPr lang="en-US" altLang="en-US" sz="2500" dirty="0">
                <a:solidFill>
                  <a:srgbClr val="000000"/>
                </a:solidFill>
                <a:latin typeface="Consolas" panose="020B0609020204030204" pitchFamily="49" charset="0"/>
              </a:rPr>
              <a:t>        </a:t>
            </a:r>
            <a:r>
              <a:rPr lang="en-US" altLang="en-US" sz="2500" dirty="0" err="1">
                <a:solidFill>
                  <a:srgbClr val="94558D"/>
                </a:solidFill>
                <a:latin typeface="Consolas" panose="020B0609020204030204" pitchFamily="49" charset="0"/>
              </a:rPr>
              <a:t>self</a:t>
            </a:r>
            <a:r>
              <a:rPr lang="en-US" altLang="en-US" sz="2500" dirty="0" err="1">
                <a:solidFill>
                  <a:srgbClr val="000000"/>
                </a:solidFill>
                <a:latin typeface="Consolas" panose="020B0609020204030204" pitchFamily="49" charset="0"/>
              </a:rPr>
              <a:t>._age</a:t>
            </a:r>
            <a:r>
              <a:rPr lang="en-US" altLang="en-US" sz="2500" dirty="0">
                <a:solidFill>
                  <a:srgbClr val="000000"/>
                </a:solidFill>
                <a:latin typeface="Consolas" panose="020B0609020204030204" pitchFamily="49" charset="0"/>
              </a:rPr>
              <a:t> = age</a:t>
            </a:r>
            <a:br>
              <a:rPr lang="en-US" altLang="en-US" sz="2500" dirty="0">
                <a:solidFill>
                  <a:srgbClr val="000000"/>
                </a:solidFill>
                <a:latin typeface="Consolas" panose="020B0609020204030204" pitchFamily="49" charset="0"/>
              </a:rPr>
            </a:br>
            <a:r>
              <a:rPr lang="en-US" altLang="en-US" sz="2500" dirty="0">
                <a:solidFill>
                  <a:srgbClr val="000000"/>
                </a:solidFill>
                <a:latin typeface="Consolas" panose="020B0609020204030204" pitchFamily="49" charset="0"/>
              </a:rPr>
              <a:t>        </a:t>
            </a:r>
            <a:r>
              <a:rPr lang="en-US" altLang="en-US" sz="2500" dirty="0" err="1">
                <a:solidFill>
                  <a:srgbClr val="94558D"/>
                </a:solidFill>
                <a:latin typeface="Consolas" panose="020B0609020204030204" pitchFamily="49" charset="0"/>
              </a:rPr>
              <a:t>self</a:t>
            </a:r>
            <a:r>
              <a:rPr lang="en-US" altLang="en-US" sz="2500" dirty="0" err="1">
                <a:solidFill>
                  <a:srgbClr val="000000"/>
                </a:solidFill>
                <a:latin typeface="Consolas" panose="020B0609020204030204" pitchFamily="49" charset="0"/>
              </a:rPr>
              <a:t>._name</a:t>
            </a:r>
            <a:r>
              <a:rPr lang="en-US" altLang="en-US" sz="2500" dirty="0">
                <a:solidFill>
                  <a:srgbClr val="000000"/>
                </a:solidFill>
                <a:latin typeface="Consolas" panose="020B0609020204030204" pitchFamily="49" charset="0"/>
              </a:rPr>
              <a:t> = name</a:t>
            </a:r>
            <a:br>
              <a:rPr lang="en-US" altLang="en-US" sz="2500" dirty="0">
                <a:solidFill>
                  <a:srgbClr val="000000"/>
                </a:solidFill>
                <a:latin typeface="Consolas" panose="020B0609020204030204" pitchFamily="49" charset="0"/>
              </a:rPr>
            </a:br>
            <a:r>
              <a:rPr lang="en-US" altLang="en-US" sz="2500" dirty="0">
                <a:solidFill>
                  <a:srgbClr val="000000"/>
                </a:solidFill>
                <a:latin typeface="Consolas" panose="020B0609020204030204" pitchFamily="49" charset="0"/>
              </a:rPr>
              <a:t>        </a:t>
            </a:r>
            <a:r>
              <a:rPr lang="en-US" altLang="en-US" sz="2500" dirty="0">
                <a:solidFill>
                  <a:srgbClr val="94558D"/>
                </a:solidFill>
                <a:latin typeface="Consolas" panose="020B0609020204030204" pitchFamily="49" charset="0"/>
              </a:rPr>
              <a:t>self</a:t>
            </a:r>
            <a:r>
              <a:rPr lang="en-US" altLang="en-US" sz="2500" dirty="0">
                <a:solidFill>
                  <a:srgbClr val="000000"/>
                </a:solidFill>
                <a:latin typeface="Consolas" panose="020B0609020204030204" pitchFamily="49" charset="0"/>
              </a:rPr>
              <a:t>._</a:t>
            </a:r>
            <a:r>
              <a:rPr lang="en-US" altLang="en-US" sz="2500" dirty="0" err="1">
                <a:solidFill>
                  <a:srgbClr val="000000"/>
                </a:solidFill>
                <a:latin typeface="Consolas" panose="020B0609020204030204" pitchFamily="49" charset="0"/>
              </a:rPr>
              <a:t>food_prefs</a:t>
            </a:r>
            <a:r>
              <a:rPr lang="en-US" altLang="en-US" sz="2500" dirty="0">
                <a:solidFill>
                  <a:srgbClr val="000000"/>
                </a:solidFill>
                <a:latin typeface="Consolas" panose="020B0609020204030204" pitchFamily="49" charset="0"/>
              </a:rPr>
              <a:t> = </a:t>
            </a:r>
            <a:r>
              <a:rPr lang="en-US" altLang="en-US" sz="2500" dirty="0" err="1">
                <a:solidFill>
                  <a:srgbClr val="000000"/>
                </a:solidFill>
                <a:latin typeface="Consolas" panose="020B0609020204030204" pitchFamily="49" charset="0"/>
              </a:rPr>
              <a:t>favorite_food</a:t>
            </a:r>
            <a:endParaRPr lang="en-US" altLang="en-US" sz="2500" dirty="0">
              <a:solidFill>
                <a:srgbClr val="000000"/>
              </a:solidFill>
              <a:latin typeface="Consolas" panose="020B0609020204030204" pitchFamily="49" charset="0"/>
            </a:endParaRPr>
          </a:p>
          <a:p>
            <a:pPr marL="0" indent="0">
              <a:buNone/>
            </a:pPr>
            <a:endParaRPr lang="en-US" altLang="en-US" dirty="0">
              <a:solidFill>
                <a:srgbClr val="000000"/>
              </a:solidFill>
              <a:latin typeface="Consolas" panose="020B0609020204030204" pitchFamily="49" charset="0"/>
            </a:endParaRPr>
          </a:p>
          <a:p>
            <a:pPr marL="0" indent="0">
              <a:buNone/>
            </a:pPr>
            <a:r>
              <a:rPr lang="en-US" altLang="en-US" sz="2500" dirty="0" err="1">
                <a:solidFill>
                  <a:srgbClr val="000000"/>
                </a:solidFill>
                <a:latin typeface="Consolas" panose="020B0609020204030204" pitchFamily="49" charset="0"/>
              </a:rPr>
              <a:t>tobias</a:t>
            </a:r>
            <a:r>
              <a:rPr lang="en-US" altLang="en-US" sz="2500" dirty="0">
                <a:solidFill>
                  <a:srgbClr val="000000"/>
                </a:solidFill>
                <a:latin typeface="Consolas" panose="020B0609020204030204" pitchFamily="49" charset="0"/>
              </a:rPr>
              <a:t> = Cat(</a:t>
            </a:r>
            <a:r>
              <a:rPr lang="en-US" altLang="en-US" sz="2500" b="1" dirty="0">
                <a:solidFill>
                  <a:srgbClr val="008080"/>
                </a:solidFill>
                <a:latin typeface="Consolas" panose="020B0609020204030204" pitchFamily="49" charset="0"/>
              </a:rPr>
              <a:t>"Tobias"</a:t>
            </a:r>
            <a:r>
              <a:rPr lang="en-US" altLang="en-US" sz="2500" dirty="0">
                <a:solidFill>
                  <a:srgbClr val="000000"/>
                </a:solidFill>
                <a:latin typeface="Consolas" panose="020B0609020204030204" pitchFamily="49" charset="0"/>
              </a:rPr>
              <a:t>, </a:t>
            </a:r>
            <a:r>
              <a:rPr lang="en-US" altLang="en-US" sz="2500" dirty="0">
                <a:solidFill>
                  <a:srgbClr val="0000FF"/>
                </a:solidFill>
                <a:latin typeface="Consolas" panose="020B0609020204030204" pitchFamily="49" charset="0"/>
              </a:rPr>
              <a:t>3</a:t>
            </a:r>
            <a:r>
              <a:rPr lang="en-US" altLang="en-US" sz="2500" dirty="0">
                <a:solidFill>
                  <a:srgbClr val="000000"/>
                </a:solidFill>
                <a:latin typeface="Consolas" panose="020B0609020204030204" pitchFamily="49" charset="0"/>
              </a:rPr>
              <a:t>, [</a:t>
            </a:r>
            <a:r>
              <a:rPr lang="en-US" altLang="en-US" sz="2500" b="1" dirty="0">
                <a:solidFill>
                  <a:srgbClr val="008080"/>
                </a:solidFill>
                <a:latin typeface="Consolas" panose="020B0609020204030204" pitchFamily="49" charset="0"/>
              </a:rPr>
              <a:t>"Sushi"</a:t>
            </a:r>
            <a:r>
              <a:rPr lang="en-US" altLang="en-US" sz="2500" dirty="0">
                <a:solidFill>
                  <a:srgbClr val="000000"/>
                </a:solidFill>
                <a:latin typeface="Consolas" panose="020B0609020204030204" pitchFamily="49" charset="0"/>
              </a:rPr>
              <a:t>, </a:t>
            </a:r>
            <a:r>
              <a:rPr lang="en-US" altLang="en-US" sz="2500" b="1" dirty="0">
                <a:solidFill>
                  <a:srgbClr val="008080"/>
                </a:solidFill>
                <a:latin typeface="Consolas" panose="020B0609020204030204" pitchFamily="49" charset="0"/>
              </a:rPr>
              <a:t>"Raw fish"</a:t>
            </a:r>
            <a:r>
              <a:rPr lang="en-US" altLang="en-US" sz="2500" dirty="0">
                <a:solidFill>
                  <a:srgbClr val="000000"/>
                </a:solidFill>
                <a:latin typeface="Consolas" panose="020B0609020204030204" pitchFamily="49" charset="0"/>
              </a:rPr>
              <a:t>]) #instantiate cat</a:t>
            </a:r>
            <a:endParaRPr lang="en-US" altLang="en-US" sz="2500" dirty="0">
              <a:solidFill>
                <a:schemeClr val="tx1"/>
              </a:solidFill>
              <a:latin typeface="Arial" panose="020B0604020202020204" pitchFamily="34" charset="0"/>
            </a:endParaRPr>
          </a:p>
          <a:p>
            <a:r>
              <a:rPr lang="en-US" sz="2400" dirty="0"/>
              <a:t>Notice the </a:t>
            </a:r>
            <a:r>
              <a:rPr lang="en-US" sz="2400" b="1" dirty="0"/>
              <a:t>self</a:t>
            </a:r>
            <a:r>
              <a:rPr lang="en-US" sz="2400" dirty="0"/>
              <a:t> parameter. All class methods need a self parameter, but it’s not explicitly passed as a parameter when instantiating/calling methods</a:t>
            </a:r>
          </a:p>
          <a:p>
            <a:r>
              <a:rPr lang="en-US" sz="2400" dirty="0"/>
              <a:t>Notice we didn’t define _age, _name, _</a:t>
            </a:r>
            <a:r>
              <a:rPr lang="en-US" sz="2400" dirty="0" err="1"/>
              <a:t>food_prefs</a:t>
            </a:r>
            <a:r>
              <a:rPr lang="en-US" sz="2400" dirty="0"/>
              <a:t> class variables above the </a:t>
            </a:r>
            <a:r>
              <a:rPr lang="en-US" sz="2400" dirty="0" err="1"/>
              <a:t>init</a:t>
            </a:r>
            <a:endParaRPr lang="en-US" sz="2400" dirty="0"/>
          </a:p>
          <a:p>
            <a:r>
              <a:rPr lang="en-US" sz="2400" dirty="0"/>
              <a:t>Declaring them inside the __</a:t>
            </a:r>
            <a:r>
              <a:rPr lang="en-US" sz="2400" dirty="0" err="1"/>
              <a:t>init</a:t>
            </a:r>
            <a:r>
              <a:rPr lang="en-US" sz="2400" dirty="0"/>
              <a:t>__ is our way of declaring the instance variables</a:t>
            </a:r>
          </a:p>
        </p:txBody>
      </p:sp>
      <p:sp>
        <p:nvSpPr>
          <p:cNvPr id="4" name="Rectangle 1"/>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7" name="Straight Arrow Connector 6"/>
          <p:cNvCxnSpPr/>
          <p:nvPr/>
        </p:nvCxnSpPr>
        <p:spPr>
          <a:xfrm flipV="1">
            <a:off x="3657600" y="2538805"/>
            <a:ext cx="1258645" cy="1473797"/>
          </a:xfrm>
          <a:prstGeom prst="straightConnector1">
            <a:avLst/>
          </a:prstGeom>
          <a:ln w="38100">
            <a:solidFill>
              <a:srgbClr val="00B0F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4668819" y="2538806"/>
            <a:ext cx="1226371" cy="1509157"/>
          </a:xfrm>
          <a:prstGeom prst="straightConnector1">
            <a:avLst/>
          </a:prstGeom>
          <a:ln w="38100">
            <a:solidFill>
              <a:srgbClr val="00B0F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6540648" y="2574167"/>
            <a:ext cx="1070384" cy="1473796"/>
          </a:xfrm>
          <a:prstGeom prst="straightConnector1">
            <a:avLst/>
          </a:prstGeom>
          <a:ln w="38100">
            <a:solidFill>
              <a:srgbClr val="00B0F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229111" y="4047963"/>
            <a:ext cx="3000488" cy="0"/>
          </a:xfrm>
          <a:prstGeom prst="line">
            <a:avLst/>
          </a:prstGeom>
          <a:ln w="38100">
            <a:solidFill>
              <a:srgbClr val="00B0F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5969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D0500-878C-F74D-A985-F5E21D9C085E}"/>
              </a:ext>
            </a:extLst>
          </p:cNvPr>
          <p:cNvSpPr>
            <a:spLocks noGrp="1"/>
          </p:cNvSpPr>
          <p:nvPr>
            <p:ph type="title"/>
          </p:nvPr>
        </p:nvSpPr>
        <p:spPr/>
        <p:txBody>
          <a:bodyPr/>
          <a:lstStyle/>
          <a:p>
            <a:r>
              <a:rPr lang="en-US" dirty="0"/>
              <a:t>What about visibility?</a:t>
            </a:r>
          </a:p>
        </p:txBody>
      </p:sp>
      <p:sp>
        <p:nvSpPr>
          <p:cNvPr id="4" name="Content Placeholder 2">
            <a:extLst>
              <a:ext uri="{FF2B5EF4-FFF2-40B4-BE49-F238E27FC236}">
                <a16:creationId xmlns:a16="http://schemas.microsoft.com/office/drawing/2014/main" id="{BF80B23B-3506-514E-BDB1-F94EE613143D}"/>
              </a:ext>
            </a:extLst>
          </p:cNvPr>
          <p:cNvSpPr>
            <a:spLocks noGrp="1"/>
          </p:cNvSpPr>
          <p:nvPr>
            <p:ph idx="1"/>
          </p:nvPr>
        </p:nvSpPr>
        <p:spPr>
          <a:xfrm>
            <a:off x="838200" y="1825625"/>
            <a:ext cx="10515600" cy="4351338"/>
          </a:xfrm>
        </p:spPr>
        <p:txBody>
          <a:bodyPr/>
          <a:lstStyle/>
          <a:p>
            <a:r>
              <a:rPr lang="en-US" dirty="0"/>
              <a:t>There are no access or visibility modifiers in Python</a:t>
            </a:r>
          </a:p>
          <a:p>
            <a:r>
              <a:rPr lang="en-US" dirty="0"/>
              <a:t>Everything in scope is always visible and transparent</a:t>
            </a:r>
          </a:p>
          <a:p>
            <a:pPr lvl="1"/>
            <a:endParaRPr lang="en-US" sz="3600" dirty="0"/>
          </a:p>
          <a:p>
            <a:pPr lvl="1"/>
            <a:r>
              <a:rPr lang="en-US" sz="3600" dirty="0"/>
              <a:t>Private</a:t>
            </a:r>
          </a:p>
          <a:p>
            <a:pPr lvl="1"/>
            <a:r>
              <a:rPr lang="en-US" sz="3600" dirty="0"/>
              <a:t>Package default</a:t>
            </a:r>
          </a:p>
          <a:p>
            <a:pPr lvl="1"/>
            <a:r>
              <a:rPr lang="en-US" sz="3600" dirty="0"/>
              <a:t>Protected</a:t>
            </a:r>
          </a:p>
          <a:p>
            <a:pPr lvl="1"/>
            <a:r>
              <a:rPr lang="en-US" sz="3600" dirty="0"/>
              <a:t>Everything is public always and forever.</a:t>
            </a:r>
          </a:p>
        </p:txBody>
      </p:sp>
      <p:sp>
        <p:nvSpPr>
          <p:cNvPr id="5" name="&quot;No&quot; Symbol 4">
            <a:extLst>
              <a:ext uri="{FF2B5EF4-FFF2-40B4-BE49-F238E27FC236}">
                <a16:creationId xmlns:a16="http://schemas.microsoft.com/office/drawing/2014/main" id="{70714CF9-E3BF-E14C-98A8-489DF9DA71E1}"/>
              </a:ext>
            </a:extLst>
          </p:cNvPr>
          <p:cNvSpPr/>
          <p:nvPr/>
        </p:nvSpPr>
        <p:spPr>
          <a:xfrm>
            <a:off x="2058820" y="3262745"/>
            <a:ext cx="540000" cy="540000"/>
          </a:xfrm>
          <a:prstGeom prst="noSmoking">
            <a:avLst/>
          </a:prstGeom>
          <a:solidFill>
            <a:srgbClr val="C000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quot;No&quot; Symbol 5">
            <a:extLst>
              <a:ext uri="{FF2B5EF4-FFF2-40B4-BE49-F238E27FC236}">
                <a16:creationId xmlns:a16="http://schemas.microsoft.com/office/drawing/2014/main" id="{62E2FEEB-D2A3-CA44-B63C-8D43530D617F}"/>
              </a:ext>
            </a:extLst>
          </p:cNvPr>
          <p:cNvSpPr/>
          <p:nvPr/>
        </p:nvSpPr>
        <p:spPr>
          <a:xfrm>
            <a:off x="2058820" y="3837474"/>
            <a:ext cx="540000" cy="540000"/>
          </a:xfrm>
          <a:prstGeom prst="noSmoking">
            <a:avLst/>
          </a:prstGeom>
          <a:solidFill>
            <a:srgbClr val="C000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quot;No&quot; Symbol 6">
            <a:extLst>
              <a:ext uri="{FF2B5EF4-FFF2-40B4-BE49-F238E27FC236}">
                <a16:creationId xmlns:a16="http://schemas.microsoft.com/office/drawing/2014/main" id="{FFC656EA-DAF1-5444-981B-828BFC6D879C}"/>
              </a:ext>
            </a:extLst>
          </p:cNvPr>
          <p:cNvSpPr/>
          <p:nvPr/>
        </p:nvSpPr>
        <p:spPr>
          <a:xfrm>
            <a:off x="2058820" y="4412204"/>
            <a:ext cx="540000" cy="540000"/>
          </a:xfrm>
          <a:prstGeom prst="noSmoking">
            <a:avLst/>
          </a:prstGeom>
          <a:solidFill>
            <a:srgbClr val="C00000">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181754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DFBFD-6735-4A46-9D31-C0DC5BA64378}"/>
              </a:ext>
            </a:extLst>
          </p:cNvPr>
          <p:cNvSpPr>
            <a:spLocks noGrp="1"/>
          </p:cNvSpPr>
          <p:nvPr>
            <p:ph type="title"/>
          </p:nvPr>
        </p:nvSpPr>
        <p:spPr/>
        <p:txBody>
          <a:bodyPr/>
          <a:lstStyle/>
          <a:p>
            <a:r>
              <a:rPr lang="en-US" dirty="0"/>
              <a:t>And that works?</a:t>
            </a:r>
          </a:p>
        </p:txBody>
      </p:sp>
      <p:sp>
        <p:nvSpPr>
          <p:cNvPr id="3" name="Content Placeholder 2">
            <a:extLst>
              <a:ext uri="{FF2B5EF4-FFF2-40B4-BE49-F238E27FC236}">
                <a16:creationId xmlns:a16="http://schemas.microsoft.com/office/drawing/2014/main" id="{86D4E250-F196-B743-BEAB-0EBCDC1E3EBD}"/>
              </a:ext>
            </a:extLst>
          </p:cNvPr>
          <p:cNvSpPr>
            <a:spLocks noGrp="1"/>
          </p:cNvSpPr>
          <p:nvPr>
            <p:ph idx="1"/>
          </p:nvPr>
        </p:nvSpPr>
        <p:spPr>
          <a:xfrm>
            <a:off x="5888736" y="2798064"/>
            <a:ext cx="5266944" cy="3071030"/>
          </a:xfrm>
        </p:spPr>
        <p:txBody>
          <a:bodyPr>
            <a:normAutofit/>
          </a:bodyPr>
          <a:lstStyle/>
          <a:p>
            <a:r>
              <a:rPr lang="en-US" dirty="0"/>
              <a:t>Yes!</a:t>
            </a:r>
          </a:p>
          <a:p>
            <a:r>
              <a:rPr lang="en-US" dirty="0"/>
              <a:t>Access modifiers are not Pythonic. Python provides unenforced guidelines and best practices and trusts you not to misuse this.</a:t>
            </a:r>
          </a:p>
          <a:p>
            <a:r>
              <a:rPr lang="en-US" dirty="0"/>
              <a:t>Python developers </a:t>
            </a:r>
            <a:r>
              <a:rPr lang="en-US" b="1" i="1" u="sng" dirty="0"/>
              <a:t>trust</a:t>
            </a:r>
            <a:r>
              <a:rPr lang="en-US" dirty="0"/>
              <a:t> other programmers to stick to the rules and use good OOP approaches.</a:t>
            </a:r>
          </a:p>
          <a:p>
            <a:endParaRPr lang="en-US" dirty="0"/>
          </a:p>
          <a:p>
            <a:endParaRPr lang="en-US" dirty="0"/>
          </a:p>
          <a:p>
            <a:endParaRPr lang="en-US" dirty="0"/>
          </a:p>
        </p:txBody>
      </p:sp>
      <p:pic>
        <p:nvPicPr>
          <p:cNvPr id="5" name="Picture 2" descr="Image result for spider man with great power">
            <a:extLst>
              <a:ext uri="{FF2B5EF4-FFF2-40B4-BE49-F238E27FC236}">
                <a16:creationId xmlns:a16="http://schemas.microsoft.com/office/drawing/2014/main" id="{8291A93E-7B66-4273-8529-A0C142695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384" y="1929343"/>
            <a:ext cx="4048125" cy="4048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343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28AA9-AB9F-471E-8B8E-7F4E2FD05A8C}"/>
              </a:ext>
            </a:extLst>
          </p:cNvPr>
          <p:cNvSpPr>
            <a:spLocks noGrp="1"/>
          </p:cNvSpPr>
          <p:nvPr>
            <p:ph type="title"/>
          </p:nvPr>
        </p:nvSpPr>
        <p:spPr/>
        <p:txBody>
          <a:bodyPr/>
          <a:lstStyle/>
          <a:p>
            <a:r>
              <a:rPr lang="en-US" dirty="0"/>
              <a:t>There Is A Standard!</a:t>
            </a:r>
            <a:endParaRPr lang="en-CA" dirty="0"/>
          </a:p>
        </p:txBody>
      </p:sp>
      <p:sp>
        <p:nvSpPr>
          <p:cNvPr id="3" name="Content Placeholder 2">
            <a:extLst>
              <a:ext uri="{FF2B5EF4-FFF2-40B4-BE49-F238E27FC236}">
                <a16:creationId xmlns:a16="http://schemas.microsoft.com/office/drawing/2014/main" id="{75AD345C-A6D2-4016-8000-64488E22ED06}"/>
              </a:ext>
            </a:extLst>
          </p:cNvPr>
          <p:cNvSpPr>
            <a:spLocks noGrp="1"/>
          </p:cNvSpPr>
          <p:nvPr>
            <p:ph idx="1"/>
          </p:nvPr>
        </p:nvSpPr>
        <p:spPr>
          <a:xfrm>
            <a:off x="1097280" y="1845734"/>
            <a:ext cx="6839712" cy="4023360"/>
          </a:xfrm>
        </p:spPr>
        <p:txBody>
          <a:bodyPr>
            <a:normAutofit fontScale="92500" lnSpcReduction="10000"/>
          </a:bodyPr>
          <a:lstStyle/>
          <a:p>
            <a:r>
              <a:rPr lang="en-US" dirty="0"/>
              <a:t>Developers still need to communicate that it is not safe to access certain attributes in a class/object.</a:t>
            </a:r>
          </a:p>
          <a:p>
            <a:endParaRPr lang="en-US" dirty="0"/>
          </a:p>
          <a:p>
            <a:pPr marL="0" indent="0">
              <a:buNone/>
            </a:pPr>
            <a:r>
              <a:rPr lang="en-US" dirty="0"/>
              <a:t>Single Underscore</a:t>
            </a:r>
          </a:p>
          <a:p>
            <a:pPr marL="0" indent="0">
              <a:buNone/>
            </a:pPr>
            <a:r>
              <a:rPr lang="en-US" dirty="0">
                <a:latin typeface="Courier" pitchFamily="2" charset="0"/>
              </a:rPr>
              <a:t>class Cat:</a:t>
            </a:r>
          </a:p>
          <a:p>
            <a:pPr marL="0" indent="0">
              <a:buNone/>
            </a:pPr>
            <a:r>
              <a:rPr lang="en-US" dirty="0">
                <a:latin typeface="Courier" pitchFamily="2" charset="0"/>
              </a:rPr>
              <a:t>    def __</a:t>
            </a:r>
            <a:r>
              <a:rPr lang="en-US" dirty="0" err="1">
                <a:latin typeface="Courier" pitchFamily="2" charset="0"/>
              </a:rPr>
              <a:t>init</a:t>
            </a:r>
            <a:r>
              <a:rPr lang="en-US" dirty="0">
                <a:latin typeface="Courier" pitchFamily="2" charset="0"/>
              </a:rPr>
              <a:t>__(self, age):</a:t>
            </a:r>
          </a:p>
          <a:p>
            <a:pPr marL="0" indent="0">
              <a:buNone/>
            </a:pPr>
            <a:r>
              <a:rPr lang="en-US" dirty="0">
                <a:latin typeface="Courier" pitchFamily="2" charset="0"/>
              </a:rPr>
              <a:t>        </a:t>
            </a:r>
            <a:r>
              <a:rPr lang="en-US" dirty="0" err="1">
                <a:latin typeface="Courier" pitchFamily="2" charset="0"/>
              </a:rPr>
              <a:t>self.</a:t>
            </a:r>
            <a:r>
              <a:rPr lang="en-US" sz="2700" b="1" dirty="0" err="1">
                <a:solidFill>
                  <a:srgbClr val="FF0000"/>
                </a:solidFill>
                <a:latin typeface="Courier" pitchFamily="2" charset="0"/>
              </a:rPr>
              <a:t>_</a:t>
            </a:r>
            <a:r>
              <a:rPr lang="en-US" dirty="0" err="1">
                <a:latin typeface="Courier" pitchFamily="2" charset="0"/>
              </a:rPr>
              <a:t>age</a:t>
            </a:r>
            <a:r>
              <a:rPr lang="en-US" dirty="0">
                <a:latin typeface="Courier" pitchFamily="2" charset="0"/>
              </a:rPr>
              <a:t> = age</a:t>
            </a:r>
          </a:p>
          <a:p>
            <a:endParaRPr lang="en-US" dirty="0"/>
          </a:p>
          <a:p>
            <a:pPr marL="0" indent="0">
              <a:buNone/>
            </a:pPr>
            <a:r>
              <a:rPr lang="en-US" dirty="0"/>
              <a:t>A </a:t>
            </a:r>
            <a:r>
              <a:rPr lang="en-US" dirty="0">
                <a:solidFill>
                  <a:srgbClr val="FF0000"/>
                </a:solidFill>
              </a:rPr>
              <a:t>single underscore </a:t>
            </a:r>
            <a:r>
              <a:rPr lang="en-US" dirty="0"/>
              <a:t>communicates to other developers that they should ideally not be touching this variable and modifying it is not recommended.</a:t>
            </a:r>
            <a:endParaRPr lang="en-US" dirty="0">
              <a:latin typeface="Courier" pitchFamily="2" charset="0"/>
            </a:endParaRPr>
          </a:p>
          <a:p>
            <a:endParaRPr lang="en-US" dirty="0"/>
          </a:p>
        </p:txBody>
      </p:sp>
      <p:pic>
        <p:nvPicPr>
          <p:cNvPr id="6146" name="Picture 2" descr="Image result for warning">
            <a:extLst>
              <a:ext uri="{FF2B5EF4-FFF2-40B4-BE49-F238E27FC236}">
                <a16:creationId xmlns:a16="http://schemas.microsoft.com/office/drawing/2014/main" id="{3BEEA50E-4BD0-4A2A-AFD5-7CB09C30DA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6992" y="2095289"/>
            <a:ext cx="3810000" cy="3524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27023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C9B8D-D57A-48D4-9540-0657AF313B85}"/>
              </a:ext>
            </a:extLst>
          </p:cNvPr>
          <p:cNvSpPr>
            <a:spLocks noGrp="1"/>
          </p:cNvSpPr>
          <p:nvPr>
            <p:ph type="title"/>
          </p:nvPr>
        </p:nvSpPr>
        <p:spPr/>
        <p:txBody>
          <a:bodyPr/>
          <a:lstStyle/>
          <a:p>
            <a:r>
              <a:rPr lang="en-US" dirty="0"/>
              <a:t>Double Underscores and Name Mangling</a:t>
            </a:r>
            <a:endParaRPr lang="en-CA" dirty="0"/>
          </a:p>
        </p:txBody>
      </p:sp>
      <p:sp>
        <p:nvSpPr>
          <p:cNvPr id="3" name="Content Placeholder 2">
            <a:extLst>
              <a:ext uri="{FF2B5EF4-FFF2-40B4-BE49-F238E27FC236}">
                <a16:creationId xmlns:a16="http://schemas.microsoft.com/office/drawing/2014/main" id="{FCAF1D84-E969-4393-8933-7460BDFD3FA5}"/>
              </a:ext>
            </a:extLst>
          </p:cNvPr>
          <p:cNvSpPr>
            <a:spLocks noGrp="1"/>
          </p:cNvSpPr>
          <p:nvPr>
            <p:ph idx="1"/>
          </p:nvPr>
        </p:nvSpPr>
        <p:spPr>
          <a:xfrm>
            <a:off x="259080" y="1845734"/>
            <a:ext cx="7516368" cy="4305300"/>
          </a:xfrm>
        </p:spPr>
        <p:txBody>
          <a:bodyPr>
            <a:normAutofit fontScale="85000" lnSpcReduction="20000"/>
          </a:bodyPr>
          <a:lstStyle/>
          <a:p>
            <a:pPr marL="0" indent="0">
              <a:buNone/>
            </a:pPr>
            <a:r>
              <a:rPr lang="en-US" dirty="0"/>
              <a:t>A variable name prefaced with </a:t>
            </a:r>
            <a:r>
              <a:rPr lang="en-US" dirty="0">
                <a:solidFill>
                  <a:srgbClr val="FF0000"/>
                </a:solidFill>
              </a:rPr>
              <a:t>double underscores </a:t>
            </a:r>
            <a:r>
              <a:rPr lang="en-US" dirty="0"/>
              <a:t>(</a:t>
            </a:r>
            <a:r>
              <a:rPr lang="en-US" dirty="0" err="1"/>
              <a:t>Dunder</a:t>
            </a:r>
            <a:r>
              <a:rPr lang="en-US" dirty="0"/>
              <a:t>) is a way of saying “STAY AWAY”. </a:t>
            </a:r>
          </a:p>
          <a:p>
            <a:pPr marL="0" indent="0">
              <a:buNone/>
            </a:pPr>
            <a:r>
              <a:rPr lang="en-US" dirty="0"/>
              <a:t>Python makes it difficult to access this variable through </a:t>
            </a:r>
            <a:r>
              <a:rPr lang="en-US" b="1" u="sng" dirty="0"/>
              <a:t>Name Mangling</a:t>
            </a:r>
            <a:r>
              <a:rPr lang="en-US" dirty="0"/>
              <a:t> , that means you can only access it by prefacing it with the class names and some more underscores.</a:t>
            </a:r>
          </a:p>
          <a:p>
            <a:pPr marL="0" indent="0">
              <a:buNone/>
            </a:pPr>
            <a:r>
              <a:rPr lang="en-US" b="1" u="sng" dirty="0"/>
              <a:t>Since it’s a bother to access the variables developers are discouraged from detecting them and going near them.</a:t>
            </a:r>
          </a:p>
          <a:p>
            <a:pPr marL="0" indent="0">
              <a:buNone/>
            </a:pPr>
            <a:r>
              <a:rPr lang="en-US" dirty="0">
                <a:latin typeface="Courier" pitchFamily="2" charset="0"/>
              </a:rPr>
              <a:t>class Cat:</a:t>
            </a:r>
          </a:p>
          <a:p>
            <a:pPr marL="0" indent="0">
              <a:buNone/>
            </a:pPr>
            <a:r>
              <a:rPr lang="en-US" dirty="0">
                <a:latin typeface="Courier" pitchFamily="2" charset="0"/>
              </a:rPr>
              <a:t>    def __</a:t>
            </a:r>
            <a:r>
              <a:rPr lang="en-US" dirty="0" err="1">
                <a:latin typeface="Courier" pitchFamily="2" charset="0"/>
              </a:rPr>
              <a:t>init</a:t>
            </a:r>
            <a:r>
              <a:rPr lang="en-US" dirty="0">
                <a:latin typeface="Courier" pitchFamily="2" charset="0"/>
              </a:rPr>
              <a:t>__(self, age):</a:t>
            </a:r>
          </a:p>
          <a:p>
            <a:pPr marL="0" indent="0">
              <a:buNone/>
            </a:pPr>
            <a:r>
              <a:rPr lang="en-US" dirty="0">
                <a:latin typeface="Courier" pitchFamily="2" charset="0"/>
              </a:rPr>
              <a:t>        </a:t>
            </a:r>
            <a:r>
              <a:rPr lang="en-US" dirty="0" err="1">
                <a:latin typeface="Courier" pitchFamily="2" charset="0"/>
              </a:rPr>
              <a:t>self.</a:t>
            </a:r>
            <a:r>
              <a:rPr lang="en-US" b="1" dirty="0" err="1">
                <a:solidFill>
                  <a:srgbClr val="FF0000"/>
                </a:solidFill>
                <a:latin typeface="Courier" pitchFamily="2" charset="0"/>
              </a:rPr>
              <a:t>__</a:t>
            </a:r>
            <a:r>
              <a:rPr lang="en-US" dirty="0" err="1">
                <a:latin typeface="Courier" pitchFamily="2" charset="0"/>
              </a:rPr>
              <a:t>age</a:t>
            </a:r>
            <a:r>
              <a:rPr lang="en-US" dirty="0">
                <a:latin typeface="Courier" pitchFamily="2" charset="0"/>
              </a:rPr>
              <a:t> = age</a:t>
            </a:r>
          </a:p>
          <a:p>
            <a:pPr marL="0" indent="0">
              <a:buNone/>
            </a:pPr>
            <a:r>
              <a:rPr lang="en-US" dirty="0">
                <a:latin typeface="Courier" pitchFamily="2" charset="0"/>
              </a:rPr>
              <a:t>…</a:t>
            </a:r>
          </a:p>
          <a:p>
            <a:pPr marL="0" indent="0">
              <a:buNone/>
            </a:pPr>
            <a:r>
              <a:rPr lang="en-US" dirty="0" err="1">
                <a:latin typeface="Courier" pitchFamily="2" charset="0"/>
              </a:rPr>
              <a:t>my_cat</a:t>
            </a:r>
            <a:r>
              <a:rPr lang="en-US" dirty="0">
                <a:latin typeface="Courier" pitchFamily="2" charset="0"/>
              </a:rPr>
              <a:t> = Cat(10)</a:t>
            </a:r>
          </a:p>
          <a:p>
            <a:pPr marL="0" indent="0">
              <a:buNone/>
            </a:pPr>
            <a:r>
              <a:rPr lang="en-US" dirty="0" err="1">
                <a:latin typeface="Courier" pitchFamily="2" charset="0"/>
              </a:rPr>
              <a:t>my_cat.age</a:t>
            </a:r>
            <a:r>
              <a:rPr lang="en-US" dirty="0">
                <a:latin typeface="Courier" pitchFamily="2" charset="0"/>
              </a:rPr>
              <a:t> = 5 #doesn’t change cat __age</a:t>
            </a:r>
          </a:p>
          <a:p>
            <a:pPr marL="0" indent="0">
              <a:buNone/>
            </a:pPr>
            <a:r>
              <a:rPr lang="en-US" dirty="0" err="1">
                <a:latin typeface="Courier" pitchFamily="2" charset="0"/>
              </a:rPr>
              <a:t>my_cat._Cat__age</a:t>
            </a:r>
            <a:r>
              <a:rPr lang="en-US" dirty="0">
                <a:latin typeface="Courier" pitchFamily="2" charset="0"/>
              </a:rPr>
              <a:t> = 5 # Okay, but not good form</a:t>
            </a:r>
          </a:p>
          <a:p>
            <a:pPr marL="0" indent="0">
              <a:buNone/>
            </a:pPr>
            <a:endParaRPr lang="en-US" b="1" u="sng" dirty="0"/>
          </a:p>
        </p:txBody>
      </p:sp>
      <p:pic>
        <p:nvPicPr>
          <p:cNvPr id="7170" name="Picture 2" descr="Image result for dont feed the animals funny">
            <a:extLst>
              <a:ext uri="{FF2B5EF4-FFF2-40B4-BE49-F238E27FC236}">
                <a16:creationId xmlns:a16="http://schemas.microsoft.com/office/drawing/2014/main" id="{134A10AF-8830-4DB7-B15B-50430C05CC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5448" y="1845734"/>
            <a:ext cx="3810000" cy="4305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87019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D7D72-6CE0-6946-A47C-AA51190160E4}"/>
              </a:ext>
            </a:extLst>
          </p:cNvPr>
          <p:cNvSpPr>
            <a:spLocks noGrp="1"/>
          </p:cNvSpPr>
          <p:nvPr>
            <p:ph type="title"/>
          </p:nvPr>
        </p:nvSpPr>
        <p:spPr/>
        <p:txBody>
          <a:bodyPr/>
          <a:lstStyle/>
          <a:p>
            <a:r>
              <a:rPr lang="en-US" dirty="0"/>
              <a:t>Special method #2: __</a:t>
            </a:r>
            <a:r>
              <a:rPr lang="en-US" dirty="0" err="1"/>
              <a:t>repr</a:t>
            </a:r>
            <a:r>
              <a:rPr lang="en-US" dirty="0"/>
              <a:t>__(self)</a:t>
            </a:r>
          </a:p>
        </p:txBody>
      </p:sp>
      <p:sp>
        <p:nvSpPr>
          <p:cNvPr id="3" name="Content Placeholder 2">
            <a:extLst>
              <a:ext uri="{FF2B5EF4-FFF2-40B4-BE49-F238E27FC236}">
                <a16:creationId xmlns:a16="http://schemas.microsoft.com/office/drawing/2014/main" id="{B622ABE5-91FE-CD48-A61C-6D2BE8829B4D}"/>
              </a:ext>
            </a:extLst>
          </p:cNvPr>
          <p:cNvSpPr>
            <a:spLocks noGrp="1"/>
          </p:cNvSpPr>
          <p:nvPr>
            <p:ph idx="1"/>
          </p:nvPr>
        </p:nvSpPr>
        <p:spPr/>
        <p:txBody>
          <a:bodyPr>
            <a:normAutofit/>
          </a:bodyPr>
          <a:lstStyle/>
          <a:p>
            <a:pPr marL="0" indent="0">
              <a:buNone/>
            </a:pPr>
            <a:r>
              <a:rPr lang="en-US" dirty="0"/>
              <a:t>__</a:t>
            </a:r>
            <a:r>
              <a:rPr lang="en-US" dirty="0" err="1"/>
              <a:t>repr</a:t>
            </a:r>
            <a:r>
              <a:rPr lang="en-US" dirty="0"/>
              <a:t>__(self)</a:t>
            </a:r>
          </a:p>
          <a:p>
            <a:r>
              <a:rPr lang="en-US" dirty="0"/>
              <a:t>Is the same as Java’s </a:t>
            </a:r>
            <a:r>
              <a:rPr lang="en-US" dirty="0" err="1"/>
              <a:t>toString</a:t>
            </a:r>
            <a:endParaRPr lang="en-US" dirty="0"/>
          </a:p>
          <a:p>
            <a:r>
              <a:rPr lang="en-US" dirty="0"/>
              <a:t>Should contain unambiguous information about the current state of the object</a:t>
            </a:r>
          </a:p>
          <a:p>
            <a:r>
              <a:rPr lang="en-US" dirty="0"/>
              <a:t>Is implicitly called when we pass an object to the print( ) function</a:t>
            </a:r>
          </a:p>
          <a:p>
            <a:r>
              <a:rPr lang="en-US" dirty="0"/>
              <a:t>This is really for developers’ eyes</a:t>
            </a:r>
          </a:p>
          <a:p>
            <a:r>
              <a:rPr lang="en-US" dirty="0"/>
              <a:t>Think of the information that should be in a log file</a:t>
            </a:r>
          </a:p>
          <a:p>
            <a:r>
              <a:rPr lang="en-US" dirty="0"/>
              <a:t>Method returns a string</a:t>
            </a:r>
          </a:p>
          <a:p>
            <a:r>
              <a:rPr lang="en-US" dirty="0">
                <a:solidFill>
                  <a:srgbClr val="00B050"/>
                </a:solidFill>
              </a:rPr>
              <a:t>“</a:t>
            </a:r>
            <a:r>
              <a:rPr lang="en-CA" dirty="0">
                <a:solidFill>
                  <a:srgbClr val="00B050"/>
                </a:solidFill>
              </a:rPr>
              <a:t>name: Tobias age: 3 </a:t>
            </a:r>
            <a:r>
              <a:rPr lang="en-CA" dirty="0" err="1">
                <a:solidFill>
                  <a:srgbClr val="00B050"/>
                </a:solidFill>
              </a:rPr>
              <a:t>food_prefs</a:t>
            </a:r>
            <a:r>
              <a:rPr lang="en-CA" dirty="0">
                <a:solidFill>
                  <a:srgbClr val="00B050"/>
                </a:solidFill>
              </a:rPr>
              <a:t>: ['Sushi', 'Raw fish'], </a:t>
            </a:r>
            <a:r>
              <a:rPr lang="en-CA" dirty="0" err="1">
                <a:solidFill>
                  <a:srgbClr val="00B050"/>
                </a:solidFill>
              </a:rPr>
              <a:t>num_lives</a:t>
            </a:r>
            <a:r>
              <a:rPr lang="en-CA" dirty="0">
                <a:solidFill>
                  <a:srgbClr val="00B050"/>
                </a:solidFill>
              </a:rPr>
              <a:t>: 9”</a:t>
            </a:r>
            <a:endParaRPr lang="en-US" dirty="0">
              <a:solidFill>
                <a:srgbClr val="00B050"/>
              </a:solidFill>
            </a:endParaRPr>
          </a:p>
          <a:p>
            <a:pPr marL="0" indent="0">
              <a:buNone/>
            </a:pPr>
            <a:endParaRPr lang="en-US" dirty="0"/>
          </a:p>
        </p:txBody>
      </p:sp>
      <p:sp>
        <p:nvSpPr>
          <p:cNvPr id="4" name="TextBox 3">
            <a:extLst>
              <a:ext uri="{FF2B5EF4-FFF2-40B4-BE49-F238E27FC236}">
                <a16:creationId xmlns:a16="http://schemas.microsoft.com/office/drawing/2014/main" id="{76AF83EE-91CB-E345-8FC5-C123A913938D}"/>
              </a:ext>
            </a:extLst>
          </p:cNvPr>
          <p:cNvSpPr txBox="1"/>
          <p:nvPr/>
        </p:nvSpPr>
        <p:spPr>
          <a:xfrm>
            <a:off x="7814495" y="5977468"/>
            <a:ext cx="3975897" cy="307777"/>
          </a:xfrm>
          <a:prstGeom prst="rect">
            <a:avLst/>
          </a:prstGeom>
          <a:noFill/>
        </p:spPr>
        <p:txBody>
          <a:bodyPr wrap="none" rtlCol="0">
            <a:spAutoFit/>
          </a:bodyPr>
          <a:lstStyle/>
          <a:p>
            <a:r>
              <a:rPr lang="en-US" sz="1400" dirty="0"/>
              <a:t>* Remember to say </a:t>
            </a:r>
            <a:r>
              <a:rPr lang="en-US" sz="1400" dirty="0" err="1"/>
              <a:t>dunder</a:t>
            </a:r>
            <a:r>
              <a:rPr lang="en-US" sz="1400" dirty="0"/>
              <a:t> for double under</a:t>
            </a:r>
          </a:p>
        </p:txBody>
      </p:sp>
    </p:spTree>
    <p:extLst>
      <p:ext uri="{BB962C8B-B14F-4D97-AF65-F5344CB8AC3E}">
        <p14:creationId xmlns:p14="http://schemas.microsoft.com/office/powerpoint/2010/main" val="11272536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D7D72-6CE0-6946-A47C-AA51190160E4}"/>
              </a:ext>
            </a:extLst>
          </p:cNvPr>
          <p:cNvSpPr>
            <a:spLocks noGrp="1"/>
          </p:cNvSpPr>
          <p:nvPr>
            <p:ph type="title"/>
          </p:nvPr>
        </p:nvSpPr>
        <p:spPr/>
        <p:txBody>
          <a:bodyPr/>
          <a:lstStyle/>
          <a:p>
            <a:r>
              <a:rPr lang="en-US" dirty="0"/>
              <a:t>Special method #3: __str__(self)</a:t>
            </a:r>
          </a:p>
        </p:txBody>
      </p:sp>
      <p:sp>
        <p:nvSpPr>
          <p:cNvPr id="3" name="Content Placeholder 2">
            <a:extLst>
              <a:ext uri="{FF2B5EF4-FFF2-40B4-BE49-F238E27FC236}">
                <a16:creationId xmlns:a16="http://schemas.microsoft.com/office/drawing/2014/main" id="{B622ABE5-91FE-CD48-A61C-6D2BE8829B4D}"/>
              </a:ext>
            </a:extLst>
          </p:cNvPr>
          <p:cNvSpPr>
            <a:spLocks noGrp="1"/>
          </p:cNvSpPr>
          <p:nvPr>
            <p:ph idx="1"/>
          </p:nvPr>
        </p:nvSpPr>
        <p:spPr/>
        <p:txBody>
          <a:bodyPr>
            <a:normAutofit/>
          </a:bodyPr>
          <a:lstStyle/>
          <a:p>
            <a:pPr marL="0" indent="0">
              <a:buNone/>
            </a:pPr>
            <a:r>
              <a:rPr lang="en-US" dirty="0"/>
              <a:t>__</a:t>
            </a:r>
            <a:r>
              <a:rPr lang="en-US" dirty="0" err="1"/>
              <a:t>str</a:t>
            </a:r>
            <a:r>
              <a:rPr lang="en-US" dirty="0"/>
              <a:t>__(self)</a:t>
            </a:r>
          </a:p>
          <a:p>
            <a:r>
              <a:rPr lang="en-US" dirty="0"/>
              <a:t>Is also the same as Java’s </a:t>
            </a:r>
            <a:r>
              <a:rPr lang="en-US" dirty="0" err="1"/>
              <a:t>toString</a:t>
            </a:r>
            <a:endParaRPr lang="en-US" dirty="0"/>
          </a:p>
          <a:p>
            <a:r>
              <a:rPr lang="en-US" dirty="0"/>
              <a:t>Should be the same as the </a:t>
            </a:r>
            <a:r>
              <a:rPr lang="en-US" dirty="0" err="1"/>
              <a:t>repr</a:t>
            </a:r>
            <a:r>
              <a:rPr lang="en-US" dirty="0"/>
              <a:t>, except perhaps a little prettier (not a single line)</a:t>
            </a:r>
          </a:p>
          <a:p>
            <a:r>
              <a:rPr lang="en-US" dirty="0"/>
              <a:t>Not required</a:t>
            </a:r>
          </a:p>
          <a:p>
            <a:r>
              <a:rPr lang="en-US" dirty="0"/>
              <a:t>If not provided, __</a:t>
            </a:r>
            <a:r>
              <a:rPr lang="en-US" dirty="0" err="1"/>
              <a:t>repr</a:t>
            </a:r>
            <a:r>
              <a:rPr lang="en-US" dirty="0"/>
              <a:t>__(self) will always be used</a:t>
            </a:r>
          </a:p>
          <a:p>
            <a:r>
              <a:rPr lang="en-US" dirty="0"/>
              <a:t>Method returns a string</a:t>
            </a:r>
          </a:p>
          <a:p>
            <a:r>
              <a:rPr lang="en-US" dirty="0">
                <a:solidFill>
                  <a:srgbClr val="00B050"/>
                </a:solidFill>
              </a:rPr>
              <a:t>“</a:t>
            </a:r>
            <a:r>
              <a:rPr lang="en-CA" dirty="0">
                <a:solidFill>
                  <a:srgbClr val="00B050"/>
                </a:solidFill>
              </a:rPr>
              <a:t>My name is Tobias and I'm 3 years old.</a:t>
            </a:r>
          </a:p>
          <a:p>
            <a:r>
              <a:rPr lang="en-CA" dirty="0">
                <a:solidFill>
                  <a:srgbClr val="00B050"/>
                </a:solidFill>
              </a:rPr>
              <a:t>love eating ['Sushi', 'Raw fish']</a:t>
            </a:r>
          </a:p>
          <a:p>
            <a:r>
              <a:rPr lang="en-CA" dirty="0">
                <a:solidFill>
                  <a:srgbClr val="00B050"/>
                </a:solidFill>
              </a:rPr>
              <a:t>I have 9 lives remaining”</a:t>
            </a:r>
            <a:endParaRPr lang="en-US" dirty="0">
              <a:solidFill>
                <a:srgbClr val="00B050"/>
              </a:solidFill>
            </a:endParaRPr>
          </a:p>
          <a:p>
            <a:pPr marL="0" indent="0">
              <a:buNone/>
            </a:pPr>
            <a:endParaRPr lang="en-US" dirty="0"/>
          </a:p>
        </p:txBody>
      </p:sp>
      <p:sp>
        <p:nvSpPr>
          <p:cNvPr id="4" name="TextBox 3">
            <a:extLst>
              <a:ext uri="{FF2B5EF4-FFF2-40B4-BE49-F238E27FC236}">
                <a16:creationId xmlns:a16="http://schemas.microsoft.com/office/drawing/2014/main" id="{76AF83EE-91CB-E345-8FC5-C123A913938D}"/>
              </a:ext>
            </a:extLst>
          </p:cNvPr>
          <p:cNvSpPr txBox="1"/>
          <p:nvPr/>
        </p:nvSpPr>
        <p:spPr>
          <a:xfrm>
            <a:off x="7653130" y="5977468"/>
            <a:ext cx="3975897" cy="307777"/>
          </a:xfrm>
          <a:prstGeom prst="rect">
            <a:avLst/>
          </a:prstGeom>
          <a:noFill/>
        </p:spPr>
        <p:txBody>
          <a:bodyPr wrap="none" rtlCol="0">
            <a:spAutoFit/>
          </a:bodyPr>
          <a:lstStyle/>
          <a:p>
            <a:r>
              <a:rPr lang="en-US" sz="1400" dirty="0"/>
              <a:t>* Remember to say </a:t>
            </a:r>
            <a:r>
              <a:rPr lang="en-US" sz="1400" dirty="0" err="1"/>
              <a:t>dunder</a:t>
            </a:r>
            <a:r>
              <a:rPr lang="en-US" sz="1400" dirty="0"/>
              <a:t> for double under</a:t>
            </a:r>
          </a:p>
        </p:txBody>
      </p:sp>
    </p:spTree>
    <p:extLst>
      <p:ext uri="{BB962C8B-B14F-4D97-AF65-F5344CB8AC3E}">
        <p14:creationId xmlns:p14="http://schemas.microsoft.com/office/powerpoint/2010/main" val="1359836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189E-7861-45CD-8BB2-3B53C060E884}"/>
              </a:ext>
            </a:extLst>
          </p:cNvPr>
          <p:cNvSpPr>
            <a:spLocks noGrp="1"/>
          </p:cNvSpPr>
          <p:nvPr>
            <p:ph type="title"/>
          </p:nvPr>
        </p:nvSpPr>
        <p:spPr/>
        <p:txBody>
          <a:bodyPr/>
          <a:lstStyle/>
          <a:p>
            <a:r>
              <a:rPr lang="en-US" dirty="0"/>
              <a:t>Instantiation</a:t>
            </a:r>
            <a:endParaRPr lang="en-CA" dirty="0"/>
          </a:p>
        </p:txBody>
      </p:sp>
      <p:sp>
        <p:nvSpPr>
          <p:cNvPr id="3" name="Content Placeholder 2">
            <a:extLst>
              <a:ext uri="{FF2B5EF4-FFF2-40B4-BE49-F238E27FC236}">
                <a16:creationId xmlns:a16="http://schemas.microsoft.com/office/drawing/2014/main" id="{37206577-6822-4842-9994-CED1A4587B20}"/>
              </a:ext>
            </a:extLst>
          </p:cNvPr>
          <p:cNvSpPr>
            <a:spLocks noGrp="1"/>
          </p:cNvSpPr>
          <p:nvPr>
            <p:ph idx="1"/>
          </p:nvPr>
        </p:nvSpPr>
        <p:spPr>
          <a:xfrm>
            <a:off x="1097280" y="2560320"/>
            <a:ext cx="5202936" cy="3308774"/>
          </a:xfrm>
        </p:spPr>
        <p:txBody>
          <a:bodyPr>
            <a:normAutofit/>
          </a:bodyPr>
          <a:lstStyle/>
          <a:p>
            <a:r>
              <a:rPr lang="en-US" dirty="0"/>
              <a:t>Suppose we have a class called Die:</a:t>
            </a:r>
          </a:p>
          <a:p>
            <a:pPr lvl="1"/>
            <a:r>
              <a:rPr lang="en-US" dirty="0"/>
              <a:t>Instantiate a Die by typing Die()</a:t>
            </a:r>
          </a:p>
          <a:p>
            <a:pPr lvl="1"/>
            <a:r>
              <a:rPr lang="en-US" dirty="0"/>
              <a:t>This calls a special method called __new__(we never tamper with __new__ and we never call it directly)</a:t>
            </a:r>
          </a:p>
          <a:p>
            <a:pPr lvl="1"/>
            <a:r>
              <a:rPr lang="en-US" dirty="0"/>
              <a:t>__new__ allocates memory and invokes the object initializer </a:t>
            </a:r>
          </a:p>
          <a:p>
            <a:pPr lvl="1"/>
            <a:r>
              <a:rPr lang="en-US" dirty="0"/>
              <a:t>Die.__</a:t>
            </a:r>
            <a:r>
              <a:rPr lang="en-US" dirty="0" err="1"/>
              <a:t>init</a:t>
            </a:r>
            <a:r>
              <a:rPr lang="en-US" dirty="0"/>
              <a:t>__( ) is the initializer</a:t>
            </a:r>
          </a:p>
          <a:p>
            <a:endParaRPr lang="en-CA" dirty="0"/>
          </a:p>
        </p:txBody>
      </p:sp>
      <p:sp>
        <p:nvSpPr>
          <p:cNvPr id="4" name="Rectangle 3">
            <a:extLst>
              <a:ext uri="{FF2B5EF4-FFF2-40B4-BE49-F238E27FC236}">
                <a16:creationId xmlns:a16="http://schemas.microsoft.com/office/drawing/2014/main" id="{146C67CA-2A8D-4717-8764-01757DC0B10A}"/>
              </a:ext>
            </a:extLst>
          </p:cNvPr>
          <p:cNvSpPr/>
          <p:nvPr/>
        </p:nvSpPr>
        <p:spPr>
          <a:xfrm>
            <a:off x="7827264" y="1929384"/>
            <a:ext cx="3456429" cy="133502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lumMod val="75000"/>
                    <a:lumOff val="25000"/>
                  </a:schemeClr>
                </a:solidFill>
              </a:rPr>
              <a:t>NameOfClass</a:t>
            </a:r>
            <a:r>
              <a:rPr lang="en-US" dirty="0">
                <a:solidFill>
                  <a:schemeClr val="tx1">
                    <a:lumMod val="75000"/>
                    <a:lumOff val="25000"/>
                  </a:schemeClr>
                </a:solidFill>
              </a:rPr>
              <a:t>(__</a:t>
            </a:r>
            <a:r>
              <a:rPr lang="en-US" dirty="0" err="1">
                <a:solidFill>
                  <a:schemeClr val="tx1">
                    <a:lumMod val="75000"/>
                    <a:lumOff val="25000"/>
                  </a:schemeClr>
                </a:solidFill>
              </a:rPr>
              <a:t>init</a:t>
            </a:r>
            <a:r>
              <a:rPr lang="en-US" dirty="0">
                <a:solidFill>
                  <a:schemeClr val="tx1">
                    <a:lumMod val="75000"/>
                    <a:lumOff val="25000"/>
                  </a:schemeClr>
                </a:solidFill>
              </a:rPr>
              <a:t>__ arguments)</a:t>
            </a:r>
          </a:p>
          <a:p>
            <a:pPr algn="ctr"/>
            <a:endParaRPr lang="en-US" dirty="0">
              <a:solidFill>
                <a:schemeClr val="tx1">
                  <a:lumMod val="75000"/>
                  <a:lumOff val="25000"/>
                </a:schemeClr>
              </a:solidFill>
            </a:endParaRPr>
          </a:p>
          <a:p>
            <a:pPr algn="ctr"/>
            <a:r>
              <a:rPr lang="en-US" dirty="0">
                <a:solidFill>
                  <a:schemeClr val="tx1">
                    <a:lumMod val="75000"/>
                    <a:lumOff val="25000"/>
                  </a:schemeClr>
                </a:solidFill>
              </a:rPr>
              <a:t>Invoking the constructor</a:t>
            </a:r>
            <a:endParaRPr lang="en-CA" dirty="0">
              <a:solidFill>
                <a:schemeClr val="tx1">
                  <a:lumMod val="75000"/>
                  <a:lumOff val="25000"/>
                </a:schemeClr>
              </a:solidFill>
            </a:endParaRPr>
          </a:p>
        </p:txBody>
      </p:sp>
      <p:sp>
        <p:nvSpPr>
          <p:cNvPr id="5" name="Rectangle 4">
            <a:extLst>
              <a:ext uri="{FF2B5EF4-FFF2-40B4-BE49-F238E27FC236}">
                <a16:creationId xmlns:a16="http://schemas.microsoft.com/office/drawing/2014/main" id="{87DA388E-685E-40A3-9E7F-9456F4B5302C}"/>
              </a:ext>
            </a:extLst>
          </p:cNvPr>
          <p:cNvSpPr/>
          <p:nvPr/>
        </p:nvSpPr>
        <p:spPr>
          <a:xfrm>
            <a:off x="8300748" y="3726186"/>
            <a:ext cx="2509459" cy="96926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rPr>
              <a:t>__new__()</a:t>
            </a:r>
          </a:p>
          <a:p>
            <a:pPr algn="ctr"/>
            <a:r>
              <a:rPr lang="en-US" dirty="0">
                <a:solidFill>
                  <a:schemeClr val="tx1">
                    <a:lumMod val="75000"/>
                    <a:lumOff val="25000"/>
                  </a:schemeClr>
                </a:solidFill>
              </a:rPr>
              <a:t>Memory allocation and object creation</a:t>
            </a:r>
            <a:endParaRPr lang="en-CA" dirty="0">
              <a:solidFill>
                <a:schemeClr val="tx1">
                  <a:lumMod val="75000"/>
                  <a:lumOff val="25000"/>
                </a:schemeClr>
              </a:solidFill>
            </a:endParaRPr>
          </a:p>
        </p:txBody>
      </p:sp>
      <p:sp>
        <p:nvSpPr>
          <p:cNvPr id="7" name="Rectangle 6">
            <a:extLst>
              <a:ext uri="{FF2B5EF4-FFF2-40B4-BE49-F238E27FC236}">
                <a16:creationId xmlns:a16="http://schemas.microsoft.com/office/drawing/2014/main" id="{94142B08-68CB-4C64-89F8-A7C67B443F46}"/>
              </a:ext>
            </a:extLst>
          </p:cNvPr>
          <p:cNvSpPr/>
          <p:nvPr/>
        </p:nvSpPr>
        <p:spPr>
          <a:xfrm>
            <a:off x="8300748" y="5218179"/>
            <a:ext cx="2509459" cy="96926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75000"/>
                    <a:lumOff val="25000"/>
                  </a:schemeClr>
                </a:solidFill>
              </a:rPr>
              <a:t>__</a:t>
            </a:r>
            <a:r>
              <a:rPr lang="en-US" dirty="0" err="1">
                <a:solidFill>
                  <a:schemeClr val="tx1">
                    <a:lumMod val="75000"/>
                    <a:lumOff val="25000"/>
                  </a:schemeClr>
                </a:solidFill>
              </a:rPr>
              <a:t>init</a:t>
            </a:r>
            <a:r>
              <a:rPr lang="en-US" dirty="0">
                <a:solidFill>
                  <a:schemeClr val="tx1">
                    <a:lumMod val="75000"/>
                    <a:lumOff val="25000"/>
                  </a:schemeClr>
                </a:solidFill>
              </a:rPr>
              <a:t>__</a:t>
            </a:r>
            <a:endParaRPr lang="en-CA" dirty="0">
              <a:solidFill>
                <a:schemeClr val="tx1">
                  <a:lumMod val="75000"/>
                  <a:lumOff val="25000"/>
                </a:schemeClr>
              </a:solidFill>
            </a:endParaRPr>
          </a:p>
          <a:p>
            <a:pPr algn="ctr"/>
            <a:r>
              <a:rPr lang="en-CA" dirty="0">
                <a:solidFill>
                  <a:schemeClr val="tx1">
                    <a:lumMod val="75000"/>
                    <a:lumOff val="25000"/>
                  </a:schemeClr>
                </a:solidFill>
              </a:rPr>
              <a:t>Initialization</a:t>
            </a:r>
            <a:endParaRPr lang="en-US" dirty="0">
              <a:solidFill>
                <a:schemeClr val="tx1">
                  <a:lumMod val="75000"/>
                  <a:lumOff val="25000"/>
                </a:schemeClr>
              </a:solidFill>
            </a:endParaRPr>
          </a:p>
        </p:txBody>
      </p:sp>
      <p:cxnSp>
        <p:nvCxnSpPr>
          <p:cNvPr id="9" name="Straight Arrow Connector 8">
            <a:extLst>
              <a:ext uri="{FF2B5EF4-FFF2-40B4-BE49-F238E27FC236}">
                <a16:creationId xmlns:a16="http://schemas.microsoft.com/office/drawing/2014/main" id="{5C0F5008-46D7-4CFB-8A4D-2EE02DB19E1B}"/>
              </a:ext>
            </a:extLst>
          </p:cNvPr>
          <p:cNvCxnSpPr>
            <a:stCxn id="4" idx="2"/>
            <a:endCxn id="5" idx="0"/>
          </p:cNvCxnSpPr>
          <p:nvPr/>
        </p:nvCxnSpPr>
        <p:spPr>
          <a:xfrm flipH="1">
            <a:off x="9555478" y="3264407"/>
            <a:ext cx="1" cy="46177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5C4741C-1677-432B-B3F0-350F607282E2}"/>
              </a:ext>
            </a:extLst>
          </p:cNvPr>
          <p:cNvCxnSpPr>
            <a:cxnSpLocks/>
            <a:stCxn id="5" idx="2"/>
            <a:endCxn id="7" idx="0"/>
          </p:cNvCxnSpPr>
          <p:nvPr/>
        </p:nvCxnSpPr>
        <p:spPr>
          <a:xfrm>
            <a:off x="9555478" y="4695448"/>
            <a:ext cx="0" cy="5227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26344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921A1-5CBF-461E-9D55-701DEDBB8391}"/>
              </a:ext>
            </a:extLst>
          </p:cNvPr>
          <p:cNvSpPr>
            <a:spLocks noGrp="1"/>
          </p:cNvSpPr>
          <p:nvPr>
            <p:ph type="title"/>
          </p:nvPr>
        </p:nvSpPr>
        <p:spPr/>
        <p:txBody>
          <a:bodyPr/>
          <a:lstStyle/>
          <a:p>
            <a:r>
              <a:rPr lang="en-US" dirty="0"/>
              <a:t>Accessors &amp; Mutators</a:t>
            </a:r>
            <a:endParaRPr lang="en-CA" dirty="0"/>
          </a:p>
        </p:txBody>
      </p:sp>
      <p:sp>
        <p:nvSpPr>
          <p:cNvPr id="3" name="Content Placeholder 2">
            <a:extLst>
              <a:ext uri="{FF2B5EF4-FFF2-40B4-BE49-F238E27FC236}">
                <a16:creationId xmlns:a16="http://schemas.microsoft.com/office/drawing/2014/main" id="{BCA9F6B6-3A5F-4F39-BE65-8C1D2841BD0A}"/>
              </a:ext>
            </a:extLst>
          </p:cNvPr>
          <p:cNvSpPr>
            <a:spLocks noGrp="1"/>
          </p:cNvSpPr>
          <p:nvPr>
            <p:ph idx="1"/>
          </p:nvPr>
        </p:nvSpPr>
        <p:spPr/>
        <p:txBody>
          <a:bodyPr>
            <a:normAutofit/>
          </a:bodyPr>
          <a:lstStyle/>
          <a:p>
            <a:r>
              <a:rPr lang="en-US" b="1" u="sng" dirty="0"/>
              <a:t>Accessors</a:t>
            </a:r>
            <a:r>
              <a:rPr lang="en-US" dirty="0"/>
              <a:t>: Methods that return the value of an attribute</a:t>
            </a:r>
            <a:br>
              <a:rPr lang="en-CA" dirty="0"/>
            </a:br>
            <a:r>
              <a:rPr lang="en-CA" dirty="0" err="1"/>
              <a:t>Eg</a:t>
            </a:r>
            <a:r>
              <a:rPr lang="en-CA" dirty="0"/>
              <a:t>: </a:t>
            </a:r>
            <a:r>
              <a:rPr lang="en-CA" dirty="0" err="1"/>
              <a:t>def</a:t>
            </a:r>
            <a:r>
              <a:rPr lang="en-CA" dirty="0"/>
              <a:t> </a:t>
            </a:r>
            <a:r>
              <a:rPr lang="en-CA" dirty="0" err="1"/>
              <a:t>get_player_health</a:t>
            </a:r>
            <a:r>
              <a:rPr lang="en-CA" dirty="0"/>
              <a:t>(</a:t>
            </a:r>
            <a:r>
              <a:rPr lang="en-CA" dirty="0">
                <a:solidFill>
                  <a:srgbClr val="FF0000"/>
                </a:solidFill>
              </a:rPr>
              <a:t>self</a:t>
            </a:r>
            <a:r>
              <a:rPr lang="en-CA" dirty="0"/>
              <a:t>):</a:t>
            </a:r>
          </a:p>
          <a:p>
            <a:r>
              <a:rPr lang="en-CA" b="1" u="sng" dirty="0"/>
              <a:t>Mutators</a:t>
            </a:r>
            <a:r>
              <a:rPr lang="en-CA" dirty="0"/>
              <a:t>: Methods that set the value of a data attribute</a:t>
            </a:r>
            <a:br>
              <a:rPr lang="en-CA" dirty="0"/>
            </a:br>
            <a:r>
              <a:rPr lang="en-CA" dirty="0" err="1"/>
              <a:t>Eg</a:t>
            </a:r>
            <a:r>
              <a:rPr lang="en-CA" dirty="0"/>
              <a:t>: </a:t>
            </a:r>
            <a:r>
              <a:rPr lang="en-CA" dirty="0" err="1"/>
              <a:t>def</a:t>
            </a:r>
            <a:r>
              <a:rPr lang="en-CA" dirty="0"/>
              <a:t> </a:t>
            </a:r>
            <a:r>
              <a:rPr lang="en-CA" dirty="0" err="1"/>
              <a:t>set_player_health</a:t>
            </a:r>
            <a:r>
              <a:rPr lang="en-CA" dirty="0"/>
              <a:t>(</a:t>
            </a:r>
            <a:r>
              <a:rPr lang="en-CA" dirty="0">
                <a:solidFill>
                  <a:srgbClr val="FF0000"/>
                </a:solidFill>
              </a:rPr>
              <a:t>self</a:t>
            </a:r>
            <a:r>
              <a:rPr lang="en-CA" dirty="0"/>
              <a:t>, </a:t>
            </a:r>
            <a:r>
              <a:rPr lang="en-CA" dirty="0" err="1"/>
              <a:t>health_value</a:t>
            </a:r>
            <a:r>
              <a:rPr lang="en-CA" dirty="0"/>
              <a:t>):</a:t>
            </a:r>
          </a:p>
          <a:p>
            <a:r>
              <a:rPr lang="en-US" dirty="0">
                <a:solidFill>
                  <a:srgbClr val="FF0000"/>
                </a:solidFill>
              </a:rPr>
              <a:t>Self</a:t>
            </a:r>
            <a:r>
              <a:rPr lang="en-US" dirty="0"/>
              <a:t> parameter is the:</a:t>
            </a:r>
          </a:p>
          <a:p>
            <a:pPr lvl="1"/>
            <a:r>
              <a:rPr lang="en-US" i="1" dirty="0"/>
              <a:t>Only</a:t>
            </a:r>
            <a:r>
              <a:rPr lang="en-US" dirty="0"/>
              <a:t> </a:t>
            </a:r>
            <a:r>
              <a:rPr lang="en-US" i="1" dirty="0"/>
              <a:t>parameter</a:t>
            </a:r>
            <a:r>
              <a:rPr lang="en-US" dirty="0"/>
              <a:t> for all accessors</a:t>
            </a:r>
          </a:p>
          <a:p>
            <a:pPr lvl="1"/>
            <a:r>
              <a:rPr lang="en-US" i="1" dirty="0"/>
              <a:t>First parameter </a:t>
            </a:r>
            <a:r>
              <a:rPr lang="en-US" dirty="0"/>
              <a:t>for all mutators</a:t>
            </a:r>
          </a:p>
          <a:p>
            <a:r>
              <a:rPr lang="en-US" dirty="0"/>
              <a:t>Require docstring comments</a:t>
            </a:r>
          </a:p>
          <a:p>
            <a:r>
              <a:rPr lang="en-US" dirty="0"/>
              <a:t>Must not generate side effects</a:t>
            </a:r>
          </a:p>
          <a:p>
            <a:pPr lvl="1"/>
            <a:r>
              <a:rPr lang="en-US" dirty="0"/>
              <a:t>Accessors must not modify or print or send messages</a:t>
            </a:r>
          </a:p>
          <a:p>
            <a:pPr lvl="1"/>
            <a:r>
              <a:rPr lang="en-US" dirty="0"/>
              <a:t>Mutators may only modify a single value, and only if it remains logical</a:t>
            </a:r>
          </a:p>
        </p:txBody>
      </p:sp>
    </p:spTree>
    <p:extLst>
      <p:ext uri="{BB962C8B-B14F-4D97-AF65-F5344CB8AC3E}">
        <p14:creationId xmlns:p14="http://schemas.microsoft.com/office/powerpoint/2010/main" val="17827382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0D8B5-9D49-4775-ADA5-E369EB6BA06D}"/>
              </a:ext>
            </a:extLst>
          </p:cNvPr>
          <p:cNvSpPr>
            <a:spLocks noGrp="1"/>
          </p:cNvSpPr>
          <p:nvPr>
            <p:ph type="title"/>
          </p:nvPr>
        </p:nvSpPr>
        <p:spPr/>
        <p:txBody>
          <a:bodyPr/>
          <a:lstStyle/>
          <a:p>
            <a:r>
              <a:rPr lang="en-US" dirty="0"/>
              <a:t>Properties vs Accessors / Mutators</a:t>
            </a:r>
            <a:endParaRPr lang="en-CA" dirty="0"/>
          </a:p>
        </p:txBody>
      </p:sp>
      <p:sp>
        <p:nvSpPr>
          <p:cNvPr id="3" name="Content Placeholder 2">
            <a:extLst>
              <a:ext uri="{FF2B5EF4-FFF2-40B4-BE49-F238E27FC236}">
                <a16:creationId xmlns:a16="http://schemas.microsoft.com/office/drawing/2014/main" id="{7CDC4657-F5BB-434A-A335-AAE0D10F5059}"/>
              </a:ext>
            </a:extLst>
          </p:cNvPr>
          <p:cNvSpPr>
            <a:spLocks noGrp="1"/>
          </p:cNvSpPr>
          <p:nvPr>
            <p:ph idx="1"/>
          </p:nvPr>
        </p:nvSpPr>
        <p:spPr/>
        <p:txBody>
          <a:bodyPr>
            <a:normAutofit fontScale="92500"/>
          </a:bodyPr>
          <a:lstStyle/>
          <a:p>
            <a:r>
              <a:rPr lang="en-US" dirty="0"/>
              <a:t>A property is a way to encapsulate the getter (Accessor) and setter (Mutator) of an attribute.</a:t>
            </a:r>
          </a:p>
          <a:p>
            <a:r>
              <a:rPr lang="en-US" dirty="0"/>
              <a:t>Anyone interfacing the code with your library can still access the data attribute through a variable name. </a:t>
            </a:r>
          </a:p>
          <a:p>
            <a:r>
              <a:rPr lang="en-US" dirty="0"/>
              <a:t>The variable name automatically invokes the Accessor and Mutator.</a:t>
            </a:r>
          </a:p>
          <a:p>
            <a:r>
              <a:rPr lang="en-US" dirty="0" err="1"/>
              <a:t>Eg</a:t>
            </a:r>
            <a:r>
              <a:rPr lang="en-US" dirty="0"/>
              <a:t>:</a:t>
            </a:r>
          </a:p>
          <a:p>
            <a:r>
              <a:rPr lang="en-US" b="1" dirty="0">
                <a:latin typeface="Courier"/>
              </a:rPr>
              <a:t># set inside class definition </a:t>
            </a:r>
            <a:br>
              <a:rPr lang="en-US" dirty="0">
                <a:latin typeface="Courier"/>
              </a:rPr>
            </a:br>
            <a:r>
              <a:rPr lang="en-US" dirty="0">
                <a:latin typeface="Courier"/>
              </a:rPr>
              <a:t>temperature = property(</a:t>
            </a:r>
            <a:r>
              <a:rPr lang="en-US" dirty="0" err="1">
                <a:latin typeface="Courier"/>
              </a:rPr>
              <a:t>get_temperature</a:t>
            </a:r>
            <a:r>
              <a:rPr lang="en-US" dirty="0">
                <a:latin typeface="Courier"/>
              </a:rPr>
              <a:t>, </a:t>
            </a:r>
            <a:r>
              <a:rPr lang="en-US" dirty="0" err="1">
                <a:latin typeface="Courier"/>
              </a:rPr>
              <a:t>set_temperature</a:t>
            </a:r>
            <a:r>
              <a:rPr lang="en-US" dirty="0">
                <a:latin typeface="Courier"/>
              </a:rPr>
              <a:t>)</a:t>
            </a:r>
          </a:p>
          <a:p>
            <a:r>
              <a:rPr lang="en-US" dirty="0">
                <a:latin typeface="Courier"/>
              </a:rPr>
              <a:t>..</a:t>
            </a:r>
          </a:p>
          <a:p>
            <a:r>
              <a:rPr lang="en-US" dirty="0">
                <a:latin typeface="Courier"/>
              </a:rPr>
              <a:t>..</a:t>
            </a:r>
          </a:p>
          <a:p>
            <a:r>
              <a:rPr lang="en-US" dirty="0" err="1">
                <a:latin typeface="Courier"/>
              </a:rPr>
              <a:t>my_engine.temperature</a:t>
            </a:r>
            <a:r>
              <a:rPr lang="en-US" dirty="0">
                <a:latin typeface="Courier"/>
              </a:rPr>
              <a:t> = 70  </a:t>
            </a:r>
            <a:r>
              <a:rPr lang="en-US" b="1" dirty="0">
                <a:latin typeface="Courier"/>
              </a:rPr>
              <a:t># this would invoke </a:t>
            </a:r>
            <a:r>
              <a:rPr lang="en-US" b="1" dirty="0" err="1">
                <a:latin typeface="Courier"/>
              </a:rPr>
              <a:t>set_temperature</a:t>
            </a:r>
            <a:r>
              <a:rPr lang="en-US" b="1" dirty="0">
                <a:latin typeface="Courier"/>
              </a:rPr>
              <a:t>(70</a:t>
            </a:r>
            <a:r>
              <a:rPr lang="en-US" dirty="0">
                <a:latin typeface="Courier"/>
              </a:rPr>
              <a:t>)</a:t>
            </a:r>
          </a:p>
          <a:p>
            <a:endParaRPr lang="en-CA" dirty="0"/>
          </a:p>
        </p:txBody>
      </p:sp>
      <p:sp>
        <p:nvSpPr>
          <p:cNvPr id="4" name="Rectangle 3"/>
          <p:cNvSpPr/>
          <p:nvPr/>
        </p:nvSpPr>
        <p:spPr>
          <a:xfrm>
            <a:off x="9478956" y="5869094"/>
            <a:ext cx="2494337" cy="369332"/>
          </a:xfrm>
          <a:prstGeom prst="rect">
            <a:avLst/>
          </a:prstGeom>
        </p:spPr>
        <p:txBody>
          <a:bodyPr wrap="none">
            <a:spAutoFit/>
          </a:bodyPr>
          <a:lstStyle/>
          <a:p>
            <a:r>
              <a:rPr lang="en-US" dirty="0">
                <a:solidFill>
                  <a:srgbClr val="0070C0"/>
                </a:solidFill>
                <a:latin typeface="Rockwell" panose="02060603020205020403" pitchFamily="18" charset="0"/>
              </a:rPr>
              <a:t>property_example.py</a:t>
            </a:r>
            <a:endParaRPr lang="en-CA" dirty="0">
              <a:solidFill>
                <a:srgbClr val="0070C0"/>
              </a:solidFill>
              <a:latin typeface="Rockwell" panose="02060603020205020403" pitchFamily="18" charset="0"/>
            </a:endParaRPr>
          </a:p>
        </p:txBody>
      </p:sp>
    </p:spTree>
    <p:extLst>
      <p:ext uri="{BB962C8B-B14F-4D97-AF65-F5344CB8AC3E}">
        <p14:creationId xmlns:p14="http://schemas.microsoft.com/office/powerpoint/2010/main" val="1107956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A33B4-279C-46E8-A790-2D385075E64D}"/>
              </a:ext>
            </a:extLst>
          </p:cNvPr>
          <p:cNvSpPr>
            <a:spLocks noGrp="1"/>
          </p:cNvSpPr>
          <p:nvPr>
            <p:ph type="title"/>
          </p:nvPr>
        </p:nvSpPr>
        <p:spPr/>
        <p:txBody>
          <a:bodyPr/>
          <a:lstStyle/>
          <a:p>
            <a:r>
              <a:rPr lang="en-US" dirty="0"/>
              <a:t>Static (Class) Variables</a:t>
            </a:r>
            <a:endParaRPr lang="en-CA" dirty="0"/>
          </a:p>
        </p:txBody>
      </p:sp>
      <p:sp>
        <p:nvSpPr>
          <p:cNvPr id="3" name="Content Placeholder 2">
            <a:extLst>
              <a:ext uri="{FF2B5EF4-FFF2-40B4-BE49-F238E27FC236}">
                <a16:creationId xmlns:a16="http://schemas.microsoft.com/office/drawing/2014/main" id="{371F7855-5E09-4D03-9C2E-470C2E30CA35}"/>
              </a:ext>
            </a:extLst>
          </p:cNvPr>
          <p:cNvSpPr>
            <a:spLocks noGrp="1"/>
          </p:cNvSpPr>
          <p:nvPr>
            <p:ph idx="1"/>
          </p:nvPr>
        </p:nvSpPr>
        <p:spPr/>
        <p:txBody>
          <a:bodyPr>
            <a:normAutofit/>
          </a:bodyPr>
          <a:lstStyle/>
          <a:p>
            <a:r>
              <a:rPr lang="en-US" dirty="0"/>
              <a:t>Java instances share static variables</a:t>
            </a:r>
          </a:p>
          <a:p>
            <a:r>
              <a:rPr lang="en-US" dirty="0"/>
              <a:t>Are there statics in Python?</a:t>
            </a:r>
          </a:p>
          <a:p>
            <a:r>
              <a:rPr lang="en-US" dirty="0"/>
              <a:t>Yes!</a:t>
            </a:r>
          </a:p>
          <a:p>
            <a:r>
              <a:rPr lang="en-US" b="1" i="1" u="sng" dirty="0"/>
              <a:t>Class variables </a:t>
            </a:r>
            <a:r>
              <a:rPr lang="en-US" dirty="0"/>
              <a:t>are </a:t>
            </a:r>
            <a:r>
              <a:rPr lang="en-US" b="1" i="1" u="sng" dirty="0"/>
              <a:t>shared by all instances of a class</a:t>
            </a:r>
          </a:p>
          <a:p>
            <a:r>
              <a:rPr lang="en-US" dirty="0"/>
              <a:t>A class variable:</a:t>
            </a:r>
          </a:p>
          <a:p>
            <a:pPr marL="914400" lvl="1" indent="-457200">
              <a:buFont typeface="+mj-lt"/>
              <a:buAutoNum type="arabicPeriod"/>
            </a:pPr>
            <a:r>
              <a:rPr lang="en-US" sz="2800" dirty="0"/>
              <a:t>is declared inside the class but not inside a method</a:t>
            </a:r>
          </a:p>
          <a:p>
            <a:pPr marL="914400" lvl="1" indent="-457200">
              <a:buFont typeface="+mj-lt"/>
              <a:buAutoNum type="arabicPeriod"/>
            </a:pPr>
            <a:r>
              <a:rPr lang="en-US" sz="2800" dirty="0"/>
              <a:t>is accessible directly (remember no access variables!)</a:t>
            </a:r>
          </a:p>
          <a:p>
            <a:pPr marL="914400" lvl="1" indent="-457200">
              <a:buFont typeface="+mj-lt"/>
              <a:buAutoNum type="arabicPeriod"/>
            </a:pPr>
            <a:r>
              <a:rPr lang="en-US" sz="2800" dirty="0"/>
              <a:t>can be accessed using </a:t>
            </a:r>
            <a:r>
              <a:rPr lang="en-US" sz="2800" dirty="0" err="1"/>
              <a:t>ClassName.class_variable</a:t>
            </a:r>
            <a:endParaRPr lang="en-US" sz="2800" dirty="0"/>
          </a:p>
          <a:p>
            <a:endParaRPr lang="en-CA" dirty="0"/>
          </a:p>
        </p:txBody>
      </p:sp>
    </p:spTree>
    <p:extLst>
      <p:ext uri="{BB962C8B-B14F-4D97-AF65-F5344CB8AC3E}">
        <p14:creationId xmlns:p14="http://schemas.microsoft.com/office/powerpoint/2010/main" val="4812244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4FF4A-DC90-4C4D-B13F-D4A15F66EBC2}"/>
              </a:ext>
            </a:extLst>
          </p:cNvPr>
          <p:cNvSpPr>
            <a:spLocks noGrp="1"/>
          </p:cNvSpPr>
          <p:nvPr>
            <p:ph type="title"/>
          </p:nvPr>
        </p:nvSpPr>
        <p:spPr/>
        <p:txBody>
          <a:bodyPr/>
          <a:lstStyle/>
          <a:p>
            <a:r>
              <a:rPr lang="en-US" dirty="0"/>
              <a:t>Class Methods</a:t>
            </a:r>
            <a:endParaRPr lang="en-CA" dirty="0"/>
          </a:p>
        </p:txBody>
      </p:sp>
      <p:sp>
        <p:nvSpPr>
          <p:cNvPr id="3" name="Content Placeholder 2">
            <a:extLst>
              <a:ext uri="{FF2B5EF4-FFF2-40B4-BE49-F238E27FC236}">
                <a16:creationId xmlns:a16="http://schemas.microsoft.com/office/drawing/2014/main" id="{BDB22C3C-4E2A-4605-970E-9DAEBEEC6B5B}"/>
              </a:ext>
            </a:extLst>
          </p:cNvPr>
          <p:cNvSpPr>
            <a:spLocks noGrp="1"/>
          </p:cNvSpPr>
          <p:nvPr>
            <p:ph idx="1"/>
          </p:nvPr>
        </p:nvSpPr>
        <p:spPr/>
        <p:txBody>
          <a:bodyPr/>
          <a:lstStyle/>
          <a:p>
            <a:r>
              <a:rPr lang="en-US" dirty="0"/>
              <a:t>Class Methods are like Class Variables.</a:t>
            </a:r>
          </a:p>
          <a:p>
            <a:pPr lvl="1"/>
            <a:r>
              <a:rPr lang="en-US" dirty="0"/>
              <a:t>They belong to a class rather than the object.</a:t>
            </a:r>
          </a:p>
          <a:p>
            <a:pPr lvl="1"/>
            <a:r>
              <a:rPr lang="en-US" dirty="0"/>
              <a:t>They take </a:t>
            </a:r>
            <a:r>
              <a:rPr lang="en-US" i="1" dirty="0" err="1"/>
              <a:t>cls</a:t>
            </a:r>
            <a:r>
              <a:rPr lang="en-US" dirty="0"/>
              <a:t> as their first parameter instead of self</a:t>
            </a:r>
          </a:p>
          <a:p>
            <a:pPr lvl="1"/>
            <a:r>
              <a:rPr lang="en-US" i="1" dirty="0" err="1"/>
              <a:t>cls</a:t>
            </a:r>
            <a:r>
              <a:rPr lang="en-US" dirty="0"/>
              <a:t> stands for the class itself.</a:t>
            </a:r>
          </a:p>
          <a:p>
            <a:pPr lvl="1"/>
            <a:r>
              <a:rPr lang="en-US" dirty="0"/>
              <a:t>Add </a:t>
            </a:r>
            <a:r>
              <a:rPr lang="en-US" b="1" dirty="0">
                <a:latin typeface="Consolas" panose="020B0609020204030204" pitchFamily="49" charset="0"/>
              </a:rPr>
              <a:t>@</a:t>
            </a:r>
            <a:r>
              <a:rPr lang="en-US" b="1" dirty="0" err="1">
                <a:latin typeface="Consolas" panose="020B0609020204030204" pitchFamily="49" charset="0"/>
              </a:rPr>
              <a:t>classmethod</a:t>
            </a:r>
            <a:r>
              <a:rPr lang="en-US" b="1" dirty="0">
                <a:latin typeface="Consolas" panose="020B0609020204030204" pitchFamily="49" charset="0"/>
              </a:rPr>
              <a:t> </a:t>
            </a:r>
            <a:r>
              <a:rPr lang="en-US" dirty="0"/>
              <a:t>before method</a:t>
            </a:r>
          </a:p>
          <a:p>
            <a:pPr lvl="1"/>
            <a:r>
              <a:rPr lang="en-US" i="1" dirty="0"/>
              <a:t>Can modify and access class variables but not instance variables</a:t>
            </a:r>
          </a:p>
          <a:p>
            <a:pPr marL="201168" lvl="1" indent="0">
              <a:buNone/>
            </a:pPr>
            <a:endParaRPr lang="en-US" i="1" dirty="0"/>
          </a:p>
          <a:p>
            <a:pPr marL="201168" lvl="1" indent="0">
              <a:buNone/>
            </a:pPr>
            <a:r>
              <a:rPr lang="en-US" dirty="0"/>
              <a:t>While not quite like static functions, class methods can be accessed through the class name</a:t>
            </a:r>
          </a:p>
          <a:p>
            <a:pPr marL="201168" lvl="1" indent="0">
              <a:buNone/>
            </a:pPr>
            <a:r>
              <a:rPr lang="en-US" dirty="0"/>
              <a:t>			</a:t>
            </a:r>
          </a:p>
          <a:p>
            <a:pPr marL="201168" lvl="1" indent="0">
              <a:buNone/>
            </a:pPr>
            <a:r>
              <a:rPr lang="en-US" dirty="0">
                <a:latin typeface="Consolas" panose="020B0609020204030204" pitchFamily="49" charset="0"/>
              </a:rPr>
              <a:t>			</a:t>
            </a:r>
            <a:r>
              <a:rPr lang="en-US" b="1" dirty="0">
                <a:latin typeface="Consolas" panose="020B0609020204030204" pitchFamily="49" charset="0"/>
              </a:rPr>
              <a:t>@</a:t>
            </a:r>
            <a:r>
              <a:rPr lang="en-US" b="1" dirty="0" err="1">
                <a:latin typeface="Consolas" panose="020B0609020204030204" pitchFamily="49" charset="0"/>
              </a:rPr>
              <a:t>classmethod</a:t>
            </a:r>
            <a:endParaRPr lang="en-US" b="1" dirty="0"/>
          </a:p>
          <a:p>
            <a:pPr marL="201168" lvl="1" indent="0">
              <a:buNone/>
            </a:pPr>
            <a:r>
              <a:rPr lang="en-US" dirty="0">
                <a:latin typeface="Consolas" panose="020B0609020204030204" pitchFamily="49" charset="0"/>
              </a:rPr>
              <a:t> 			def </a:t>
            </a:r>
            <a:r>
              <a:rPr lang="en-US" dirty="0" err="1">
                <a:latin typeface="Consolas" panose="020B0609020204030204" pitchFamily="49" charset="0"/>
              </a:rPr>
              <a:t>my_class_method</a:t>
            </a:r>
            <a:r>
              <a:rPr lang="en-US" dirty="0">
                <a:latin typeface="Consolas" panose="020B0609020204030204" pitchFamily="49" charset="0"/>
              </a:rPr>
              <a:t>(</a:t>
            </a:r>
            <a:r>
              <a:rPr lang="en-US" dirty="0" err="1">
                <a:latin typeface="Consolas" panose="020B0609020204030204" pitchFamily="49" charset="0"/>
              </a:rPr>
              <a:t>cls</a:t>
            </a:r>
            <a:r>
              <a:rPr lang="en-US" dirty="0">
                <a:latin typeface="Consolas" panose="020B0609020204030204" pitchFamily="49" charset="0"/>
              </a:rPr>
              <a:t>, arguments)</a:t>
            </a:r>
          </a:p>
        </p:txBody>
      </p:sp>
    </p:spTree>
    <p:extLst>
      <p:ext uri="{BB962C8B-B14F-4D97-AF65-F5344CB8AC3E}">
        <p14:creationId xmlns:p14="http://schemas.microsoft.com/office/powerpoint/2010/main" val="23275136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FA716-156F-4DAB-A9A0-1542954E60BF}"/>
              </a:ext>
            </a:extLst>
          </p:cNvPr>
          <p:cNvSpPr>
            <a:spLocks noGrp="1"/>
          </p:cNvSpPr>
          <p:nvPr>
            <p:ph type="title"/>
          </p:nvPr>
        </p:nvSpPr>
        <p:spPr/>
        <p:txBody>
          <a:bodyPr/>
          <a:lstStyle/>
          <a:p>
            <a:r>
              <a:rPr lang="en-US" dirty="0"/>
              <a:t>Class Methods</a:t>
            </a:r>
            <a:endParaRPr lang="en-CA" dirty="0"/>
          </a:p>
        </p:txBody>
      </p:sp>
      <p:sp>
        <p:nvSpPr>
          <p:cNvPr id="3" name="Content Placeholder 2">
            <a:extLst>
              <a:ext uri="{FF2B5EF4-FFF2-40B4-BE49-F238E27FC236}">
                <a16:creationId xmlns:a16="http://schemas.microsoft.com/office/drawing/2014/main" id="{BF734C35-3EDB-4DE5-A4F6-F0FCA093550C}"/>
              </a:ext>
            </a:extLst>
          </p:cNvPr>
          <p:cNvSpPr>
            <a:spLocks noGrp="1"/>
          </p:cNvSpPr>
          <p:nvPr>
            <p:ph idx="1"/>
          </p:nvPr>
        </p:nvSpPr>
        <p:spPr/>
        <p:txBody>
          <a:bodyPr/>
          <a:lstStyle/>
          <a:p>
            <a:pPr marL="201168" lvl="1" indent="0">
              <a:buNone/>
            </a:pPr>
            <a:r>
              <a:rPr lang="en-US" dirty="0"/>
              <a:t>For example, say we had a temperature class that stored temperature as </a:t>
            </a:r>
            <a:r>
              <a:rPr lang="en-US" dirty="0" err="1"/>
              <a:t>farenheit</a:t>
            </a:r>
            <a:r>
              <a:rPr lang="en-US" dirty="0"/>
              <a:t>. We could write a class method that allows us to create objects using </a:t>
            </a:r>
            <a:r>
              <a:rPr lang="en-US" dirty="0" err="1"/>
              <a:t>celcius</a:t>
            </a:r>
            <a:endParaRPr lang="en-US" dirty="0"/>
          </a:p>
          <a:p>
            <a:pPr marL="201168" lvl="1" indent="0">
              <a:buNone/>
            </a:pPr>
            <a:r>
              <a:rPr lang="en-US" dirty="0">
                <a:latin typeface="Consolas" panose="020B0609020204030204" pitchFamily="49" charset="0"/>
              </a:rPr>
              <a:t>	class </a:t>
            </a:r>
            <a:r>
              <a:rPr lang="en-US" dirty="0">
                <a:solidFill>
                  <a:srgbClr val="FF0000"/>
                </a:solidFill>
                <a:latin typeface="Consolas" panose="020B0609020204030204" pitchFamily="49" charset="0"/>
              </a:rPr>
              <a:t>Temperature</a:t>
            </a:r>
            <a:r>
              <a:rPr lang="en-US" dirty="0">
                <a:latin typeface="Consolas" panose="020B0609020204030204" pitchFamily="49" charset="0"/>
              </a:rPr>
              <a:t>:</a:t>
            </a:r>
          </a:p>
          <a:p>
            <a:pPr marL="201168" lvl="1" indent="0">
              <a:buNone/>
            </a:pPr>
            <a:r>
              <a:rPr lang="en-US" dirty="0">
                <a:latin typeface="Consolas" panose="020B0609020204030204" pitchFamily="49" charset="0"/>
              </a:rPr>
              <a:t>		def __</a:t>
            </a:r>
            <a:r>
              <a:rPr lang="en-US" dirty="0" err="1">
                <a:latin typeface="Consolas" panose="020B0609020204030204" pitchFamily="49" charset="0"/>
              </a:rPr>
              <a:t>init</a:t>
            </a:r>
            <a:r>
              <a:rPr lang="en-US" dirty="0">
                <a:latin typeface="Consolas" panose="020B0609020204030204" pitchFamily="49" charset="0"/>
              </a:rPr>
              <a:t>__(self, </a:t>
            </a:r>
            <a:r>
              <a:rPr lang="en-US" dirty="0" err="1">
                <a:latin typeface="Consolas" panose="020B0609020204030204" pitchFamily="49" charset="0"/>
              </a:rPr>
              <a:t>tempFarenheit</a:t>
            </a:r>
            <a:r>
              <a:rPr lang="en-US" dirty="0">
                <a:latin typeface="Consolas" panose="020B0609020204030204" pitchFamily="49" charset="0"/>
              </a:rPr>
              <a:t>):</a:t>
            </a:r>
          </a:p>
          <a:p>
            <a:pPr marL="201168" lvl="1" indent="0">
              <a:buNone/>
            </a:pPr>
            <a:r>
              <a:rPr lang="en-US" dirty="0">
                <a:latin typeface="Consolas" panose="020B0609020204030204" pitchFamily="49" charset="0"/>
              </a:rPr>
              <a:t>		    </a:t>
            </a:r>
            <a:r>
              <a:rPr lang="en-US" dirty="0" err="1">
                <a:latin typeface="Consolas" panose="020B0609020204030204" pitchFamily="49" charset="0"/>
              </a:rPr>
              <a:t>self.temperature</a:t>
            </a:r>
            <a:r>
              <a:rPr lang="en-US" dirty="0">
                <a:latin typeface="Consolas" panose="020B0609020204030204" pitchFamily="49" charset="0"/>
              </a:rPr>
              <a:t> = </a:t>
            </a:r>
            <a:r>
              <a:rPr lang="en-US" dirty="0" err="1">
                <a:latin typeface="Consolas" panose="020B0609020204030204" pitchFamily="49" charset="0"/>
              </a:rPr>
              <a:t>tempFarenheit</a:t>
            </a:r>
            <a:endParaRPr lang="en-US" dirty="0">
              <a:latin typeface="Consolas" panose="020B0609020204030204" pitchFamily="49" charset="0"/>
            </a:endParaRPr>
          </a:p>
          <a:p>
            <a:pPr marL="201168" lvl="1" indent="0">
              <a:buNone/>
            </a:pPr>
            <a:endParaRPr lang="en-US" dirty="0">
              <a:latin typeface="Consolas" panose="020B0609020204030204" pitchFamily="49" charset="0"/>
            </a:endParaRPr>
          </a:p>
          <a:p>
            <a:pPr marL="201168" lvl="1" indent="0">
              <a:buNone/>
            </a:pPr>
            <a:r>
              <a:rPr lang="en-US" dirty="0">
                <a:latin typeface="Consolas" panose="020B0609020204030204" pitchFamily="49" charset="0"/>
              </a:rPr>
              <a:t>		@</a:t>
            </a:r>
            <a:r>
              <a:rPr lang="en-US" dirty="0" err="1">
                <a:latin typeface="Consolas" panose="020B0609020204030204" pitchFamily="49" charset="0"/>
              </a:rPr>
              <a:t>classmethod</a:t>
            </a:r>
            <a:br>
              <a:rPr lang="en-US" dirty="0">
                <a:latin typeface="Consolas" panose="020B0609020204030204" pitchFamily="49" charset="0"/>
              </a:rPr>
            </a:br>
            <a:r>
              <a:rPr lang="en-US" dirty="0">
                <a:latin typeface="Consolas" panose="020B0609020204030204" pitchFamily="49" charset="0"/>
              </a:rPr>
              <a:t>		def </a:t>
            </a:r>
            <a:r>
              <a:rPr lang="en-US" dirty="0" err="1">
                <a:solidFill>
                  <a:srgbClr val="0070C0"/>
                </a:solidFill>
                <a:latin typeface="Consolas" panose="020B0609020204030204" pitchFamily="49" charset="0"/>
              </a:rPr>
              <a:t>from_celcius</a:t>
            </a:r>
            <a:r>
              <a:rPr lang="en-US" dirty="0">
                <a:latin typeface="Consolas" panose="020B0609020204030204" pitchFamily="49" charset="0"/>
              </a:rPr>
              <a:t>(</a:t>
            </a:r>
            <a:r>
              <a:rPr lang="en-US" dirty="0" err="1">
                <a:latin typeface="Consolas" panose="020B0609020204030204" pitchFamily="49" charset="0"/>
              </a:rPr>
              <a:t>cls</a:t>
            </a:r>
            <a:r>
              <a:rPr lang="en-US" dirty="0">
                <a:latin typeface="Consolas" panose="020B0609020204030204" pitchFamily="49" charset="0"/>
              </a:rPr>
              <a:t>, </a:t>
            </a:r>
            <a:r>
              <a:rPr lang="en-US" dirty="0" err="1">
                <a:latin typeface="Consolas" panose="020B0609020204030204" pitchFamily="49" charset="0"/>
              </a:rPr>
              <a:t>tempCelcius</a:t>
            </a:r>
            <a:r>
              <a:rPr lang="en-US" dirty="0">
                <a:latin typeface="Consolas" panose="020B0609020204030204" pitchFamily="49" charset="0"/>
              </a:rPr>
              <a:t>):</a:t>
            </a:r>
          </a:p>
          <a:p>
            <a:pPr marL="201168" lvl="1" indent="0">
              <a:buNone/>
            </a:pPr>
            <a:r>
              <a:rPr lang="en-US" dirty="0">
                <a:latin typeface="Consolas" panose="020B0609020204030204" pitchFamily="49" charset="0"/>
              </a:rPr>
              <a:t>		    </a:t>
            </a:r>
            <a:r>
              <a:rPr lang="en-US" dirty="0" err="1">
                <a:latin typeface="Consolas" panose="020B0609020204030204" pitchFamily="49" charset="0"/>
              </a:rPr>
              <a:t>tempFarenheit</a:t>
            </a:r>
            <a:r>
              <a:rPr lang="en-US" dirty="0">
                <a:latin typeface="Consolas" panose="020B0609020204030204" pitchFamily="49" charset="0"/>
              </a:rPr>
              <a:t> = (</a:t>
            </a:r>
            <a:r>
              <a:rPr lang="en-US" dirty="0" err="1">
                <a:latin typeface="Consolas" panose="020B0609020204030204" pitchFamily="49" charset="0"/>
              </a:rPr>
              <a:t>tempCelcius</a:t>
            </a:r>
            <a:r>
              <a:rPr lang="en-US" dirty="0">
                <a:latin typeface="Consolas" panose="020B0609020204030204" pitchFamily="49" charset="0"/>
              </a:rPr>
              <a:t> * 9/5) + 32</a:t>
            </a:r>
          </a:p>
          <a:p>
            <a:pPr marL="201168" lvl="1" indent="0">
              <a:buNone/>
            </a:pPr>
            <a:r>
              <a:rPr lang="en-US" dirty="0">
                <a:latin typeface="Consolas" panose="020B0609020204030204" pitchFamily="49" charset="0"/>
              </a:rPr>
              <a:t>		    return </a:t>
            </a:r>
            <a:r>
              <a:rPr lang="en-US" dirty="0" err="1">
                <a:latin typeface="Consolas" panose="020B0609020204030204" pitchFamily="49" charset="0"/>
              </a:rPr>
              <a:t>cls</a:t>
            </a:r>
            <a:r>
              <a:rPr lang="en-US" dirty="0">
                <a:latin typeface="Consolas" panose="020B0609020204030204" pitchFamily="49" charset="0"/>
              </a:rPr>
              <a:t>(</a:t>
            </a:r>
            <a:r>
              <a:rPr lang="en-US" dirty="0" err="1">
                <a:latin typeface="Consolas" panose="020B0609020204030204" pitchFamily="49" charset="0"/>
              </a:rPr>
              <a:t>tempFarenheit</a:t>
            </a:r>
            <a:r>
              <a:rPr lang="en-US" dirty="0">
                <a:latin typeface="Consolas" panose="020B0609020204030204" pitchFamily="49" charset="0"/>
              </a:rPr>
              <a:t>)</a:t>
            </a:r>
          </a:p>
          <a:p>
            <a:pPr marL="201168" lvl="1" indent="0">
              <a:buNone/>
            </a:pPr>
            <a:endParaRPr lang="en-US" dirty="0">
              <a:latin typeface="Consolas" panose="020B0609020204030204" pitchFamily="49" charset="0"/>
            </a:endParaRPr>
          </a:p>
          <a:p>
            <a:pPr marL="201168" lvl="1" indent="0">
              <a:buNone/>
            </a:pPr>
            <a:r>
              <a:rPr lang="en-US">
                <a:latin typeface="Consolas" panose="020B0609020204030204" pitchFamily="49" charset="0"/>
              </a:rPr>
              <a:t>	temp </a:t>
            </a:r>
            <a:r>
              <a:rPr lang="en-US" dirty="0">
                <a:latin typeface="Consolas" panose="020B0609020204030204" pitchFamily="49" charset="0"/>
              </a:rPr>
              <a:t>= </a:t>
            </a:r>
            <a:r>
              <a:rPr lang="en-US" dirty="0" err="1">
                <a:solidFill>
                  <a:srgbClr val="FF0000"/>
                </a:solidFill>
                <a:latin typeface="Consolas" panose="020B0609020204030204" pitchFamily="49" charset="0"/>
              </a:rPr>
              <a:t>Temperature</a:t>
            </a:r>
            <a:r>
              <a:rPr lang="en-US" dirty="0" err="1">
                <a:latin typeface="Consolas" panose="020B0609020204030204" pitchFamily="49" charset="0"/>
              </a:rPr>
              <a:t>.</a:t>
            </a:r>
            <a:r>
              <a:rPr lang="en-US" dirty="0" err="1">
                <a:solidFill>
                  <a:srgbClr val="0070C0"/>
                </a:solidFill>
                <a:latin typeface="Consolas" panose="020B0609020204030204" pitchFamily="49" charset="0"/>
              </a:rPr>
              <a:t>from_celcius</a:t>
            </a:r>
            <a:r>
              <a:rPr lang="en-US" dirty="0">
                <a:latin typeface="Consolas" panose="020B0609020204030204" pitchFamily="49" charset="0"/>
              </a:rPr>
              <a:t>(50)</a:t>
            </a:r>
          </a:p>
          <a:p>
            <a:endParaRPr lang="en-CA" dirty="0"/>
          </a:p>
        </p:txBody>
      </p:sp>
    </p:spTree>
    <p:extLst>
      <p:ext uri="{BB962C8B-B14F-4D97-AF65-F5344CB8AC3E}">
        <p14:creationId xmlns:p14="http://schemas.microsoft.com/office/powerpoint/2010/main" val="17059070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2F31E-13AA-4F32-B077-6D7B8EAC0550}"/>
              </a:ext>
            </a:extLst>
          </p:cNvPr>
          <p:cNvSpPr>
            <a:spLocks noGrp="1"/>
          </p:cNvSpPr>
          <p:nvPr>
            <p:ph type="title"/>
          </p:nvPr>
        </p:nvSpPr>
        <p:spPr/>
        <p:txBody>
          <a:bodyPr/>
          <a:lstStyle/>
          <a:p>
            <a:r>
              <a:rPr lang="en-US" dirty="0"/>
              <a:t>Static Methods</a:t>
            </a:r>
            <a:endParaRPr lang="en-CA" dirty="0"/>
          </a:p>
        </p:txBody>
      </p:sp>
      <p:sp>
        <p:nvSpPr>
          <p:cNvPr id="3" name="Content Placeholder 2">
            <a:extLst>
              <a:ext uri="{FF2B5EF4-FFF2-40B4-BE49-F238E27FC236}">
                <a16:creationId xmlns:a16="http://schemas.microsoft.com/office/drawing/2014/main" id="{63B3DCC5-154C-4CD7-A78B-9AFD1991759A}"/>
              </a:ext>
            </a:extLst>
          </p:cNvPr>
          <p:cNvSpPr>
            <a:spLocks noGrp="1"/>
          </p:cNvSpPr>
          <p:nvPr>
            <p:ph idx="1"/>
          </p:nvPr>
        </p:nvSpPr>
        <p:spPr/>
        <p:txBody>
          <a:bodyPr>
            <a:normAutofit lnSpcReduction="10000"/>
          </a:bodyPr>
          <a:lstStyle/>
          <a:p>
            <a:r>
              <a:rPr lang="en-US" dirty="0"/>
              <a:t>The </a:t>
            </a:r>
            <a:r>
              <a:rPr lang="en-US" b="1" dirty="0"/>
              <a:t>@</a:t>
            </a:r>
            <a:r>
              <a:rPr lang="en-US" b="1" dirty="0" err="1"/>
              <a:t>staticmethod</a:t>
            </a:r>
            <a:r>
              <a:rPr lang="en-US" b="1" dirty="0"/>
              <a:t> </a:t>
            </a:r>
            <a:r>
              <a:rPr lang="en-US" dirty="0"/>
              <a:t>function decorator allows static functions to be defined.</a:t>
            </a:r>
          </a:p>
          <a:p>
            <a:pPr lvl="1"/>
            <a:r>
              <a:rPr lang="en-US" dirty="0"/>
              <a:t>Static functions belong to and can be accessed by the class and not the object.</a:t>
            </a:r>
          </a:p>
          <a:p>
            <a:pPr lvl="1"/>
            <a:r>
              <a:rPr lang="en-US" dirty="0"/>
              <a:t>Static functions do not require </a:t>
            </a:r>
            <a:r>
              <a:rPr lang="en-US" i="1" dirty="0" err="1"/>
              <a:t>cls</a:t>
            </a:r>
            <a:r>
              <a:rPr lang="en-US" i="1" dirty="0"/>
              <a:t> </a:t>
            </a:r>
            <a:r>
              <a:rPr lang="en-US" dirty="0"/>
              <a:t>as its first parameter</a:t>
            </a:r>
          </a:p>
          <a:p>
            <a:pPr lvl="1"/>
            <a:r>
              <a:rPr lang="en-US" dirty="0"/>
              <a:t>In fact, static functions can’t access the class variables/object at all. They behave as independent functions within the scope of a class.</a:t>
            </a:r>
          </a:p>
          <a:p>
            <a:pPr marL="201168" lvl="1" indent="0">
              <a:buNone/>
            </a:pPr>
            <a:endParaRPr lang="en-US" dirty="0"/>
          </a:p>
          <a:p>
            <a:pPr marL="201168" lvl="1" indent="0">
              <a:buNone/>
            </a:pPr>
            <a:r>
              <a:rPr lang="en-US" dirty="0" err="1"/>
              <a:t>Eg</a:t>
            </a:r>
            <a:r>
              <a:rPr lang="en-US" dirty="0"/>
              <a:t>: </a:t>
            </a:r>
          </a:p>
          <a:p>
            <a:pPr marL="201168" lvl="1" indent="0">
              <a:buNone/>
            </a:pPr>
            <a:r>
              <a:rPr lang="en-US" dirty="0">
                <a:latin typeface="Consolas" panose="020B0609020204030204" pitchFamily="49" charset="0"/>
              </a:rPr>
              <a:t>		</a:t>
            </a:r>
            <a:r>
              <a:rPr lang="en-US" b="1" dirty="0">
                <a:latin typeface="Consolas" panose="020B0609020204030204" pitchFamily="49" charset="0"/>
              </a:rPr>
              <a:t>@</a:t>
            </a:r>
            <a:r>
              <a:rPr lang="en-US" b="1" dirty="0" err="1">
                <a:latin typeface="Consolas" panose="020B0609020204030204" pitchFamily="49" charset="0"/>
              </a:rPr>
              <a:t>staticmethod</a:t>
            </a:r>
            <a:endParaRPr lang="en-US" b="1" dirty="0">
              <a:latin typeface="Consolas" panose="020B0609020204030204" pitchFamily="49" charset="0"/>
            </a:endParaRPr>
          </a:p>
          <a:p>
            <a:pPr marL="201168" lvl="1" indent="0">
              <a:buNone/>
            </a:pPr>
            <a:r>
              <a:rPr lang="en-US" dirty="0">
                <a:latin typeface="Consolas" panose="020B0609020204030204" pitchFamily="49" charset="0"/>
              </a:rPr>
              <a:t>		def </a:t>
            </a:r>
            <a:r>
              <a:rPr lang="en-US" dirty="0" err="1">
                <a:solidFill>
                  <a:srgbClr val="0070C0"/>
                </a:solidFill>
                <a:latin typeface="Consolas" panose="020B0609020204030204" pitchFamily="49" charset="0"/>
              </a:rPr>
              <a:t>convert_to_fahrenheit</a:t>
            </a:r>
            <a:r>
              <a:rPr lang="en-US" dirty="0">
                <a:latin typeface="Consolas" panose="020B0609020204030204" pitchFamily="49" charset="0"/>
              </a:rPr>
              <a:t>(</a:t>
            </a:r>
            <a:r>
              <a:rPr lang="en-US" dirty="0" err="1">
                <a:latin typeface="Consolas" panose="020B0609020204030204" pitchFamily="49" charset="0"/>
              </a:rPr>
              <a:t>tempCelcius</a:t>
            </a:r>
            <a:r>
              <a:rPr lang="en-US" dirty="0">
                <a:latin typeface="Consolas" panose="020B0609020204030204" pitchFamily="49" charset="0"/>
              </a:rPr>
              <a:t>):</a:t>
            </a:r>
          </a:p>
          <a:p>
            <a:pPr marL="201168" lvl="1" indent="0">
              <a:buNone/>
            </a:pPr>
            <a:r>
              <a:rPr lang="en-US" dirty="0">
                <a:latin typeface="Consolas" panose="020B0609020204030204" pitchFamily="49" charset="0"/>
              </a:rPr>
              <a:t>		    </a:t>
            </a:r>
            <a:r>
              <a:rPr lang="en-US" dirty="0" err="1">
                <a:latin typeface="Consolas" panose="020B0609020204030204" pitchFamily="49" charset="0"/>
              </a:rPr>
              <a:t>farenheit</a:t>
            </a:r>
            <a:r>
              <a:rPr lang="en-US" dirty="0">
                <a:latin typeface="Consolas" panose="020B0609020204030204" pitchFamily="49" charset="0"/>
              </a:rPr>
              <a:t> = (</a:t>
            </a:r>
            <a:r>
              <a:rPr lang="en-US" dirty="0" err="1">
                <a:latin typeface="Consolas" panose="020B0609020204030204" pitchFamily="49" charset="0"/>
              </a:rPr>
              <a:t>tempCelcius</a:t>
            </a:r>
            <a:r>
              <a:rPr lang="en-US" dirty="0">
                <a:latin typeface="Consolas" panose="020B0609020204030204" pitchFamily="49" charset="0"/>
              </a:rPr>
              <a:t> * 9/5) + 32</a:t>
            </a:r>
          </a:p>
          <a:p>
            <a:pPr marL="201168" lvl="1" indent="0">
              <a:buNone/>
            </a:pPr>
            <a:r>
              <a:rPr lang="en-US" dirty="0">
                <a:latin typeface="Consolas" panose="020B0609020204030204" pitchFamily="49" charset="0"/>
              </a:rPr>
              <a:t>		    return </a:t>
            </a:r>
            <a:r>
              <a:rPr lang="en-US" dirty="0" err="1">
                <a:latin typeface="Consolas" panose="020B0609020204030204" pitchFamily="49" charset="0"/>
              </a:rPr>
              <a:t>farenheit</a:t>
            </a:r>
            <a:br>
              <a:rPr lang="en-US" dirty="0">
                <a:latin typeface="Consolas" panose="020B0609020204030204" pitchFamily="49" charset="0"/>
              </a:rPr>
            </a:br>
            <a:endParaRPr lang="en-US" dirty="0">
              <a:latin typeface="Consolas" panose="020B0609020204030204" pitchFamily="49" charset="0"/>
            </a:endParaRPr>
          </a:p>
          <a:p>
            <a:pPr marL="201168" lvl="1" indent="0">
              <a:buNone/>
            </a:pPr>
            <a:endParaRPr lang="en-US" dirty="0">
              <a:latin typeface="Consolas" panose="020B0609020204030204" pitchFamily="49" charset="0"/>
            </a:endParaRPr>
          </a:p>
          <a:p>
            <a:pPr marL="201168" lvl="1" indent="0">
              <a:buNone/>
            </a:pPr>
            <a:r>
              <a:rPr lang="en-US" dirty="0">
                <a:latin typeface="Consolas" panose="020B0609020204030204" pitchFamily="49" charset="0"/>
              </a:rPr>
              <a:t>	</a:t>
            </a:r>
            <a:r>
              <a:rPr lang="en-US" dirty="0" err="1">
                <a:latin typeface="Consolas" panose="020B0609020204030204" pitchFamily="49" charset="0"/>
              </a:rPr>
              <a:t>Temperature.</a:t>
            </a:r>
            <a:r>
              <a:rPr lang="en-US" dirty="0" err="1">
                <a:solidFill>
                  <a:srgbClr val="0070C0"/>
                </a:solidFill>
                <a:latin typeface="Consolas" panose="020B0609020204030204" pitchFamily="49" charset="0"/>
              </a:rPr>
              <a:t>convert_to_fahrenheit</a:t>
            </a:r>
            <a:r>
              <a:rPr lang="en-US" dirty="0">
                <a:latin typeface="Consolas" panose="020B0609020204030204" pitchFamily="49" charset="0"/>
              </a:rPr>
              <a:t>(100)</a:t>
            </a:r>
          </a:p>
        </p:txBody>
      </p:sp>
    </p:spTree>
    <p:extLst>
      <p:ext uri="{BB962C8B-B14F-4D97-AF65-F5344CB8AC3E}">
        <p14:creationId xmlns:p14="http://schemas.microsoft.com/office/powerpoint/2010/main" val="31400753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2F31E-13AA-4F32-B077-6D7B8EAC0550}"/>
              </a:ext>
            </a:extLst>
          </p:cNvPr>
          <p:cNvSpPr>
            <a:spLocks noGrp="1"/>
          </p:cNvSpPr>
          <p:nvPr>
            <p:ph type="title"/>
          </p:nvPr>
        </p:nvSpPr>
        <p:spPr/>
        <p:txBody>
          <a:bodyPr/>
          <a:lstStyle/>
          <a:p>
            <a:r>
              <a:rPr lang="en-US" dirty="0"/>
              <a:t>Static Methods vs Class Methods</a:t>
            </a:r>
            <a:endParaRPr lang="en-CA" dirty="0"/>
          </a:p>
        </p:txBody>
      </p:sp>
      <p:sp>
        <p:nvSpPr>
          <p:cNvPr id="3" name="Content Placeholder 2">
            <a:extLst>
              <a:ext uri="{FF2B5EF4-FFF2-40B4-BE49-F238E27FC236}">
                <a16:creationId xmlns:a16="http://schemas.microsoft.com/office/drawing/2014/main" id="{63B3DCC5-154C-4CD7-A78B-9AFD1991759A}"/>
              </a:ext>
            </a:extLst>
          </p:cNvPr>
          <p:cNvSpPr>
            <a:spLocks noGrp="1"/>
          </p:cNvSpPr>
          <p:nvPr>
            <p:ph idx="1"/>
          </p:nvPr>
        </p:nvSpPr>
        <p:spPr>
          <a:xfrm>
            <a:off x="1097280" y="1845734"/>
            <a:ext cx="10058400" cy="1618228"/>
          </a:xfrm>
        </p:spPr>
        <p:txBody>
          <a:bodyPr>
            <a:normAutofit/>
          </a:bodyPr>
          <a:lstStyle/>
          <a:p>
            <a:r>
              <a:rPr lang="en-US" dirty="0"/>
              <a:t>Hold on, Static Methods and Class methods seem pretty similar, what’s the difference?</a:t>
            </a:r>
          </a:p>
          <a:p>
            <a:r>
              <a:rPr lang="en-US" dirty="0"/>
              <a:t>Similarities:</a:t>
            </a:r>
          </a:p>
          <a:p>
            <a:pPr lvl="1"/>
            <a:r>
              <a:rPr lang="en-US" sz="2000" dirty="0"/>
              <a:t>Both are class level methods that are called on the class, NOT the instance</a:t>
            </a:r>
          </a:p>
          <a:p>
            <a:pPr lvl="1"/>
            <a:r>
              <a:rPr lang="en-US" sz="2000" dirty="0"/>
              <a:t>No need to instantiate an instance of the class before calling the method</a:t>
            </a:r>
          </a:p>
        </p:txBody>
      </p:sp>
      <p:sp>
        <p:nvSpPr>
          <p:cNvPr id="4" name="Rectangle 3"/>
          <p:cNvSpPr/>
          <p:nvPr/>
        </p:nvSpPr>
        <p:spPr>
          <a:xfrm>
            <a:off x="215153" y="3551618"/>
            <a:ext cx="5217458" cy="2631490"/>
          </a:xfrm>
          <a:prstGeom prst="rect">
            <a:avLst/>
          </a:prstGeom>
        </p:spPr>
        <p:txBody>
          <a:bodyPr wrap="square">
            <a:spAutoFit/>
          </a:bodyPr>
          <a:lstStyle/>
          <a:p>
            <a:pPr marL="201168" lvl="1" indent="0">
              <a:buNone/>
            </a:pPr>
            <a:r>
              <a:rPr lang="en-US" sz="1500" dirty="0">
                <a:latin typeface="Consolas" panose="020B0609020204030204" pitchFamily="49" charset="0"/>
              </a:rPr>
              <a:t>class </a:t>
            </a:r>
            <a:r>
              <a:rPr lang="en-US" sz="1500" b="1" dirty="0">
                <a:latin typeface="Consolas" panose="020B0609020204030204" pitchFamily="49" charset="0"/>
              </a:rPr>
              <a:t>Temperature</a:t>
            </a:r>
            <a:r>
              <a:rPr lang="en-US" sz="1500" dirty="0">
                <a:latin typeface="Consolas" panose="020B0609020204030204" pitchFamily="49" charset="0"/>
              </a:rPr>
              <a:t>:</a:t>
            </a:r>
          </a:p>
          <a:p>
            <a:pPr marL="201168" lvl="1" indent="0">
              <a:buNone/>
            </a:pPr>
            <a:r>
              <a:rPr lang="en-US" sz="1500" dirty="0">
                <a:latin typeface="Consolas" panose="020B0609020204030204" pitchFamily="49" charset="0"/>
              </a:rPr>
              <a:t>		</a:t>
            </a:r>
            <a:r>
              <a:rPr lang="en-US" sz="1500" dirty="0" err="1">
                <a:latin typeface="Consolas" panose="020B0609020204030204" pitchFamily="49" charset="0"/>
              </a:rPr>
              <a:t>def</a:t>
            </a:r>
            <a:r>
              <a:rPr lang="en-US" sz="1500" dirty="0">
                <a:latin typeface="Consolas" panose="020B0609020204030204" pitchFamily="49" charset="0"/>
              </a:rPr>
              <a:t> __</a:t>
            </a:r>
            <a:r>
              <a:rPr lang="en-US" sz="1500" dirty="0" err="1">
                <a:latin typeface="Consolas" panose="020B0609020204030204" pitchFamily="49" charset="0"/>
              </a:rPr>
              <a:t>init</a:t>
            </a:r>
            <a:r>
              <a:rPr lang="en-US" sz="1500" dirty="0">
                <a:latin typeface="Consolas" panose="020B0609020204030204" pitchFamily="49" charset="0"/>
              </a:rPr>
              <a:t>__(self, </a:t>
            </a:r>
            <a:r>
              <a:rPr lang="en-US" sz="1500" dirty="0" err="1">
                <a:latin typeface="Consolas" panose="020B0609020204030204" pitchFamily="49" charset="0"/>
              </a:rPr>
              <a:t>tempFarenheit</a:t>
            </a:r>
            <a:r>
              <a:rPr lang="en-US" sz="1500" dirty="0">
                <a:latin typeface="Consolas" panose="020B0609020204030204" pitchFamily="49" charset="0"/>
              </a:rPr>
              <a:t>):</a:t>
            </a:r>
          </a:p>
          <a:p>
            <a:pPr marL="201168" lvl="1" indent="0">
              <a:buNone/>
            </a:pPr>
            <a:r>
              <a:rPr lang="en-US" sz="1500" dirty="0">
                <a:latin typeface="Consolas" panose="020B0609020204030204" pitchFamily="49" charset="0"/>
              </a:rPr>
              <a:t>		    </a:t>
            </a:r>
            <a:r>
              <a:rPr lang="en-US" sz="1500" dirty="0" err="1">
                <a:latin typeface="Consolas" panose="020B0609020204030204" pitchFamily="49" charset="0"/>
              </a:rPr>
              <a:t>self.temperature</a:t>
            </a:r>
            <a:r>
              <a:rPr lang="en-US" sz="1500" dirty="0">
                <a:latin typeface="Consolas" panose="020B0609020204030204" pitchFamily="49" charset="0"/>
              </a:rPr>
              <a:t> = </a:t>
            </a:r>
            <a:r>
              <a:rPr lang="en-US" sz="1500" dirty="0" err="1">
                <a:latin typeface="Consolas" panose="020B0609020204030204" pitchFamily="49" charset="0"/>
              </a:rPr>
              <a:t>tempFarenheit</a:t>
            </a:r>
            <a:endParaRPr lang="en-US" sz="1500" dirty="0">
              <a:latin typeface="Consolas" panose="020B0609020204030204" pitchFamily="49" charset="0"/>
            </a:endParaRPr>
          </a:p>
          <a:p>
            <a:pPr marL="201168" lvl="1" indent="0">
              <a:buNone/>
            </a:pPr>
            <a:endParaRPr lang="en-US" sz="1500" dirty="0">
              <a:latin typeface="Consolas" panose="020B0609020204030204" pitchFamily="49" charset="0"/>
            </a:endParaRPr>
          </a:p>
          <a:p>
            <a:pPr marL="201168" lvl="1" indent="0">
              <a:buNone/>
            </a:pPr>
            <a:r>
              <a:rPr lang="en-US" sz="1500" dirty="0">
                <a:latin typeface="Consolas" panose="020B0609020204030204" pitchFamily="49" charset="0"/>
              </a:rPr>
              <a:t>		@</a:t>
            </a:r>
            <a:r>
              <a:rPr lang="en-US" sz="1500" dirty="0" err="1">
                <a:latin typeface="Consolas" panose="020B0609020204030204" pitchFamily="49" charset="0"/>
              </a:rPr>
              <a:t>classmethod</a:t>
            </a:r>
            <a:br>
              <a:rPr lang="en-US" sz="1500" dirty="0">
                <a:latin typeface="Consolas" panose="020B0609020204030204" pitchFamily="49" charset="0"/>
              </a:rPr>
            </a:br>
            <a:r>
              <a:rPr lang="en-US" sz="1500" dirty="0">
                <a:latin typeface="Consolas" panose="020B0609020204030204" pitchFamily="49" charset="0"/>
              </a:rPr>
              <a:t>		</a:t>
            </a:r>
            <a:r>
              <a:rPr lang="en-US" sz="1500" dirty="0" err="1">
                <a:latin typeface="Consolas" panose="020B0609020204030204" pitchFamily="49" charset="0"/>
              </a:rPr>
              <a:t>def</a:t>
            </a:r>
            <a:r>
              <a:rPr lang="en-US" sz="1500" dirty="0">
                <a:latin typeface="Consolas" panose="020B0609020204030204" pitchFamily="49" charset="0"/>
              </a:rPr>
              <a:t> </a:t>
            </a:r>
            <a:r>
              <a:rPr lang="en-US" sz="1500" dirty="0" err="1">
                <a:solidFill>
                  <a:srgbClr val="00B050"/>
                </a:solidFill>
                <a:latin typeface="Consolas" panose="020B0609020204030204" pitchFamily="49" charset="0"/>
              </a:rPr>
              <a:t>from_celcius</a:t>
            </a:r>
            <a:r>
              <a:rPr lang="en-US" sz="1500" dirty="0">
                <a:latin typeface="Consolas" panose="020B0609020204030204" pitchFamily="49" charset="0"/>
              </a:rPr>
              <a:t>(</a:t>
            </a:r>
            <a:r>
              <a:rPr lang="en-US" sz="1500" dirty="0" err="1">
                <a:latin typeface="Consolas" panose="020B0609020204030204" pitchFamily="49" charset="0"/>
              </a:rPr>
              <a:t>cls</a:t>
            </a:r>
            <a:r>
              <a:rPr lang="en-US" sz="1500" dirty="0">
                <a:latin typeface="Consolas" panose="020B0609020204030204" pitchFamily="49" charset="0"/>
              </a:rPr>
              <a:t>, </a:t>
            </a:r>
            <a:r>
              <a:rPr lang="en-US" sz="1500" dirty="0" err="1">
                <a:latin typeface="Consolas" panose="020B0609020204030204" pitchFamily="49" charset="0"/>
              </a:rPr>
              <a:t>tempCelcius</a:t>
            </a:r>
            <a:r>
              <a:rPr lang="en-US" sz="1500" dirty="0">
                <a:latin typeface="Consolas" panose="020B0609020204030204" pitchFamily="49" charset="0"/>
              </a:rPr>
              <a:t>):</a:t>
            </a:r>
          </a:p>
          <a:p>
            <a:pPr marL="201168" lvl="1" indent="0">
              <a:buNone/>
            </a:pPr>
            <a:r>
              <a:rPr lang="en-US" sz="1500" dirty="0">
                <a:latin typeface="Consolas" panose="020B0609020204030204" pitchFamily="49" charset="0"/>
              </a:rPr>
              <a:t>		    # class method code</a:t>
            </a:r>
          </a:p>
          <a:p>
            <a:pPr marL="201168" lvl="1" indent="0">
              <a:buNone/>
            </a:pPr>
            <a:endParaRPr lang="en-US" sz="1500" dirty="0">
              <a:latin typeface="Consolas" panose="020B0609020204030204" pitchFamily="49" charset="0"/>
            </a:endParaRPr>
          </a:p>
          <a:p>
            <a:pPr marL="201168" lvl="1" indent="0">
              <a:buNone/>
            </a:pPr>
            <a:r>
              <a:rPr lang="en-US" sz="1500" dirty="0">
                <a:latin typeface="Consolas" panose="020B0609020204030204" pitchFamily="49" charset="0"/>
              </a:rPr>
              <a:t>	    @</a:t>
            </a:r>
            <a:r>
              <a:rPr lang="en-US" sz="1500" dirty="0" err="1">
                <a:latin typeface="Consolas" panose="020B0609020204030204" pitchFamily="49" charset="0"/>
              </a:rPr>
              <a:t>staticmethod</a:t>
            </a:r>
            <a:endParaRPr lang="en-US" sz="1500" dirty="0">
              <a:latin typeface="Consolas" panose="020B0609020204030204" pitchFamily="49" charset="0"/>
            </a:endParaRPr>
          </a:p>
          <a:p>
            <a:pPr marL="201168" lvl="1" indent="0">
              <a:buNone/>
            </a:pPr>
            <a:r>
              <a:rPr lang="en-US" sz="1500" dirty="0">
                <a:latin typeface="Consolas" panose="020B0609020204030204" pitchFamily="49" charset="0"/>
              </a:rPr>
              <a:t>		</a:t>
            </a:r>
            <a:r>
              <a:rPr lang="en-US" sz="1500" dirty="0" err="1">
                <a:latin typeface="Consolas" panose="020B0609020204030204" pitchFamily="49" charset="0"/>
              </a:rPr>
              <a:t>def</a:t>
            </a:r>
            <a:r>
              <a:rPr lang="en-US" sz="1500" dirty="0">
                <a:latin typeface="Consolas" panose="020B0609020204030204" pitchFamily="49" charset="0"/>
              </a:rPr>
              <a:t> </a:t>
            </a:r>
            <a:r>
              <a:rPr lang="en-US" sz="1500" dirty="0" err="1">
                <a:solidFill>
                  <a:srgbClr val="0070C0"/>
                </a:solidFill>
                <a:latin typeface="Consolas" panose="020B0609020204030204" pitchFamily="49" charset="0"/>
              </a:rPr>
              <a:t>convert_to_fahrenheit</a:t>
            </a:r>
            <a:r>
              <a:rPr lang="en-US" sz="1500" dirty="0">
                <a:latin typeface="Consolas" panose="020B0609020204030204" pitchFamily="49" charset="0"/>
              </a:rPr>
              <a:t>(</a:t>
            </a:r>
            <a:r>
              <a:rPr lang="en-US" sz="1500" dirty="0" err="1">
                <a:latin typeface="Consolas" panose="020B0609020204030204" pitchFamily="49" charset="0"/>
              </a:rPr>
              <a:t>tempCelcius</a:t>
            </a:r>
            <a:r>
              <a:rPr lang="en-US" sz="1500" dirty="0">
                <a:latin typeface="Consolas" panose="020B0609020204030204" pitchFamily="49" charset="0"/>
              </a:rPr>
              <a:t>):</a:t>
            </a:r>
          </a:p>
          <a:p>
            <a:pPr marL="201168" lvl="1" indent="0">
              <a:buNone/>
            </a:pPr>
            <a:r>
              <a:rPr lang="en-US" sz="1500" dirty="0">
                <a:latin typeface="Consolas" panose="020B0609020204030204" pitchFamily="49" charset="0"/>
              </a:rPr>
              <a:t>		    # static method code</a:t>
            </a:r>
          </a:p>
        </p:txBody>
      </p:sp>
      <p:sp>
        <p:nvSpPr>
          <p:cNvPr id="5" name="Rectangle 4"/>
          <p:cNvSpPr/>
          <p:nvPr/>
        </p:nvSpPr>
        <p:spPr>
          <a:xfrm>
            <a:off x="5508811" y="4102421"/>
            <a:ext cx="6605196" cy="1061829"/>
          </a:xfrm>
          <a:prstGeom prst="rect">
            <a:avLst/>
          </a:prstGeom>
        </p:spPr>
        <p:txBody>
          <a:bodyPr wrap="square">
            <a:spAutoFit/>
          </a:bodyPr>
          <a:lstStyle/>
          <a:p>
            <a:pPr marL="201168" lvl="1" indent="0">
              <a:buNone/>
            </a:pPr>
            <a:r>
              <a:rPr lang="en-US" sz="1500" dirty="0">
                <a:latin typeface="Consolas" panose="020B0609020204030204" pitchFamily="49" charset="0"/>
              </a:rPr>
              <a:t># code is called on the class directly, not an instance</a:t>
            </a:r>
          </a:p>
          <a:p>
            <a:pPr marL="201168" lvl="1" indent="0">
              <a:buNone/>
            </a:pPr>
            <a:r>
              <a:rPr lang="en-US" sz="1500" dirty="0">
                <a:latin typeface="Consolas" panose="020B0609020204030204" pitchFamily="49" charset="0"/>
              </a:rPr>
              <a:t>temp = </a:t>
            </a:r>
            <a:r>
              <a:rPr lang="en-US" sz="1500" b="1" dirty="0" err="1">
                <a:latin typeface="Consolas" panose="020B0609020204030204" pitchFamily="49" charset="0"/>
              </a:rPr>
              <a:t>Temperature</a:t>
            </a:r>
            <a:r>
              <a:rPr lang="en-US" sz="1500" dirty="0" err="1">
                <a:latin typeface="Consolas" panose="020B0609020204030204" pitchFamily="49" charset="0"/>
              </a:rPr>
              <a:t>.</a:t>
            </a:r>
            <a:r>
              <a:rPr lang="en-US" sz="1500" dirty="0" err="1">
                <a:solidFill>
                  <a:srgbClr val="00B050"/>
                </a:solidFill>
                <a:latin typeface="Consolas" panose="020B0609020204030204" pitchFamily="49" charset="0"/>
              </a:rPr>
              <a:t>from_celcius</a:t>
            </a:r>
            <a:r>
              <a:rPr lang="en-US" sz="1500" dirty="0">
                <a:latin typeface="Consolas" panose="020B0609020204030204" pitchFamily="49" charset="0"/>
              </a:rPr>
              <a:t>(50) #call class method</a:t>
            </a:r>
          </a:p>
          <a:p>
            <a:pPr marL="201168" lvl="1"/>
            <a:r>
              <a:rPr lang="en-US" sz="1500" b="1" dirty="0" err="1">
                <a:latin typeface="Consolas" panose="020B0609020204030204" pitchFamily="49" charset="0"/>
              </a:rPr>
              <a:t>Temperature</a:t>
            </a:r>
            <a:r>
              <a:rPr lang="en-US" sz="1500" dirty="0" err="1">
                <a:latin typeface="Consolas" panose="020B0609020204030204" pitchFamily="49" charset="0"/>
              </a:rPr>
              <a:t>.</a:t>
            </a:r>
            <a:r>
              <a:rPr lang="en-US" sz="1500" dirty="0" err="1">
                <a:solidFill>
                  <a:srgbClr val="0070C0"/>
                </a:solidFill>
                <a:latin typeface="Consolas" panose="020B0609020204030204" pitchFamily="49" charset="0"/>
              </a:rPr>
              <a:t>convert_to_fahrenheit</a:t>
            </a:r>
            <a:r>
              <a:rPr lang="en-US" sz="1500" dirty="0">
                <a:latin typeface="Consolas" panose="020B0609020204030204" pitchFamily="49" charset="0"/>
              </a:rPr>
              <a:t>(100) #call static method</a:t>
            </a:r>
          </a:p>
          <a:p>
            <a:pPr marL="201168" lvl="1" indent="0">
              <a:buNone/>
            </a:pPr>
            <a:endParaRPr lang="en-CA" dirty="0"/>
          </a:p>
        </p:txBody>
      </p:sp>
      <p:cxnSp>
        <p:nvCxnSpPr>
          <p:cNvPr id="7" name="Straight Arrow Connector 6">
            <a:extLst>
              <a:ext uri="{FF2B5EF4-FFF2-40B4-BE49-F238E27FC236}">
                <a16:creationId xmlns:a16="http://schemas.microsoft.com/office/drawing/2014/main" id="{7451A514-24BF-4412-A904-E9059C2AE22D}"/>
              </a:ext>
            </a:extLst>
          </p:cNvPr>
          <p:cNvCxnSpPr>
            <a:cxnSpLocks/>
          </p:cNvCxnSpPr>
          <p:nvPr/>
        </p:nvCxnSpPr>
        <p:spPr>
          <a:xfrm flipH="1">
            <a:off x="2862944" y="4506686"/>
            <a:ext cx="2830285" cy="215671"/>
          </a:xfrm>
          <a:prstGeom prst="straightConnector1">
            <a:avLst/>
          </a:prstGeom>
          <a:ln w="2540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CB76347-8CC9-4D51-BA8E-3E504273D360}"/>
              </a:ext>
            </a:extLst>
          </p:cNvPr>
          <p:cNvCxnSpPr>
            <a:cxnSpLocks/>
          </p:cNvCxnSpPr>
          <p:nvPr/>
        </p:nvCxnSpPr>
        <p:spPr>
          <a:xfrm flipH="1">
            <a:off x="3777345" y="4722357"/>
            <a:ext cx="1915884" cy="883786"/>
          </a:xfrm>
          <a:prstGeom prst="straightConnector1">
            <a:avLst/>
          </a:prstGeom>
          <a:ln w="25400">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14597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2F31E-13AA-4F32-B077-6D7B8EAC0550}"/>
              </a:ext>
            </a:extLst>
          </p:cNvPr>
          <p:cNvSpPr>
            <a:spLocks noGrp="1"/>
          </p:cNvSpPr>
          <p:nvPr>
            <p:ph type="title"/>
          </p:nvPr>
        </p:nvSpPr>
        <p:spPr/>
        <p:txBody>
          <a:bodyPr/>
          <a:lstStyle/>
          <a:p>
            <a:r>
              <a:rPr lang="en-US" dirty="0"/>
              <a:t>Static Methods vs Class Methods</a:t>
            </a:r>
            <a:endParaRPr lang="en-CA" dirty="0"/>
          </a:p>
        </p:txBody>
      </p:sp>
      <p:sp>
        <p:nvSpPr>
          <p:cNvPr id="3" name="Content Placeholder 2">
            <a:extLst>
              <a:ext uri="{FF2B5EF4-FFF2-40B4-BE49-F238E27FC236}">
                <a16:creationId xmlns:a16="http://schemas.microsoft.com/office/drawing/2014/main" id="{63B3DCC5-154C-4CD7-A78B-9AFD1991759A}"/>
              </a:ext>
            </a:extLst>
          </p:cNvPr>
          <p:cNvSpPr>
            <a:spLocks noGrp="1"/>
          </p:cNvSpPr>
          <p:nvPr>
            <p:ph idx="1"/>
          </p:nvPr>
        </p:nvSpPr>
        <p:spPr>
          <a:xfrm>
            <a:off x="1021976" y="1845734"/>
            <a:ext cx="10402645" cy="4447490"/>
          </a:xfrm>
        </p:spPr>
        <p:txBody>
          <a:bodyPr>
            <a:normAutofit fontScale="92500" lnSpcReduction="20000"/>
          </a:bodyPr>
          <a:lstStyle/>
          <a:p>
            <a:r>
              <a:rPr lang="en-US" sz="2200" dirty="0"/>
              <a:t>Hold on, Static Methods and Class methods seem pretty similar, what’s the difference?</a:t>
            </a:r>
          </a:p>
          <a:p>
            <a:r>
              <a:rPr lang="en-US" sz="2200" dirty="0"/>
              <a:t>Differences:</a:t>
            </a:r>
          </a:p>
          <a:p>
            <a:pPr lvl="1"/>
            <a:r>
              <a:rPr lang="en-US" sz="2200" dirty="0"/>
              <a:t>Static Methods – Purpose is to perform operation </a:t>
            </a:r>
            <a:r>
              <a:rPr lang="en-US" sz="2200" b="1" dirty="0"/>
              <a:t>WITHOUT</a:t>
            </a:r>
            <a:r>
              <a:rPr lang="en-US" sz="2200" dirty="0"/>
              <a:t> access to static class variables. </a:t>
            </a:r>
          </a:p>
          <a:p>
            <a:pPr lvl="1"/>
            <a:r>
              <a:rPr lang="en-US" sz="2200" dirty="0"/>
              <a:t>use @</a:t>
            </a:r>
            <a:r>
              <a:rPr lang="en-US" sz="2200" dirty="0" err="1"/>
              <a:t>staticmethod</a:t>
            </a:r>
            <a:r>
              <a:rPr lang="en-US" sz="2200" dirty="0"/>
              <a:t> decorator. Do NOT use </a:t>
            </a:r>
            <a:r>
              <a:rPr lang="en-US" sz="2200" b="1" dirty="0" err="1">
                <a:solidFill>
                  <a:srgbClr val="FF0000"/>
                </a:solidFill>
              </a:rPr>
              <a:t>cls</a:t>
            </a:r>
            <a:r>
              <a:rPr lang="en-US" sz="2200" dirty="0"/>
              <a:t> as first parameter. </a:t>
            </a:r>
          </a:p>
          <a:p>
            <a:pPr marL="384048" lvl="2" indent="0">
              <a:buNone/>
            </a:pPr>
            <a:r>
              <a:rPr lang="en-US" sz="1900" dirty="0">
                <a:latin typeface="Consolas" panose="020B0609020204030204" pitchFamily="49" charset="0"/>
              </a:rPr>
              <a:t>@</a:t>
            </a:r>
            <a:r>
              <a:rPr lang="en-US" sz="1900" dirty="0" err="1">
                <a:latin typeface="Consolas" panose="020B0609020204030204" pitchFamily="49" charset="0"/>
              </a:rPr>
              <a:t>staticmethod</a:t>
            </a:r>
            <a:endParaRPr lang="en-US" sz="1900" dirty="0">
              <a:latin typeface="Consolas" panose="020B0609020204030204" pitchFamily="49" charset="0"/>
            </a:endParaRPr>
          </a:p>
          <a:p>
            <a:pPr marL="384048" lvl="2" indent="0">
              <a:buNone/>
            </a:pPr>
            <a:r>
              <a:rPr lang="en-US" sz="1900" dirty="0" err="1">
                <a:latin typeface="Consolas" panose="020B0609020204030204" pitchFamily="49" charset="0"/>
              </a:rPr>
              <a:t>def</a:t>
            </a:r>
            <a:r>
              <a:rPr lang="en-US" sz="1900" dirty="0">
                <a:latin typeface="Consolas" panose="020B0609020204030204" pitchFamily="49" charset="0"/>
              </a:rPr>
              <a:t> </a:t>
            </a:r>
            <a:r>
              <a:rPr lang="en-US" sz="1900" dirty="0" err="1">
                <a:latin typeface="Consolas" panose="020B0609020204030204" pitchFamily="49" charset="0"/>
              </a:rPr>
              <a:t>convert_to_fahrenheit</a:t>
            </a:r>
            <a:r>
              <a:rPr lang="en-US" sz="1900" dirty="0">
                <a:latin typeface="Consolas" panose="020B0609020204030204" pitchFamily="49" charset="0"/>
              </a:rPr>
              <a:t>(</a:t>
            </a:r>
            <a:r>
              <a:rPr lang="en-US" sz="1900" dirty="0" err="1">
                <a:latin typeface="Consolas" panose="020B0609020204030204" pitchFamily="49" charset="0"/>
              </a:rPr>
              <a:t>tempCelcius</a:t>
            </a:r>
            <a:r>
              <a:rPr lang="en-US" sz="1900" dirty="0">
                <a:latin typeface="Consolas" panose="020B0609020204030204" pitchFamily="49" charset="0"/>
              </a:rPr>
              <a:t>):</a:t>
            </a:r>
          </a:p>
          <a:p>
            <a:pPr marL="201168" lvl="1" indent="0">
              <a:buNone/>
            </a:pPr>
            <a:r>
              <a:rPr lang="en-US" dirty="0">
                <a:latin typeface="Consolas" panose="020B0609020204030204" pitchFamily="49" charset="0"/>
              </a:rPr>
              <a:t>	</a:t>
            </a:r>
            <a:r>
              <a:rPr lang="en-US" dirty="0" err="1">
                <a:latin typeface="Consolas" panose="020B0609020204030204" pitchFamily="49" charset="0"/>
              </a:rPr>
              <a:t>celcius</a:t>
            </a:r>
            <a:r>
              <a:rPr lang="en-US" dirty="0">
                <a:latin typeface="Consolas" panose="020B0609020204030204" pitchFamily="49" charset="0"/>
              </a:rPr>
              <a:t> = (</a:t>
            </a:r>
            <a:r>
              <a:rPr lang="en-US" dirty="0" err="1">
                <a:latin typeface="Consolas" panose="020B0609020204030204" pitchFamily="49" charset="0"/>
              </a:rPr>
              <a:t>tempCelcius</a:t>
            </a:r>
            <a:r>
              <a:rPr lang="en-US" dirty="0">
                <a:latin typeface="Consolas" panose="020B0609020204030204" pitchFamily="49" charset="0"/>
              </a:rPr>
              <a:t> * 9/5) + 32</a:t>
            </a:r>
          </a:p>
          <a:p>
            <a:pPr marL="201168" lvl="1" indent="0">
              <a:buNone/>
            </a:pPr>
            <a:r>
              <a:rPr lang="en-US" dirty="0">
                <a:latin typeface="Consolas" panose="020B0609020204030204" pitchFamily="49" charset="0"/>
              </a:rPr>
              <a:t>	return </a:t>
            </a:r>
            <a:r>
              <a:rPr lang="en-US" dirty="0" err="1">
                <a:latin typeface="Consolas" panose="020B0609020204030204" pitchFamily="49" charset="0"/>
              </a:rPr>
              <a:t>celcius</a:t>
            </a:r>
            <a:endParaRPr lang="en-US" sz="1900" dirty="0">
              <a:latin typeface="Consolas" panose="020B0609020204030204" pitchFamily="49" charset="0"/>
            </a:endParaRPr>
          </a:p>
          <a:p>
            <a:pPr marL="384048" lvl="2" indent="0">
              <a:buNone/>
            </a:pPr>
            <a:endParaRPr lang="en-US" sz="1600" dirty="0"/>
          </a:p>
          <a:p>
            <a:pPr lvl="1"/>
            <a:r>
              <a:rPr lang="en-US" sz="2200" dirty="0"/>
              <a:t>Class Methods – Purpose is to perform operation </a:t>
            </a:r>
            <a:r>
              <a:rPr lang="en-US" sz="2200" b="1" dirty="0"/>
              <a:t>WITH</a:t>
            </a:r>
            <a:r>
              <a:rPr lang="en-US" sz="2200" dirty="0"/>
              <a:t> access to static class</a:t>
            </a:r>
            <a:endParaRPr lang="en-US" sz="2200" b="1" dirty="0"/>
          </a:p>
          <a:p>
            <a:pPr lvl="1"/>
            <a:r>
              <a:rPr lang="en-US" sz="2200" dirty="0"/>
              <a:t>Use @</a:t>
            </a:r>
            <a:r>
              <a:rPr lang="en-US" sz="2200" dirty="0" err="1"/>
              <a:t>classmethod</a:t>
            </a:r>
            <a:r>
              <a:rPr lang="en-US" sz="2200" dirty="0"/>
              <a:t> decorator. Use </a:t>
            </a:r>
            <a:r>
              <a:rPr lang="en-US" sz="2200" b="1" dirty="0" err="1">
                <a:solidFill>
                  <a:srgbClr val="FF0000"/>
                </a:solidFill>
              </a:rPr>
              <a:t>cls</a:t>
            </a:r>
            <a:r>
              <a:rPr lang="en-US" sz="2200" dirty="0"/>
              <a:t> as first parameter. </a:t>
            </a:r>
            <a:r>
              <a:rPr lang="en-US" sz="2200" b="1" dirty="0" err="1"/>
              <a:t>cls</a:t>
            </a:r>
            <a:r>
              <a:rPr lang="en-US" sz="2200" dirty="0"/>
              <a:t> parameter automatically passed in</a:t>
            </a:r>
          </a:p>
          <a:p>
            <a:pPr marL="384048" lvl="2" indent="0">
              <a:buNone/>
            </a:pPr>
            <a:r>
              <a:rPr lang="en-US" sz="1900" dirty="0">
                <a:latin typeface="Consolas" panose="020B0609020204030204" pitchFamily="49" charset="0"/>
              </a:rPr>
              <a:t>@</a:t>
            </a:r>
            <a:r>
              <a:rPr lang="en-US" sz="1900" dirty="0" err="1">
                <a:latin typeface="Consolas" panose="020B0609020204030204" pitchFamily="49" charset="0"/>
              </a:rPr>
              <a:t>classmethod</a:t>
            </a:r>
            <a:br>
              <a:rPr lang="en-US" sz="1900" dirty="0">
                <a:latin typeface="Consolas" panose="020B0609020204030204" pitchFamily="49" charset="0"/>
              </a:rPr>
            </a:br>
            <a:r>
              <a:rPr lang="en-US" sz="1900" dirty="0" err="1">
                <a:latin typeface="Consolas" panose="020B0609020204030204" pitchFamily="49" charset="0"/>
              </a:rPr>
              <a:t>def</a:t>
            </a:r>
            <a:r>
              <a:rPr lang="en-US" sz="1900" dirty="0">
                <a:latin typeface="Consolas" panose="020B0609020204030204" pitchFamily="49" charset="0"/>
              </a:rPr>
              <a:t> </a:t>
            </a:r>
            <a:r>
              <a:rPr lang="en-US" sz="1900" dirty="0" err="1">
                <a:latin typeface="Consolas" panose="020B0609020204030204" pitchFamily="49" charset="0"/>
              </a:rPr>
              <a:t>from_celcius</a:t>
            </a:r>
            <a:r>
              <a:rPr lang="en-US" sz="1900" dirty="0">
                <a:latin typeface="Consolas" panose="020B0609020204030204" pitchFamily="49" charset="0"/>
              </a:rPr>
              <a:t>(</a:t>
            </a:r>
            <a:r>
              <a:rPr lang="en-US" sz="1900" b="1" dirty="0" err="1">
                <a:solidFill>
                  <a:srgbClr val="FF0000"/>
                </a:solidFill>
                <a:latin typeface="Consolas" panose="020B0609020204030204" pitchFamily="49" charset="0"/>
              </a:rPr>
              <a:t>cls</a:t>
            </a:r>
            <a:r>
              <a:rPr lang="en-US" sz="1900" dirty="0">
                <a:latin typeface="Consolas" panose="020B0609020204030204" pitchFamily="49" charset="0"/>
              </a:rPr>
              <a:t>, </a:t>
            </a:r>
            <a:r>
              <a:rPr lang="en-US" sz="1900" dirty="0" err="1">
                <a:latin typeface="Consolas" panose="020B0609020204030204" pitchFamily="49" charset="0"/>
              </a:rPr>
              <a:t>tempCelcius</a:t>
            </a:r>
            <a:r>
              <a:rPr lang="en-US" sz="1900" dirty="0">
                <a:latin typeface="Consolas" panose="020B0609020204030204" pitchFamily="49" charset="0"/>
              </a:rPr>
              <a:t>):</a:t>
            </a:r>
          </a:p>
          <a:p>
            <a:pPr marL="384048" lvl="2" indent="0">
              <a:buNone/>
            </a:pPr>
            <a:r>
              <a:rPr lang="en-US" sz="1900" dirty="0">
                <a:latin typeface="Consolas" panose="020B0609020204030204" pitchFamily="49" charset="0"/>
              </a:rPr>
              <a:t>	</a:t>
            </a:r>
            <a:r>
              <a:rPr lang="en-US" sz="1900" dirty="0" err="1">
                <a:latin typeface="Consolas" panose="020B0609020204030204" pitchFamily="49" charset="0"/>
              </a:rPr>
              <a:t>tempFarenheit</a:t>
            </a:r>
            <a:r>
              <a:rPr lang="en-US" sz="1900" dirty="0">
                <a:latin typeface="Consolas" panose="020B0609020204030204" pitchFamily="49" charset="0"/>
              </a:rPr>
              <a:t> = (</a:t>
            </a:r>
            <a:r>
              <a:rPr lang="en-US" sz="1900" dirty="0" err="1">
                <a:latin typeface="Consolas" panose="020B0609020204030204" pitchFamily="49" charset="0"/>
              </a:rPr>
              <a:t>tempCelcius</a:t>
            </a:r>
            <a:r>
              <a:rPr lang="en-US" sz="1900" dirty="0">
                <a:latin typeface="Consolas" panose="020B0609020204030204" pitchFamily="49" charset="0"/>
              </a:rPr>
              <a:t> * 9/5) + 32</a:t>
            </a:r>
          </a:p>
          <a:p>
            <a:pPr marL="384048" lvl="2" indent="0">
              <a:buNone/>
            </a:pPr>
            <a:r>
              <a:rPr lang="en-US" sz="1900" dirty="0">
                <a:latin typeface="Consolas" panose="020B0609020204030204" pitchFamily="49" charset="0"/>
              </a:rPr>
              <a:t>	return </a:t>
            </a:r>
            <a:r>
              <a:rPr lang="en-US" sz="1900" b="1" dirty="0" err="1">
                <a:solidFill>
                  <a:srgbClr val="FF0000"/>
                </a:solidFill>
                <a:latin typeface="Consolas" panose="020B0609020204030204" pitchFamily="49" charset="0"/>
              </a:rPr>
              <a:t>cls</a:t>
            </a:r>
            <a:r>
              <a:rPr lang="en-US" sz="1900" dirty="0">
                <a:latin typeface="Consolas" panose="020B0609020204030204" pitchFamily="49" charset="0"/>
              </a:rPr>
              <a:t>(</a:t>
            </a:r>
            <a:r>
              <a:rPr lang="en-US" sz="1900" dirty="0" err="1">
                <a:latin typeface="Consolas" panose="020B0609020204030204" pitchFamily="49" charset="0"/>
              </a:rPr>
              <a:t>tempFarenheit</a:t>
            </a:r>
            <a:r>
              <a:rPr lang="en-US" sz="1900" dirty="0">
                <a:latin typeface="Consolas" panose="020B0609020204030204" pitchFamily="49" charset="0"/>
              </a:rPr>
              <a:t>)</a:t>
            </a:r>
          </a:p>
          <a:p>
            <a:pPr lvl="1"/>
            <a:endParaRPr lang="en-US" sz="2000" dirty="0"/>
          </a:p>
          <a:p>
            <a:pPr lvl="1"/>
            <a:endParaRPr lang="en-US" sz="2000" dirty="0"/>
          </a:p>
          <a:p>
            <a:pPr lvl="1"/>
            <a:endParaRPr lang="en-US" dirty="0">
              <a:latin typeface="Consolas" panose="020B0609020204030204" pitchFamily="49" charset="0"/>
            </a:endParaRPr>
          </a:p>
        </p:txBody>
      </p:sp>
    </p:spTree>
    <p:extLst>
      <p:ext uri="{BB962C8B-B14F-4D97-AF65-F5344CB8AC3E}">
        <p14:creationId xmlns:p14="http://schemas.microsoft.com/office/powerpoint/2010/main" val="24507977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11DEB-D5E9-E24F-A4B5-2E20D8422D01}"/>
              </a:ext>
            </a:extLst>
          </p:cNvPr>
          <p:cNvSpPr>
            <a:spLocks noGrp="1"/>
          </p:cNvSpPr>
          <p:nvPr>
            <p:ph type="title"/>
          </p:nvPr>
        </p:nvSpPr>
        <p:spPr/>
        <p:txBody>
          <a:bodyPr/>
          <a:lstStyle/>
          <a:p>
            <a:r>
              <a:rPr lang="en-US" dirty="0"/>
              <a:t>All the concepts together!</a:t>
            </a:r>
          </a:p>
        </p:txBody>
      </p:sp>
      <p:sp>
        <p:nvSpPr>
          <p:cNvPr id="3" name="Content Placeholder 2">
            <a:extLst>
              <a:ext uri="{FF2B5EF4-FFF2-40B4-BE49-F238E27FC236}">
                <a16:creationId xmlns:a16="http://schemas.microsoft.com/office/drawing/2014/main" id="{B76865E6-94CA-C646-B68A-16E3BA536A2C}"/>
              </a:ext>
            </a:extLst>
          </p:cNvPr>
          <p:cNvSpPr>
            <a:spLocks noGrp="1"/>
          </p:cNvSpPr>
          <p:nvPr>
            <p:ph idx="1"/>
          </p:nvPr>
        </p:nvSpPr>
        <p:spPr>
          <a:xfrm>
            <a:off x="856488" y="1845734"/>
            <a:ext cx="10299192" cy="4023360"/>
          </a:xfrm>
        </p:spPr>
        <p:txBody>
          <a:bodyPr>
            <a:normAutofit fontScale="92500" lnSpcReduction="10000"/>
          </a:bodyPr>
          <a:lstStyle/>
          <a:p>
            <a:r>
              <a:rPr lang="en-US" sz="3600" dirty="0"/>
              <a:t>Let’s check out </a:t>
            </a:r>
            <a:r>
              <a:rPr lang="en-US" sz="3600" dirty="0">
                <a:solidFill>
                  <a:srgbClr val="0070C0"/>
                </a:solidFill>
              </a:rPr>
              <a:t>cat.py</a:t>
            </a:r>
          </a:p>
          <a:p>
            <a:pPr lvl="1"/>
            <a:r>
              <a:rPr lang="en-US" sz="3000" dirty="0"/>
              <a:t>Class declaration</a:t>
            </a:r>
          </a:p>
          <a:p>
            <a:pPr lvl="1"/>
            <a:r>
              <a:rPr lang="en-US" sz="3000" dirty="0"/>
              <a:t>Instance/class variables</a:t>
            </a:r>
          </a:p>
          <a:p>
            <a:pPr lvl="1"/>
            <a:r>
              <a:rPr lang="en-US" sz="3000" dirty="0"/>
              <a:t>Initializer (self)</a:t>
            </a:r>
          </a:p>
          <a:p>
            <a:pPr lvl="1"/>
            <a:r>
              <a:rPr lang="en-US" sz="3000" dirty="0"/>
              <a:t>Instantiation</a:t>
            </a:r>
          </a:p>
          <a:p>
            <a:pPr lvl="1"/>
            <a:r>
              <a:rPr lang="en-US" sz="3000" dirty="0"/>
              <a:t>Methods</a:t>
            </a:r>
          </a:p>
          <a:p>
            <a:pPr lvl="1"/>
            <a:r>
              <a:rPr lang="en-US" sz="3000" dirty="0"/>
              <a:t>Static, class methods (</a:t>
            </a:r>
            <a:r>
              <a:rPr lang="en-US" sz="3000" dirty="0" err="1"/>
              <a:t>cls</a:t>
            </a:r>
            <a:r>
              <a:rPr lang="en-US" sz="3000" dirty="0"/>
              <a:t>)</a:t>
            </a:r>
          </a:p>
          <a:p>
            <a:pPr lvl="1"/>
            <a:r>
              <a:rPr lang="en-US" sz="3000" dirty="0"/>
              <a:t>_ (‘private’ variables)</a:t>
            </a:r>
          </a:p>
          <a:p>
            <a:pPr lvl="1"/>
            <a:r>
              <a:rPr lang="en-US" sz="3000" dirty="0"/>
              <a:t>__ (</a:t>
            </a:r>
            <a:r>
              <a:rPr lang="en-US" sz="3000" dirty="0" err="1"/>
              <a:t>dunder</a:t>
            </a:r>
            <a:r>
              <a:rPr lang="en-US" sz="3000" dirty="0"/>
              <a:t>)</a:t>
            </a:r>
          </a:p>
        </p:txBody>
      </p:sp>
    </p:spTree>
    <p:extLst>
      <p:ext uri="{BB962C8B-B14F-4D97-AF65-F5344CB8AC3E}">
        <p14:creationId xmlns:p14="http://schemas.microsoft.com/office/powerpoint/2010/main" val="25846208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11DEB-D5E9-E24F-A4B5-2E20D8422D01}"/>
              </a:ext>
            </a:extLst>
          </p:cNvPr>
          <p:cNvSpPr>
            <a:spLocks noGrp="1"/>
          </p:cNvSpPr>
          <p:nvPr>
            <p:ph type="title"/>
          </p:nvPr>
        </p:nvSpPr>
        <p:spPr/>
        <p:txBody>
          <a:bodyPr/>
          <a:lstStyle/>
          <a:p>
            <a:r>
              <a:rPr lang="en-US" dirty="0"/>
              <a:t>Designing classes (and functions, too!)</a:t>
            </a:r>
          </a:p>
        </p:txBody>
      </p:sp>
      <p:sp>
        <p:nvSpPr>
          <p:cNvPr id="3" name="Content Placeholder 2">
            <a:extLst>
              <a:ext uri="{FF2B5EF4-FFF2-40B4-BE49-F238E27FC236}">
                <a16:creationId xmlns:a16="http://schemas.microsoft.com/office/drawing/2014/main" id="{B76865E6-94CA-C646-B68A-16E3BA536A2C}"/>
              </a:ext>
            </a:extLst>
          </p:cNvPr>
          <p:cNvSpPr>
            <a:spLocks noGrp="1"/>
          </p:cNvSpPr>
          <p:nvPr>
            <p:ph idx="1"/>
          </p:nvPr>
        </p:nvSpPr>
        <p:spPr>
          <a:xfrm>
            <a:off x="856488" y="1845734"/>
            <a:ext cx="5239512" cy="4023360"/>
          </a:xfrm>
        </p:spPr>
        <p:txBody>
          <a:bodyPr>
            <a:normAutofit fontScale="70000" lnSpcReduction="20000"/>
          </a:bodyPr>
          <a:lstStyle/>
          <a:p>
            <a:r>
              <a:rPr lang="en-US" sz="3600" b="1" u="sng" dirty="0"/>
              <a:t>Design before you code!</a:t>
            </a:r>
          </a:p>
          <a:p>
            <a:endParaRPr lang="en-US" sz="3600" dirty="0"/>
          </a:p>
          <a:p>
            <a:r>
              <a:rPr lang="en-US" sz="3600" dirty="0"/>
              <a:t>Every class needs to be well-defined:</a:t>
            </a:r>
          </a:p>
          <a:p>
            <a:pPr marL="914400" lvl="1" indent="-457200">
              <a:buFont typeface="+mj-lt"/>
              <a:buAutoNum type="arabicPeriod"/>
            </a:pPr>
            <a:r>
              <a:rPr lang="en-US" sz="3200" dirty="0"/>
              <a:t>Represents a single clear concept</a:t>
            </a:r>
          </a:p>
          <a:p>
            <a:pPr marL="914400" lvl="1" indent="-457200">
              <a:buFont typeface="+mj-lt"/>
              <a:buAutoNum type="arabicPeriod"/>
            </a:pPr>
            <a:r>
              <a:rPr lang="en-US" sz="3200" dirty="0"/>
              <a:t>Maintain information by storing data in instance variables</a:t>
            </a:r>
          </a:p>
          <a:p>
            <a:pPr marL="914400" lvl="1" indent="-457200">
              <a:buFont typeface="+mj-lt"/>
              <a:buAutoNum type="arabicPeriod"/>
            </a:pPr>
            <a:r>
              <a:rPr lang="en-US" sz="3200" dirty="0"/>
              <a:t>Perform actions by executing code in their methods and modifying the state of the program</a:t>
            </a:r>
          </a:p>
          <a:p>
            <a:pPr marL="914400" lvl="1" indent="-457200">
              <a:buFont typeface="+mj-lt"/>
              <a:buAutoNum type="arabicPeriod"/>
            </a:pPr>
            <a:r>
              <a:rPr lang="en-US" sz="3200" dirty="0"/>
              <a:t>Don’t duplicate data</a:t>
            </a:r>
          </a:p>
          <a:p>
            <a:pPr marL="914400" lvl="1" indent="-457200">
              <a:buFont typeface="+mj-lt"/>
              <a:buAutoNum type="arabicPeriod"/>
            </a:pPr>
            <a:r>
              <a:rPr lang="en-US" sz="3200" dirty="0"/>
              <a:t>Don’t store more than we need</a:t>
            </a:r>
          </a:p>
          <a:p>
            <a:pPr marL="914400" lvl="1" indent="-457200">
              <a:buFont typeface="+mj-lt"/>
              <a:buAutoNum type="arabicPeriod"/>
            </a:pPr>
            <a:r>
              <a:rPr lang="en-US" sz="3200" dirty="0"/>
              <a:t>Minimize “moving parts”</a:t>
            </a:r>
          </a:p>
        </p:txBody>
      </p:sp>
      <p:pic>
        <p:nvPicPr>
          <p:cNvPr id="8194" name="Picture 2" descr="Image result for uml class design">
            <a:extLst>
              <a:ext uri="{FF2B5EF4-FFF2-40B4-BE49-F238E27FC236}">
                <a16:creationId xmlns:a16="http://schemas.microsoft.com/office/drawing/2014/main" id="{FFC39722-270C-4230-80DD-B0637E114C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028063"/>
            <a:ext cx="5734050" cy="4210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0358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11DEB-D5E9-E24F-A4B5-2E20D8422D01}"/>
              </a:ext>
            </a:extLst>
          </p:cNvPr>
          <p:cNvSpPr>
            <a:spLocks noGrp="1"/>
          </p:cNvSpPr>
          <p:nvPr>
            <p:ph type="title"/>
          </p:nvPr>
        </p:nvSpPr>
        <p:spPr/>
        <p:txBody>
          <a:bodyPr/>
          <a:lstStyle/>
          <a:p>
            <a:r>
              <a:rPr lang="en-US" dirty="0"/>
              <a:t>Designing classes (and functions, too!)</a:t>
            </a:r>
          </a:p>
        </p:txBody>
      </p:sp>
      <p:sp>
        <p:nvSpPr>
          <p:cNvPr id="3" name="Content Placeholder 2">
            <a:extLst>
              <a:ext uri="{FF2B5EF4-FFF2-40B4-BE49-F238E27FC236}">
                <a16:creationId xmlns:a16="http://schemas.microsoft.com/office/drawing/2014/main" id="{B76865E6-94CA-C646-B68A-16E3BA536A2C}"/>
              </a:ext>
            </a:extLst>
          </p:cNvPr>
          <p:cNvSpPr>
            <a:spLocks noGrp="1"/>
          </p:cNvSpPr>
          <p:nvPr>
            <p:ph idx="1"/>
          </p:nvPr>
        </p:nvSpPr>
        <p:spPr/>
        <p:txBody>
          <a:bodyPr>
            <a:normAutofit/>
          </a:bodyPr>
          <a:lstStyle/>
          <a:p>
            <a:r>
              <a:rPr lang="en-US" dirty="0"/>
              <a:t>Be thoughtful about identifiers:</a:t>
            </a:r>
          </a:p>
          <a:p>
            <a:pPr marL="914400" lvl="1" indent="-457200">
              <a:buFont typeface="+mj-lt"/>
              <a:buAutoNum type="arabicPeriod"/>
            </a:pPr>
            <a:r>
              <a:rPr lang="en-US" dirty="0"/>
              <a:t>Think of names as </a:t>
            </a:r>
            <a:r>
              <a:rPr lang="en-US" sz="2800" dirty="0"/>
              <a:t>documentation</a:t>
            </a:r>
            <a:endParaRPr lang="en-US" dirty="0"/>
          </a:p>
          <a:p>
            <a:pPr marL="914400" lvl="1" indent="-457200">
              <a:buFont typeface="+mj-lt"/>
              <a:buAutoNum type="arabicPeriod"/>
            </a:pPr>
            <a:r>
              <a:rPr lang="en-US" b="1" dirty="0"/>
              <a:t>Invest time </a:t>
            </a:r>
            <a:r>
              <a:rPr lang="en-US" dirty="0"/>
              <a:t>in finding the most appropriate names</a:t>
            </a:r>
          </a:p>
          <a:p>
            <a:pPr marL="914400" lvl="1" indent="-457200">
              <a:buFont typeface="+mj-lt"/>
              <a:buAutoNum type="arabicPeriod"/>
            </a:pPr>
            <a:r>
              <a:rPr lang="en-US" dirty="0"/>
              <a:t>Use similar names for similar things, and different names for different things</a:t>
            </a:r>
          </a:p>
          <a:p>
            <a:pPr marL="914400" lvl="1" indent="-457200">
              <a:buFont typeface="+mj-lt"/>
              <a:buAutoNum type="arabicPeriod"/>
            </a:pPr>
            <a:r>
              <a:rPr lang="en-US" dirty="0"/>
              <a:t>Make names pronounceable</a:t>
            </a:r>
          </a:p>
          <a:p>
            <a:pPr marL="914400" lvl="1" indent="-457200">
              <a:buFont typeface="+mj-lt"/>
              <a:buAutoNum type="arabicPeriod"/>
            </a:pPr>
            <a:r>
              <a:rPr lang="en-US" dirty="0"/>
              <a:t>The </a:t>
            </a:r>
            <a:r>
              <a:rPr lang="en-US" sz="3600" dirty="0"/>
              <a:t>source code should tell its own story</a:t>
            </a:r>
            <a:endParaRPr lang="en-US" dirty="0"/>
          </a:p>
          <a:p>
            <a:pPr marL="914400" lvl="1" indent="-457200">
              <a:buFont typeface="+mj-lt"/>
              <a:buAutoNum type="arabicPeriod"/>
            </a:pPr>
            <a:r>
              <a:rPr lang="en-US" dirty="0"/>
              <a:t>Public names should be understandable without knowing the internals</a:t>
            </a:r>
          </a:p>
          <a:p>
            <a:pPr marL="914400" lvl="1" indent="-457200">
              <a:buFont typeface="+mj-lt"/>
              <a:buAutoNum type="arabicPeriod"/>
            </a:pPr>
            <a:r>
              <a:rPr lang="en-US" dirty="0"/>
              <a:t>Don’t joke with names</a:t>
            </a:r>
          </a:p>
        </p:txBody>
      </p:sp>
    </p:spTree>
    <p:extLst>
      <p:ext uri="{BB962C8B-B14F-4D97-AF65-F5344CB8AC3E}">
        <p14:creationId xmlns:p14="http://schemas.microsoft.com/office/powerpoint/2010/main" val="10194724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8E4AF-3539-1240-9D94-00AFC6296488}"/>
              </a:ext>
            </a:extLst>
          </p:cNvPr>
          <p:cNvSpPr>
            <a:spLocks noGrp="1"/>
          </p:cNvSpPr>
          <p:nvPr>
            <p:ph type="title"/>
          </p:nvPr>
        </p:nvSpPr>
        <p:spPr/>
        <p:txBody>
          <a:bodyPr/>
          <a:lstStyle/>
          <a:p>
            <a:r>
              <a:rPr lang="en-US" dirty="0"/>
              <a:t>OOP = Collaboration and composition</a:t>
            </a:r>
          </a:p>
        </p:txBody>
      </p:sp>
      <p:sp>
        <p:nvSpPr>
          <p:cNvPr id="3" name="Content Placeholder 2">
            <a:extLst>
              <a:ext uri="{FF2B5EF4-FFF2-40B4-BE49-F238E27FC236}">
                <a16:creationId xmlns:a16="http://schemas.microsoft.com/office/drawing/2014/main" id="{B829F600-A4E5-A14D-82EA-024E5A54D89B}"/>
              </a:ext>
            </a:extLst>
          </p:cNvPr>
          <p:cNvSpPr>
            <a:spLocks noGrp="1"/>
          </p:cNvSpPr>
          <p:nvPr>
            <p:ph idx="1"/>
          </p:nvPr>
        </p:nvSpPr>
        <p:spPr/>
        <p:txBody>
          <a:bodyPr/>
          <a:lstStyle/>
          <a:p>
            <a:r>
              <a:rPr lang="en-US" dirty="0"/>
              <a:t>Remember that objects are (usually) team players</a:t>
            </a:r>
          </a:p>
          <a:p>
            <a:r>
              <a:rPr lang="en-US" dirty="0"/>
              <a:t>When some other object already has the data and logic for performing a task, we delegate the work to it</a:t>
            </a:r>
          </a:p>
          <a:p>
            <a:r>
              <a:rPr lang="en-US" dirty="0"/>
              <a:t>We say that the objects collaborate</a:t>
            </a:r>
          </a:p>
          <a:p>
            <a:r>
              <a:rPr lang="en-US" dirty="0"/>
              <a:t>An </a:t>
            </a:r>
            <a:r>
              <a:rPr lang="en-US" sz="3600" dirty="0"/>
              <a:t>object will often store its collaborators as its data attributes</a:t>
            </a:r>
            <a:r>
              <a:rPr lang="en-US" dirty="0"/>
              <a:t>, because it refers to them frequently throughout its lifetime</a:t>
            </a:r>
          </a:p>
          <a:p>
            <a:r>
              <a:rPr lang="en-US" dirty="0"/>
              <a:t>An object is </a:t>
            </a:r>
            <a:r>
              <a:rPr lang="en-US" sz="3200" b="1" dirty="0"/>
              <a:t>composed</a:t>
            </a:r>
            <a:r>
              <a:rPr lang="en-US" dirty="0"/>
              <a:t> of collaborators that it trusts with some of its specific responsibilities</a:t>
            </a:r>
          </a:p>
        </p:txBody>
      </p:sp>
    </p:spTree>
    <p:extLst>
      <p:ext uri="{BB962C8B-B14F-4D97-AF65-F5344CB8AC3E}">
        <p14:creationId xmlns:p14="http://schemas.microsoft.com/office/powerpoint/2010/main" val="6182580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21C8B-18A0-AC44-B895-BC122647E75B}"/>
              </a:ext>
            </a:extLst>
          </p:cNvPr>
          <p:cNvSpPr>
            <a:spLocks noGrp="1"/>
          </p:cNvSpPr>
          <p:nvPr>
            <p:ph type="title"/>
          </p:nvPr>
        </p:nvSpPr>
        <p:spPr/>
        <p:txBody>
          <a:bodyPr/>
          <a:lstStyle/>
          <a:p>
            <a:r>
              <a:rPr lang="en-US" dirty="0"/>
              <a:t>OOP PRINCIPLES</a:t>
            </a:r>
          </a:p>
        </p:txBody>
      </p:sp>
      <p:sp>
        <p:nvSpPr>
          <p:cNvPr id="3" name="Text Placeholder 2">
            <a:extLst>
              <a:ext uri="{FF2B5EF4-FFF2-40B4-BE49-F238E27FC236}">
                <a16:creationId xmlns:a16="http://schemas.microsoft.com/office/drawing/2014/main" id="{5866C6BB-411D-634C-A8F0-F991945877B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229158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8E4AF-3539-1240-9D94-00AFC6296488}"/>
              </a:ext>
            </a:extLst>
          </p:cNvPr>
          <p:cNvSpPr>
            <a:spLocks noGrp="1"/>
          </p:cNvSpPr>
          <p:nvPr>
            <p:ph type="title"/>
          </p:nvPr>
        </p:nvSpPr>
        <p:spPr/>
        <p:txBody>
          <a:bodyPr/>
          <a:lstStyle/>
          <a:p>
            <a:r>
              <a:rPr lang="en-US" dirty="0"/>
              <a:t>What Makes </a:t>
            </a:r>
            <a:r>
              <a:rPr lang="en-US"/>
              <a:t>OOP  </a:t>
            </a:r>
            <a:endParaRPr lang="en-US" dirty="0"/>
          </a:p>
        </p:txBody>
      </p:sp>
      <p:sp>
        <p:nvSpPr>
          <p:cNvPr id="3" name="Content Placeholder 2">
            <a:extLst>
              <a:ext uri="{FF2B5EF4-FFF2-40B4-BE49-F238E27FC236}">
                <a16:creationId xmlns:a16="http://schemas.microsoft.com/office/drawing/2014/main" id="{B829F600-A4E5-A14D-82EA-024E5A54D89B}"/>
              </a:ext>
            </a:extLst>
          </p:cNvPr>
          <p:cNvSpPr>
            <a:spLocks noGrp="1"/>
          </p:cNvSpPr>
          <p:nvPr>
            <p:ph idx="1"/>
          </p:nvPr>
        </p:nvSpPr>
        <p:spPr/>
        <p:txBody>
          <a:bodyPr>
            <a:normAutofit/>
          </a:bodyPr>
          <a:lstStyle/>
          <a:p>
            <a:r>
              <a:rPr lang="en-US" dirty="0"/>
              <a:t>Object-oriented programming (OOP) is a programming paradigm that </a:t>
            </a:r>
            <a:r>
              <a:rPr lang="en-US" b="1" dirty="0"/>
              <a:t>uses abstraction to create models </a:t>
            </a:r>
            <a:r>
              <a:rPr lang="en-US" dirty="0"/>
              <a:t>based on the real world</a:t>
            </a:r>
          </a:p>
          <a:p>
            <a:r>
              <a:rPr lang="en-US" dirty="0"/>
              <a:t>OOP uses several techniques from previously established paradigms, including:</a:t>
            </a:r>
          </a:p>
          <a:p>
            <a:pPr marL="914400" lvl="1" indent="-457200">
              <a:buFont typeface="+mj-lt"/>
              <a:buAutoNum type="arabicPeriod"/>
            </a:pPr>
            <a:r>
              <a:rPr lang="en-US" dirty="0"/>
              <a:t>Modularity and abstraction</a:t>
            </a:r>
          </a:p>
          <a:p>
            <a:pPr marL="914400" lvl="1" indent="-457200">
              <a:buFont typeface="+mj-lt"/>
              <a:buAutoNum type="arabicPeriod"/>
            </a:pPr>
            <a:r>
              <a:rPr lang="en-US" dirty="0"/>
              <a:t>Encapsulation</a:t>
            </a:r>
          </a:p>
          <a:p>
            <a:pPr marL="914400" lvl="1" indent="-457200">
              <a:buFont typeface="+mj-lt"/>
              <a:buAutoNum type="arabicPeriod"/>
            </a:pPr>
            <a:r>
              <a:rPr lang="en-US" dirty="0"/>
              <a:t>Inheritance</a:t>
            </a:r>
          </a:p>
          <a:p>
            <a:pPr marL="914400" lvl="1" indent="-457200">
              <a:buFont typeface="+mj-lt"/>
              <a:buAutoNum type="arabicPeriod"/>
            </a:pPr>
            <a:r>
              <a:rPr lang="en-US" dirty="0"/>
              <a:t>Polymorphism.</a:t>
            </a:r>
          </a:p>
        </p:txBody>
      </p:sp>
    </p:spTree>
    <p:extLst>
      <p:ext uri="{BB962C8B-B14F-4D97-AF65-F5344CB8AC3E}">
        <p14:creationId xmlns:p14="http://schemas.microsoft.com/office/powerpoint/2010/main" val="26918615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29BF4-F32C-1D47-9BDC-8E94244AF96B}"/>
              </a:ext>
            </a:extLst>
          </p:cNvPr>
          <p:cNvSpPr>
            <a:spLocks noGrp="1"/>
          </p:cNvSpPr>
          <p:nvPr>
            <p:ph type="title"/>
          </p:nvPr>
        </p:nvSpPr>
        <p:spPr/>
        <p:txBody>
          <a:bodyPr/>
          <a:lstStyle/>
          <a:p>
            <a:r>
              <a:rPr lang="en-US" dirty="0"/>
              <a:t>Encapsulation (and information hiding)</a:t>
            </a:r>
          </a:p>
        </p:txBody>
      </p:sp>
      <p:sp>
        <p:nvSpPr>
          <p:cNvPr id="3" name="Content Placeholder 2">
            <a:extLst>
              <a:ext uri="{FF2B5EF4-FFF2-40B4-BE49-F238E27FC236}">
                <a16:creationId xmlns:a16="http://schemas.microsoft.com/office/drawing/2014/main" id="{161A12AA-62CC-C441-BDD3-A2FDD06A494B}"/>
              </a:ext>
            </a:extLst>
          </p:cNvPr>
          <p:cNvSpPr>
            <a:spLocks noGrp="1"/>
          </p:cNvSpPr>
          <p:nvPr>
            <p:ph idx="1"/>
          </p:nvPr>
        </p:nvSpPr>
        <p:spPr/>
        <p:txBody>
          <a:bodyPr>
            <a:normAutofit/>
          </a:bodyPr>
          <a:lstStyle/>
          <a:p>
            <a:r>
              <a:rPr lang="en-US" b="1" dirty="0"/>
              <a:t>Encapsulation:</a:t>
            </a:r>
          </a:p>
          <a:p>
            <a:pPr lvl="1"/>
            <a:r>
              <a:rPr lang="en-US" dirty="0"/>
              <a:t>Putting data with the functions that manage it</a:t>
            </a:r>
          </a:p>
          <a:p>
            <a:pPr lvl="1"/>
            <a:r>
              <a:rPr lang="en-US" dirty="0"/>
              <a:t>Wrapping them up in an impenetrable barrier of privacy (A class or a module)</a:t>
            </a:r>
          </a:p>
          <a:p>
            <a:pPr lvl="1"/>
            <a:r>
              <a:rPr lang="en-US" dirty="0"/>
              <a:t>Making state change is reliable and predictable</a:t>
            </a:r>
          </a:p>
          <a:p>
            <a:endParaRPr lang="en-US" dirty="0"/>
          </a:p>
          <a:p>
            <a:r>
              <a:rPr lang="en-US" b="1" dirty="0"/>
              <a:t>Information</a:t>
            </a:r>
            <a:r>
              <a:rPr lang="en-US" dirty="0"/>
              <a:t> </a:t>
            </a:r>
            <a:r>
              <a:rPr lang="en-US" b="1" dirty="0"/>
              <a:t>hiding:</a:t>
            </a:r>
          </a:p>
          <a:p>
            <a:pPr lvl="1"/>
            <a:r>
              <a:rPr lang="en-US" dirty="0"/>
              <a:t>Making a distinction between what is private (how a </a:t>
            </a:r>
            <a:r>
              <a:rPr lang="en-US" dirty="0" err="1"/>
              <a:t>class’</a:t>
            </a:r>
            <a:r>
              <a:rPr lang="en-US" dirty="0"/>
              <a:t> behaviors are implemented) and what is public (what you need to know in order to use the class correctly)</a:t>
            </a:r>
          </a:p>
          <a:p>
            <a:pPr lvl="1"/>
            <a:r>
              <a:rPr lang="en-US" dirty="0"/>
              <a:t>Making the inner working inaccessible</a:t>
            </a:r>
          </a:p>
          <a:p>
            <a:pPr lvl="1"/>
            <a:r>
              <a:rPr lang="en-US" dirty="0"/>
              <a:t>Exposing only the things that absolutely MUST be exposed</a:t>
            </a:r>
          </a:p>
          <a:p>
            <a:endParaRPr lang="en-US" dirty="0"/>
          </a:p>
        </p:txBody>
      </p:sp>
    </p:spTree>
    <p:extLst>
      <p:ext uri="{BB962C8B-B14F-4D97-AF65-F5344CB8AC3E}">
        <p14:creationId xmlns:p14="http://schemas.microsoft.com/office/powerpoint/2010/main" val="26376240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5FF11E-C063-4CE5-BC5D-55933A2E1240}"/>
              </a:ext>
            </a:extLst>
          </p:cNvPr>
          <p:cNvSpPr/>
          <p:nvPr/>
        </p:nvSpPr>
        <p:spPr>
          <a:xfrm>
            <a:off x="0" y="0"/>
            <a:ext cx="12192000"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Content Placeholder 2"/>
          <p:cNvSpPr>
            <a:spLocks noGrp="1"/>
          </p:cNvSpPr>
          <p:nvPr>
            <p:ph idx="1"/>
          </p:nvPr>
        </p:nvSpPr>
        <p:spPr>
          <a:xfrm>
            <a:off x="3505198" y="1539635"/>
            <a:ext cx="5112327" cy="4279274"/>
          </a:xfrm>
          <a:solidFill>
            <a:schemeClr val="bg1"/>
          </a:solidFill>
          <a:ln w="82550">
            <a:solidFill>
              <a:schemeClr val="bg1"/>
            </a:solidFill>
          </a:ln>
        </p:spPr>
        <p:txBody>
          <a:bodyPr>
            <a:noAutofit/>
          </a:bodyPr>
          <a:lstStyle/>
          <a:p>
            <a:endParaRPr lang="en-US" dirty="0"/>
          </a:p>
          <a:p>
            <a:r>
              <a:rPr lang="en-US" dirty="0"/>
              <a:t>An encapsulated object can be thought of as a black box</a:t>
            </a:r>
          </a:p>
          <a:p>
            <a:r>
              <a:rPr lang="en-US" dirty="0"/>
              <a:t>The inner working are hidden from the client object</a:t>
            </a:r>
          </a:p>
          <a:p>
            <a:r>
              <a:rPr lang="en-US" dirty="0"/>
              <a:t>The client object invokes the methods of the object, which manage the instance data</a:t>
            </a:r>
          </a:p>
          <a:p>
            <a:r>
              <a:rPr lang="en-US" dirty="0"/>
              <a:t>Another related term is </a:t>
            </a:r>
            <a:r>
              <a:rPr lang="en-US" sz="3200" b="1" dirty="0"/>
              <a:t>Information Hiding</a:t>
            </a:r>
            <a:endParaRPr lang="en-US" b="1" dirty="0"/>
          </a:p>
        </p:txBody>
      </p:sp>
      <p:sp>
        <p:nvSpPr>
          <p:cNvPr id="19" name="Rectangle 18"/>
          <p:cNvSpPr>
            <a:spLocks noChangeArrowheads="1"/>
          </p:cNvSpPr>
          <p:nvPr/>
        </p:nvSpPr>
        <p:spPr bwMode="auto">
          <a:xfrm>
            <a:off x="6947842" y="4201977"/>
            <a:ext cx="1248" cy="480"/>
          </a:xfrm>
          <a:prstGeom prst="rect">
            <a:avLst/>
          </a:prstGeom>
          <a:solidFill>
            <a:srgbClr val="F5E985"/>
          </a:solidFill>
          <a:ln w="12700">
            <a:solidFill>
              <a:schemeClr val="bg2"/>
            </a:solidFill>
            <a:miter lim="800000"/>
            <a:headEnd type="none" w="sm" len="sm"/>
            <a:tailEnd type="none" w="sm" len="sm"/>
          </a:ln>
        </p:spPr>
        <p:txBody>
          <a:bodyPr wrap="none" anchor="ctr"/>
          <a:lstStyle/>
          <a:p>
            <a:pPr algn="ctr"/>
            <a:endParaRPr lang="en-US" sz="2400" dirty="0">
              <a:latin typeface="Times New Roman" charset="0"/>
            </a:endParaRPr>
          </a:p>
        </p:txBody>
      </p:sp>
      <p:sp>
        <p:nvSpPr>
          <p:cNvPr id="22" name="AutoShape 16"/>
          <p:cNvSpPr>
            <a:spLocks noChangeArrowheads="1"/>
          </p:cNvSpPr>
          <p:nvPr/>
        </p:nvSpPr>
        <p:spPr bwMode="auto">
          <a:xfrm>
            <a:off x="7026783" y="4782182"/>
            <a:ext cx="144" cy="384"/>
          </a:xfrm>
          <a:prstGeom prst="upDownArrow">
            <a:avLst>
              <a:gd name="adj1" fmla="val 50000"/>
              <a:gd name="adj2" fmla="val 53333"/>
            </a:avLst>
          </a:prstGeom>
          <a:solidFill>
            <a:srgbClr val="DE2C28"/>
          </a:solidFill>
          <a:ln w="12700">
            <a:solidFill>
              <a:srgbClr val="DE2C28"/>
            </a:solidFill>
            <a:miter lim="800000"/>
            <a:headEnd type="none" w="sm" len="sm"/>
            <a:tailEnd type="none" w="sm" len="sm"/>
          </a:ln>
        </p:spPr>
        <p:txBody>
          <a:bodyPr wrap="none" anchor="ctr"/>
          <a:lstStyle/>
          <a:p>
            <a:endParaRPr lang="en-US"/>
          </a:p>
        </p:txBody>
      </p:sp>
    </p:spTree>
    <p:extLst>
      <p:ext uri="{BB962C8B-B14F-4D97-AF65-F5344CB8AC3E}">
        <p14:creationId xmlns:p14="http://schemas.microsoft.com/office/powerpoint/2010/main" val="10131883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7D44E-3077-4794-9202-725BB83BCBB2}"/>
              </a:ext>
            </a:extLst>
          </p:cNvPr>
          <p:cNvSpPr>
            <a:spLocks noGrp="1"/>
          </p:cNvSpPr>
          <p:nvPr>
            <p:ph type="title"/>
          </p:nvPr>
        </p:nvSpPr>
        <p:spPr/>
        <p:txBody>
          <a:bodyPr/>
          <a:lstStyle/>
          <a:p>
            <a:r>
              <a:rPr lang="en-US" dirty="0"/>
              <a:t>It’s All About The Interface</a:t>
            </a:r>
            <a:endParaRPr lang="en-CA" dirty="0"/>
          </a:p>
        </p:txBody>
      </p:sp>
      <p:sp>
        <p:nvSpPr>
          <p:cNvPr id="3" name="Content Placeholder 2">
            <a:extLst>
              <a:ext uri="{FF2B5EF4-FFF2-40B4-BE49-F238E27FC236}">
                <a16:creationId xmlns:a16="http://schemas.microsoft.com/office/drawing/2014/main" id="{E799EBE1-7657-495E-AFDE-452DBD0AEB6C}"/>
              </a:ext>
            </a:extLst>
          </p:cNvPr>
          <p:cNvSpPr>
            <a:spLocks noGrp="1"/>
          </p:cNvSpPr>
          <p:nvPr>
            <p:ph idx="1"/>
          </p:nvPr>
        </p:nvSpPr>
        <p:spPr>
          <a:xfrm>
            <a:off x="1097280" y="1845734"/>
            <a:ext cx="4246481" cy="4023360"/>
          </a:xfrm>
        </p:spPr>
        <p:txBody>
          <a:bodyPr/>
          <a:lstStyle/>
          <a:p>
            <a:pPr marL="0" indent="0">
              <a:buNone/>
            </a:pPr>
            <a:endParaRPr lang="en-US" dirty="0"/>
          </a:p>
          <a:p>
            <a:pPr marL="0" indent="0">
              <a:buNone/>
            </a:pPr>
            <a:endParaRPr lang="en-US" dirty="0"/>
          </a:p>
          <a:p>
            <a:pPr marL="0" indent="0">
              <a:buNone/>
            </a:pPr>
            <a:r>
              <a:rPr lang="en-US" dirty="0"/>
              <a:t>The methods and data of one object that are visible to other objects and parts of the system is known as the </a:t>
            </a:r>
            <a:r>
              <a:rPr lang="en-US" b="1" i="1" u="sng" dirty="0"/>
              <a:t>public interface of that object</a:t>
            </a:r>
            <a:r>
              <a:rPr lang="en-US" dirty="0"/>
              <a:t> </a:t>
            </a:r>
          </a:p>
          <a:p>
            <a:pPr marL="0" indent="0">
              <a:buNone/>
            </a:pPr>
            <a:endParaRPr lang="en-US" dirty="0"/>
          </a:p>
          <a:p>
            <a:pPr marL="0" indent="0">
              <a:buNone/>
            </a:pPr>
            <a:r>
              <a:rPr lang="en-US" dirty="0"/>
              <a:t>Good OOP Design is centered around creating meaningful and maintainable interfaces.</a:t>
            </a:r>
            <a:endParaRPr lang="en-CA" dirty="0"/>
          </a:p>
        </p:txBody>
      </p:sp>
      <p:grpSp>
        <p:nvGrpSpPr>
          <p:cNvPr id="4" name="Group 3">
            <a:extLst>
              <a:ext uri="{FF2B5EF4-FFF2-40B4-BE49-F238E27FC236}">
                <a16:creationId xmlns:a16="http://schemas.microsoft.com/office/drawing/2014/main" id="{F782D0C4-B3C6-4236-AB48-61A75BAF619A}"/>
              </a:ext>
            </a:extLst>
          </p:cNvPr>
          <p:cNvGrpSpPr>
            <a:grpSpLocks/>
          </p:cNvGrpSpPr>
          <p:nvPr/>
        </p:nvGrpSpPr>
        <p:grpSpPr bwMode="auto">
          <a:xfrm>
            <a:off x="8928602" y="2525889"/>
            <a:ext cx="2895600" cy="2496013"/>
            <a:chOff x="2592" y="2256"/>
            <a:chExt cx="1824" cy="1584"/>
          </a:xfrm>
          <a:solidFill>
            <a:schemeClr val="accent6"/>
          </a:solidFill>
        </p:grpSpPr>
        <p:sp>
          <p:nvSpPr>
            <p:cNvPr id="5" name="Rectangle 4">
              <a:extLst>
                <a:ext uri="{FF2B5EF4-FFF2-40B4-BE49-F238E27FC236}">
                  <a16:creationId xmlns:a16="http://schemas.microsoft.com/office/drawing/2014/main" id="{68C2CB22-DF26-4F13-9F0D-994EFE32B426}"/>
                </a:ext>
              </a:extLst>
            </p:cNvPr>
            <p:cNvSpPr>
              <a:spLocks noChangeArrowheads="1"/>
            </p:cNvSpPr>
            <p:nvPr/>
          </p:nvSpPr>
          <p:spPr bwMode="auto">
            <a:xfrm>
              <a:off x="2880" y="2256"/>
              <a:ext cx="1536" cy="1584"/>
            </a:xfrm>
            <a:prstGeom prst="rect">
              <a:avLst/>
            </a:prstGeom>
            <a:grpFill/>
            <a:ln w="12700">
              <a:solidFill>
                <a:schemeClr val="tx1"/>
              </a:solidFill>
              <a:miter lim="800000"/>
              <a:headEnd type="none" w="sm" len="sm"/>
              <a:tailEnd type="none" w="sm" len="sm"/>
            </a:ln>
          </p:spPr>
          <p:txBody>
            <a:bodyPr wrap="none" anchor="ctr"/>
            <a:lstStyle/>
            <a:p>
              <a:endParaRPr lang="en-US"/>
            </a:p>
          </p:txBody>
        </p:sp>
        <p:sp>
          <p:nvSpPr>
            <p:cNvPr id="6" name="Line 4">
              <a:extLst>
                <a:ext uri="{FF2B5EF4-FFF2-40B4-BE49-F238E27FC236}">
                  <a16:creationId xmlns:a16="http://schemas.microsoft.com/office/drawing/2014/main" id="{FCB97D17-3A2C-4134-BE2D-FA79497CBE3E}"/>
                </a:ext>
              </a:extLst>
            </p:cNvPr>
            <p:cNvSpPr>
              <a:spLocks noChangeShapeType="1"/>
            </p:cNvSpPr>
            <p:nvPr/>
          </p:nvSpPr>
          <p:spPr bwMode="auto">
            <a:xfrm flipH="1">
              <a:off x="2640" y="2496"/>
              <a:ext cx="384" cy="0"/>
            </a:xfrm>
            <a:prstGeom prst="line">
              <a:avLst/>
            </a:prstGeom>
            <a:grpFill/>
            <a:ln w="12700">
              <a:solidFill>
                <a:schemeClr val="accent3"/>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7" name="Oval 6">
              <a:extLst>
                <a:ext uri="{FF2B5EF4-FFF2-40B4-BE49-F238E27FC236}">
                  <a16:creationId xmlns:a16="http://schemas.microsoft.com/office/drawing/2014/main" id="{7D903984-1324-4A9A-9056-2B78F90991D6}"/>
                </a:ext>
              </a:extLst>
            </p:cNvPr>
            <p:cNvSpPr>
              <a:spLocks noChangeArrowheads="1"/>
            </p:cNvSpPr>
            <p:nvPr/>
          </p:nvSpPr>
          <p:spPr bwMode="auto">
            <a:xfrm>
              <a:off x="2592" y="2448"/>
              <a:ext cx="96" cy="96"/>
            </a:xfrm>
            <a:prstGeom prst="ellipse">
              <a:avLst/>
            </a:prstGeom>
            <a:grpFill/>
            <a:ln w="12700">
              <a:solidFill>
                <a:schemeClr val="accent3"/>
              </a:solidFill>
              <a:round/>
              <a:headEnd type="none" w="sm" len="sm"/>
              <a:tailEnd type="none" w="sm" len="sm"/>
            </a:ln>
            <a:effectLst>
              <a:glow>
                <a:schemeClr val="accent4">
                  <a:alpha val="40000"/>
                </a:schemeClr>
              </a:glow>
            </a:effectLst>
          </p:spPr>
          <p:txBody>
            <a:bodyPr wrap="none" anchor="ctr"/>
            <a:lstStyle/>
            <a:p>
              <a:endParaRPr lang="en-US"/>
            </a:p>
          </p:txBody>
        </p:sp>
        <p:sp>
          <p:nvSpPr>
            <p:cNvPr id="8" name="Line 6">
              <a:extLst>
                <a:ext uri="{FF2B5EF4-FFF2-40B4-BE49-F238E27FC236}">
                  <a16:creationId xmlns:a16="http://schemas.microsoft.com/office/drawing/2014/main" id="{2F4792FB-F8C2-486B-84D2-BCA327B84712}"/>
                </a:ext>
              </a:extLst>
            </p:cNvPr>
            <p:cNvSpPr>
              <a:spLocks noChangeShapeType="1"/>
            </p:cNvSpPr>
            <p:nvPr/>
          </p:nvSpPr>
          <p:spPr bwMode="auto">
            <a:xfrm flipH="1">
              <a:off x="2640" y="2640"/>
              <a:ext cx="384" cy="0"/>
            </a:xfrm>
            <a:prstGeom prst="line">
              <a:avLst/>
            </a:prstGeom>
            <a:grpFill/>
            <a:ln w="12700">
              <a:solidFill>
                <a:schemeClr val="accent3"/>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9" name="Line 7">
              <a:extLst>
                <a:ext uri="{FF2B5EF4-FFF2-40B4-BE49-F238E27FC236}">
                  <a16:creationId xmlns:a16="http://schemas.microsoft.com/office/drawing/2014/main" id="{3A68F6CD-F4BD-44A2-8DB5-0E91D422FE8F}"/>
                </a:ext>
              </a:extLst>
            </p:cNvPr>
            <p:cNvSpPr>
              <a:spLocks noChangeShapeType="1"/>
            </p:cNvSpPr>
            <p:nvPr/>
          </p:nvSpPr>
          <p:spPr bwMode="auto">
            <a:xfrm flipH="1">
              <a:off x="2640" y="2784"/>
              <a:ext cx="384" cy="0"/>
            </a:xfrm>
            <a:prstGeom prst="line">
              <a:avLst/>
            </a:prstGeom>
            <a:grpFill/>
            <a:ln w="12700">
              <a:solidFill>
                <a:schemeClr val="accent3"/>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US"/>
            </a:p>
          </p:txBody>
        </p:sp>
        <p:sp>
          <p:nvSpPr>
            <p:cNvPr id="10" name="Oval 9">
              <a:extLst>
                <a:ext uri="{FF2B5EF4-FFF2-40B4-BE49-F238E27FC236}">
                  <a16:creationId xmlns:a16="http://schemas.microsoft.com/office/drawing/2014/main" id="{041E9A9F-5090-4464-9023-B1DFE691D069}"/>
                </a:ext>
              </a:extLst>
            </p:cNvPr>
            <p:cNvSpPr>
              <a:spLocks noChangeArrowheads="1"/>
            </p:cNvSpPr>
            <p:nvPr/>
          </p:nvSpPr>
          <p:spPr bwMode="auto">
            <a:xfrm>
              <a:off x="2592" y="2736"/>
              <a:ext cx="96" cy="96"/>
            </a:xfrm>
            <a:prstGeom prst="ellipse">
              <a:avLst/>
            </a:prstGeom>
            <a:grpFill/>
            <a:ln w="12700">
              <a:solidFill>
                <a:schemeClr val="accent3"/>
              </a:solidFill>
              <a:round/>
              <a:headEnd type="none" w="sm" len="sm"/>
              <a:tailEnd type="none" w="sm" len="sm"/>
            </a:ln>
          </p:spPr>
          <p:txBody>
            <a:bodyPr wrap="none" anchor="ctr"/>
            <a:lstStyle/>
            <a:p>
              <a:endParaRPr lang="en-US"/>
            </a:p>
          </p:txBody>
        </p:sp>
        <p:sp>
          <p:nvSpPr>
            <p:cNvPr id="11" name="Oval 10">
              <a:extLst>
                <a:ext uri="{FF2B5EF4-FFF2-40B4-BE49-F238E27FC236}">
                  <a16:creationId xmlns:a16="http://schemas.microsoft.com/office/drawing/2014/main" id="{AF77F731-3115-4DB5-9519-8C48F5C7E71D}"/>
                </a:ext>
              </a:extLst>
            </p:cNvPr>
            <p:cNvSpPr>
              <a:spLocks noChangeArrowheads="1"/>
            </p:cNvSpPr>
            <p:nvPr/>
          </p:nvSpPr>
          <p:spPr bwMode="auto">
            <a:xfrm>
              <a:off x="2592" y="2592"/>
              <a:ext cx="96" cy="96"/>
            </a:xfrm>
            <a:prstGeom prst="ellipse">
              <a:avLst/>
            </a:prstGeom>
            <a:grpFill/>
            <a:ln w="12700">
              <a:solidFill>
                <a:schemeClr val="accent3"/>
              </a:solidFill>
              <a:round/>
              <a:headEnd type="none" w="sm" len="sm"/>
              <a:tailEnd type="none" w="sm" len="sm"/>
            </a:ln>
          </p:spPr>
          <p:txBody>
            <a:bodyPr wrap="none" anchor="ctr"/>
            <a:lstStyle/>
            <a:p>
              <a:endParaRPr lang="en-US"/>
            </a:p>
          </p:txBody>
        </p:sp>
      </p:grpSp>
      <p:sp>
        <p:nvSpPr>
          <p:cNvPr id="12" name="AutoShape 22">
            <a:extLst>
              <a:ext uri="{FF2B5EF4-FFF2-40B4-BE49-F238E27FC236}">
                <a16:creationId xmlns:a16="http://schemas.microsoft.com/office/drawing/2014/main" id="{375B6355-AED4-42C9-B389-9318337BF7B6}"/>
              </a:ext>
            </a:extLst>
          </p:cNvPr>
          <p:cNvSpPr>
            <a:spLocks noChangeArrowheads="1"/>
          </p:cNvSpPr>
          <p:nvPr/>
        </p:nvSpPr>
        <p:spPr bwMode="auto">
          <a:xfrm>
            <a:off x="7785608" y="2964502"/>
            <a:ext cx="990601" cy="228600"/>
          </a:xfrm>
          <a:prstGeom prst="leftRightArrow">
            <a:avLst>
              <a:gd name="adj1" fmla="val 50000"/>
              <a:gd name="adj2" fmla="val 86667"/>
            </a:avLst>
          </a:prstGeom>
          <a:solidFill>
            <a:srgbClr val="C00000"/>
          </a:solidFill>
          <a:ln w="9525">
            <a:solidFill>
              <a:schemeClr val="tx1"/>
            </a:solidFill>
            <a:miter lim="800000"/>
            <a:headEnd/>
            <a:tailEnd/>
          </a:ln>
        </p:spPr>
        <p:txBody>
          <a:bodyPr wrap="none" anchor="ctr"/>
          <a:lstStyle/>
          <a:p>
            <a:endParaRPr lang="en-US"/>
          </a:p>
        </p:txBody>
      </p:sp>
      <p:grpSp>
        <p:nvGrpSpPr>
          <p:cNvPr id="13" name="Group 12">
            <a:extLst>
              <a:ext uri="{FF2B5EF4-FFF2-40B4-BE49-F238E27FC236}">
                <a16:creationId xmlns:a16="http://schemas.microsoft.com/office/drawing/2014/main" id="{94CB2CCB-6134-4C76-9523-7DC8CD9CB3D3}"/>
              </a:ext>
            </a:extLst>
          </p:cNvPr>
          <p:cNvGrpSpPr>
            <a:grpSpLocks/>
          </p:cNvGrpSpPr>
          <p:nvPr/>
        </p:nvGrpSpPr>
        <p:grpSpPr bwMode="auto">
          <a:xfrm>
            <a:off x="9643747" y="2751647"/>
            <a:ext cx="1981200" cy="2057400"/>
            <a:chOff x="3024" y="2400"/>
            <a:chExt cx="1248" cy="1296"/>
          </a:xfrm>
        </p:grpSpPr>
        <p:sp>
          <p:nvSpPr>
            <p:cNvPr id="14" name="Rectangle 13">
              <a:extLst>
                <a:ext uri="{FF2B5EF4-FFF2-40B4-BE49-F238E27FC236}">
                  <a16:creationId xmlns:a16="http://schemas.microsoft.com/office/drawing/2014/main" id="{C9C3F951-5911-493D-B24C-922EDF0A630A}"/>
                </a:ext>
              </a:extLst>
            </p:cNvPr>
            <p:cNvSpPr>
              <a:spLocks noChangeArrowheads="1"/>
            </p:cNvSpPr>
            <p:nvPr/>
          </p:nvSpPr>
          <p:spPr bwMode="auto">
            <a:xfrm>
              <a:off x="3024" y="2400"/>
              <a:ext cx="1248" cy="480"/>
            </a:xfrm>
            <a:prstGeom prst="rect">
              <a:avLst/>
            </a:prstGeom>
            <a:solidFill>
              <a:srgbClr val="F5E985"/>
            </a:solidFill>
            <a:ln w="12700">
              <a:solidFill>
                <a:schemeClr val="bg2"/>
              </a:solidFill>
              <a:miter lim="800000"/>
              <a:headEnd type="none" w="sm" len="sm"/>
              <a:tailEnd type="none" w="sm" len="sm"/>
            </a:ln>
          </p:spPr>
          <p:txBody>
            <a:bodyPr wrap="none" anchor="ctr"/>
            <a:lstStyle/>
            <a:p>
              <a:pPr algn="ctr"/>
              <a:r>
                <a:rPr lang="en-US" sz="2800" b="1" dirty="0">
                  <a:latin typeface="Tw Cen MT Condensed" charset="0"/>
                  <a:ea typeface="Tw Cen MT Condensed" charset="0"/>
                  <a:cs typeface="Tw Cen MT Condensed" charset="0"/>
                </a:rPr>
                <a:t>Methods</a:t>
              </a:r>
              <a:endParaRPr lang="en-US" sz="3200" dirty="0">
                <a:latin typeface="Tw Cen MT Condensed" charset="0"/>
                <a:ea typeface="Tw Cen MT Condensed" charset="0"/>
                <a:cs typeface="Tw Cen MT Condensed" charset="0"/>
              </a:endParaRPr>
            </a:p>
          </p:txBody>
        </p:sp>
        <p:sp>
          <p:nvSpPr>
            <p:cNvPr id="15" name="Rectangle 14">
              <a:extLst>
                <a:ext uri="{FF2B5EF4-FFF2-40B4-BE49-F238E27FC236}">
                  <a16:creationId xmlns:a16="http://schemas.microsoft.com/office/drawing/2014/main" id="{500B9081-6434-4E77-BE94-636D68E5346A}"/>
                </a:ext>
              </a:extLst>
            </p:cNvPr>
            <p:cNvSpPr>
              <a:spLocks noChangeArrowheads="1"/>
            </p:cNvSpPr>
            <p:nvPr/>
          </p:nvSpPr>
          <p:spPr bwMode="auto">
            <a:xfrm>
              <a:off x="3024" y="3264"/>
              <a:ext cx="1248" cy="432"/>
            </a:xfrm>
            <a:prstGeom prst="rect">
              <a:avLst/>
            </a:prstGeom>
            <a:solidFill>
              <a:srgbClr val="F5E985"/>
            </a:solidFill>
            <a:ln w="12700">
              <a:solidFill>
                <a:schemeClr val="bg2"/>
              </a:solidFill>
              <a:miter lim="800000"/>
              <a:headEnd type="none" w="sm" len="sm"/>
              <a:tailEnd type="none" w="sm" len="sm"/>
            </a:ln>
          </p:spPr>
          <p:txBody>
            <a:bodyPr wrap="none" anchor="ctr"/>
            <a:lstStyle/>
            <a:p>
              <a:pPr algn="ctr"/>
              <a:r>
                <a:rPr lang="en-US" sz="2800" b="1" dirty="0">
                  <a:latin typeface="Tw Cen MT Condensed" charset="0"/>
                  <a:ea typeface="Tw Cen MT Condensed" charset="0"/>
                  <a:cs typeface="Tw Cen MT Condensed" charset="0"/>
                </a:rPr>
                <a:t>Data</a:t>
              </a:r>
              <a:endParaRPr lang="en-US" sz="3200" dirty="0">
                <a:latin typeface="Tw Cen MT Condensed" charset="0"/>
                <a:ea typeface="Tw Cen MT Condensed" charset="0"/>
                <a:cs typeface="Tw Cen MT Condensed" charset="0"/>
              </a:endParaRPr>
            </a:p>
          </p:txBody>
        </p:sp>
        <p:sp>
          <p:nvSpPr>
            <p:cNvPr id="16" name="AutoShape 16">
              <a:extLst>
                <a:ext uri="{FF2B5EF4-FFF2-40B4-BE49-F238E27FC236}">
                  <a16:creationId xmlns:a16="http://schemas.microsoft.com/office/drawing/2014/main" id="{A56160FB-51AD-4322-B3B5-C6AEF50793B4}"/>
                </a:ext>
              </a:extLst>
            </p:cNvPr>
            <p:cNvSpPr>
              <a:spLocks noChangeArrowheads="1"/>
            </p:cNvSpPr>
            <p:nvPr/>
          </p:nvSpPr>
          <p:spPr bwMode="auto">
            <a:xfrm>
              <a:off x="3600" y="2880"/>
              <a:ext cx="144" cy="384"/>
            </a:xfrm>
            <a:prstGeom prst="upDownArrow">
              <a:avLst>
                <a:gd name="adj1" fmla="val 50000"/>
                <a:gd name="adj2" fmla="val 53333"/>
              </a:avLst>
            </a:prstGeom>
            <a:solidFill>
              <a:srgbClr val="DE2C28"/>
            </a:solidFill>
            <a:ln w="12700">
              <a:solidFill>
                <a:srgbClr val="DE2C28"/>
              </a:solidFill>
              <a:miter lim="800000"/>
              <a:headEnd type="none" w="sm" len="sm"/>
              <a:tailEnd type="none" w="sm" len="sm"/>
            </a:ln>
          </p:spPr>
          <p:txBody>
            <a:bodyPr wrap="none" anchor="ctr"/>
            <a:lstStyle/>
            <a:p>
              <a:endParaRPr lang="en-US"/>
            </a:p>
          </p:txBody>
        </p:sp>
      </p:grpSp>
      <p:cxnSp>
        <p:nvCxnSpPr>
          <p:cNvPr id="17" name="Straight Arrow Connector 16">
            <a:extLst>
              <a:ext uri="{FF2B5EF4-FFF2-40B4-BE49-F238E27FC236}">
                <a16:creationId xmlns:a16="http://schemas.microsoft.com/office/drawing/2014/main" id="{728B6F03-40CE-4E8D-978B-D4FA6989BDAF}"/>
              </a:ext>
            </a:extLst>
          </p:cNvPr>
          <p:cNvCxnSpPr>
            <a:cxnSpLocks/>
          </p:cNvCxnSpPr>
          <p:nvPr/>
        </p:nvCxnSpPr>
        <p:spPr>
          <a:xfrm flipV="1">
            <a:off x="8119872" y="3513650"/>
            <a:ext cx="798672" cy="86966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8" name="Text Box 12">
            <a:extLst>
              <a:ext uri="{FF2B5EF4-FFF2-40B4-BE49-F238E27FC236}">
                <a16:creationId xmlns:a16="http://schemas.microsoft.com/office/drawing/2014/main" id="{8522ABBB-AD02-4ABA-BBBB-EA068F18F740}"/>
              </a:ext>
            </a:extLst>
          </p:cNvPr>
          <p:cNvSpPr txBox="1">
            <a:spLocks noChangeArrowheads="1"/>
          </p:cNvSpPr>
          <p:nvPr/>
        </p:nvSpPr>
        <p:spPr bwMode="auto">
          <a:xfrm>
            <a:off x="5911075" y="4383314"/>
            <a:ext cx="2868157" cy="13849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nchor="ctr">
            <a:spAutoFit/>
          </a:bodyPr>
          <a:lstStyle/>
          <a:p>
            <a:pPr algn="ctr"/>
            <a:r>
              <a:rPr lang="en-US" sz="2800" b="1" dirty="0">
                <a:latin typeface="Tw Cen MT Condensed" charset="0"/>
                <a:ea typeface="Tw Cen MT Condensed" charset="0"/>
                <a:cs typeface="Tw Cen MT Condensed" charset="0"/>
              </a:rPr>
              <a:t>public methods</a:t>
            </a:r>
          </a:p>
          <a:p>
            <a:pPr algn="ctr"/>
            <a:r>
              <a:rPr lang="en-US" sz="2800" b="1" dirty="0" err="1">
                <a:latin typeface="Tw Cen MT Condensed" charset="0"/>
                <a:ea typeface="Tw Cen MT Condensed" charset="0"/>
                <a:cs typeface="Tw Cen MT Condensed" charset="0"/>
              </a:rPr>
              <a:t>a.k.a</a:t>
            </a:r>
            <a:br>
              <a:rPr lang="en-US" sz="2800" b="1" dirty="0">
                <a:latin typeface="Tw Cen MT Condensed" charset="0"/>
                <a:ea typeface="Tw Cen MT Condensed" charset="0"/>
                <a:cs typeface="Tw Cen MT Condensed" charset="0"/>
              </a:rPr>
            </a:br>
            <a:r>
              <a:rPr lang="en-US" sz="2800" b="1" dirty="0">
                <a:latin typeface="Tw Cen MT Condensed" charset="0"/>
                <a:ea typeface="Tw Cen MT Condensed" charset="0"/>
                <a:cs typeface="Tw Cen MT Condensed" charset="0"/>
              </a:rPr>
              <a:t>The object’s interface</a:t>
            </a:r>
            <a:endParaRPr lang="en-US" sz="3200" dirty="0">
              <a:latin typeface="Tw Cen MT Condensed" charset="0"/>
              <a:ea typeface="Tw Cen MT Condensed" charset="0"/>
              <a:cs typeface="Tw Cen MT Condensed" charset="0"/>
            </a:endParaRPr>
          </a:p>
        </p:txBody>
      </p:sp>
      <p:sp>
        <p:nvSpPr>
          <p:cNvPr id="19" name="Rectangle 18">
            <a:extLst>
              <a:ext uri="{FF2B5EF4-FFF2-40B4-BE49-F238E27FC236}">
                <a16:creationId xmlns:a16="http://schemas.microsoft.com/office/drawing/2014/main" id="{0CA0268B-BE90-4B2A-BA2F-146835909E74}"/>
              </a:ext>
            </a:extLst>
          </p:cNvPr>
          <p:cNvSpPr/>
          <p:nvPr/>
        </p:nvSpPr>
        <p:spPr>
          <a:xfrm>
            <a:off x="5664715" y="2354745"/>
            <a:ext cx="1939636" cy="1597359"/>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Text Box 12">
            <a:extLst>
              <a:ext uri="{FF2B5EF4-FFF2-40B4-BE49-F238E27FC236}">
                <a16:creationId xmlns:a16="http://schemas.microsoft.com/office/drawing/2014/main" id="{3DC3D41B-D673-4D10-B812-BE4E96C21789}"/>
              </a:ext>
            </a:extLst>
          </p:cNvPr>
          <p:cNvSpPr txBox="1">
            <a:spLocks noChangeArrowheads="1"/>
          </p:cNvSpPr>
          <p:nvPr/>
        </p:nvSpPr>
        <p:spPr bwMode="auto">
          <a:xfrm>
            <a:off x="5791913" y="2429816"/>
            <a:ext cx="1582484" cy="13849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wrap="none" anchor="ctr">
            <a:spAutoFit/>
          </a:bodyPr>
          <a:lstStyle/>
          <a:p>
            <a:pPr algn="ctr"/>
            <a:r>
              <a:rPr lang="en-US" sz="2800" b="1" dirty="0">
                <a:latin typeface="Tw Cen MT Condensed" charset="0"/>
                <a:ea typeface="Tw Cen MT Condensed" charset="0"/>
                <a:cs typeface="Tw Cen MT Condensed" charset="0"/>
              </a:rPr>
              <a:t>Client</a:t>
            </a:r>
          </a:p>
          <a:p>
            <a:pPr algn="ctr"/>
            <a:r>
              <a:rPr lang="en-US" sz="2800" b="1" dirty="0">
                <a:latin typeface="Tw Cen MT Condensed" charset="0"/>
                <a:ea typeface="Tw Cen MT Condensed" charset="0"/>
                <a:cs typeface="Tw Cen MT Condensed" charset="0"/>
              </a:rPr>
              <a:t>Object</a:t>
            </a:r>
          </a:p>
          <a:p>
            <a:pPr algn="ctr"/>
            <a:r>
              <a:rPr lang="en-US" sz="2800" b="1" dirty="0">
                <a:latin typeface="Tw Cen MT Condensed" charset="0"/>
                <a:ea typeface="Tw Cen MT Condensed" charset="0"/>
                <a:cs typeface="Tw Cen MT Condensed" charset="0"/>
              </a:rPr>
              <a:t>or Function</a:t>
            </a:r>
            <a:endParaRPr lang="en-US" sz="3200" dirty="0">
              <a:latin typeface="Tw Cen MT Condensed" charset="0"/>
              <a:ea typeface="Tw Cen MT Condensed" charset="0"/>
              <a:cs typeface="Tw Cen MT Condensed" charset="0"/>
            </a:endParaRPr>
          </a:p>
        </p:txBody>
      </p:sp>
    </p:spTree>
    <p:extLst>
      <p:ext uri="{BB962C8B-B14F-4D97-AF65-F5344CB8AC3E}">
        <p14:creationId xmlns:p14="http://schemas.microsoft.com/office/powerpoint/2010/main" val="1617656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31426-1AE6-104C-B39E-1D2CF9AD83E1}"/>
              </a:ext>
            </a:extLst>
          </p:cNvPr>
          <p:cNvSpPr>
            <a:spLocks noGrp="1"/>
          </p:cNvSpPr>
          <p:nvPr>
            <p:ph type="title"/>
          </p:nvPr>
        </p:nvSpPr>
        <p:spPr/>
        <p:txBody>
          <a:bodyPr/>
          <a:lstStyle/>
          <a:p>
            <a:r>
              <a:rPr lang="en-US" dirty="0"/>
              <a:t>Public vs private</a:t>
            </a:r>
          </a:p>
        </p:txBody>
      </p:sp>
      <p:sp>
        <p:nvSpPr>
          <p:cNvPr id="3" name="Content Placeholder 2">
            <a:extLst>
              <a:ext uri="{FF2B5EF4-FFF2-40B4-BE49-F238E27FC236}">
                <a16:creationId xmlns:a16="http://schemas.microsoft.com/office/drawing/2014/main" id="{71DEE88C-69A1-2A4F-9F3F-BB2F80F71CCE}"/>
              </a:ext>
            </a:extLst>
          </p:cNvPr>
          <p:cNvSpPr>
            <a:spLocks noGrp="1"/>
          </p:cNvSpPr>
          <p:nvPr>
            <p:ph idx="1"/>
          </p:nvPr>
        </p:nvSpPr>
        <p:spPr/>
        <p:txBody>
          <a:bodyPr>
            <a:normAutofit lnSpcReduction="10000"/>
          </a:bodyPr>
          <a:lstStyle/>
          <a:p>
            <a:r>
              <a:rPr lang="en-US" dirty="0"/>
              <a:t>We like to </a:t>
            </a:r>
            <a:r>
              <a:rPr lang="en-US" sz="3600" b="1" dirty="0"/>
              <a:t>expose a public interface</a:t>
            </a:r>
            <a:endParaRPr lang="en-US" b="1" dirty="0"/>
          </a:p>
          <a:p>
            <a:r>
              <a:rPr lang="en-US" dirty="0"/>
              <a:t>The interface is how we interact with an object</a:t>
            </a:r>
          </a:p>
          <a:p>
            <a:r>
              <a:rPr lang="en-US" sz="3200" i="1" dirty="0"/>
              <a:t>But some things should be private!</a:t>
            </a:r>
          </a:p>
          <a:p>
            <a:r>
              <a:rPr lang="en-US" dirty="0"/>
              <a:t>We say the </a:t>
            </a:r>
            <a:r>
              <a:rPr lang="en-US" sz="3600" b="1" dirty="0"/>
              <a:t>implementation is private</a:t>
            </a:r>
            <a:endParaRPr lang="en-US" b="1" dirty="0"/>
          </a:p>
          <a:p>
            <a:r>
              <a:rPr lang="en-US" dirty="0"/>
              <a:t>An object’s data is conceptually private</a:t>
            </a:r>
          </a:p>
          <a:p>
            <a:r>
              <a:rPr lang="en-US" dirty="0"/>
              <a:t>How can we enforce privacy in Python?</a:t>
            </a:r>
          </a:p>
          <a:p>
            <a:pPr marL="914400" lvl="1" indent="-457200">
              <a:buFont typeface="+mj-lt"/>
              <a:buAutoNum type="arabicPeriod"/>
            </a:pPr>
            <a:r>
              <a:rPr lang="en-US" dirty="0"/>
              <a:t>Do not generate accessors and mutators for </a:t>
            </a:r>
            <a:r>
              <a:rPr lang="en-US" i="1" dirty="0"/>
              <a:t>every </a:t>
            </a:r>
            <a:r>
              <a:rPr lang="en-US" dirty="0"/>
              <a:t>instance variables</a:t>
            </a:r>
          </a:p>
          <a:p>
            <a:pPr marL="914400" lvl="1" indent="-457200">
              <a:buFont typeface="+mj-lt"/>
              <a:buAutoNum type="arabicPeriod"/>
            </a:pPr>
            <a:r>
              <a:rPr lang="en-US" dirty="0"/>
              <a:t>Only fields that are part of an object’s public description should have accessor methods, and possibly mutator methods</a:t>
            </a:r>
          </a:p>
        </p:txBody>
      </p:sp>
    </p:spTree>
    <p:extLst>
      <p:ext uri="{BB962C8B-B14F-4D97-AF65-F5344CB8AC3E}">
        <p14:creationId xmlns:p14="http://schemas.microsoft.com/office/powerpoint/2010/main" val="14147346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41F5E-4609-BD48-9BFA-60715959FF12}"/>
              </a:ext>
            </a:extLst>
          </p:cNvPr>
          <p:cNvSpPr>
            <a:spLocks noGrp="1"/>
          </p:cNvSpPr>
          <p:nvPr>
            <p:ph type="title"/>
          </p:nvPr>
        </p:nvSpPr>
        <p:spPr/>
        <p:txBody>
          <a:bodyPr/>
          <a:lstStyle/>
          <a:p>
            <a:r>
              <a:rPr lang="en-US" dirty="0"/>
              <a:t>Encapsulation in Python</a:t>
            </a:r>
          </a:p>
        </p:txBody>
      </p:sp>
      <p:sp>
        <p:nvSpPr>
          <p:cNvPr id="3" name="Content Placeholder 2">
            <a:extLst>
              <a:ext uri="{FF2B5EF4-FFF2-40B4-BE49-F238E27FC236}">
                <a16:creationId xmlns:a16="http://schemas.microsoft.com/office/drawing/2014/main" id="{0034C11C-1E75-1747-92F5-FDFE971CD901}"/>
              </a:ext>
            </a:extLst>
          </p:cNvPr>
          <p:cNvSpPr>
            <a:spLocks noGrp="1"/>
          </p:cNvSpPr>
          <p:nvPr>
            <p:ph idx="1"/>
          </p:nvPr>
        </p:nvSpPr>
        <p:spPr/>
        <p:txBody>
          <a:bodyPr>
            <a:normAutofit/>
          </a:bodyPr>
          <a:lstStyle/>
          <a:p>
            <a:r>
              <a:rPr lang="en-US" dirty="0"/>
              <a:t>We can “enforce” privacy with some </a:t>
            </a:r>
            <a:r>
              <a:rPr lang="en-US" sz="3600" i="1" u="sng" dirty="0"/>
              <a:t>conventions</a:t>
            </a:r>
            <a:r>
              <a:rPr lang="en-US" sz="3600" i="1" dirty="0"/>
              <a:t>. </a:t>
            </a:r>
            <a:r>
              <a:rPr lang="en-US" dirty="0"/>
              <a:t>Recall the _ and __ conventions!</a:t>
            </a:r>
          </a:p>
          <a:p>
            <a:r>
              <a:rPr lang="en-US" dirty="0"/>
              <a:t>In Python, we can </a:t>
            </a:r>
            <a:r>
              <a:rPr lang="en-US" sz="3200" b="1" dirty="0"/>
              <a:t>preface private function and instance variable identifiers with two underline characters</a:t>
            </a:r>
            <a:r>
              <a:rPr lang="en-US" dirty="0"/>
              <a:t>, i.e., __count</a:t>
            </a:r>
          </a:p>
          <a:p>
            <a:r>
              <a:rPr lang="en-US" dirty="0"/>
              <a:t>A </a:t>
            </a:r>
            <a:r>
              <a:rPr lang="en-US" b="1" dirty="0"/>
              <a:t>private method </a:t>
            </a:r>
            <a:r>
              <a:rPr lang="en-US" dirty="0"/>
              <a:t>is only intended to be used by other methods in a class</a:t>
            </a:r>
          </a:p>
          <a:p>
            <a:r>
              <a:rPr lang="en-US" dirty="0"/>
              <a:t>It is not intended to be visible or accessible outside the class</a:t>
            </a:r>
          </a:p>
          <a:p>
            <a:r>
              <a:rPr lang="en-US" dirty="0"/>
              <a:t>A </a:t>
            </a:r>
            <a:r>
              <a:rPr lang="en-US" b="1" dirty="0"/>
              <a:t>private variable </a:t>
            </a:r>
            <a:r>
              <a:rPr lang="en-US" dirty="0"/>
              <a:t>is only intended to be used inside the class, or </a:t>
            </a:r>
            <a:r>
              <a:rPr lang="en-US"/>
              <a:t>the class’ </a:t>
            </a:r>
            <a:r>
              <a:rPr lang="en-US" dirty="0"/>
              <a:t>methods</a:t>
            </a:r>
          </a:p>
          <a:p>
            <a:r>
              <a:rPr lang="en-US" dirty="0"/>
              <a:t>It is not intended to be visible or modifiable from outside the class</a:t>
            </a:r>
          </a:p>
        </p:txBody>
      </p:sp>
    </p:spTree>
    <p:extLst>
      <p:ext uri="{BB962C8B-B14F-4D97-AF65-F5344CB8AC3E}">
        <p14:creationId xmlns:p14="http://schemas.microsoft.com/office/powerpoint/2010/main" val="11179078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41F5E-4609-BD48-9BFA-60715959FF12}"/>
              </a:ext>
            </a:extLst>
          </p:cNvPr>
          <p:cNvSpPr>
            <a:spLocks noGrp="1"/>
          </p:cNvSpPr>
          <p:nvPr>
            <p:ph type="title"/>
          </p:nvPr>
        </p:nvSpPr>
        <p:spPr/>
        <p:txBody>
          <a:bodyPr/>
          <a:lstStyle/>
          <a:p>
            <a:r>
              <a:rPr lang="en-US" dirty="0"/>
              <a:t>Encapsulation in Python</a:t>
            </a:r>
          </a:p>
        </p:txBody>
      </p:sp>
      <p:sp>
        <p:nvSpPr>
          <p:cNvPr id="4" name="Rectangle 1"/>
          <p:cNvSpPr>
            <a:spLocks noGrp="1" noChangeArrowheads="1"/>
          </p:cNvSpPr>
          <p:nvPr>
            <p:ph idx="1"/>
          </p:nvPr>
        </p:nvSpPr>
        <p:spPr bwMode="auto">
          <a:xfrm>
            <a:off x="1601844" y="1950259"/>
            <a:ext cx="9555821" cy="4524315"/>
          </a:xfrm>
          <a:prstGeom prst="rect">
            <a:avLst/>
          </a:prstGeom>
          <a:solidFill>
            <a:srgbClr val="FFFFFF">
              <a:alpha val="0"/>
            </a:srgbClr>
          </a:solidFill>
          <a:ln>
            <a:noFill/>
          </a:ln>
          <a:effec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None/>
            </a:pPr>
            <a:r>
              <a:rPr lang="en-US" altLang="en-US" sz="1800" b="1" dirty="0">
                <a:solidFill>
                  <a:srgbClr val="000080"/>
                </a:solidFill>
                <a:latin typeface="Consolas" panose="020B0609020204030204" pitchFamily="49" charset="0"/>
              </a:rPr>
              <a:t>class </a:t>
            </a:r>
            <a:r>
              <a:rPr lang="en-US" altLang="en-US" sz="1800" dirty="0">
                <a:solidFill>
                  <a:srgbClr val="000000"/>
                </a:solidFill>
                <a:latin typeface="Consolas" panose="020B0609020204030204" pitchFamily="49" charset="0"/>
              </a:rPr>
              <a:t>Visibility:</a:t>
            </a:r>
            <a:br>
              <a:rPr lang="en-US" altLang="en-US" sz="1800" dirty="0">
                <a:solidFill>
                  <a:srgbClr val="000000"/>
                </a:solidFill>
                <a:latin typeface="Consolas" panose="020B0609020204030204" pitchFamily="49" charset="0"/>
              </a:rPr>
            </a:br>
            <a:r>
              <a:rPr lang="en-US" altLang="en-US" sz="1800" dirty="0">
                <a:solidFill>
                  <a:srgbClr val="000000"/>
                </a:solidFill>
                <a:latin typeface="Consolas" panose="020B0609020204030204" pitchFamily="49" charset="0"/>
              </a:rPr>
              <a:t>    </a:t>
            </a:r>
            <a:r>
              <a:rPr lang="en-US" altLang="en-US" sz="1800" b="1" dirty="0" err="1">
                <a:solidFill>
                  <a:srgbClr val="000080"/>
                </a:solidFill>
                <a:latin typeface="Consolas" panose="020B0609020204030204" pitchFamily="49" charset="0"/>
              </a:rPr>
              <a:t>def</a:t>
            </a:r>
            <a:r>
              <a:rPr lang="en-US" altLang="en-US" sz="1800" b="1" dirty="0">
                <a:solidFill>
                  <a:srgbClr val="000080"/>
                </a:solidFill>
                <a:latin typeface="Consolas" panose="020B0609020204030204" pitchFamily="49" charset="0"/>
              </a:rPr>
              <a:t> </a:t>
            </a:r>
            <a:r>
              <a:rPr lang="en-US" altLang="en-US" sz="1800" dirty="0" err="1">
                <a:solidFill>
                  <a:srgbClr val="000000"/>
                </a:solidFill>
                <a:latin typeface="Consolas" panose="020B0609020204030204" pitchFamily="49" charset="0"/>
              </a:rPr>
              <a:t>public_func</a:t>
            </a:r>
            <a:r>
              <a:rPr lang="en-US" altLang="en-US" sz="1800" dirty="0">
                <a:solidFill>
                  <a:srgbClr val="000000"/>
                </a:solidFill>
                <a:latin typeface="Consolas" panose="020B0609020204030204" pitchFamily="49" charset="0"/>
              </a:rPr>
              <a:t>(</a:t>
            </a:r>
            <a:r>
              <a:rPr lang="en-US" altLang="en-US" sz="1800" dirty="0">
                <a:solidFill>
                  <a:srgbClr val="94558D"/>
                </a:solidFill>
                <a:latin typeface="Consolas" panose="020B0609020204030204" pitchFamily="49" charset="0"/>
              </a:rPr>
              <a:t>self</a:t>
            </a:r>
            <a:r>
              <a:rPr lang="en-US" altLang="en-US" sz="1800" dirty="0">
                <a:solidFill>
                  <a:srgbClr val="000000"/>
                </a:solidFill>
                <a:latin typeface="Consolas" panose="020B0609020204030204" pitchFamily="49" charset="0"/>
              </a:rPr>
              <a:t>):</a:t>
            </a:r>
            <a:br>
              <a:rPr lang="en-US" altLang="en-US" sz="1800" dirty="0">
                <a:solidFill>
                  <a:srgbClr val="000000"/>
                </a:solidFill>
                <a:latin typeface="Consolas" panose="020B0609020204030204" pitchFamily="49" charset="0"/>
              </a:rPr>
            </a:br>
            <a:r>
              <a:rPr lang="en-US" altLang="en-US" sz="1800" dirty="0">
                <a:solidFill>
                  <a:srgbClr val="000000"/>
                </a:solidFill>
                <a:latin typeface="Consolas" panose="020B0609020204030204" pitchFamily="49" charset="0"/>
              </a:rPr>
              <a:t>        </a:t>
            </a:r>
            <a:r>
              <a:rPr lang="en-US" altLang="en-US" sz="1800" dirty="0">
                <a:solidFill>
                  <a:srgbClr val="000080"/>
                </a:solidFill>
                <a:latin typeface="Consolas" panose="020B0609020204030204" pitchFamily="49" charset="0"/>
              </a:rPr>
              <a:t>print</a:t>
            </a:r>
            <a:r>
              <a:rPr lang="en-US" altLang="en-US" sz="1800" dirty="0">
                <a:solidFill>
                  <a:srgbClr val="000000"/>
                </a:solidFill>
                <a:latin typeface="Consolas" panose="020B0609020204030204" pitchFamily="49" charset="0"/>
              </a:rPr>
              <a:t>(</a:t>
            </a:r>
            <a:r>
              <a:rPr lang="en-US" altLang="en-US" sz="1800" b="1" dirty="0">
                <a:solidFill>
                  <a:srgbClr val="008080"/>
                </a:solidFill>
                <a:latin typeface="Consolas" panose="020B0609020204030204" pitchFamily="49" charset="0"/>
              </a:rPr>
              <a:t>'public'</a:t>
            </a:r>
            <a:r>
              <a:rPr lang="en-US" altLang="en-US" sz="1800" dirty="0">
                <a:solidFill>
                  <a:srgbClr val="000000"/>
                </a:solidFill>
                <a:latin typeface="Consolas" panose="020B0609020204030204" pitchFamily="49" charset="0"/>
              </a:rPr>
              <a:t>)</a:t>
            </a:r>
            <a:br>
              <a:rPr lang="en-US" altLang="en-US" sz="1800" dirty="0">
                <a:solidFill>
                  <a:srgbClr val="000000"/>
                </a:solidFill>
                <a:latin typeface="Consolas" panose="020B0609020204030204" pitchFamily="49" charset="0"/>
              </a:rPr>
            </a:br>
            <a:br>
              <a:rPr lang="en-US" altLang="en-US" sz="1800" dirty="0">
                <a:solidFill>
                  <a:srgbClr val="000000"/>
                </a:solidFill>
                <a:latin typeface="Consolas" panose="020B0609020204030204" pitchFamily="49" charset="0"/>
              </a:rPr>
            </a:br>
            <a:r>
              <a:rPr lang="en-US" altLang="en-US" sz="1800" dirty="0">
                <a:solidFill>
                  <a:srgbClr val="000000"/>
                </a:solidFill>
                <a:latin typeface="Consolas" panose="020B0609020204030204" pitchFamily="49" charset="0"/>
              </a:rPr>
              <a:t>    </a:t>
            </a:r>
            <a:r>
              <a:rPr lang="en-US" altLang="en-US" sz="1800" b="1" dirty="0" err="1">
                <a:solidFill>
                  <a:srgbClr val="000080"/>
                </a:solidFill>
                <a:latin typeface="Consolas" panose="020B0609020204030204" pitchFamily="49" charset="0"/>
              </a:rPr>
              <a:t>def</a:t>
            </a:r>
            <a:r>
              <a:rPr lang="en-US" altLang="en-US" sz="1800" b="1" dirty="0">
                <a:solidFill>
                  <a:srgbClr val="000080"/>
                </a:solidFill>
                <a:latin typeface="Consolas" panose="020B0609020204030204" pitchFamily="49" charset="0"/>
              </a:rPr>
              <a:t> </a:t>
            </a:r>
            <a:r>
              <a:rPr lang="en-US" altLang="en-US" sz="1800" dirty="0">
                <a:solidFill>
                  <a:srgbClr val="000000"/>
                </a:solidFill>
                <a:latin typeface="Consolas" panose="020B0609020204030204" pitchFamily="49" charset="0"/>
              </a:rPr>
              <a:t>__</a:t>
            </a:r>
            <a:r>
              <a:rPr lang="en-US" altLang="en-US" sz="1800" dirty="0" err="1">
                <a:solidFill>
                  <a:srgbClr val="000000"/>
                </a:solidFill>
                <a:latin typeface="Consolas" panose="020B0609020204030204" pitchFamily="49" charset="0"/>
              </a:rPr>
              <a:t>private_func</a:t>
            </a:r>
            <a:r>
              <a:rPr lang="en-US" altLang="en-US" sz="1800" dirty="0">
                <a:solidFill>
                  <a:srgbClr val="000000"/>
                </a:solidFill>
                <a:latin typeface="Consolas" panose="020B0609020204030204" pitchFamily="49" charset="0"/>
              </a:rPr>
              <a:t>(</a:t>
            </a:r>
            <a:r>
              <a:rPr lang="en-US" altLang="en-US" sz="1800" dirty="0">
                <a:solidFill>
                  <a:srgbClr val="94558D"/>
                </a:solidFill>
                <a:latin typeface="Consolas" panose="020B0609020204030204" pitchFamily="49" charset="0"/>
              </a:rPr>
              <a:t>self</a:t>
            </a:r>
            <a:r>
              <a:rPr lang="en-US" altLang="en-US" sz="1800" dirty="0">
                <a:solidFill>
                  <a:srgbClr val="000000"/>
                </a:solidFill>
                <a:latin typeface="Consolas" panose="020B0609020204030204" pitchFamily="49" charset="0"/>
              </a:rPr>
              <a:t>):</a:t>
            </a:r>
            <a:br>
              <a:rPr lang="en-US" altLang="en-US" sz="1800" dirty="0">
                <a:solidFill>
                  <a:srgbClr val="000000"/>
                </a:solidFill>
                <a:latin typeface="Consolas" panose="020B0609020204030204" pitchFamily="49" charset="0"/>
              </a:rPr>
            </a:br>
            <a:r>
              <a:rPr lang="en-US" altLang="en-US" sz="1800" dirty="0">
                <a:solidFill>
                  <a:srgbClr val="000000"/>
                </a:solidFill>
                <a:latin typeface="Consolas" panose="020B0609020204030204" pitchFamily="49" charset="0"/>
              </a:rPr>
              <a:t>        </a:t>
            </a:r>
            <a:r>
              <a:rPr lang="en-US" altLang="en-US" sz="1800" dirty="0">
                <a:solidFill>
                  <a:srgbClr val="000080"/>
                </a:solidFill>
                <a:latin typeface="Consolas" panose="020B0609020204030204" pitchFamily="49" charset="0"/>
              </a:rPr>
              <a:t>print</a:t>
            </a:r>
            <a:r>
              <a:rPr lang="en-US" altLang="en-US" sz="1800" dirty="0">
                <a:solidFill>
                  <a:srgbClr val="000000"/>
                </a:solidFill>
                <a:latin typeface="Consolas" panose="020B0609020204030204" pitchFamily="49" charset="0"/>
              </a:rPr>
              <a:t>(</a:t>
            </a:r>
            <a:r>
              <a:rPr lang="en-US" altLang="en-US" sz="1800" b="1" dirty="0">
                <a:solidFill>
                  <a:srgbClr val="008080"/>
                </a:solidFill>
                <a:latin typeface="Consolas" panose="020B0609020204030204" pitchFamily="49" charset="0"/>
              </a:rPr>
              <a:t>"private"</a:t>
            </a:r>
            <a:r>
              <a:rPr lang="en-US" altLang="en-US" sz="1800" dirty="0">
                <a:solidFill>
                  <a:srgbClr val="000000"/>
                </a:solidFill>
                <a:latin typeface="Consolas" panose="020B0609020204030204" pitchFamily="49" charset="0"/>
              </a:rPr>
              <a:t>)</a:t>
            </a:r>
            <a:br>
              <a:rPr lang="en-US" altLang="en-US" sz="1800" dirty="0">
                <a:solidFill>
                  <a:srgbClr val="000000"/>
                </a:solidFill>
                <a:latin typeface="Consolas" panose="020B0609020204030204" pitchFamily="49" charset="0"/>
              </a:rPr>
            </a:br>
            <a:br>
              <a:rPr lang="en-US" altLang="en-US" sz="1800" dirty="0">
                <a:solidFill>
                  <a:srgbClr val="000000"/>
                </a:solidFill>
                <a:latin typeface="Consolas" panose="020B0609020204030204" pitchFamily="49" charset="0"/>
              </a:rPr>
            </a:br>
            <a:r>
              <a:rPr lang="en-US" altLang="en-US" sz="1800" dirty="0">
                <a:solidFill>
                  <a:srgbClr val="000000"/>
                </a:solidFill>
                <a:latin typeface="Consolas" panose="020B0609020204030204" pitchFamily="49" charset="0"/>
              </a:rPr>
              <a:t>    </a:t>
            </a:r>
            <a:r>
              <a:rPr lang="en-US" altLang="en-US" sz="1800" b="1" dirty="0" err="1">
                <a:solidFill>
                  <a:srgbClr val="000080"/>
                </a:solidFill>
                <a:latin typeface="Consolas" panose="020B0609020204030204" pitchFamily="49" charset="0"/>
              </a:rPr>
              <a:t>def</a:t>
            </a:r>
            <a:r>
              <a:rPr lang="en-US" altLang="en-US" sz="1800" b="1" dirty="0">
                <a:solidFill>
                  <a:srgbClr val="000080"/>
                </a:solidFill>
                <a:latin typeface="Consolas" panose="020B0609020204030204" pitchFamily="49" charset="0"/>
              </a:rPr>
              <a:t> </a:t>
            </a:r>
            <a:r>
              <a:rPr lang="en-US" altLang="en-US" sz="1800" dirty="0" err="1">
                <a:solidFill>
                  <a:srgbClr val="000000"/>
                </a:solidFill>
                <a:latin typeface="Consolas" panose="020B0609020204030204" pitchFamily="49" charset="0"/>
              </a:rPr>
              <a:t>other_func</a:t>
            </a:r>
            <a:r>
              <a:rPr lang="en-US" altLang="en-US" sz="1800" dirty="0">
                <a:solidFill>
                  <a:srgbClr val="000000"/>
                </a:solidFill>
                <a:latin typeface="Consolas" panose="020B0609020204030204" pitchFamily="49" charset="0"/>
              </a:rPr>
              <a:t>(</a:t>
            </a:r>
            <a:r>
              <a:rPr lang="en-US" altLang="en-US" sz="1800" dirty="0">
                <a:solidFill>
                  <a:srgbClr val="94558D"/>
                </a:solidFill>
                <a:latin typeface="Consolas" panose="020B0609020204030204" pitchFamily="49" charset="0"/>
              </a:rPr>
              <a:t>self</a:t>
            </a:r>
            <a:r>
              <a:rPr lang="en-US" altLang="en-US" sz="1800" dirty="0">
                <a:solidFill>
                  <a:srgbClr val="000000"/>
                </a:solidFill>
                <a:latin typeface="Consolas" panose="020B0609020204030204" pitchFamily="49" charset="0"/>
              </a:rPr>
              <a:t>):</a:t>
            </a:r>
            <a:br>
              <a:rPr lang="en-US" altLang="en-US" sz="1800" dirty="0">
                <a:solidFill>
                  <a:srgbClr val="000000"/>
                </a:solidFill>
                <a:latin typeface="Consolas" panose="020B0609020204030204" pitchFamily="49" charset="0"/>
              </a:rPr>
            </a:br>
            <a:r>
              <a:rPr lang="en-US" altLang="en-US" sz="1800" dirty="0">
                <a:solidFill>
                  <a:srgbClr val="000000"/>
                </a:solidFill>
                <a:latin typeface="Consolas" panose="020B0609020204030204" pitchFamily="49" charset="0"/>
              </a:rPr>
              <a:t>        </a:t>
            </a:r>
            <a:r>
              <a:rPr lang="en-US" altLang="en-US" sz="1800" dirty="0" err="1">
                <a:solidFill>
                  <a:srgbClr val="94558D"/>
                </a:solidFill>
                <a:latin typeface="Consolas" panose="020B0609020204030204" pitchFamily="49" charset="0"/>
              </a:rPr>
              <a:t>self</a:t>
            </a:r>
            <a:r>
              <a:rPr lang="en-US" altLang="en-US" sz="1800" dirty="0" err="1">
                <a:solidFill>
                  <a:srgbClr val="000000"/>
                </a:solidFill>
                <a:latin typeface="Consolas" panose="020B0609020204030204" pitchFamily="49" charset="0"/>
              </a:rPr>
              <a:t>.public_func</a:t>
            </a:r>
            <a:r>
              <a:rPr lang="en-US" altLang="en-US" sz="1800" dirty="0">
                <a:solidFill>
                  <a:srgbClr val="000000"/>
                </a:solidFill>
                <a:latin typeface="Consolas" panose="020B0609020204030204" pitchFamily="49" charset="0"/>
              </a:rPr>
              <a:t>()</a:t>
            </a:r>
            <a:br>
              <a:rPr lang="en-US" altLang="en-US" sz="1800" dirty="0">
                <a:solidFill>
                  <a:srgbClr val="000000"/>
                </a:solidFill>
                <a:latin typeface="Consolas" panose="020B0609020204030204" pitchFamily="49" charset="0"/>
              </a:rPr>
            </a:br>
            <a:r>
              <a:rPr lang="en-US" altLang="en-US" sz="1800" dirty="0">
                <a:solidFill>
                  <a:srgbClr val="000000"/>
                </a:solidFill>
                <a:latin typeface="Consolas" panose="020B0609020204030204" pitchFamily="49" charset="0"/>
              </a:rPr>
              <a:t>        </a:t>
            </a:r>
            <a:r>
              <a:rPr lang="en-US" altLang="en-US" sz="1800" dirty="0">
                <a:solidFill>
                  <a:srgbClr val="94558D"/>
                </a:solidFill>
                <a:latin typeface="Consolas" panose="020B0609020204030204" pitchFamily="49" charset="0"/>
              </a:rPr>
              <a:t>self</a:t>
            </a:r>
            <a:r>
              <a:rPr lang="en-US" altLang="en-US" sz="1800" dirty="0">
                <a:solidFill>
                  <a:srgbClr val="000000"/>
                </a:solidFill>
                <a:latin typeface="Consolas" panose="020B0609020204030204" pitchFamily="49" charset="0"/>
              </a:rPr>
              <a:t>.__</a:t>
            </a:r>
            <a:r>
              <a:rPr lang="en-US" altLang="en-US" sz="1800" dirty="0" err="1">
                <a:solidFill>
                  <a:srgbClr val="000000"/>
                </a:solidFill>
                <a:latin typeface="Consolas" panose="020B0609020204030204" pitchFamily="49" charset="0"/>
              </a:rPr>
              <a:t>private_func</a:t>
            </a:r>
            <a:r>
              <a:rPr lang="en-US" altLang="en-US" sz="1800" dirty="0">
                <a:solidFill>
                  <a:srgbClr val="000000"/>
                </a:solidFill>
                <a:latin typeface="Consolas" panose="020B0609020204030204" pitchFamily="49" charset="0"/>
              </a:rPr>
              <a:t>()</a:t>
            </a:r>
            <a:br>
              <a:rPr lang="en-US" altLang="en-US" sz="1800" dirty="0">
                <a:solidFill>
                  <a:srgbClr val="000000"/>
                </a:solidFill>
                <a:latin typeface="Consolas" panose="020B0609020204030204" pitchFamily="49" charset="0"/>
              </a:rPr>
            </a:br>
            <a:br>
              <a:rPr lang="en-US" altLang="en-US" sz="1800" dirty="0">
                <a:solidFill>
                  <a:srgbClr val="000000"/>
                </a:solidFill>
                <a:latin typeface="Consolas" panose="020B0609020204030204" pitchFamily="49" charset="0"/>
              </a:rPr>
            </a:br>
            <a:r>
              <a:rPr lang="en-US" altLang="en-US" sz="1800" dirty="0">
                <a:solidFill>
                  <a:srgbClr val="000000"/>
                </a:solidFill>
                <a:latin typeface="Consolas" panose="020B0609020204030204" pitchFamily="49" charset="0"/>
              </a:rPr>
              <a:t>v = Visibility()</a:t>
            </a:r>
            <a:br>
              <a:rPr lang="en-US" altLang="en-US" sz="1800" dirty="0">
                <a:solidFill>
                  <a:srgbClr val="000000"/>
                </a:solidFill>
                <a:latin typeface="Consolas" panose="020B0609020204030204" pitchFamily="49" charset="0"/>
              </a:rPr>
            </a:br>
            <a:r>
              <a:rPr lang="en-US" altLang="en-US" sz="1800" dirty="0" err="1">
                <a:solidFill>
                  <a:srgbClr val="000000"/>
                </a:solidFill>
                <a:latin typeface="Consolas" panose="020B0609020204030204" pitchFamily="49" charset="0"/>
              </a:rPr>
              <a:t>v.public_func</a:t>
            </a:r>
            <a:r>
              <a:rPr lang="en-US" altLang="en-US" sz="1800" dirty="0">
                <a:solidFill>
                  <a:srgbClr val="000000"/>
                </a:solidFill>
                <a:latin typeface="Consolas" panose="020B0609020204030204" pitchFamily="49" charset="0"/>
              </a:rPr>
              <a:t>() # public</a:t>
            </a:r>
            <a:br>
              <a:rPr lang="en-US" altLang="en-US" sz="1800" dirty="0">
                <a:solidFill>
                  <a:srgbClr val="000000"/>
                </a:solidFill>
                <a:latin typeface="Consolas" panose="020B0609020204030204" pitchFamily="49" charset="0"/>
              </a:rPr>
            </a:br>
            <a:r>
              <a:rPr lang="en-US" altLang="en-US" sz="1800" dirty="0" err="1">
                <a:solidFill>
                  <a:srgbClr val="000000"/>
                </a:solidFill>
                <a:latin typeface="Consolas" panose="020B0609020204030204" pitchFamily="49" charset="0"/>
              </a:rPr>
              <a:t>v.other_func</a:t>
            </a:r>
            <a:r>
              <a:rPr lang="en-US" altLang="en-US" sz="1800" dirty="0">
                <a:solidFill>
                  <a:srgbClr val="000000"/>
                </a:solidFill>
                <a:latin typeface="Consolas" panose="020B0609020204030204" pitchFamily="49" charset="0"/>
              </a:rPr>
              <a:t>() # public private</a:t>
            </a:r>
            <a:br>
              <a:rPr lang="en-US" altLang="en-US" sz="1800" dirty="0">
                <a:solidFill>
                  <a:srgbClr val="000000"/>
                </a:solidFill>
                <a:latin typeface="Consolas" panose="020B0609020204030204" pitchFamily="49" charset="0"/>
              </a:rPr>
            </a:br>
            <a:r>
              <a:rPr lang="en-US" altLang="en-US" sz="1800" dirty="0">
                <a:solidFill>
                  <a:srgbClr val="000000"/>
                </a:solidFill>
                <a:latin typeface="Consolas" panose="020B0609020204030204" pitchFamily="49" charset="0"/>
              </a:rPr>
              <a:t>v.__</a:t>
            </a:r>
            <a:r>
              <a:rPr lang="en-US" altLang="en-US" sz="1800" dirty="0" err="1">
                <a:solidFill>
                  <a:srgbClr val="000000"/>
                </a:solidFill>
                <a:latin typeface="Consolas" panose="020B0609020204030204" pitchFamily="49" charset="0"/>
              </a:rPr>
              <a:t>private_func</a:t>
            </a:r>
            <a:r>
              <a:rPr lang="en-US" altLang="en-US" sz="1800" dirty="0">
                <a:solidFill>
                  <a:srgbClr val="000000"/>
                </a:solidFill>
                <a:latin typeface="Consolas" panose="020B0609020204030204" pitchFamily="49" charset="0"/>
              </a:rPr>
              <a:t>()</a:t>
            </a:r>
            <a:r>
              <a:rPr lang="en-US" altLang="en-US" sz="1800" dirty="0">
                <a:solidFill>
                  <a:schemeClr val="tx1"/>
                </a:solidFill>
                <a:latin typeface="Arial" panose="020B0604020202020204" pitchFamily="34" charset="0"/>
              </a:rPr>
              <a:t> </a:t>
            </a:r>
            <a:r>
              <a:rPr lang="en-US" altLang="en-US" sz="1800" b="1" dirty="0">
                <a:solidFill>
                  <a:srgbClr val="FF0000"/>
                </a:solidFill>
                <a:latin typeface="Consolas" panose="020B0609020204030204" pitchFamily="49" charset="0"/>
              </a:rPr>
              <a:t># ERROR </a:t>
            </a:r>
            <a:r>
              <a:rPr lang="en-CA" altLang="en-US" sz="1800" b="1" dirty="0">
                <a:solidFill>
                  <a:srgbClr val="FF0000"/>
                </a:solidFill>
                <a:latin typeface="Consolas" panose="020B0609020204030204" pitchFamily="49" charset="0"/>
              </a:rPr>
              <a:t>'Visibility' object has no attribute '__private'</a:t>
            </a:r>
            <a:endParaRPr lang="en-US" altLang="en-US" sz="1800" b="1" dirty="0">
              <a:solidFill>
                <a:srgbClr val="FF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52957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Abstraction is another hot OOP buzzword</a:t>
            </a:r>
          </a:p>
        </p:txBody>
      </p:sp>
      <p:sp>
        <p:nvSpPr>
          <p:cNvPr id="3" name="Content Placeholder 2"/>
          <p:cNvSpPr>
            <a:spLocks noGrp="1"/>
          </p:cNvSpPr>
          <p:nvPr>
            <p:ph idx="1"/>
          </p:nvPr>
        </p:nvSpPr>
        <p:spPr>
          <a:xfrm>
            <a:off x="1097280" y="1845734"/>
            <a:ext cx="5605272" cy="4023360"/>
          </a:xfrm>
        </p:spPr>
        <p:txBody>
          <a:bodyPr>
            <a:normAutofit lnSpcReduction="10000"/>
          </a:bodyPr>
          <a:lstStyle/>
          <a:p>
            <a:pPr marL="114300" indent="0">
              <a:buNone/>
            </a:pPr>
            <a:r>
              <a:rPr lang="en-US" dirty="0"/>
              <a:t>How do we use abstraction?</a:t>
            </a:r>
          </a:p>
          <a:p>
            <a:pPr marL="571500" indent="-457200">
              <a:buFont typeface="+mj-lt"/>
              <a:buAutoNum type="arabicPeriod"/>
            </a:pPr>
            <a:r>
              <a:rPr lang="en-US" sz="3500" dirty="0"/>
              <a:t>Divide </a:t>
            </a:r>
            <a:r>
              <a:rPr lang="en-US" dirty="0"/>
              <a:t>a problem into sub-problems</a:t>
            </a:r>
          </a:p>
          <a:p>
            <a:pPr marL="571500" indent="-457200">
              <a:buFont typeface="+mj-lt"/>
              <a:buAutoNum type="arabicPeriod"/>
            </a:pPr>
            <a:r>
              <a:rPr lang="en-US" sz="3500" dirty="0"/>
              <a:t>Divide </a:t>
            </a:r>
            <a:r>
              <a:rPr lang="en-US" dirty="0"/>
              <a:t>a sub-problem into sub-sub-problems</a:t>
            </a:r>
          </a:p>
          <a:p>
            <a:pPr marL="571500" indent="-457200">
              <a:buFont typeface="+mj-lt"/>
              <a:buAutoNum type="arabicPeriod"/>
            </a:pPr>
            <a:r>
              <a:rPr lang="en-US" dirty="0"/>
              <a:t>Keep doing this until the individual problems are small enough to solve</a:t>
            </a:r>
          </a:p>
          <a:p>
            <a:pPr marL="571500" indent="-457200">
              <a:buFont typeface="+mj-lt"/>
              <a:buAutoNum type="arabicPeriod"/>
            </a:pPr>
            <a:r>
              <a:rPr lang="en-US" b="1" dirty="0"/>
              <a:t>Solve the small problems</a:t>
            </a:r>
          </a:p>
          <a:p>
            <a:pPr marL="571500" indent="-457200">
              <a:buFont typeface="+mj-lt"/>
              <a:buAutoNum type="arabicPeriod"/>
            </a:pPr>
            <a:r>
              <a:rPr lang="en-US" b="1" dirty="0"/>
              <a:t>Ignore the details of the solutions </a:t>
            </a:r>
            <a:r>
              <a:rPr lang="en-US" dirty="0"/>
              <a:t>and treat each one as a single encapsulated building block (abstract the details away)</a:t>
            </a:r>
          </a:p>
          <a:p>
            <a:pPr marL="114300" indent="0">
              <a:buNone/>
            </a:pPr>
            <a:endParaRPr lang="en-US" dirty="0"/>
          </a:p>
        </p:txBody>
      </p:sp>
      <p:pic>
        <p:nvPicPr>
          <p:cNvPr id="9218" name="Picture 2" descr="Image result for abstraction man art">
            <a:extLst>
              <a:ext uri="{FF2B5EF4-FFF2-40B4-BE49-F238E27FC236}">
                <a16:creationId xmlns:a16="http://schemas.microsoft.com/office/drawing/2014/main" id="{2D196822-1C6A-4C47-8DE5-9D95474F6E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9568" y="1986329"/>
            <a:ext cx="3437512" cy="3792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82845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450757"/>
          </a:xfrm>
        </p:spPr>
        <p:txBody>
          <a:bodyPr/>
          <a:lstStyle/>
          <a:p>
            <a:r>
              <a:rPr lang="en-US" dirty="0"/>
              <a:t>Modularization </a:t>
            </a:r>
          </a:p>
        </p:txBody>
      </p:sp>
      <p:sp>
        <p:nvSpPr>
          <p:cNvPr id="3" name="Content Placeholder 2"/>
          <p:cNvSpPr>
            <a:spLocks noGrp="1"/>
          </p:cNvSpPr>
          <p:nvPr>
            <p:ph idx="1"/>
          </p:nvPr>
        </p:nvSpPr>
        <p:spPr>
          <a:xfrm>
            <a:off x="1097280" y="1845734"/>
            <a:ext cx="10863072" cy="4023360"/>
          </a:xfrm>
        </p:spPr>
        <p:txBody>
          <a:bodyPr>
            <a:normAutofit fontScale="85000" lnSpcReduction="20000"/>
          </a:bodyPr>
          <a:lstStyle/>
          <a:p>
            <a:pPr marL="114300" indent="0">
              <a:buNone/>
            </a:pPr>
            <a:r>
              <a:rPr lang="en-US" dirty="0"/>
              <a:t>Abstraction uses modularization.</a:t>
            </a:r>
          </a:p>
          <a:p>
            <a:pPr marL="114300" indent="0">
              <a:buNone/>
            </a:pPr>
            <a:r>
              <a:rPr lang="en-US" dirty="0"/>
              <a:t>Modularization is the process of dividing something into well-defined parts.</a:t>
            </a:r>
          </a:p>
          <a:p>
            <a:pPr marL="114300" indent="0">
              <a:buNone/>
            </a:pPr>
            <a:r>
              <a:rPr lang="en-US" dirty="0"/>
              <a:t>Encapsulation is about Classes and Objects. </a:t>
            </a:r>
            <a:r>
              <a:rPr lang="en-US" b="1" u="sng" dirty="0"/>
              <a:t>Modularization is about the system and the bigger picture</a:t>
            </a:r>
            <a:r>
              <a:rPr lang="en-US" dirty="0"/>
              <a:t>.</a:t>
            </a:r>
          </a:p>
          <a:p>
            <a:pPr marL="114300" indent="0">
              <a:buNone/>
            </a:pPr>
            <a:r>
              <a:rPr lang="en-US" dirty="0"/>
              <a:t>Each of these modules:</a:t>
            </a:r>
          </a:p>
          <a:p>
            <a:pPr marL="1028700" lvl="1" indent="-457200">
              <a:buFont typeface="+mj-lt"/>
              <a:buAutoNum type="arabicPeriod"/>
            </a:pPr>
            <a:r>
              <a:rPr lang="en-US" sz="2800" dirty="0"/>
              <a:t>Is built separately</a:t>
            </a:r>
          </a:p>
          <a:p>
            <a:pPr marL="1028700" lvl="1" indent="-457200">
              <a:buFont typeface="+mj-lt"/>
              <a:buAutoNum type="arabicPeriod"/>
            </a:pPr>
            <a:r>
              <a:rPr lang="en-US" sz="2800" dirty="0"/>
              <a:t>Encapsulates data with the methods that act on it. This could be</a:t>
            </a:r>
            <a:br>
              <a:rPr lang="en-US" sz="2800" dirty="0"/>
            </a:br>
            <a:r>
              <a:rPr lang="en-US" sz="2800" dirty="0"/>
              <a:t>functions and multiple classes.</a:t>
            </a:r>
          </a:p>
          <a:p>
            <a:pPr marL="1028700" lvl="1" indent="-457200">
              <a:buFont typeface="+mj-lt"/>
              <a:buAutoNum type="arabicPeriod"/>
            </a:pPr>
            <a:r>
              <a:rPr lang="en-US" sz="2800" dirty="0"/>
              <a:t>Can be examined separately</a:t>
            </a:r>
          </a:p>
          <a:p>
            <a:pPr marL="1028700" lvl="1" indent="-457200">
              <a:buFont typeface="+mj-lt"/>
              <a:buAutoNum type="arabicPeriod"/>
            </a:pPr>
            <a:r>
              <a:rPr lang="en-US" sz="2800" dirty="0"/>
              <a:t>Interacts in well-defined ways. </a:t>
            </a:r>
          </a:p>
          <a:p>
            <a:pPr marL="571500" lvl="1" indent="0">
              <a:buNone/>
            </a:pPr>
            <a:endParaRPr lang="en-US" sz="2800" dirty="0"/>
          </a:p>
          <a:p>
            <a:pPr marL="571500" lvl="1" indent="0">
              <a:buNone/>
            </a:pPr>
            <a:r>
              <a:rPr lang="en-US" sz="2800" dirty="0"/>
              <a:t>This is what building systems is all about! How do we decide when to split or maintain an </a:t>
            </a:r>
            <a:r>
              <a:rPr lang="en-US" sz="2800" b="1" i="1" u="sng" dirty="0"/>
              <a:t>‘entity’</a:t>
            </a:r>
            <a:r>
              <a:rPr lang="en-US" sz="2800" dirty="0"/>
              <a:t>?</a:t>
            </a:r>
          </a:p>
          <a:p>
            <a:endParaRPr lang="en-US" dirty="0"/>
          </a:p>
        </p:txBody>
      </p:sp>
    </p:spTree>
    <p:extLst>
      <p:ext uri="{BB962C8B-B14F-4D97-AF65-F5344CB8AC3E}">
        <p14:creationId xmlns:p14="http://schemas.microsoft.com/office/powerpoint/2010/main" val="40547068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6A419-D037-49D5-81D7-643EDC64297B}"/>
              </a:ext>
            </a:extLst>
          </p:cNvPr>
          <p:cNvSpPr>
            <a:spLocks noGrp="1"/>
          </p:cNvSpPr>
          <p:nvPr>
            <p:ph type="title"/>
          </p:nvPr>
        </p:nvSpPr>
        <p:spPr/>
        <p:txBody>
          <a:bodyPr/>
          <a:lstStyle/>
          <a:p>
            <a:r>
              <a:rPr lang="en-US" dirty="0"/>
              <a:t>Polymorphism</a:t>
            </a:r>
            <a:endParaRPr lang="en-CA" dirty="0"/>
          </a:p>
        </p:txBody>
      </p:sp>
      <p:sp>
        <p:nvSpPr>
          <p:cNvPr id="3" name="Content Placeholder 2">
            <a:extLst>
              <a:ext uri="{FF2B5EF4-FFF2-40B4-BE49-F238E27FC236}">
                <a16:creationId xmlns:a16="http://schemas.microsoft.com/office/drawing/2014/main" id="{3BABDFD7-B030-4142-984C-B5EF6648208F}"/>
              </a:ext>
            </a:extLst>
          </p:cNvPr>
          <p:cNvSpPr>
            <a:spLocks noGrp="1"/>
          </p:cNvSpPr>
          <p:nvPr>
            <p:ph idx="1"/>
          </p:nvPr>
        </p:nvSpPr>
        <p:spPr>
          <a:xfrm>
            <a:off x="1097280" y="1845734"/>
            <a:ext cx="6655242" cy="4023360"/>
          </a:xfrm>
        </p:spPr>
        <p:txBody>
          <a:bodyPr/>
          <a:lstStyle/>
          <a:p>
            <a:r>
              <a:rPr lang="en-US" dirty="0"/>
              <a:t>Polymorphism is the ability of our system/object/functions/code to function differently and be context-aware</a:t>
            </a:r>
          </a:p>
          <a:p>
            <a:r>
              <a:rPr lang="en-US" b="1" u="sng" dirty="0"/>
              <a:t>Context-Aware: </a:t>
            </a:r>
            <a:r>
              <a:rPr lang="en-US" dirty="0"/>
              <a:t>When given the same interface, or command, your code behaves differently based on what kind of data and environment it’s working on.</a:t>
            </a:r>
          </a:p>
          <a:p>
            <a:r>
              <a:rPr lang="en-US" dirty="0" err="1"/>
              <a:t>Eg</a:t>
            </a:r>
            <a:r>
              <a:rPr lang="en-US" dirty="0"/>
              <a:t>:</a:t>
            </a:r>
          </a:p>
          <a:p>
            <a:pPr marL="201168" lvl="1" indent="0">
              <a:buNone/>
            </a:pPr>
            <a:r>
              <a:rPr lang="en-US" dirty="0"/>
              <a:t>		5  +  4 = 9</a:t>
            </a:r>
          </a:p>
          <a:p>
            <a:pPr marL="201168" lvl="1" indent="0">
              <a:buNone/>
            </a:pPr>
            <a:r>
              <a:rPr lang="en-US" dirty="0"/>
              <a:t>		“5” + “4” = “54”</a:t>
            </a:r>
          </a:p>
          <a:p>
            <a:pPr marL="201168" lvl="1" indent="0">
              <a:buNone/>
            </a:pPr>
            <a:r>
              <a:rPr lang="en-US" dirty="0"/>
              <a:t>		The + operator exhibits polymorphism.</a:t>
            </a:r>
          </a:p>
          <a:p>
            <a:pPr marL="201168" lvl="1" indent="0">
              <a:buNone/>
            </a:pPr>
            <a:endParaRPr lang="en-US" dirty="0"/>
          </a:p>
          <a:p>
            <a:pPr marL="201168" lvl="1" indent="0">
              <a:buNone/>
            </a:pPr>
            <a:r>
              <a:rPr lang="en-US" dirty="0"/>
              <a:t>Duck Typing is one way to exhibit polymorphism.</a:t>
            </a:r>
          </a:p>
        </p:txBody>
      </p:sp>
      <p:pic>
        <p:nvPicPr>
          <p:cNvPr id="1026" name="Picture 2" descr="Image result for polymorphism">
            <a:extLst>
              <a:ext uri="{FF2B5EF4-FFF2-40B4-BE49-F238E27FC236}">
                <a16:creationId xmlns:a16="http://schemas.microsoft.com/office/drawing/2014/main" id="{5ED9986A-FD1E-4486-9B3C-31F407A4D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8221" y="1952414"/>
            <a:ext cx="38862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65968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715A1-9F59-7D4A-BE18-97E6C85FA93A}"/>
              </a:ext>
            </a:extLst>
          </p:cNvPr>
          <p:cNvSpPr>
            <a:spLocks noGrp="1"/>
          </p:cNvSpPr>
          <p:nvPr>
            <p:ph type="title"/>
          </p:nvPr>
        </p:nvSpPr>
        <p:spPr/>
        <p:txBody>
          <a:bodyPr/>
          <a:lstStyle/>
          <a:p>
            <a:r>
              <a:rPr lang="en-US" dirty="0"/>
              <a:t>Inheritance and polymorphism</a:t>
            </a:r>
          </a:p>
        </p:txBody>
      </p:sp>
      <p:sp>
        <p:nvSpPr>
          <p:cNvPr id="3" name="Content Placeholder 2">
            <a:extLst>
              <a:ext uri="{FF2B5EF4-FFF2-40B4-BE49-F238E27FC236}">
                <a16:creationId xmlns:a16="http://schemas.microsoft.com/office/drawing/2014/main" id="{A018B210-0D55-FC45-B8AA-5EBAE99DC9AE}"/>
              </a:ext>
            </a:extLst>
          </p:cNvPr>
          <p:cNvSpPr>
            <a:spLocks noGrp="1"/>
          </p:cNvSpPr>
          <p:nvPr>
            <p:ph idx="1"/>
          </p:nvPr>
        </p:nvSpPr>
        <p:spPr/>
        <p:txBody>
          <a:bodyPr>
            <a:normAutofit/>
          </a:bodyPr>
          <a:lstStyle/>
          <a:p>
            <a:r>
              <a:rPr lang="en-US" dirty="0"/>
              <a:t>The kernel of OOP</a:t>
            </a:r>
          </a:p>
          <a:p>
            <a:r>
              <a:rPr lang="en-US" dirty="0"/>
              <a:t>The </a:t>
            </a:r>
            <a:r>
              <a:rPr lang="en-US" b="1" u="sng" dirty="0"/>
              <a:t>most important </a:t>
            </a:r>
            <a:r>
              <a:rPr lang="en-US" dirty="0"/>
              <a:t>part of OOP</a:t>
            </a:r>
          </a:p>
          <a:p>
            <a:r>
              <a:rPr lang="en-US" dirty="0"/>
              <a:t>Polymorphism </a:t>
            </a:r>
            <a:r>
              <a:rPr lang="en-US" b="1" u="sng" dirty="0"/>
              <a:t>gives us absolute control over every source code dependency </a:t>
            </a:r>
            <a:r>
              <a:rPr lang="en-US" dirty="0"/>
              <a:t>in the system</a:t>
            </a:r>
          </a:p>
          <a:p>
            <a:r>
              <a:rPr lang="en-US" dirty="0"/>
              <a:t>It creates a plugin architecture in which modules that contain high level policies are separate from modules which contain low-level details</a:t>
            </a:r>
          </a:p>
          <a:p>
            <a:r>
              <a:rPr lang="en-US" dirty="0"/>
              <a:t>This lets us use abstraction and modularization to make our code units independently flexible, maintainable, and growable!</a:t>
            </a:r>
          </a:p>
          <a:p>
            <a:endParaRPr lang="en-US" dirty="0"/>
          </a:p>
          <a:p>
            <a:pPr marL="201168" lvl="1" indent="0" algn="ctr">
              <a:buNone/>
            </a:pPr>
            <a:r>
              <a:rPr lang="en-US" dirty="0"/>
              <a:t>We’ll see all this in action in the coming weeks. If this doesn’t make sense, don’t worry!</a:t>
            </a:r>
          </a:p>
          <a:p>
            <a:pPr marL="201168" lvl="1" indent="0" algn="ctr">
              <a:buNone/>
            </a:pPr>
            <a:r>
              <a:rPr lang="en-US" dirty="0"/>
              <a:t>We’ll come back to this and have a discussion around it towards the end of the semester</a:t>
            </a:r>
          </a:p>
        </p:txBody>
      </p:sp>
    </p:spTree>
    <p:extLst>
      <p:ext uri="{BB962C8B-B14F-4D97-AF65-F5344CB8AC3E}">
        <p14:creationId xmlns:p14="http://schemas.microsoft.com/office/powerpoint/2010/main" val="21669880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4A350-85A8-410A-AB36-FE8750689455}"/>
              </a:ext>
            </a:extLst>
          </p:cNvPr>
          <p:cNvSpPr>
            <a:spLocks noGrp="1"/>
          </p:cNvSpPr>
          <p:nvPr>
            <p:ph type="title"/>
          </p:nvPr>
        </p:nvSpPr>
        <p:spPr/>
        <p:txBody>
          <a:bodyPr/>
          <a:lstStyle/>
          <a:p>
            <a:r>
              <a:rPr lang="en-US"/>
              <a:t>Next class</a:t>
            </a:r>
            <a:endParaRPr lang="en-CA" dirty="0"/>
          </a:p>
        </p:txBody>
      </p:sp>
      <p:sp>
        <p:nvSpPr>
          <p:cNvPr id="3" name="Content Placeholder 2">
            <a:extLst>
              <a:ext uri="{FF2B5EF4-FFF2-40B4-BE49-F238E27FC236}">
                <a16:creationId xmlns:a16="http://schemas.microsoft.com/office/drawing/2014/main" id="{8C650C5D-5DEA-4BF3-B851-58CB8BAA2DBA}"/>
              </a:ext>
            </a:extLst>
          </p:cNvPr>
          <p:cNvSpPr>
            <a:spLocks noGrp="1"/>
          </p:cNvSpPr>
          <p:nvPr>
            <p:ph idx="1"/>
          </p:nvPr>
        </p:nvSpPr>
        <p:spPr/>
        <p:txBody>
          <a:bodyPr/>
          <a:lstStyle/>
          <a:p>
            <a:pPr>
              <a:buFont typeface="Arial" panose="020B0604020202020204" pitchFamily="34" charset="0"/>
              <a:buChar char="•"/>
            </a:pPr>
            <a:r>
              <a:rPr lang="en-US" dirty="0"/>
              <a:t>Ranges &amp; Slices </a:t>
            </a:r>
          </a:p>
          <a:p>
            <a:pPr>
              <a:buFont typeface="Arial" panose="020B0604020202020204" pitchFamily="34" charset="0"/>
              <a:buChar char="•"/>
            </a:pPr>
            <a:r>
              <a:rPr lang="en-US" dirty="0"/>
              <a:t>Scope (Python Fundamentals End)</a:t>
            </a:r>
          </a:p>
          <a:p>
            <a:pPr>
              <a:buFont typeface="Arial" panose="020B0604020202020204" pitchFamily="34" charset="0"/>
              <a:buChar char="•"/>
            </a:pPr>
            <a:endParaRPr lang="en-US" dirty="0"/>
          </a:p>
          <a:p>
            <a:pPr>
              <a:buFont typeface="Arial" panose="020B0604020202020204" pitchFamily="34" charset="0"/>
              <a:buChar char="•"/>
            </a:pPr>
            <a:r>
              <a:rPr lang="en-US" dirty="0"/>
              <a:t>Inheritance</a:t>
            </a:r>
            <a:endParaRPr lang="en-CA" dirty="0"/>
          </a:p>
          <a:p>
            <a:pPr>
              <a:buFont typeface="Arial" panose="020B0604020202020204" pitchFamily="34" charset="0"/>
              <a:buChar char="•"/>
            </a:pPr>
            <a:r>
              <a:rPr lang="en-CA" dirty="0"/>
              <a:t>Abstract Base Classes</a:t>
            </a:r>
          </a:p>
          <a:p>
            <a:pPr>
              <a:buFont typeface="Arial" panose="020B0604020202020204" pitchFamily="34" charset="0"/>
              <a:buChar char="•"/>
            </a:pPr>
            <a:r>
              <a:rPr lang="en-CA" dirty="0"/>
              <a:t>UML</a:t>
            </a:r>
          </a:p>
          <a:p>
            <a:pPr>
              <a:buFont typeface="Arial" panose="020B0604020202020204" pitchFamily="34" charset="0"/>
              <a:buChar char="•"/>
            </a:pPr>
            <a:r>
              <a:rPr lang="en-CA" dirty="0"/>
              <a:t>Lots of fun stuff!</a:t>
            </a:r>
            <a:endParaRPr lang="en-US" dirty="0"/>
          </a:p>
        </p:txBody>
      </p:sp>
      <p:pic>
        <p:nvPicPr>
          <p:cNvPr id="1026" name="Picture 2" descr="Image result for thats all folks">
            <a:extLst>
              <a:ext uri="{FF2B5EF4-FFF2-40B4-BE49-F238E27FC236}">
                <a16:creationId xmlns:a16="http://schemas.microsoft.com/office/drawing/2014/main" id="{83003607-70E8-4ECB-962D-669BBEC19F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5096" y="1890702"/>
            <a:ext cx="6987385" cy="3933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800596"/>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7845</TotalTime>
  <Words>4799</Words>
  <Application>Microsoft Office PowerPoint</Application>
  <PresentationFormat>Widescreen</PresentationFormat>
  <Paragraphs>533</Paragraphs>
  <Slides>63</Slides>
  <Notes>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63</vt:i4>
      </vt:variant>
    </vt:vector>
  </HeadingPairs>
  <TitlesOfParts>
    <vt:vector size="75" baseType="lpstr">
      <vt:lpstr>arial</vt:lpstr>
      <vt:lpstr>arial</vt:lpstr>
      <vt:lpstr>Calibri</vt:lpstr>
      <vt:lpstr>Calibri Light</vt:lpstr>
      <vt:lpstr>Consolas</vt:lpstr>
      <vt:lpstr>Courier</vt:lpstr>
      <vt:lpstr>Futura Condensed Medium</vt:lpstr>
      <vt:lpstr>Rockwell</vt:lpstr>
      <vt:lpstr>Söhne</vt:lpstr>
      <vt:lpstr>Times New Roman</vt:lpstr>
      <vt:lpstr>Tw Cen MT Condensed</vt:lpstr>
      <vt:lpstr>Retrospect</vt:lpstr>
      <vt:lpstr>Welcome!</vt:lpstr>
      <vt:lpstr>Agenda</vt:lpstr>
      <vt:lpstr>DATETIME</vt:lpstr>
      <vt:lpstr>An interesting idea</vt:lpstr>
      <vt:lpstr>Let’s start with the time module</vt:lpstr>
      <vt:lpstr>Unix epoch</vt:lpstr>
      <vt:lpstr>time.time( )</vt:lpstr>
      <vt:lpstr>Example</vt:lpstr>
      <vt:lpstr>time.sleep(seconds)</vt:lpstr>
      <vt:lpstr>Example</vt:lpstr>
      <vt:lpstr>The datetime module</vt:lpstr>
      <vt:lpstr>datetime object</vt:lpstr>
      <vt:lpstr>Converting time types</vt:lpstr>
      <vt:lpstr>Comparing times</vt:lpstr>
      <vt:lpstr>Comparing times</vt:lpstr>
      <vt:lpstr>Comparing times</vt:lpstr>
      <vt:lpstr>The timedelta datatype</vt:lpstr>
      <vt:lpstr>timedelta example</vt:lpstr>
      <vt:lpstr>Hacking time</vt:lpstr>
      <vt:lpstr>CLASSES AND OBJECTS</vt:lpstr>
      <vt:lpstr>What?</vt:lpstr>
      <vt:lpstr>Object Oriented Programming</vt:lpstr>
      <vt:lpstr>Why use classes and OOP?</vt:lpstr>
      <vt:lpstr>Classes</vt:lpstr>
      <vt:lpstr>An Object Has A State</vt:lpstr>
      <vt:lpstr>PowerPoint Presentation</vt:lpstr>
      <vt:lpstr>Methods vs Functions</vt:lpstr>
      <vt:lpstr>Special method #1: __init__(self)</vt:lpstr>
      <vt:lpstr>Instance Variables?</vt:lpstr>
      <vt:lpstr>Instance Variables?</vt:lpstr>
      <vt:lpstr>Out first class!</vt:lpstr>
      <vt:lpstr>What about visibility?</vt:lpstr>
      <vt:lpstr>And that works?</vt:lpstr>
      <vt:lpstr>There Is A Standard!</vt:lpstr>
      <vt:lpstr>Double Underscores and Name Mangling</vt:lpstr>
      <vt:lpstr>Special method #2: __repr__(self)</vt:lpstr>
      <vt:lpstr>Special method #3: __str__(self)</vt:lpstr>
      <vt:lpstr>Instantiation</vt:lpstr>
      <vt:lpstr>Accessors &amp; Mutators</vt:lpstr>
      <vt:lpstr>Properties vs Accessors / Mutators</vt:lpstr>
      <vt:lpstr>Static (Class) Variables</vt:lpstr>
      <vt:lpstr>Class Methods</vt:lpstr>
      <vt:lpstr>Class Methods</vt:lpstr>
      <vt:lpstr>Static Methods</vt:lpstr>
      <vt:lpstr>Static Methods vs Class Methods</vt:lpstr>
      <vt:lpstr>Static Methods vs Class Methods</vt:lpstr>
      <vt:lpstr>All the concepts together!</vt:lpstr>
      <vt:lpstr>Designing classes (and functions, too!)</vt:lpstr>
      <vt:lpstr>Designing classes (and functions, too!)</vt:lpstr>
      <vt:lpstr>OOP = Collaboration and composition</vt:lpstr>
      <vt:lpstr>OOP PRINCIPLES</vt:lpstr>
      <vt:lpstr>What Makes OOP  </vt:lpstr>
      <vt:lpstr>Encapsulation (and information hiding)</vt:lpstr>
      <vt:lpstr>PowerPoint Presentation</vt:lpstr>
      <vt:lpstr>It’s All About The Interface</vt:lpstr>
      <vt:lpstr>Public vs private</vt:lpstr>
      <vt:lpstr>Encapsulation in Python</vt:lpstr>
      <vt:lpstr>Encapsulation in Python</vt:lpstr>
      <vt:lpstr>Abstraction is another hot OOP buzzword</vt:lpstr>
      <vt:lpstr>Modularization </vt:lpstr>
      <vt:lpstr>Polymorphism</vt:lpstr>
      <vt:lpstr>Inheritance and polymorphism</vt:lpstr>
      <vt:lpstr>Next class</vt:lpstr>
    </vt:vector>
  </TitlesOfParts>
  <Company>BCIT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dc:title>
  <dc:creator>Rahul Kukreja</dc:creator>
  <cp:lastModifiedBy>Nabil Al-Rousan</cp:lastModifiedBy>
  <cp:revision>279</cp:revision>
  <dcterms:created xsi:type="dcterms:W3CDTF">2019-09-02T04:13:47Z</dcterms:created>
  <dcterms:modified xsi:type="dcterms:W3CDTF">2023-09-12T14:20:11Z</dcterms:modified>
</cp:coreProperties>
</file>