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7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11" d="100"/>
          <a:sy n="111" d="100"/>
        </p:scale>
        <p:origin x="390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3EAB1-8CD2-4443-B960-A9BCAEF51DFD}" type="datetimeFigureOut">
              <a:rPr lang="en-CA" smtClean="0"/>
              <a:t>2025-11-18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C7019-7F9F-40FD-BBAD-EF81051A25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390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C7019-7F9F-40FD-BBAD-EF81051A25A4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831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sz="1350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27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4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56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6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2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3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3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3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5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0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sz="1350"/>
          </a:p>
        </p:txBody>
      </p:sp>
      <p:sp>
        <p:nvSpPr>
          <p:cNvPr id="9" name="Rectangle 8"/>
          <p:cNvSpPr/>
          <p:nvPr/>
        </p:nvSpPr>
        <p:spPr>
          <a:xfrm>
            <a:off x="12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59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CA"/>
              <a:t>A</a:t>
            </a:r>
            <a:r>
              <a:t>dapter</a:t>
            </a:r>
            <a:r>
              <a:rPr lang="en-CA" baseline="30000"/>
              <a:t>+</a:t>
            </a:r>
            <a:r>
              <a:t>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C5ECD-3690-815E-6BDC-6108AB2114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Structural Design Pattern</a:t>
            </a:r>
            <a:br>
              <a:rPr lang="en-CA"/>
            </a:b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28CE4-EB2A-7D2C-75EE-6D2950C9A6E0}"/>
              </a:ext>
            </a:extLst>
          </p:cNvPr>
          <p:cNvSpPr txBox="1"/>
          <p:nvPr/>
        </p:nvSpPr>
        <p:spPr>
          <a:xfrm>
            <a:off x="2898884" y="4014484"/>
            <a:ext cx="2723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aseline="30000">
                <a:solidFill>
                  <a:schemeClr val="bg1">
                    <a:lumMod val="75000"/>
                  </a:schemeClr>
                </a:solidFill>
              </a:rPr>
              <a:t>+</a:t>
            </a:r>
            <a:r>
              <a:rPr lang="en-CA">
                <a:solidFill>
                  <a:schemeClr val="bg1">
                    <a:lumMod val="75000"/>
                  </a:schemeClr>
                </a:solidFill>
              </a:rPr>
              <a:t>Also known as: </a:t>
            </a:r>
            <a:r>
              <a:rPr lang="en-CA" b="1">
                <a:solidFill>
                  <a:schemeClr val="bg1">
                    <a:lumMod val="75000"/>
                  </a:schemeClr>
                </a:solidFill>
              </a:rPr>
              <a:t>Wrapper</a:t>
            </a:r>
          </a:p>
          <a:p>
            <a:pPr algn="ctr"/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The Adapter pattern allows objects with incompatible interfaces to collaborate.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Converts the interface of a class into another interface clients expect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Lets classes work together that couldn’t otherwise due to incompatible interfaces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Wraps an existing class with a new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5F3E1-F670-6993-07D2-A85DB2CE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90" r="6879" b="4"/>
          <a:stretch>
            <a:fillRect/>
          </a:stretch>
        </p:blipFill>
        <p:spPr>
          <a:xfrm>
            <a:off x="4663440" y="1384301"/>
            <a:ext cx="3703320" cy="3017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The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DA4BF-8ECA-0569-7A45-C5B728C64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934827"/>
            <a:ext cx="3703320" cy="1916467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Stock Market Monitoring App Example</a:t>
            </a:r>
          </a:p>
          <a:p>
            <a:pPr lvl="0"/>
            <a:r>
              <a:t>App downloads stock data in </a:t>
            </a:r>
            <a:r>
              <a:rPr b="1"/>
              <a:t>XML format</a:t>
            </a:r>
          </a:p>
          <a:p>
            <a:pPr lvl="0"/>
            <a:r>
              <a:t>Displays charts and diagrams</a:t>
            </a:r>
          </a:p>
          <a:p>
            <a:pPr lvl="0"/>
            <a:r>
              <a:t>Want to integrate a 3rd-party analytics library</a:t>
            </a:r>
          </a:p>
          <a:p>
            <a:pPr lvl="0"/>
            <a:r>
              <a:rPr b="1"/>
              <a:t>Problem</a:t>
            </a:r>
            <a:r>
              <a:t>: The library only works with </a:t>
            </a:r>
            <a:r>
              <a:rPr b="1"/>
              <a:t>JSON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The Problem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Can’t We Just Change the Library?</a:t>
            </a:r>
          </a:p>
          <a:p>
            <a:pPr marL="342900" lvl="0" indent="-342900">
              <a:buAutoNum type="arabicPeriod"/>
            </a:pPr>
            <a:r>
              <a:t>Might break existing code that depends on it</a:t>
            </a:r>
          </a:p>
          <a:p>
            <a:pPr marL="342900" lvl="0" indent="-342900">
              <a:buAutoNum type="arabicPeriod"/>
            </a:pPr>
            <a:r>
              <a:t>May not have access to the library’s source code</a:t>
            </a:r>
          </a:p>
          <a:p>
            <a:pPr marL="342900" lvl="0" indent="-342900">
              <a:buAutoNum type="arabicPeriod"/>
            </a:pPr>
            <a:r>
              <a:t>Library might be used by other applications</a:t>
            </a:r>
          </a:p>
          <a:p>
            <a:pPr marL="0" lvl="0" indent="0">
              <a:buNone/>
            </a:pPr>
            <a:r>
              <a:rPr b="1"/>
              <a:t>We need a way to make incompatible interfaces work together!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53480-84C8-C430-B885-433B774DE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34827"/>
            <a:ext cx="3703320" cy="19164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The Solution: Adapter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Create an </a:t>
            </a:r>
            <a:r>
              <a:rPr b="1"/>
              <a:t>adapter</a:t>
            </a:r>
            <a:r>
              <a:t> - a special object that converts the interface of one object so another object can understand it.</a:t>
            </a:r>
          </a:p>
          <a:p>
            <a:pPr marL="0" lvl="0" indent="0">
              <a:buNone/>
            </a:pPr>
            <a:r>
              <a:rPr b="1"/>
              <a:t>Key characteristics:</a:t>
            </a:r>
          </a:p>
          <a:p>
            <a:pPr>
              <a:buFont typeface="Wingdings" panose="05000000000000000000" pitchFamily="2" charset="2"/>
              <a:buChar char="§"/>
            </a:pPr>
            <a:r>
              <a:t>Wraps one of the objects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t>Hides the complexity of conversion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t>The wrapped object isn’t even aware of the adapter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41B21-EB9E-C64B-16ED-D13B02BE2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40403"/>
            <a:ext cx="3703320" cy="23053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342900" lvl="0" indent="-342900">
              <a:buAutoNum type="arabicPeriod"/>
            </a:pPr>
            <a:r>
              <a:t>The adapter gets an interface compatible with one of the existing objects</a:t>
            </a:r>
          </a:p>
          <a:p>
            <a:pPr marL="342900" lvl="0" indent="-342900">
              <a:buAutoNum type="arabicPeriod"/>
            </a:pPr>
            <a:r>
              <a:t>The existing object can safely call the adapter’s methods</a:t>
            </a:r>
          </a:p>
          <a:p>
            <a:pPr marL="342900" lvl="0" indent="-342900">
              <a:buAutoNum type="arabicPeriod"/>
            </a:pPr>
            <a:r>
              <a:t>Upon receiving a call, the adapter passes the request to the second object in the format it expects</a:t>
            </a:r>
          </a:p>
          <a:p>
            <a:pPr marL="342900" lvl="0" indent="-342900">
              <a:buAutoNum type="arabicPeriod"/>
            </a:pPr>
            <a:r>
              <a:t>Sometimes you can create a two-way adapter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02C8F-BF7F-7457-4887-8DB251552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40403"/>
            <a:ext cx="3703320" cy="230531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0A79E9-F3B3-B887-FFDD-2A972FBBA31F}"/>
              </a:ext>
            </a:extLst>
          </p:cNvPr>
          <p:cNvSpPr txBox="1"/>
          <p:nvPr/>
        </p:nvSpPr>
        <p:spPr>
          <a:xfrm>
            <a:off x="4526279" y="415993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CA"/>
              <a:t>The adapter acts as a translator between incompatible formats!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Real-World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Power Plug Adapter</a:t>
            </a:r>
          </a:p>
          <a:p>
            <a:pPr marL="0" lvl="0" indent="0">
              <a:buNone/>
            </a:pPr>
            <a:r>
              <a:t>Traveling from US to Europe?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US plugs won’t fit European sockets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Different power plug standards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Solution</a:t>
            </a:r>
            <a:r>
              <a:t>: Power plug adapter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Has American-style socket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1500"/>
              <a:t>Has European-style plug</a:t>
            </a:r>
          </a:p>
        </p:txBody>
      </p:sp>
      <p:pic>
        <p:nvPicPr>
          <p:cNvPr id="1026" name="Picture 2" descr="OREI American USA To European Schuko Germany Plug Adapters CE Certified  Heavy Duty, 2 Pack : Amazon.ca: Electronics">
            <a:extLst>
              <a:ext uri="{FF2B5EF4-FFF2-40B4-BE49-F238E27FC236}">
                <a16:creationId xmlns:a16="http://schemas.microsoft.com/office/drawing/2014/main" id="{D5C7FAF7-F16A-6548-FC83-3A109715C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6340" y="1384301"/>
            <a:ext cx="3017520" cy="30175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Structure: Object 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Uses </a:t>
            </a:r>
            <a:r>
              <a:rPr b="1"/>
              <a:t>object composition</a:t>
            </a:r>
            <a:r>
              <a:t> principle</a:t>
            </a:r>
          </a:p>
          <a:p>
            <a:pPr marL="0" lvl="0" indent="0">
              <a:buNone/>
            </a:pPr>
            <a:r>
              <a:rPr b="1"/>
              <a:t>Components:</a:t>
            </a:r>
          </a:p>
          <a:p>
            <a:pPr marL="342900" lvl="0" indent="-342900">
              <a:buAutoNum type="arabicPeriod"/>
            </a:pPr>
            <a:r>
              <a:rPr b="1"/>
              <a:t>Client</a:t>
            </a:r>
            <a:r>
              <a:t> - contains existing business logic</a:t>
            </a:r>
          </a:p>
          <a:p>
            <a:pPr marL="342900" lvl="0" indent="-342900">
              <a:buAutoNum type="arabicPeriod"/>
            </a:pPr>
            <a:r>
              <a:rPr b="1"/>
              <a:t>Client Interface</a:t>
            </a:r>
            <a:r>
              <a:t> - protocol for collaboration</a:t>
            </a:r>
          </a:p>
          <a:p>
            <a:pPr marL="342900" lvl="0" indent="-342900">
              <a:buAutoNum type="arabicPeriod"/>
            </a:pPr>
            <a:r>
              <a:rPr b="1"/>
              <a:t>Service</a:t>
            </a:r>
            <a:r>
              <a:rPr lang="en-CA" b="1"/>
              <a:t>/Adaptee</a:t>
            </a:r>
            <a:r>
              <a:t> - useful class with incompatible interface</a:t>
            </a:r>
          </a:p>
          <a:p>
            <a:pPr marL="342900" lvl="0" indent="-342900">
              <a:buAutoNum type="arabicPeriod"/>
            </a:pPr>
            <a:r>
              <a:rPr b="1"/>
              <a:t>Adapter</a:t>
            </a:r>
            <a:r>
              <a:t> - works with both client and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6DD54-E712-0A26-7410-D0CF18114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14469"/>
            <a:ext cx="3703320" cy="21571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Object Adapter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/>
              <a:t>Key points: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t>Adapter implements the client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t>Adapter wraps the service object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t>Translates calls between client and service</a:t>
            </a:r>
          </a:p>
          <a:p>
            <a:pPr>
              <a:buFont typeface="Wingdings" panose="05000000000000000000" pitchFamily="2" charset="2"/>
              <a:buChar char="§"/>
            </a:pPr>
            <a:r>
              <a:t>Client doesn’t couple to concrete adapter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EE17C-B903-773C-6B18-3E398713D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14469"/>
            <a:ext cx="3703320" cy="21571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Classic Example: Square Pegs &amp; Round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The Setup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CA"/>
              <a:t>RoundHole</a:t>
            </a:r>
            <a:r>
              <a:t> accepts </a:t>
            </a:r>
            <a:r>
              <a:rPr lang="en-CA"/>
              <a:t>RoundPeg</a:t>
            </a:r>
            <a:r>
              <a:t> objects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CA"/>
              <a:t>SquarePeg</a:t>
            </a:r>
            <a:r>
              <a:t> has incompatible interface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Need to fit square pegs into round holes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FFF0D-7461-040F-3989-C6B26584C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50607"/>
            <a:ext cx="3703320" cy="2684907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F67289-EE64-12C0-0469-6D4C9C97EBD2}"/>
              </a:ext>
            </a:extLst>
          </p:cNvPr>
          <p:cNvSpPr/>
          <p:nvPr/>
        </p:nvSpPr>
        <p:spPr>
          <a:xfrm>
            <a:off x="5436075" y="4298434"/>
            <a:ext cx="2494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>
                <a:solidFill>
                  <a:srgbClr val="0070C0"/>
                </a:solidFill>
                <a:latin typeface="Rockwell" panose="02060603020205020403" pitchFamily="18" charset="0"/>
              </a:rPr>
              <a:t>1.square_in_holes.py</a:t>
            </a:r>
            <a:endParaRPr lang="en-CA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  <p:pic>
        <p:nvPicPr>
          <p:cNvPr id="2050" name="Picture 2" descr="Square Peg, Round Hole? - Luminate">
            <a:extLst>
              <a:ext uri="{FF2B5EF4-FFF2-40B4-BE49-F238E27FC236}">
                <a16:creationId xmlns:a16="http://schemas.microsoft.com/office/drawing/2014/main" id="{8E060A64-237D-F922-2BF3-BE58F47E9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" y="2960274"/>
            <a:ext cx="1162079" cy="155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7500D8-4F2E-50DB-5186-3C2EB49F8699}"/>
              </a:ext>
            </a:extLst>
          </p:cNvPr>
          <p:cNvSpPr txBox="1"/>
          <p:nvPr/>
        </p:nvSpPr>
        <p:spPr>
          <a:xfrm>
            <a:off x="1985038" y="3718809"/>
            <a:ext cx="2494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200">
                <a:solidFill>
                  <a:schemeClr val="tx2">
                    <a:lumMod val="40000"/>
                    <a:lumOff val="60000"/>
                  </a:schemeClr>
                </a:solidFill>
              </a:rPr>
              <a:t>“This square-peg teammate doesn’t fit our round-hole workflow… let’s write an adapter!”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t>Structure: Class 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Uses </a:t>
            </a:r>
            <a:r>
              <a:rPr b="1"/>
              <a:t>inheritance</a:t>
            </a:r>
            <a:r>
              <a:t> instead of composition</a:t>
            </a:r>
          </a:p>
          <a:p>
            <a:pPr marL="0" lvl="0" indent="0">
              <a:buNone/>
            </a:pPr>
            <a:r>
              <a:rPr b="1"/>
              <a:t>Requirements: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t>Language must support multiple inheritance (e.g., C++</a:t>
            </a:r>
            <a:r>
              <a:rPr lang="en-CA"/>
              <a:t>, Python</a:t>
            </a:r>
            <a: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t>Adapter inherits from both objects simultaneously</a:t>
            </a:r>
          </a:p>
          <a:p>
            <a:pPr marL="0" lvl="0" indent="0">
              <a:buNone/>
            </a:pPr>
            <a:r>
              <a:rPr b="1"/>
              <a:t>Difference: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No object wrapping needed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Adaptation happens in overridden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BFBCA-6F7B-3CDB-A580-99B38FD51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91324"/>
            <a:ext cx="3703320" cy="2203474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011F9D-8052-117E-EB1C-134EC438879D}"/>
              </a:ext>
            </a:extLst>
          </p:cNvPr>
          <p:cNvSpPr txBox="1"/>
          <p:nvPr/>
        </p:nvSpPr>
        <p:spPr>
          <a:xfrm>
            <a:off x="5670997" y="4130872"/>
            <a:ext cx="295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solidFill>
                  <a:srgbClr val="0070C0"/>
                </a:solidFill>
                <a:latin typeface="Rockwell" panose="02060603020205020403" pitchFamily="18" charset="0"/>
              </a:rPr>
              <a:t>2.square_in_holes.py</a:t>
            </a:r>
            <a:endParaRPr lang="en-CA" dirty="0">
              <a:solidFill>
                <a:srgbClr val="0070C0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to Use the Adapter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Use Case #1</a:t>
            </a:r>
          </a:p>
          <a:p>
            <a:pPr marL="0" lvl="0" indent="0">
              <a:buNone/>
            </a:pPr>
            <a:r>
              <a:rPr b="1"/>
              <a:t>When you want to use an existing class, but its interface isn’t compatible with the rest of your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t>Legacy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t>3rd-party libraries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t>Classes with unusual interfaces</a:t>
            </a:r>
          </a:p>
          <a:p>
            <a:pPr marL="0" lvl="0" indent="0">
              <a:buNone/>
            </a:pPr>
            <a:r>
              <a:t>The Adapter serves as a middle-layer translator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When to Use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Use Case #2</a:t>
            </a:r>
          </a:p>
          <a:p>
            <a:pPr marL="0" lvl="0" indent="0">
              <a:buNone/>
            </a:pPr>
            <a:r>
              <a:rPr b="1"/>
              <a:t>When you want to reuse several existing subclasses that lack common functionality that can’t be added to the superclass</a:t>
            </a:r>
          </a:p>
          <a:p>
            <a:pPr marL="0" lvl="0" indent="0">
              <a:buNone/>
            </a:pPr>
            <a:r>
              <a:t>Instead of duplicating code across subclasses:</a:t>
            </a:r>
          </a:p>
          <a:p>
            <a:pPr>
              <a:buFont typeface="Wingdings" panose="05000000000000000000" pitchFamily="2" charset="2"/>
              <a:buChar char="§"/>
            </a:pPr>
            <a:r>
              <a:t>Put missing functionality in an adapter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t>Wrap objects with missing features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t>Gain features dynamically</a:t>
            </a:r>
          </a:p>
          <a:p>
            <a:pPr marL="0" lvl="0" indent="0">
              <a:buNone/>
            </a:pPr>
            <a:r>
              <a:rPr b="1"/>
              <a:t>Requirement</a:t>
            </a:r>
            <a:r>
              <a:t>: Target classes must have a common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b="1"/>
              <a:t>Identify incompatible interfaces</a:t>
            </a:r>
          </a:p>
          <a:p>
            <a:pPr lvl="1"/>
            <a:r>
              <a:t>Service class (can’t change)</a:t>
            </a:r>
          </a:p>
          <a:p>
            <a:pPr lvl="1"/>
            <a:r>
              <a:t>Client classes (would benefit from service)</a:t>
            </a:r>
          </a:p>
          <a:p>
            <a:pPr marL="342900" indent="-342900">
              <a:buFont typeface="+mj-lt"/>
              <a:buAutoNum type="arabicPeriod"/>
            </a:pPr>
            <a:r>
              <a:rPr b="1"/>
              <a:t>Declare the client interface</a:t>
            </a:r>
          </a:p>
          <a:p>
            <a:pPr lvl="1"/>
            <a:r>
              <a:t>Define how clients communicate with service</a:t>
            </a:r>
          </a:p>
          <a:p>
            <a:pPr marL="342900" indent="-342900">
              <a:buFont typeface="+mj-lt"/>
              <a:buAutoNum type="arabicPeriod"/>
            </a:pPr>
            <a:r>
              <a:rPr b="1"/>
              <a:t>Create the adapter class</a:t>
            </a:r>
          </a:p>
          <a:p>
            <a:pPr lvl="1"/>
            <a:r>
              <a:t>Implement the client interface</a:t>
            </a:r>
          </a:p>
          <a:p>
            <a:pPr lvl="1"/>
            <a:r>
              <a:t>Leave methods empty initially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Implementation Steps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 startAt="4"/>
            </a:pPr>
            <a:r>
              <a:rPr b="1"/>
              <a:t>Add a field for the service object</a:t>
            </a:r>
          </a:p>
          <a:p>
            <a:pPr lvl="1"/>
            <a:r>
              <a:t>Initialize via constructor (common practice)</a:t>
            </a:r>
          </a:p>
          <a:p>
            <a:pPr lvl="1"/>
            <a:r>
              <a:t>Or pass when calling methods</a:t>
            </a:r>
          </a:p>
          <a:p>
            <a:pPr marL="342900" lvl="0" indent="-342900">
              <a:buAutoNum type="arabicPeriod" startAt="4"/>
            </a:pPr>
            <a:r>
              <a:rPr b="1"/>
              <a:t>Implement all interface methods</a:t>
            </a:r>
          </a:p>
          <a:p>
            <a:pPr lvl="1"/>
            <a:r>
              <a:t>Delegate real work to service object</a:t>
            </a:r>
          </a:p>
          <a:p>
            <a:pPr lvl="1"/>
            <a:r>
              <a:t>Handle interface/data format conversion</a:t>
            </a:r>
          </a:p>
          <a:p>
            <a:pPr marL="342900" lvl="0" indent="-342900">
              <a:buAutoNum type="arabicPeriod" startAt="4"/>
            </a:pPr>
            <a:r>
              <a:rPr b="1"/>
              <a:t>Use adapter via client interface</a:t>
            </a:r>
          </a:p>
          <a:p>
            <a:pPr lvl="1"/>
            <a:r>
              <a:t>Allows changing adapters without affecting client 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CA"/>
              <a:t>Adapter Advantages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b="1"/>
              <a:t>Single Responsibility Principle</a:t>
            </a:r>
            <a:r>
              <a:t>: Separate interface/data conversion from business logic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b="1"/>
              <a:t>Open/Closed Principle</a:t>
            </a:r>
            <a:r>
              <a:t>: Introduce new adapters without breaking existing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t>Reuse existing classes without modification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t>Increases flexibility and reusability</a:t>
            </a:r>
          </a:p>
        </p:txBody>
      </p:sp>
      <p:pic>
        <p:nvPicPr>
          <p:cNvPr id="4" name="Picture 3" descr="Related image">
            <a:extLst>
              <a:ext uri="{FF2B5EF4-FFF2-40B4-BE49-F238E27FC236}">
                <a16:creationId xmlns:a16="http://schemas.microsoft.com/office/drawing/2014/main" id="{96BB2DCE-AF1D-4156-A96B-A114BDD7E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1339" y="1384301"/>
            <a:ext cx="3187521" cy="30175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 anchor="b">
            <a:normAutofit/>
          </a:bodyPr>
          <a:lstStyle/>
          <a:p>
            <a:pPr lvl="0"/>
            <a:r>
              <a:rPr lang="en-CA"/>
              <a:t>Adapter Disadvantages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t>Increases overall code complexity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Need to introduce new interfaces and classes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Sometimes simpler to just change the service class directly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t>Additional layer of indirection</a:t>
            </a:r>
          </a:p>
        </p:txBody>
      </p:sp>
      <p:pic>
        <p:nvPicPr>
          <p:cNvPr id="4" name="Picture 3" descr="Related image">
            <a:extLst>
              <a:ext uri="{FF2B5EF4-FFF2-40B4-BE49-F238E27FC236}">
                <a16:creationId xmlns:a16="http://schemas.microsoft.com/office/drawing/2014/main" id="{7AB49235-B699-473A-8A12-10A91621A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2359" y="1384301"/>
            <a:ext cx="3085482" cy="30175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Relations with Other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Bridge vs Adapter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Bridge</a:t>
            </a:r>
            <a:r>
              <a:t>: Designed up-front for independent development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Adapter</a:t>
            </a:r>
            <a:r>
              <a:t>: Used with existing apps to make incompatible classes work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Decorator vs Adapter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Adapter</a:t>
            </a:r>
            <a:r>
              <a:t>: Provides completely different interface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Decorator</a:t>
            </a:r>
            <a:r>
              <a:t>: Interface stays same or gets extended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Decorator</a:t>
            </a:r>
            <a:r>
              <a:t>: Supports recursive composition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Relations with Other Patterns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Proxy vs Adapter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b="1"/>
              <a:t>Adapter</a:t>
            </a:r>
            <a:r>
              <a:t>: Access via different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b="1"/>
              <a:t>Proxy</a:t>
            </a:r>
            <a:r>
              <a:t>: Interface stays the same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b="1"/>
              <a:t>Decorator</a:t>
            </a:r>
            <a:r>
              <a:t>: Access via enhanced interface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Facade vs Adapter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Facade</a:t>
            </a:r>
            <a:r>
              <a:t>: Defines new interface for existing objects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Adapter</a:t>
            </a:r>
            <a:r>
              <a:t>: Makes existing interface usable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/>
              <a:t>Facade</a:t>
            </a:r>
            <a:r>
              <a:rPr lang="en-CA"/>
              <a:t>: Works with entire subsystem</a:t>
            </a:r>
            <a:endParaRPr lang="en-CA" b="1"/>
          </a:p>
          <a:p>
            <a:pPr lvl="0">
              <a:buFont typeface="Wingdings" panose="05000000000000000000" pitchFamily="2" charset="2"/>
              <a:buChar char="§"/>
            </a:pPr>
            <a:r>
              <a:rPr b="1"/>
              <a:t>Adapter</a:t>
            </a:r>
            <a:r>
              <a:t>: Usually wraps one object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Adapter makes incompatible interfaces work together</a:t>
            </a:r>
          </a:p>
          <a:p>
            <a:pPr marL="342900" lvl="0" indent="-342900">
              <a:buAutoNum type="arabicPeriod"/>
            </a:pPr>
            <a:r>
              <a:t>Two implementations: Object Adapter (composition) and Class Adapter (inheritance)</a:t>
            </a:r>
          </a:p>
          <a:p>
            <a:pPr marL="342900" lvl="0" indent="-342900">
              <a:buAutoNum type="arabicPeriod"/>
            </a:pPr>
            <a:r>
              <a:t>Acts as a translator/wrapper between client and service</a:t>
            </a:r>
          </a:p>
          <a:p>
            <a:pPr marL="342900" lvl="0" indent="-342900">
              <a:buAutoNum type="arabicPeriod"/>
            </a:pPr>
            <a:r>
              <a:t>Useful for legacy code and 3rd-party libraries</a:t>
            </a:r>
          </a:p>
          <a:p>
            <a:pPr marL="342900" lvl="0" indent="-342900">
              <a:buAutoNum type="arabicPeriod"/>
            </a:pPr>
            <a:r>
              <a:t>Increases flexibility but adds complexity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Remember</a:t>
            </a:r>
            <a:r>
              <a:t>: The Adapter pattern is about making things work together that weren’t designed to work together.</a:t>
            </a:r>
          </a:p>
          <a:p>
            <a:pPr marL="0" lvl="0" indent="0">
              <a:buNone/>
            </a:pPr>
            <a:r>
              <a:t>Think of it as a </a:t>
            </a:r>
            <a:r>
              <a:rPr b="1"/>
              <a:t>translator</a:t>
            </a:r>
            <a:r>
              <a:t> or </a:t>
            </a:r>
            <a:r>
              <a:rPr b="1"/>
              <a:t>converter</a:t>
            </a:r>
            <a:r>
              <a:t> between incompatible interfaces.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7CA7E97-E16F-45D8-9232-DC9919ED385F}" vid="{EB4723AA-1626-42B1-81C2-F15A3D954F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238</TotalTime>
  <Words>892</Words>
  <Application>Microsoft Office PowerPoint</Application>
  <PresentationFormat>On-screen Show (16:9)</PresentationFormat>
  <Paragraphs>141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Rockwell</vt:lpstr>
      <vt:lpstr>Wingdings</vt:lpstr>
      <vt:lpstr>Theme1</vt:lpstr>
      <vt:lpstr>Adapter+ Design Pattern</vt:lpstr>
      <vt:lpstr>Intent</vt:lpstr>
      <vt:lpstr>The Problem</vt:lpstr>
      <vt:lpstr>The Problem (cont’d)</vt:lpstr>
      <vt:lpstr>The Solution: Adapter Pattern</vt:lpstr>
      <vt:lpstr>How It Works</vt:lpstr>
      <vt:lpstr>Real-World Analogy</vt:lpstr>
      <vt:lpstr>Structure: Object Adapter</vt:lpstr>
      <vt:lpstr>Object Adapter Structure</vt:lpstr>
      <vt:lpstr>Classic Example: Square Pegs &amp; Round Holes</vt:lpstr>
      <vt:lpstr>Structure: Class Adapter</vt:lpstr>
      <vt:lpstr>When to Use the Adapter Pattern</vt:lpstr>
      <vt:lpstr>When to Use (cont’d)</vt:lpstr>
      <vt:lpstr>Implementation Steps</vt:lpstr>
      <vt:lpstr>Implementation Steps (cont’d)</vt:lpstr>
      <vt:lpstr>Adapter Advantages</vt:lpstr>
      <vt:lpstr>Adapter Disadvantages</vt:lpstr>
      <vt:lpstr>Relations with Other Patterns</vt:lpstr>
      <vt:lpstr>Relations with Other Patterns (cont’d)</vt:lpstr>
      <vt:lpstr>Key Takeaways</vt:lpstr>
      <vt:lpstr>Questions?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Nabil Al-Rousan</cp:lastModifiedBy>
  <cp:revision>2</cp:revision>
  <dcterms:created xsi:type="dcterms:W3CDTF">2025-11-18T03:49:43Z</dcterms:created>
  <dcterms:modified xsi:type="dcterms:W3CDTF">2025-11-18T21:18:28Z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