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5"/>
  </p:notesMasterIdLst>
  <p:sldIdLst>
    <p:sldId id="256" r:id="rId2"/>
    <p:sldId id="1517" r:id="rId3"/>
    <p:sldId id="1518" r:id="rId4"/>
    <p:sldId id="1553" r:id="rId5"/>
    <p:sldId id="1554" r:id="rId6"/>
    <p:sldId id="1556" r:id="rId7"/>
    <p:sldId id="1558" r:id="rId8"/>
    <p:sldId id="1559" r:id="rId9"/>
    <p:sldId id="1555" r:id="rId10"/>
    <p:sldId id="1560" r:id="rId11"/>
    <p:sldId id="1506" r:id="rId12"/>
    <p:sldId id="1441" r:id="rId13"/>
    <p:sldId id="1532" r:id="rId14"/>
    <p:sldId id="1472" r:id="rId15"/>
    <p:sldId id="1563" r:id="rId16"/>
    <p:sldId id="1577" r:id="rId17"/>
    <p:sldId id="1580" r:id="rId18"/>
    <p:sldId id="1578" r:id="rId19"/>
    <p:sldId id="1579" r:id="rId20"/>
    <p:sldId id="1581" r:id="rId21"/>
    <p:sldId id="1582" r:id="rId22"/>
    <p:sldId id="1562" r:id="rId23"/>
    <p:sldId id="1564" r:id="rId24"/>
    <p:sldId id="1507" r:id="rId25"/>
    <p:sldId id="1520" r:id="rId26"/>
    <p:sldId id="1583" r:id="rId27"/>
    <p:sldId id="1584" r:id="rId28"/>
    <p:sldId id="1585" r:id="rId29"/>
    <p:sldId id="1565" r:id="rId30"/>
    <p:sldId id="1566" r:id="rId31"/>
    <p:sldId id="1590" r:id="rId32"/>
    <p:sldId id="1591" r:id="rId33"/>
    <p:sldId id="1589" r:id="rId34"/>
    <p:sldId id="1592" r:id="rId35"/>
    <p:sldId id="1593" r:id="rId36"/>
    <p:sldId id="1594" r:id="rId37"/>
    <p:sldId id="1398" r:id="rId38"/>
    <p:sldId id="1402" r:id="rId39"/>
    <p:sldId id="1572" r:id="rId40"/>
    <p:sldId id="1568" r:id="rId41"/>
    <p:sldId id="1575" r:id="rId42"/>
    <p:sldId id="1549" r:id="rId43"/>
    <p:sldId id="1550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C52B1B-8552-4EA8-9F30-F71A1F646BFC}">
          <p14:sldIdLst>
            <p14:sldId id="256"/>
            <p14:sldId id="1517"/>
            <p14:sldId id="1518"/>
            <p14:sldId id="1553"/>
            <p14:sldId id="1554"/>
            <p14:sldId id="1556"/>
            <p14:sldId id="1558"/>
            <p14:sldId id="1559"/>
            <p14:sldId id="1555"/>
          </p14:sldIdLst>
        </p14:section>
        <p14:section name="Default Section" id="{13E0445E-2A3F-43B0-BE62-F87C17105298}">
          <p14:sldIdLst>
            <p14:sldId id="1560"/>
            <p14:sldId id="1506"/>
            <p14:sldId id="1441"/>
            <p14:sldId id="1532"/>
            <p14:sldId id="1472"/>
            <p14:sldId id="1563"/>
            <p14:sldId id="1577"/>
            <p14:sldId id="1580"/>
            <p14:sldId id="1578"/>
            <p14:sldId id="1579"/>
            <p14:sldId id="1581"/>
            <p14:sldId id="1582"/>
            <p14:sldId id="1562"/>
            <p14:sldId id="1564"/>
            <p14:sldId id="1507"/>
            <p14:sldId id="1520"/>
            <p14:sldId id="1583"/>
            <p14:sldId id="1584"/>
            <p14:sldId id="1585"/>
            <p14:sldId id="1565"/>
            <p14:sldId id="1566"/>
            <p14:sldId id="1590"/>
            <p14:sldId id="1591"/>
            <p14:sldId id="1589"/>
            <p14:sldId id="1592"/>
            <p14:sldId id="1593"/>
            <p14:sldId id="1594"/>
            <p14:sldId id="1398"/>
            <p14:sldId id="1402"/>
            <p14:sldId id="1572"/>
            <p14:sldId id="1568"/>
            <p14:sldId id="1575"/>
            <p14:sldId id="1549"/>
            <p14:sldId id="15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4C4C4C"/>
    <a:srgbClr val="3D3D3D"/>
    <a:srgbClr val="5B5B5B"/>
    <a:srgbClr val="F7F7F7"/>
    <a:srgbClr val="D0A01A"/>
    <a:srgbClr val="D34817"/>
    <a:srgbClr val="FF66CC"/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3" autoAdjust="0"/>
    <p:restoredTop sz="93243" autoAdjust="0"/>
  </p:normalViewPr>
  <p:slideViewPr>
    <p:cSldViewPr snapToGrid="0">
      <p:cViewPr varScale="1">
        <p:scale>
          <a:sx n="95" d="100"/>
          <a:sy n="95" d="100"/>
        </p:scale>
        <p:origin x="90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7FE11-279C-4A31-AF18-49445EF40DF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9246-A70B-4C9F-A67E-C2E21AFF71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05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61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611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061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3951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9821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3E980-16BC-4644-BEFC-E1F1E32D46E4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1C4D-C11F-42A5-9385-8E3CDA59C6F3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2943-8485-41C8-96A1-321D9F672C6E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79639-DE4C-42CE-9324-06D8D1EFA4A9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15DEF-612C-478A-AC87-55C7AFB1BA68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E28-9126-4DA4-9862-0D89A7B1F0D3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39ED7-4828-424F-9C93-8AB632496B54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7D65A3-FF3A-4E0A-83C0-83015C4214D5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5D56-D6DA-410F-B395-1EDE68165CC8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8F394-87B7-4503-9EE9-D78BA22E6395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E2686-2051-4A33-B8FC-36EC6D603659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8C22CE-FB72-4EFA-B6BE-AD7ACB670FB9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od_object" TargetMode="External"/><Relationship Id="rId2" Type="http://schemas.openxmlformats.org/officeDocument/2006/relationships/hyperlink" Target="https://en.wikipedia.org/wiki/Object_(computer_science)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006149" cy="3566160"/>
          </a:xfrm>
        </p:spPr>
        <p:txBody>
          <a:bodyPr>
            <a:noAutofit/>
          </a:bodyPr>
          <a:lstStyle/>
          <a:p>
            <a:r>
              <a:rPr lang="en-CA" sz="4800"/>
              <a:t>Creational Pattern:Builder</a:t>
            </a:r>
            <a:br>
              <a:rPr lang="en-CA" sz="4800"/>
            </a:br>
            <a:r>
              <a:rPr lang="en-CA" sz="4800"/>
              <a:t>Behavioral Pattern: Mediator </a:t>
            </a:r>
            <a:br>
              <a:rPr lang="en-CA" sz="4800"/>
            </a:br>
            <a:r>
              <a:rPr lang="en-CA" sz="4800"/>
              <a:t>and Dependency Injection</a:t>
            </a:r>
            <a:endParaRPr lang="en-CA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9531663" cy="1143000"/>
          </a:xfrm>
        </p:spPr>
        <p:txBody>
          <a:bodyPr>
            <a:normAutofit/>
          </a:bodyPr>
          <a:lstStyle/>
          <a:p>
            <a:r>
              <a:rPr lang="en-CA"/>
              <a:t>COMP3522 </a:t>
            </a:r>
            <a:r>
              <a:rPr lang="en-CA" dirty="0"/>
              <a:t>Object Oriented Programming 2</a:t>
            </a:r>
          </a:p>
          <a:p>
            <a:r>
              <a:rPr lang="en-CA"/>
              <a:t>Week 12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1298B-EC1B-4432-BFFE-30C12ADE3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30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82117E-C229-48E0-95C7-9923BDE7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2C05D4-E4D1-4842-AC39-61107F30A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When you want customization and complexity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944F-43E9-4DD7-8C9E-1CB47335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0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2C62-2059-4BBE-8955-20819C07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36C6-1315-437E-ABFB-0E882215B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547360" cy="4023360"/>
          </a:xfrm>
        </p:spPr>
        <p:txBody>
          <a:bodyPr>
            <a:normAutofit lnSpcReduction="10000"/>
          </a:bodyPr>
          <a:lstStyle/>
          <a:p>
            <a:r>
              <a:rPr lang="en-CA" dirty="0"/>
              <a:t>Often we need to initialize objects with a number of different parts, nested fields, optional attributes and behaviour.</a:t>
            </a:r>
          </a:p>
          <a:p>
            <a:r>
              <a:rPr lang="en-CA" dirty="0"/>
              <a:t>This can cause either: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 The initializer of an object to become </a:t>
            </a:r>
            <a:r>
              <a:rPr lang="en-CA" b="1" dirty="0"/>
              <a:t>bloated</a:t>
            </a:r>
            <a:r>
              <a:rPr lang="en-CA" dirty="0"/>
              <a:t>. Lots of parameters, most of which may not even be used often.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 A complex inheritance hierarchy to model the optional features.</a:t>
            </a:r>
          </a:p>
          <a:p>
            <a:pPr marL="0" indent="0">
              <a:buNone/>
            </a:pPr>
            <a:r>
              <a:rPr lang="en-CA" dirty="0"/>
              <a:t>The </a:t>
            </a:r>
            <a:r>
              <a:rPr lang="en-CA" b="1" dirty="0"/>
              <a:t>Builder Pattern</a:t>
            </a:r>
            <a:r>
              <a:rPr lang="en-CA" dirty="0"/>
              <a:t> allows us to </a:t>
            </a:r>
            <a:r>
              <a:rPr lang="en-CA" b="1" dirty="0"/>
              <a:t>break this construction code into a separate class</a:t>
            </a:r>
            <a:r>
              <a:rPr lang="en-CA" dirty="0"/>
              <a:t>. </a:t>
            </a:r>
          </a:p>
          <a:p>
            <a:pPr marL="0" indent="0">
              <a:buNone/>
            </a:pPr>
            <a:r>
              <a:rPr lang="en-CA" dirty="0"/>
              <a:t>This separate class </a:t>
            </a:r>
            <a:r>
              <a:rPr lang="en-CA" b="1" dirty="0"/>
              <a:t>decouples independent blocks of construction code</a:t>
            </a:r>
            <a:r>
              <a:rPr lang="en-CA" dirty="0"/>
              <a:t> that can be </a:t>
            </a:r>
            <a:r>
              <a:rPr lang="en-CA" b="1" dirty="0"/>
              <a:t>mixed and matched</a:t>
            </a:r>
            <a:r>
              <a:rPr lang="en-CA" dirty="0"/>
              <a:t>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B3DE-770B-4043-AB74-54146377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pic>
        <p:nvPicPr>
          <p:cNvPr id="6146" name="Picture 2" descr="Builder design pattern">
            <a:extLst>
              <a:ext uri="{FF2B5EF4-FFF2-40B4-BE49-F238E27FC236}">
                <a16:creationId xmlns:a16="http://schemas.microsoft.com/office/drawing/2014/main" id="{27A49FBE-71EC-473D-845F-6196013F7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700" y="2547726"/>
            <a:ext cx="4191000" cy="261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23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363D-AD6E-400D-A0E4-0D6ABC74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9D701-22CF-4322-B11C-58CFC28BD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35880" cy="4023360"/>
          </a:xfrm>
        </p:spPr>
        <p:txBody>
          <a:bodyPr/>
          <a:lstStyle/>
          <a:p>
            <a:r>
              <a:rPr lang="en-CA" dirty="0"/>
              <a:t>Say we were modeling and representing Houses.</a:t>
            </a:r>
          </a:p>
          <a:p>
            <a:r>
              <a:rPr lang="en-CA" dirty="0"/>
              <a:t>Houses have a lot of components and optional parts. </a:t>
            </a:r>
          </a:p>
          <a:p>
            <a:pPr lvl="1"/>
            <a:r>
              <a:rPr lang="en-CA" dirty="0"/>
              <a:t>Door, walls, roof, windows, etc.</a:t>
            </a:r>
          </a:p>
          <a:p>
            <a:r>
              <a:rPr lang="en-CA" dirty="0"/>
              <a:t>We can use </a:t>
            </a:r>
            <a:r>
              <a:rPr lang="en-CA" b="1" dirty="0">
                <a:solidFill>
                  <a:srgbClr val="0070C0"/>
                </a:solidFill>
              </a:rPr>
              <a:t>inheritance</a:t>
            </a:r>
            <a:r>
              <a:rPr lang="en-CA" dirty="0"/>
              <a:t> to model all these cases.</a:t>
            </a:r>
          </a:p>
          <a:p>
            <a:endParaRPr lang="en-CA" dirty="0"/>
          </a:p>
          <a:p>
            <a:r>
              <a:rPr lang="en-CA" dirty="0"/>
              <a:t>Or we can avoid inheritance, and have a </a:t>
            </a:r>
            <a:r>
              <a:rPr lang="en-CA" dirty="0">
                <a:solidFill>
                  <a:srgbClr val="00B050"/>
                </a:solidFill>
              </a:rPr>
              <a:t>single class with a lot of parameters</a:t>
            </a:r>
            <a:r>
              <a:rPr lang="en-CA" dirty="0"/>
              <a:t> in its constructor and unnecessary attributes to keep track of all the components. This leads to </a:t>
            </a:r>
            <a:r>
              <a:rPr lang="en-CA" dirty="0">
                <a:solidFill>
                  <a:srgbClr val="FF0000"/>
                </a:solidFill>
              </a:rPr>
              <a:t>ugly initializer calls</a:t>
            </a:r>
            <a:r>
              <a:rPr lang="en-CA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406A7-E458-4D52-899F-745A5E02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7170" name="Picture 2" descr="Lots of subclasses create another problem">
            <a:extLst>
              <a:ext uri="{FF2B5EF4-FFF2-40B4-BE49-F238E27FC236}">
                <a16:creationId xmlns:a16="http://schemas.microsoft.com/office/drawing/2014/main" id="{C970B097-D2BA-4931-B718-3518BB606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709" y="183964"/>
            <a:ext cx="5047917" cy="2944617"/>
          </a:xfrm>
          <a:prstGeom prst="rect">
            <a:avLst/>
          </a:prstGeom>
          <a:noFill/>
          <a:ln w="2540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he telescopic constructor">
            <a:extLst>
              <a:ext uri="{FF2B5EF4-FFF2-40B4-BE49-F238E27FC236}">
                <a16:creationId xmlns:a16="http://schemas.microsoft.com/office/drawing/2014/main" id="{79A84845-6183-4E5C-ABC2-BED91B122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708" y="3297646"/>
            <a:ext cx="5047917" cy="2944619"/>
          </a:xfrm>
          <a:prstGeom prst="rect">
            <a:avLst/>
          </a:prstGeom>
          <a:noFill/>
          <a:ln w="254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6E3E42-05D4-439A-9B57-567037A49503}"/>
              </a:ext>
            </a:extLst>
          </p:cNvPr>
          <p:cNvSpPr/>
          <p:nvPr/>
        </p:nvSpPr>
        <p:spPr>
          <a:xfrm>
            <a:off x="8003357" y="3949831"/>
            <a:ext cx="1897101" cy="5373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3187E6-86E1-443B-9211-794A89B5D921}"/>
              </a:ext>
            </a:extLst>
          </p:cNvPr>
          <p:cNvSpPr/>
          <p:nvPr/>
        </p:nvSpPr>
        <p:spPr>
          <a:xfrm>
            <a:off x="6524919" y="4656224"/>
            <a:ext cx="2193304" cy="2080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5A964-34CE-436B-A8F7-B8DC246FF20B}"/>
              </a:ext>
            </a:extLst>
          </p:cNvPr>
          <p:cNvSpPr/>
          <p:nvPr/>
        </p:nvSpPr>
        <p:spPr>
          <a:xfrm>
            <a:off x="9213129" y="4665650"/>
            <a:ext cx="2193304" cy="2080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364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1742-7421-462C-A8BF-C18F5390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 dirty="0"/>
              <a:t>Builder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1C840-1A47-46D1-A71F-7D4F0DF8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2467E5E-B067-414C-8EC4-CC2399DF1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517" y="1929450"/>
            <a:ext cx="5060924" cy="4187316"/>
          </a:xfrm>
        </p:spPr>
        <p:txBody>
          <a:bodyPr>
            <a:normAutofit/>
          </a:bodyPr>
          <a:lstStyle/>
          <a:p>
            <a:r>
              <a:rPr lang="en-CA" dirty="0"/>
              <a:t>If the construction of an object is so complex, then why don’t we separate that out into its own class (</a:t>
            </a:r>
            <a:r>
              <a:rPr lang="en-CA" b="1" dirty="0" err="1"/>
              <a:t>HouseBuilder</a:t>
            </a:r>
            <a:r>
              <a:rPr lang="en-CA" dirty="0"/>
              <a:t>).</a:t>
            </a:r>
          </a:p>
          <a:p>
            <a:r>
              <a:rPr lang="en-CA" dirty="0"/>
              <a:t>This would ensure the </a:t>
            </a:r>
            <a:r>
              <a:rPr lang="en-CA" b="1" dirty="0"/>
              <a:t>Single Responsibility Principle</a:t>
            </a:r>
            <a:r>
              <a:rPr lang="en-CA" dirty="0"/>
              <a:t>. </a:t>
            </a:r>
          </a:p>
          <a:p>
            <a:r>
              <a:rPr lang="en-CA" dirty="0"/>
              <a:t>A class would be split into itself and its builder class with all of its construction code.</a:t>
            </a:r>
          </a:p>
          <a:p>
            <a:r>
              <a:rPr lang="en-CA" dirty="0"/>
              <a:t>We can have a separate call for each different component that our object is aggregated/composed of.</a:t>
            </a:r>
          </a:p>
          <a:p>
            <a:r>
              <a:rPr lang="en-CA" dirty="0"/>
              <a:t>Calling different combinations of these methods would lead to different types of homes.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08235A-FC84-4689-B064-61FE581C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29" y="4568575"/>
            <a:ext cx="2047162" cy="1194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E79850-E5B7-4D01-A242-CC61DF166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16" y="2279630"/>
            <a:ext cx="2426635" cy="10213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42E2E1-49EC-486A-A535-74A18C2AD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150" y="3917796"/>
            <a:ext cx="1724025" cy="21717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7F1194-B446-4F9E-BBCE-0D2ACBB3CB53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H="1" flipV="1">
            <a:off x="10755034" y="3300941"/>
            <a:ext cx="4129" cy="6168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446A10-EDF1-4932-9843-AE6F56BB1DFD}"/>
              </a:ext>
            </a:extLst>
          </p:cNvPr>
          <p:cNvCxnSpPr>
            <a:cxnSpLocks/>
          </p:cNvCxnSpPr>
          <p:nvPr/>
        </p:nvCxnSpPr>
        <p:spPr>
          <a:xfrm flipV="1">
            <a:off x="7474657" y="4854056"/>
            <a:ext cx="2377398" cy="623798"/>
          </a:xfrm>
          <a:prstGeom prst="line">
            <a:avLst/>
          </a:prstGeom>
          <a:ln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27D821-3DD3-4BE1-926B-843F97B09486}"/>
              </a:ext>
            </a:extLst>
          </p:cNvPr>
          <p:cNvCxnSpPr>
            <a:cxnSpLocks/>
          </p:cNvCxnSpPr>
          <p:nvPr/>
        </p:nvCxnSpPr>
        <p:spPr>
          <a:xfrm flipV="1">
            <a:off x="7474657" y="5059484"/>
            <a:ext cx="2377398" cy="408348"/>
          </a:xfrm>
          <a:prstGeom prst="line">
            <a:avLst/>
          </a:prstGeom>
          <a:ln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BF6681-1D2C-4EA3-B1FD-8EE73E12804B}"/>
              </a:ext>
            </a:extLst>
          </p:cNvPr>
          <p:cNvCxnSpPr>
            <a:cxnSpLocks/>
          </p:cNvCxnSpPr>
          <p:nvPr/>
        </p:nvCxnSpPr>
        <p:spPr>
          <a:xfrm flipV="1">
            <a:off x="7474657" y="5269922"/>
            <a:ext cx="2377398" cy="197910"/>
          </a:xfrm>
          <a:prstGeom prst="line">
            <a:avLst/>
          </a:prstGeom>
          <a:ln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C98D02-08BB-432B-88A2-0A5F99118FF9}"/>
              </a:ext>
            </a:extLst>
          </p:cNvPr>
          <p:cNvCxnSpPr>
            <a:cxnSpLocks/>
          </p:cNvCxnSpPr>
          <p:nvPr/>
        </p:nvCxnSpPr>
        <p:spPr>
          <a:xfrm>
            <a:off x="7474657" y="5467832"/>
            <a:ext cx="2377398" cy="12527"/>
          </a:xfrm>
          <a:prstGeom prst="line">
            <a:avLst/>
          </a:prstGeom>
          <a:ln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C4B2E4-5F32-49E6-B222-C04295BCEFE0}"/>
              </a:ext>
            </a:extLst>
          </p:cNvPr>
          <p:cNvCxnSpPr>
            <a:cxnSpLocks/>
          </p:cNvCxnSpPr>
          <p:nvPr/>
        </p:nvCxnSpPr>
        <p:spPr>
          <a:xfrm>
            <a:off x="7474657" y="5467832"/>
            <a:ext cx="2377398" cy="217954"/>
          </a:xfrm>
          <a:prstGeom prst="line">
            <a:avLst/>
          </a:prstGeom>
          <a:ln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707DEA-343E-4E0D-BF6C-3F4502AAD1C9}"/>
              </a:ext>
            </a:extLst>
          </p:cNvPr>
          <p:cNvCxnSpPr>
            <a:cxnSpLocks/>
          </p:cNvCxnSpPr>
          <p:nvPr/>
        </p:nvCxnSpPr>
        <p:spPr>
          <a:xfrm>
            <a:off x="7474657" y="5467832"/>
            <a:ext cx="2377398" cy="428391"/>
          </a:xfrm>
          <a:prstGeom prst="line">
            <a:avLst/>
          </a:prstGeom>
          <a:ln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8A8F1CF-05C7-49EF-AED9-7719BE8CA215}"/>
              </a:ext>
            </a:extLst>
          </p:cNvPr>
          <p:cNvSpPr/>
          <p:nvPr/>
        </p:nvSpPr>
        <p:spPr>
          <a:xfrm>
            <a:off x="5505523" y="4140073"/>
            <a:ext cx="2360882" cy="1797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9D3651-B505-44B8-BEDF-4E0C34495745}"/>
              </a:ext>
            </a:extLst>
          </p:cNvPr>
          <p:cNvSpPr/>
          <p:nvPr/>
        </p:nvSpPr>
        <p:spPr>
          <a:xfrm>
            <a:off x="9407381" y="1887680"/>
            <a:ext cx="2617940" cy="43107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4B9F06-40F9-4418-839E-C31C5C9D5CED}"/>
              </a:ext>
            </a:extLst>
          </p:cNvPr>
          <p:cNvSpPr/>
          <p:nvPr/>
        </p:nvSpPr>
        <p:spPr>
          <a:xfrm>
            <a:off x="9460237" y="1887680"/>
            <a:ext cx="1548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B050"/>
                </a:solidFill>
              </a:rPr>
              <a:t>New approach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D39EB8-3D3A-4B08-862F-6EFDF432C97B}"/>
              </a:ext>
            </a:extLst>
          </p:cNvPr>
          <p:cNvSpPr/>
          <p:nvPr/>
        </p:nvSpPr>
        <p:spPr>
          <a:xfrm>
            <a:off x="5583129" y="4193422"/>
            <a:ext cx="1447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Old approach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788CBC-3C46-4610-8903-0FE978680160}"/>
              </a:ext>
            </a:extLst>
          </p:cNvPr>
          <p:cNvSpPr/>
          <p:nvPr/>
        </p:nvSpPr>
        <p:spPr>
          <a:xfrm>
            <a:off x="7972962" y="4355595"/>
            <a:ext cx="1609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00B050"/>
                </a:solidFill>
              </a:rPr>
              <a:t>2. Construction logic separated into </a:t>
            </a:r>
            <a:r>
              <a:rPr lang="en-CA" sz="1200" b="1">
                <a:solidFill>
                  <a:srgbClr val="00B050"/>
                </a:solidFill>
              </a:rPr>
              <a:t>multiple methods</a:t>
            </a:r>
            <a:endParaRPr lang="en-CA" sz="1200" b="1" dirty="0">
              <a:solidFill>
                <a:srgbClr val="00B05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6514FD-82EF-4A9B-A5BB-AB4812A812CE}"/>
              </a:ext>
            </a:extLst>
          </p:cNvPr>
          <p:cNvSpPr/>
          <p:nvPr/>
        </p:nvSpPr>
        <p:spPr>
          <a:xfrm>
            <a:off x="7960360" y="2229761"/>
            <a:ext cx="139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00B050"/>
                </a:solidFill>
              </a:rPr>
              <a:t>1. House initializer has no parameters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593188-FD52-4A65-AE30-65A1C6E1E02F}"/>
              </a:ext>
            </a:extLst>
          </p:cNvPr>
          <p:cNvCxnSpPr>
            <a:cxnSpLocks/>
          </p:cNvCxnSpPr>
          <p:nvPr/>
        </p:nvCxnSpPr>
        <p:spPr>
          <a:xfrm>
            <a:off x="8858250" y="2770803"/>
            <a:ext cx="724412" cy="369332"/>
          </a:xfrm>
          <a:prstGeom prst="line">
            <a:avLst/>
          </a:prstGeom>
          <a:ln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80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565A-2CD2-43BA-8F88-FB205EC4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Builders and 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E8C06-46DB-4131-B916-1AFDAF257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This is a really powerful pattern.</a:t>
            </a:r>
          </a:p>
          <a:p>
            <a:r>
              <a:rPr lang="en-CA" dirty="0"/>
              <a:t>We can customize the Builder Class to take in its </a:t>
            </a:r>
            <a:r>
              <a:rPr lang="en-CA" dirty="0">
                <a:solidFill>
                  <a:srgbClr val="0070C0"/>
                </a:solidFill>
              </a:rPr>
              <a:t>own parameters and options</a:t>
            </a:r>
            <a:r>
              <a:rPr lang="en-CA" dirty="0"/>
              <a:t>.</a:t>
            </a:r>
          </a:p>
          <a:p>
            <a:r>
              <a:rPr lang="en-CA" dirty="0"/>
              <a:t>This can allow us to instantiate different Builder objects that execute the construction differently.</a:t>
            </a:r>
          </a:p>
          <a:p>
            <a:r>
              <a:rPr lang="en-CA" dirty="0"/>
              <a:t>For example, we can have our builder class accept</a:t>
            </a:r>
            <a:br>
              <a:rPr lang="en-CA" dirty="0"/>
            </a:br>
            <a:r>
              <a:rPr lang="en-CA" dirty="0"/>
              <a:t>a parameter for the material we can build the </a:t>
            </a:r>
            <a:br>
              <a:rPr lang="en-CA" dirty="0"/>
            </a:br>
            <a:r>
              <a:rPr lang="en-CA" dirty="0"/>
              <a:t>house out of.</a:t>
            </a:r>
          </a:p>
          <a:p>
            <a:r>
              <a:rPr lang="en-CA" dirty="0"/>
              <a:t>We can then make 3 builder objects:</a:t>
            </a:r>
          </a:p>
          <a:p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builder_wood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HouseBuilder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(mat=“Wood”)</a:t>
            </a:r>
            <a:b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cabin = </a:t>
            </a:r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builder_wood.build_house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builder_stone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HouseBuilder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(mat=“Stone”)</a:t>
            </a:r>
            <a:b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castle = </a:t>
            </a:r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builder_stone.build_house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builder_paper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Housebuilder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(mat=“Paper”)</a:t>
            </a:r>
            <a:b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origami_house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builder_paper.build_house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CA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b="1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6FA50-B3A5-408F-9BC1-EE630894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678EA19-7FE6-4A5D-9EFF-5CB9E781A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3306940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288" y="150094"/>
            <a:ext cx="1895740" cy="23720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750490" y="828664"/>
            <a:ext cx="1791270" cy="169712"/>
          </a:xfrm>
          <a:prstGeom prst="rect">
            <a:avLst/>
          </a:prstGeom>
          <a:solidFill>
            <a:srgbClr val="F7F7F7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rgbClr val="0070C0"/>
                </a:solidFill>
              </a:rPr>
              <a:t>+ __</a:t>
            </a:r>
            <a:r>
              <a:rPr lang="en-CA" sz="1600" b="1" dirty="0" err="1">
                <a:solidFill>
                  <a:srgbClr val="0070C0"/>
                </a:solidFill>
              </a:rPr>
              <a:t>init</a:t>
            </a:r>
            <a:r>
              <a:rPr lang="en-CA" sz="1600" b="1" dirty="0">
                <a:solidFill>
                  <a:srgbClr val="0070C0"/>
                </a:solidFill>
              </a:rPr>
              <a:t>__(mat)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733151" y="791340"/>
            <a:ext cx="1826389" cy="0"/>
          </a:xfrm>
          <a:prstGeom prst="line">
            <a:avLst/>
          </a:prstGeom>
          <a:ln w="31750">
            <a:solidFill>
              <a:srgbClr val="4C4C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19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44F-D7DC-450F-9A1C-D6B330AF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 and Director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E96EA-BB00-448C-976E-6297C8023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056" y="1845734"/>
            <a:ext cx="4358640" cy="4425526"/>
          </a:xfrm>
        </p:spPr>
        <p:txBody>
          <a:bodyPr/>
          <a:lstStyle/>
          <a:p>
            <a:r>
              <a:rPr lang="en-CA" dirty="0"/>
              <a:t>We can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optionally</a:t>
            </a:r>
            <a:r>
              <a:rPr lang="en-CA" dirty="0"/>
              <a:t> implement a manager class called a Director that can be responsible for different subroutines that call different methods in a builder class.</a:t>
            </a:r>
          </a:p>
          <a:p>
            <a:r>
              <a:rPr lang="en-CA" dirty="0"/>
              <a:t>This Director class is optional and usually makes sense when working with complex objects that can be decoupled into different pieces/components that can be mixed and matched.</a:t>
            </a:r>
          </a:p>
          <a:p>
            <a:r>
              <a:rPr lang="en-CA" dirty="0"/>
              <a:t>We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can even inherit </a:t>
            </a:r>
            <a:r>
              <a:rPr lang="en-CA" dirty="0"/>
              <a:t>from a Builder class to create different variations of builders if the complexity demands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1CDD8-D369-4D39-97BB-8FD344F4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10244" name="Picture 4" descr="Image result for female film director cartoon">
            <a:extLst>
              <a:ext uri="{FF2B5EF4-FFF2-40B4-BE49-F238E27FC236}">
                <a16:creationId xmlns:a16="http://schemas.microsoft.com/office/drawing/2014/main" id="{7097069D-CE87-4DEE-BCBA-9E844AA46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02380"/>
            <a:ext cx="2365056" cy="252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6662" y="796743"/>
            <a:ext cx="5038530" cy="49398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Director: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builder: Builder):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builder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build_townhouse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-&gt; House: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.builder.build_walls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.builder.build_roof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.builder.build_garage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.builder.build_swimming_pool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.builder.build_second_story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.builder.build_door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.builder.build_windows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.builder.product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build_apartment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-&gt; House: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.builder.build_walls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.builder.build_door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.builder.build_windows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.builder.product</a:t>
            </a:r>
            <a:b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065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CEDA6-A936-4650-B0FB-B26A2C8F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8DB2E-D5D4-41AC-9A8D-6F24EAB815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3840" y="3429000"/>
            <a:ext cx="10058400" cy="1449387"/>
          </a:xfrm>
        </p:spPr>
        <p:txBody>
          <a:bodyPr/>
          <a:lstStyle/>
          <a:p>
            <a:r>
              <a:rPr lang="en-CA" dirty="0"/>
              <a:t>Builder Pattern: UML</a:t>
            </a:r>
          </a:p>
        </p:txBody>
      </p:sp>
      <p:pic>
        <p:nvPicPr>
          <p:cNvPr id="5" name="Picture 6" descr="Structure of the Builder design pattern">
            <a:extLst>
              <a:ext uri="{FF2B5EF4-FFF2-40B4-BE49-F238E27FC236}">
                <a16:creationId xmlns:a16="http://schemas.microsoft.com/office/drawing/2014/main" id="{0B2DAEE8-1871-4462-8A4C-9D41E69A0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348" y="-56203"/>
            <a:ext cx="5070072" cy="639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784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310-E840-42A5-90D0-4686AC9C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A6AB-B05A-498F-A5EC-82D82E5C3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Let’s look at some code:</a:t>
            </a:r>
          </a:p>
          <a:p>
            <a:r>
              <a:rPr lang="en-CA" dirty="0">
                <a:solidFill>
                  <a:srgbClr val="0070C0"/>
                </a:solidFill>
              </a:rPr>
              <a:t>bad_pizza.py</a:t>
            </a:r>
          </a:p>
          <a:p>
            <a:r>
              <a:rPr lang="en-CA" dirty="0">
                <a:solidFill>
                  <a:srgbClr val="0070C0"/>
                </a:solidFill>
              </a:rPr>
              <a:t>builder_sample_code.py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977A7-ECAF-4645-9C90-263FED10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11266" name="Picture 2" descr="Image result for pizza clip art">
            <a:extLst>
              <a:ext uri="{FF2B5EF4-FFF2-40B4-BE49-F238E27FC236}">
                <a16:creationId xmlns:a16="http://schemas.microsoft.com/office/drawing/2014/main" id="{9D60E12D-3789-455A-BF93-08D17961A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837" y="3113349"/>
            <a:ext cx="4328160" cy="264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953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006149" cy="3566160"/>
          </a:xfrm>
        </p:spPr>
        <p:txBody>
          <a:bodyPr/>
          <a:lstStyle/>
          <a:p>
            <a:r>
              <a:rPr lang="en-CA" dirty="0"/>
              <a:t>Mediator and Dependency Injection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9531663" cy="1143000"/>
          </a:xfrm>
        </p:spPr>
        <p:txBody>
          <a:bodyPr>
            <a:normAutofit/>
          </a:bodyPr>
          <a:lstStyle/>
          <a:p>
            <a:r>
              <a:rPr lang="en-CA" dirty="0"/>
              <a:t>COMP3522 Object Oriented Programming 2</a:t>
            </a:r>
          </a:p>
          <a:p>
            <a:r>
              <a:rPr lang="en-CA"/>
              <a:t>Week 13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1298B-EC1B-4432-BFFE-30C12ADE3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43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8C69-BD43-49FE-B721-D2F44A0C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Last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76CCB-969D-42A9-A12E-C1F09B1B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6299401" cy="4372187"/>
          </a:xfrm>
        </p:spPr>
        <p:txBody>
          <a:bodyPr>
            <a:normAutofit/>
          </a:bodyPr>
          <a:lstStyle/>
          <a:p>
            <a:r>
              <a:rPr lang="en-CA" b="1" dirty="0"/>
              <a:t>Multiprocessing</a:t>
            </a:r>
          </a:p>
          <a:p>
            <a:pPr lvl="1"/>
            <a:r>
              <a:rPr lang="en-CA" dirty="0"/>
              <a:t>Processes </a:t>
            </a:r>
          </a:p>
          <a:p>
            <a:pPr lvl="1"/>
            <a:r>
              <a:rPr lang="en-CA" dirty="0"/>
              <a:t>CPU Bound Code</a:t>
            </a:r>
          </a:p>
          <a:p>
            <a:pPr lvl="1"/>
            <a:r>
              <a:rPr lang="en-CA" dirty="0"/>
              <a:t>Multiprocessing module is similar to the threading module.</a:t>
            </a:r>
          </a:p>
          <a:p>
            <a:r>
              <a:rPr lang="en-CA" b="1" dirty="0"/>
              <a:t>Lazy Initialization</a:t>
            </a:r>
          </a:p>
          <a:p>
            <a:pPr lvl="1"/>
            <a:r>
              <a:rPr lang="en-CA" dirty="0"/>
              <a:t>Delay creation of an expensive resource until it is required.</a:t>
            </a:r>
          </a:p>
          <a:p>
            <a:r>
              <a:rPr lang="en-CA" b="1" dirty="0"/>
              <a:t>Builder</a:t>
            </a:r>
          </a:p>
          <a:p>
            <a:pPr lvl="1"/>
            <a:r>
              <a:rPr lang="en-CA" dirty="0"/>
              <a:t>Decouple an object from its creation code</a:t>
            </a:r>
          </a:p>
          <a:p>
            <a:pPr lvl="1"/>
            <a:r>
              <a:rPr lang="en-CA" dirty="0"/>
              <a:t>Build an object in incremental steps.</a:t>
            </a:r>
          </a:p>
          <a:p>
            <a:pPr lvl="1"/>
            <a:r>
              <a:rPr lang="en-CA" dirty="0"/>
              <a:t>Avoid complex constructor overloading</a:t>
            </a:r>
          </a:p>
          <a:p>
            <a:pPr lvl="1"/>
            <a:r>
              <a:rPr lang="en-CA" dirty="0"/>
              <a:t>Set up creation subroutines in an optional Director class.</a:t>
            </a:r>
          </a:p>
          <a:p>
            <a:endParaRPr lang="en-CA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48D68-9E28-40A9-9B55-D86B0053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1026" name="Picture 2" descr="Image result for recap">
            <a:extLst>
              <a:ext uri="{FF2B5EF4-FFF2-40B4-BE49-F238E27FC236}">
                <a16:creationId xmlns:a16="http://schemas.microsoft.com/office/drawing/2014/main" id="{874FBF3E-EB27-4D95-B6A6-995F2D1705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19"/>
          <a:stretch/>
        </p:blipFill>
        <p:spPr bwMode="auto">
          <a:xfrm>
            <a:off x="7724208" y="2650851"/>
            <a:ext cx="3714750" cy="241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71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434D-FFFE-405E-8DA6-A9FB815C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Categorizing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27F5-9C07-45E8-9B1B-45A5F9B89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39" y="1845734"/>
            <a:ext cx="5701085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CA" b="1" u="sng" dirty="0"/>
              <a:t>Behavioural </a:t>
            </a:r>
            <a:r>
              <a:rPr lang="en-CA" b="1" u="sng" dirty="0">
                <a:solidFill>
                  <a:schemeClr val="accent1">
                    <a:lumMod val="75000"/>
                  </a:schemeClr>
                </a:solidFill>
              </a:rPr>
              <a:t>(We are looking at these!)</a:t>
            </a:r>
            <a:endParaRPr lang="en-CA" b="1" u="sng" dirty="0"/>
          </a:p>
          <a:p>
            <a:pPr marL="0" indent="0">
              <a:buNone/>
            </a:pPr>
            <a:r>
              <a:rPr lang="en-CA" dirty="0"/>
              <a:t>Focused on communication and interaction between objects. How do we get objects talking to each other while minimizing coupling?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CA" b="1" u="sng" dirty="0">
                <a:solidFill>
                  <a:schemeClr val="bg1">
                    <a:lumMod val="50000"/>
                  </a:schemeClr>
                </a:solidFill>
              </a:rPr>
              <a:t>Structural</a:t>
            </a:r>
            <a:r>
              <a:rPr lang="en-CA" b="1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How do classes and objects combine to form structures in our programs? Focus on architecting to allow for maximum flexibility and maintainability.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CA" b="1" u="sng" dirty="0">
                <a:solidFill>
                  <a:schemeClr val="bg1">
                    <a:lumMod val="50000"/>
                  </a:schemeClr>
                </a:solidFill>
              </a:rPr>
              <a:t>Creational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All about class instantiation. Different strategies and techniques to instantiate an object, or group of objects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7A44-18E1-4F2A-921A-B3348FB4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2050" name="Picture 2" descr="Image result for structural creational behavioral design patterns">
            <a:extLst>
              <a:ext uri="{FF2B5EF4-FFF2-40B4-BE49-F238E27FC236}">
                <a16:creationId xmlns:a16="http://schemas.microsoft.com/office/drawing/2014/main" id="{E9F4A6E0-CF52-4048-80B9-8B17E7557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060" y="2487844"/>
            <a:ext cx="4932827" cy="273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5A74A3-B164-4418-B9A8-D432EA5E23CD}"/>
              </a:ext>
            </a:extLst>
          </p:cNvPr>
          <p:cNvSpPr/>
          <p:nvPr/>
        </p:nvSpPr>
        <p:spPr>
          <a:xfrm>
            <a:off x="592926" y="1845734"/>
            <a:ext cx="6010713" cy="136851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5052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CBF083-AEF0-4878-ABBB-38C3DE8E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B915A-AEF0-4D10-ADC6-7C25E67A7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Middle PERSON that takes care of everything so you don’t have 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62B3C-5F2F-4719-9AD9-046D4A1E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90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2F6B-7CEC-4E5A-8883-2B711EFB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492740" cy="1450757"/>
          </a:xfrm>
        </p:spPr>
        <p:txBody>
          <a:bodyPr/>
          <a:lstStyle/>
          <a:p>
            <a:r>
              <a:rPr lang="en-CA" dirty="0"/>
              <a:t>Mediator – The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F052-6333-4384-A8D4-A66FADA3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707A0-E758-4C69-BF9A-07E0E8726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537960" cy="4023360"/>
          </a:xfrm>
        </p:spPr>
        <p:txBody>
          <a:bodyPr>
            <a:normAutofit/>
          </a:bodyPr>
          <a:lstStyle/>
          <a:p>
            <a:pPr lvl="0"/>
            <a:r>
              <a:rPr lang="en-CA" dirty="0"/>
              <a:t>Often our program can be broken down into modular subsystems. </a:t>
            </a:r>
          </a:p>
          <a:p>
            <a:pPr lvl="0"/>
            <a:r>
              <a:rPr lang="en-CA" dirty="0"/>
              <a:t>These subsystems are often made up of certain objects (let’s call them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components</a:t>
            </a:r>
            <a:r>
              <a:rPr lang="en-CA" dirty="0"/>
              <a:t>) that talk and are dependent on each other.</a:t>
            </a:r>
          </a:p>
          <a:p>
            <a:pPr lvl="0"/>
            <a:r>
              <a:rPr lang="en-CA" dirty="0"/>
              <a:t>This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communication</a:t>
            </a:r>
            <a:r>
              <a:rPr lang="en-CA" dirty="0"/>
              <a:t> between the components facilitates the intended behaviour of the system.</a:t>
            </a:r>
          </a:p>
          <a:p>
            <a:pPr lvl="0"/>
            <a:r>
              <a:rPr lang="en-CA" dirty="0"/>
              <a:t>But what happens when this flow of communication becomes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unregulated</a:t>
            </a:r>
            <a:r>
              <a:rPr lang="en-CA" dirty="0"/>
              <a:t> and difficult to follow/debug? </a:t>
            </a:r>
          </a:p>
          <a:p>
            <a:pPr lvl="0"/>
            <a:r>
              <a:rPr lang="en-CA" dirty="0"/>
              <a:t>The system becomes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highly coupled</a:t>
            </a:r>
            <a:r>
              <a:rPr lang="en-CA" dirty="0"/>
              <a:t> and difficult to maintain.</a:t>
            </a:r>
          </a:p>
          <a:p>
            <a:pPr marL="0" lvl="0" indent="0">
              <a:buNone/>
            </a:pPr>
            <a:endParaRPr lang="en-CA" dirty="0"/>
          </a:p>
        </p:txBody>
      </p:sp>
      <p:pic>
        <p:nvPicPr>
          <p:cNvPr id="2052" name="Picture 4" descr="Image result for mediator pattern examples">
            <a:extLst>
              <a:ext uri="{FF2B5EF4-FFF2-40B4-BE49-F238E27FC236}">
                <a16:creationId xmlns:a16="http://schemas.microsoft.com/office/drawing/2014/main" id="{21D8DDE7-45D4-418C-8950-C7A539F47E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48"/>
          <a:stretch/>
        </p:blipFill>
        <p:spPr bwMode="auto">
          <a:xfrm>
            <a:off x="7813964" y="2315366"/>
            <a:ext cx="4006622" cy="329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666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7552-E6B4-4A8E-8FD6-D1205C9E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 –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71CEA-A3B6-4D68-8629-FAA8605D7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68594"/>
            <a:ext cx="10058399" cy="1291856"/>
          </a:xfrm>
        </p:spPr>
        <p:txBody>
          <a:bodyPr/>
          <a:lstStyle/>
          <a:p>
            <a:r>
              <a:rPr lang="en-CA" dirty="0"/>
              <a:t>We often see this in UI systems.</a:t>
            </a:r>
          </a:p>
          <a:p>
            <a:r>
              <a:rPr lang="en-CA" dirty="0"/>
              <a:t>Within a certain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context</a:t>
            </a:r>
            <a:r>
              <a:rPr lang="en-CA" dirty="0"/>
              <a:t> (a dialog box, or a screen for example) there are a number of different components that interact with each other.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EE5B2-5E29-4A40-B8D9-D1C19793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3074" name="Picture 2" descr="Chaotic relations between elements of the user interface">
            <a:extLst>
              <a:ext uri="{FF2B5EF4-FFF2-40B4-BE49-F238E27FC236}">
                <a16:creationId xmlns:a16="http://schemas.microsoft.com/office/drawing/2014/main" id="{1E856C7A-3B6F-4DF9-8087-032255C4A6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67"/>
          <a:stretch/>
        </p:blipFill>
        <p:spPr bwMode="auto">
          <a:xfrm>
            <a:off x="4100900" y="2811559"/>
            <a:ext cx="3756199" cy="352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292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FA9F2-EA9E-4DB9-9D6E-3EB36591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ABCC4-6D45-4764-B096-EF98BEE2C101}"/>
              </a:ext>
            </a:extLst>
          </p:cNvPr>
          <p:cNvSpPr/>
          <p:nvPr/>
        </p:nvSpPr>
        <p:spPr>
          <a:xfrm>
            <a:off x="1201783" y="1999872"/>
            <a:ext cx="10010700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FB0DE-6473-47C1-9A90-9ACC999C1D3D}"/>
              </a:ext>
            </a:extLst>
          </p:cNvPr>
          <p:cNvSpPr/>
          <p:nvPr/>
        </p:nvSpPr>
        <p:spPr>
          <a:xfrm>
            <a:off x="2276272" y="2937431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7E5AD-7393-4CFF-90B0-C3048F83E46A}"/>
              </a:ext>
            </a:extLst>
          </p:cNvPr>
          <p:cNvSpPr/>
          <p:nvPr/>
        </p:nvSpPr>
        <p:spPr>
          <a:xfrm>
            <a:off x="2276272" y="3424793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C8B59-7DA3-4AA2-8C61-6F1A8E58EDA9}"/>
              </a:ext>
            </a:extLst>
          </p:cNvPr>
          <p:cNvSpPr/>
          <p:nvPr/>
        </p:nvSpPr>
        <p:spPr>
          <a:xfrm>
            <a:off x="1251012" y="2492827"/>
            <a:ext cx="1571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Search options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6CF81-1DF1-4213-9F43-445B812D4F8D}"/>
              </a:ext>
            </a:extLst>
          </p:cNvPr>
          <p:cNvSpPr/>
          <p:nvPr/>
        </p:nvSpPr>
        <p:spPr>
          <a:xfrm>
            <a:off x="1342811" y="2937431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5ADD4-B903-4E07-91A2-26B699DFD417}"/>
              </a:ext>
            </a:extLst>
          </p:cNvPr>
          <p:cNvSpPr/>
          <p:nvPr/>
        </p:nvSpPr>
        <p:spPr>
          <a:xfrm>
            <a:off x="1342811" y="3429000"/>
            <a:ext cx="802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Height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54D1C-E795-457A-922F-56CE0AFF3F2D}"/>
              </a:ext>
            </a:extLst>
          </p:cNvPr>
          <p:cNvSpPr/>
          <p:nvPr/>
        </p:nvSpPr>
        <p:spPr>
          <a:xfrm>
            <a:off x="1342811" y="3961668"/>
            <a:ext cx="933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Address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4D4E1-C904-439B-BF0D-EB674283B29B}"/>
              </a:ext>
            </a:extLst>
          </p:cNvPr>
          <p:cNvSpPr/>
          <p:nvPr/>
        </p:nvSpPr>
        <p:spPr>
          <a:xfrm>
            <a:off x="2276272" y="3979146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6BC0EC6-C988-4CCB-9F23-9B5D4796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 dirty="0"/>
              <a:t>Mediator – An Example</a:t>
            </a:r>
            <a:br>
              <a:rPr lang="en-CA" dirty="0"/>
            </a:br>
            <a:r>
              <a:rPr lang="en-CA" dirty="0"/>
              <a:t>Person finder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46062B-41D1-44FB-B4BB-BA035DD55AB5}"/>
              </a:ext>
            </a:extLst>
          </p:cNvPr>
          <p:cNvSpPr/>
          <p:nvPr/>
        </p:nvSpPr>
        <p:spPr>
          <a:xfrm>
            <a:off x="1201783" y="1995665"/>
            <a:ext cx="1271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Enter name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32CFA-0CD1-4B71-B314-85EEA85238CA}"/>
              </a:ext>
            </a:extLst>
          </p:cNvPr>
          <p:cNvSpPr/>
          <p:nvPr/>
        </p:nvSpPr>
        <p:spPr>
          <a:xfrm>
            <a:off x="2676866" y="467184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/>
              <a:t>This is a search window to find people, with a number of filters represented as checkboxes. Selecting a checkbox may require that an additional text field be displayed. </a:t>
            </a:r>
          </a:p>
        </p:txBody>
      </p:sp>
    </p:spTree>
    <p:extLst>
      <p:ext uri="{BB962C8B-B14F-4D97-AF65-F5344CB8AC3E}">
        <p14:creationId xmlns:p14="http://schemas.microsoft.com/office/powerpoint/2010/main" val="3062720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FA9F2-EA9E-4DB9-9D6E-3EB36591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ABCC4-6D45-4764-B096-EF98BEE2C101}"/>
              </a:ext>
            </a:extLst>
          </p:cNvPr>
          <p:cNvSpPr/>
          <p:nvPr/>
        </p:nvSpPr>
        <p:spPr>
          <a:xfrm>
            <a:off x="1201783" y="1999872"/>
            <a:ext cx="10010700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FB0DE-6473-47C1-9A90-9ACC999C1D3D}"/>
              </a:ext>
            </a:extLst>
          </p:cNvPr>
          <p:cNvSpPr/>
          <p:nvPr/>
        </p:nvSpPr>
        <p:spPr>
          <a:xfrm>
            <a:off x="2276272" y="2937431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7E5AD-7393-4CFF-90B0-C3048F83E46A}"/>
              </a:ext>
            </a:extLst>
          </p:cNvPr>
          <p:cNvSpPr/>
          <p:nvPr/>
        </p:nvSpPr>
        <p:spPr>
          <a:xfrm>
            <a:off x="2276272" y="3424793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8E2BC-C15B-4B2C-ADE6-70E9889F99ED}"/>
              </a:ext>
            </a:extLst>
          </p:cNvPr>
          <p:cNvSpPr/>
          <p:nvPr/>
        </p:nvSpPr>
        <p:spPr>
          <a:xfrm>
            <a:off x="1201783" y="1995665"/>
            <a:ext cx="522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/>
              <a:t>Jeff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C8B59-7DA3-4AA2-8C61-6F1A8E58EDA9}"/>
              </a:ext>
            </a:extLst>
          </p:cNvPr>
          <p:cNvSpPr/>
          <p:nvPr/>
        </p:nvSpPr>
        <p:spPr>
          <a:xfrm>
            <a:off x="1251012" y="2492827"/>
            <a:ext cx="1571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Search options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6CF81-1DF1-4213-9F43-445B812D4F8D}"/>
              </a:ext>
            </a:extLst>
          </p:cNvPr>
          <p:cNvSpPr/>
          <p:nvPr/>
        </p:nvSpPr>
        <p:spPr>
          <a:xfrm>
            <a:off x="1342811" y="2937431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5ADD4-B903-4E07-91A2-26B699DFD417}"/>
              </a:ext>
            </a:extLst>
          </p:cNvPr>
          <p:cNvSpPr/>
          <p:nvPr/>
        </p:nvSpPr>
        <p:spPr>
          <a:xfrm>
            <a:off x="1342811" y="3429000"/>
            <a:ext cx="802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Height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54D1C-E795-457A-922F-56CE0AFF3F2D}"/>
              </a:ext>
            </a:extLst>
          </p:cNvPr>
          <p:cNvSpPr/>
          <p:nvPr/>
        </p:nvSpPr>
        <p:spPr>
          <a:xfrm>
            <a:off x="1342811" y="3961668"/>
            <a:ext cx="933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Address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4D4E1-C904-439B-BF0D-EB674283B29B}"/>
              </a:ext>
            </a:extLst>
          </p:cNvPr>
          <p:cNvSpPr/>
          <p:nvPr/>
        </p:nvSpPr>
        <p:spPr>
          <a:xfrm>
            <a:off x="2276272" y="3979146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6BC0EC6-C988-4CCB-9F23-9B5D4796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 dirty="0"/>
              <a:t>Mediator – An Example</a:t>
            </a:r>
            <a:br>
              <a:rPr lang="en-CA" dirty="0"/>
            </a:br>
            <a:r>
              <a:rPr lang="en-CA" dirty="0"/>
              <a:t>Person finder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35BBAD-77A6-453E-94F5-CDAF477C76F1}"/>
              </a:ext>
            </a:extLst>
          </p:cNvPr>
          <p:cNvSpPr/>
          <p:nvPr/>
        </p:nvSpPr>
        <p:spPr>
          <a:xfrm>
            <a:off x="2989566" y="4644760"/>
            <a:ext cx="5970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Entered </a:t>
            </a:r>
            <a:r>
              <a:rPr lang="en-CA" b="1" dirty="0"/>
              <a:t>name</a:t>
            </a:r>
            <a:r>
              <a:rPr lang="en-CA" dirty="0"/>
              <a:t> into search, but want to filter by age and height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77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FA9F2-EA9E-4DB9-9D6E-3EB36591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ABCC4-6D45-4764-B096-EF98BEE2C101}"/>
              </a:ext>
            </a:extLst>
          </p:cNvPr>
          <p:cNvSpPr/>
          <p:nvPr/>
        </p:nvSpPr>
        <p:spPr>
          <a:xfrm>
            <a:off x="1201783" y="1999872"/>
            <a:ext cx="10010700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FB0DE-6473-47C1-9A90-9ACC999C1D3D}"/>
              </a:ext>
            </a:extLst>
          </p:cNvPr>
          <p:cNvSpPr/>
          <p:nvPr/>
        </p:nvSpPr>
        <p:spPr>
          <a:xfrm>
            <a:off x="2276272" y="2937431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7E5AD-7393-4CFF-90B0-C3048F83E46A}"/>
              </a:ext>
            </a:extLst>
          </p:cNvPr>
          <p:cNvSpPr/>
          <p:nvPr/>
        </p:nvSpPr>
        <p:spPr>
          <a:xfrm>
            <a:off x="2276272" y="3424793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8E2BC-C15B-4B2C-ADE6-70E9889F99ED}"/>
              </a:ext>
            </a:extLst>
          </p:cNvPr>
          <p:cNvSpPr/>
          <p:nvPr/>
        </p:nvSpPr>
        <p:spPr>
          <a:xfrm>
            <a:off x="1201783" y="1995665"/>
            <a:ext cx="510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Jeff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C8B59-7DA3-4AA2-8C61-6F1A8E58EDA9}"/>
              </a:ext>
            </a:extLst>
          </p:cNvPr>
          <p:cNvSpPr/>
          <p:nvPr/>
        </p:nvSpPr>
        <p:spPr>
          <a:xfrm>
            <a:off x="1251012" y="2492827"/>
            <a:ext cx="1571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Search options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6CF81-1DF1-4213-9F43-445B812D4F8D}"/>
              </a:ext>
            </a:extLst>
          </p:cNvPr>
          <p:cNvSpPr/>
          <p:nvPr/>
        </p:nvSpPr>
        <p:spPr>
          <a:xfrm>
            <a:off x="1342811" y="2937431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5ADD4-B903-4E07-91A2-26B699DFD417}"/>
              </a:ext>
            </a:extLst>
          </p:cNvPr>
          <p:cNvSpPr/>
          <p:nvPr/>
        </p:nvSpPr>
        <p:spPr>
          <a:xfrm>
            <a:off x="1342811" y="3429000"/>
            <a:ext cx="802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Height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54D1C-E795-457A-922F-56CE0AFF3F2D}"/>
              </a:ext>
            </a:extLst>
          </p:cNvPr>
          <p:cNvSpPr/>
          <p:nvPr/>
        </p:nvSpPr>
        <p:spPr>
          <a:xfrm>
            <a:off x="1342811" y="3961668"/>
            <a:ext cx="933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Address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4D4E1-C904-439B-BF0D-EB674283B29B}"/>
              </a:ext>
            </a:extLst>
          </p:cNvPr>
          <p:cNvSpPr/>
          <p:nvPr/>
        </p:nvSpPr>
        <p:spPr>
          <a:xfrm>
            <a:off x="2276272" y="3979146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6BC0EC6-C988-4CCB-9F23-9B5D4796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 dirty="0"/>
              <a:t>Mediator – An Example</a:t>
            </a:r>
            <a:br>
              <a:rPr lang="en-CA" dirty="0"/>
            </a:br>
            <a:r>
              <a:rPr lang="en-CA" dirty="0"/>
              <a:t>Person finder</a:t>
            </a: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9A43B257-87A6-492B-A343-0A2729CF3738}"/>
              </a:ext>
            </a:extLst>
          </p:cNvPr>
          <p:cNvSpPr/>
          <p:nvPr/>
        </p:nvSpPr>
        <p:spPr>
          <a:xfrm>
            <a:off x="2276272" y="2920707"/>
            <a:ext cx="400594" cy="40059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269B82-A3B5-4DE4-A152-7D166F0503AE}"/>
              </a:ext>
            </a:extLst>
          </p:cNvPr>
          <p:cNvSpPr/>
          <p:nvPr/>
        </p:nvSpPr>
        <p:spPr>
          <a:xfrm>
            <a:off x="2822661" y="2937430"/>
            <a:ext cx="3273339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89DEAE-66AD-4C4E-965D-AF5B52655F5B}"/>
              </a:ext>
            </a:extLst>
          </p:cNvPr>
          <p:cNvSpPr/>
          <p:nvPr/>
        </p:nvSpPr>
        <p:spPr>
          <a:xfrm>
            <a:off x="2823618" y="293322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99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CEA000-F975-41F0-A504-719E13697059}"/>
              </a:ext>
            </a:extLst>
          </p:cNvPr>
          <p:cNvSpPr/>
          <p:nvPr/>
        </p:nvSpPr>
        <p:spPr>
          <a:xfrm>
            <a:off x="6207133" y="2920707"/>
            <a:ext cx="5493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Selecting age checkbox opens </a:t>
            </a:r>
            <a:r>
              <a:rPr lang="en-CA" dirty="0" err="1"/>
              <a:t>textfield</a:t>
            </a:r>
            <a:r>
              <a:rPr lang="en-CA" dirty="0"/>
              <a:t> to enter age filter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54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FA9F2-EA9E-4DB9-9D6E-3EB36591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ABCC4-6D45-4764-B096-EF98BEE2C101}"/>
              </a:ext>
            </a:extLst>
          </p:cNvPr>
          <p:cNvSpPr/>
          <p:nvPr/>
        </p:nvSpPr>
        <p:spPr>
          <a:xfrm>
            <a:off x="1201783" y="1999872"/>
            <a:ext cx="10010700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FB0DE-6473-47C1-9A90-9ACC999C1D3D}"/>
              </a:ext>
            </a:extLst>
          </p:cNvPr>
          <p:cNvSpPr/>
          <p:nvPr/>
        </p:nvSpPr>
        <p:spPr>
          <a:xfrm>
            <a:off x="2276272" y="2937431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7E5AD-7393-4CFF-90B0-C3048F83E46A}"/>
              </a:ext>
            </a:extLst>
          </p:cNvPr>
          <p:cNvSpPr/>
          <p:nvPr/>
        </p:nvSpPr>
        <p:spPr>
          <a:xfrm>
            <a:off x="2276272" y="3424793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8E2BC-C15B-4B2C-ADE6-70E9889F99ED}"/>
              </a:ext>
            </a:extLst>
          </p:cNvPr>
          <p:cNvSpPr/>
          <p:nvPr/>
        </p:nvSpPr>
        <p:spPr>
          <a:xfrm>
            <a:off x="1201783" y="1995665"/>
            <a:ext cx="510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Jeff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C8B59-7DA3-4AA2-8C61-6F1A8E58EDA9}"/>
              </a:ext>
            </a:extLst>
          </p:cNvPr>
          <p:cNvSpPr/>
          <p:nvPr/>
        </p:nvSpPr>
        <p:spPr>
          <a:xfrm>
            <a:off x="1251012" y="2492827"/>
            <a:ext cx="1571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Search options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6CF81-1DF1-4213-9F43-445B812D4F8D}"/>
              </a:ext>
            </a:extLst>
          </p:cNvPr>
          <p:cNvSpPr/>
          <p:nvPr/>
        </p:nvSpPr>
        <p:spPr>
          <a:xfrm>
            <a:off x="1342811" y="2937431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5ADD4-B903-4E07-91A2-26B699DFD417}"/>
              </a:ext>
            </a:extLst>
          </p:cNvPr>
          <p:cNvSpPr/>
          <p:nvPr/>
        </p:nvSpPr>
        <p:spPr>
          <a:xfrm>
            <a:off x="1342811" y="3429000"/>
            <a:ext cx="802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Height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54D1C-E795-457A-922F-56CE0AFF3F2D}"/>
              </a:ext>
            </a:extLst>
          </p:cNvPr>
          <p:cNvSpPr/>
          <p:nvPr/>
        </p:nvSpPr>
        <p:spPr>
          <a:xfrm>
            <a:off x="1342811" y="3961668"/>
            <a:ext cx="933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Address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4D4E1-C904-439B-BF0D-EB674283B29B}"/>
              </a:ext>
            </a:extLst>
          </p:cNvPr>
          <p:cNvSpPr/>
          <p:nvPr/>
        </p:nvSpPr>
        <p:spPr>
          <a:xfrm>
            <a:off x="2276272" y="3979146"/>
            <a:ext cx="400594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6BC0EC6-C988-4CCB-9F23-9B5D4796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 dirty="0"/>
              <a:t>Mediator – An Example</a:t>
            </a:r>
            <a:br>
              <a:rPr lang="en-CA" dirty="0"/>
            </a:br>
            <a:r>
              <a:rPr lang="en-CA" dirty="0"/>
              <a:t>Person finder</a:t>
            </a: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9A43B257-87A6-492B-A343-0A2729CF3738}"/>
              </a:ext>
            </a:extLst>
          </p:cNvPr>
          <p:cNvSpPr/>
          <p:nvPr/>
        </p:nvSpPr>
        <p:spPr>
          <a:xfrm>
            <a:off x="2276272" y="2920707"/>
            <a:ext cx="400594" cy="40059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269B82-A3B5-4DE4-A152-7D166F0503AE}"/>
              </a:ext>
            </a:extLst>
          </p:cNvPr>
          <p:cNvSpPr/>
          <p:nvPr/>
        </p:nvSpPr>
        <p:spPr>
          <a:xfrm>
            <a:off x="2822661" y="2937430"/>
            <a:ext cx="3273339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89DEAE-66AD-4C4E-965D-AF5B52655F5B}"/>
              </a:ext>
            </a:extLst>
          </p:cNvPr>
          <p:cNvSpPr/>
          <p:nvPr/>
        </p:nvSpPr>
        <p:spPr>
          <a:xfrm>
            <a:off x="2823618" y="293322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99</a:t>
            </a:r>
            <a:endParaRPr lang="en-US" dirty="0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2507F084-61D1-4944-ADB8-0AD08DD96E5A}"/>
              </a:ext>
            </a:extLst>
          </p:cNvPr>
          <p:cNvSpPr/>
          <p:nvPr/>
        </p:nvSpPr>
        <p:spPr>
          <a:xfrm>
            <a:off x="2263204" y="3407058"/>
            <a:ext cx="400594" cy="40059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DAA94-7170-422C-AB64-289196A07D10}"/>
              </a:ext>
            </a:extLst>
          </p:cNvPr>
          <p:cNvSpPr/>
          <p:nvPr/>
        </p:nvSpPr>
        <p:spPr>
          <a:xfrm>
            <a:off x="2822661" y="3435518"/>
            <a:ext cx="3273339" cy="365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AC86E4-C4C6-47D2-BE2A-FCCDCE86E2EB}"/>
              </a:ext>
            </a:extLst>
          </p:cNvPr>
          <p:cNvSpPr/>
          <p:nvPr/>
        </p:nvSpPr>
        <p:spPr>
          <a:xfrm>
            <a:off x="2809593" y="3433414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2000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62A722-3209-4898-A892-2B2B335FE270}"/>
              </a:ext>
            </a:extLst>
          </p:cNvPr>
          <p:cNvSpPr/>
          <p:nvPr/>
        </p:nvSpPr>
        <p:spPr>
          <a:xfrm>
            <a:off x="6138153" y="3415422"/>
            <a:ext cx="6018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Selecting height checkbox opens </a:t>
            </a:r>
            <a:r>
              <a:rPr lang="en-CA" dirty="0" err="1"/>
              <a:t>textfield</a:t>
            </a:r>
            <a:r>
              <a:rPr lang="en-CA" dirty="0"/>
              <a:t> to enter height filter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368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7552-E6B4-4A8E-8FD6-D1205C9E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 –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71CEA-A3B6-4D68-8629-FAA8605D7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11" y="2009134"/>
            <a:ext cx="11207110" cy="2097647"/>
          </a:xfrm>
        </p:spPr>
        <p:txBody>
          <a:bodyPr/>
          <a:lstStyle/>
          <a:p>
            <a:r>
              <a:rPr lang="en-CA" dirty="0"/>
              <a:t>In the previous slides we saw a search window with a number of filters represented as checkboxes. Selecting a checkbox may require that an additional text field be displayed. </a:t>
            </a:r>
          </a:p>
          <a:p>
            <a:r>
              <a:rPr lang="en-CA" dirty="0"/>
              <a:t>Below is bad code, it makes it difficult to re-use the checkbox in any other screen. Breaks so many SOLID Principles.</a:t>
            </a:r>
          </a:p>
          <a:p>
            <a:r>
              <a:rPr lang="en-CA" dirty="0"/>
              <a:t>Inheriting from the Checkbox class to satisfy this one screen would also be extremely unnecessary and not maintainable.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EE5B2-5E29-4A40-B8D9-D1C19793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3074" name="Picture 2" descr="Chaotic relations between elements of the user interface">
            <a:extLst>
              <a:ext uri="{FF2B5EF4-FFF2-40B4-BE49-F238E27FC236}">
                <a16:creationId xmlns:a16="http://schemas.microsoft.com/office/drawing/2014/main" id="{1E856C7A-3B6F-4DF9-8087-032255C4A6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67"/>
          <a:stretch/>
        </p:blipFill>
        <p:spPr bwMode="auto">
          <a:xfrm>
            <a:off x="7424364" y="3819479"/>
            <a:ext cx="3073988" cy="288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31611" y="4786211"/>
            <a:ext cx="4753224" cy="19236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Checkbox: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..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..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self.selected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self.age_text_field.enabled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68555" y="4234816"/>
            <a:ext cx="4753189" cy="400594"/>
            <a:chOff x="631611" y="4003914"/>
            <a:chExt cx="4753189" cy="40059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7FB0DE-6473-47C1-9A90-9ACC999C1D3D}"/>
                </a:ext>
              </a:extLst>
            </p:cNvPr>
            <p:cNvSpPr/>
            <p:nvPr/>
          </p:nvSpPr>
          <p:spPr>
            <a:xfrm>
              <a:off x="1565072" y="4020638"/>
              <a:ext cx="400594" cy="3651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06CF81-1DF1-4213-9F43-445B812D4F8D}"/>
                </a:ext>
              </a:extLst>
            </p:cNvPr>
            <p:cNvSpPr/>
            <p:nvPr/>
          </p:nvSpPr>
          <p:spPr>
            <a:xfrm>
              <a:off x="631611" y="4020638"/>
              <a:ext cx="5402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/>
                <a:t>Age</a:t>
              </a:r>
              <a:endParaRPr lang="en-US" dirty="0"/>
            </a:p>
          </p:txBody>
        </p:sp>
        <p:sp>
          <p:nvSpPr>
            <p:cNvPr id="9" name="Multiplication Sign 1">
              <a:extLst>
                <a:ext uri="{FF2B5EF4-FFF2-40B4-BE49-F238E27FC236}">
                  <a16:creationId xmlns:a16="http://schemas.microsoft.com/office/drawing/2014/main" id="{9A43B257-87A6-492B-A343-0A2729CF3738}"/>
                </a:ext>
              </a:extLst>
            </p:cNvPr>
            <p:cNvSpPr/>
            <p:nvPr/>
          </p:nvSpPr>
          <p:spPr>
            <a:xfrm>
              <a:off x="1565072" y="4003914"/>
              <a:ext cx="400594" cy="400594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269B82-A3B5-4DE4-A152-7D166F0503AE}"/>
                </a:ext>
              </a:extLst>
            </p:cNvPr>
            <p:cNvSpPr/>
            <p:nvPr/>
          </p:nvSpPr>
          <p:spPr>
            <a:xfrm>
              <a:off x="2111461" y="4020637"/>
              <a:ext cx="3273339" cy="3651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89DEAE-66AD-4C4E-965D-AF5B52655F5B}"/>
                </a:ext>
              </a:extLst>
            </p:cNvPr>
            <p:cNvSpPr/>
            <p:nvPr/>
          </p:nvSpPr>
          <p:spPr>
            <a:xfrm>
              <a:off x="2112418" y="4016430"/>
              <a:ext cx="4187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/>
                <a:t>99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95092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7552-E6B4-4A8E-8FD6-D1205C9E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 – An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EE5B2-5E29-4A40-B8D9-D1C19793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F3C3D-4B72-42D5-8B09-23BC6CF6166C}"/>
              </a:ext>
            </a:extLst>
          </p:cNvPr>
          <p:cNvSpPr/>
          <p:nvPr/>
        </p:nvSpPr>
        <p:spPr>
          <a:xfrm>
            <a:off x="9504937" y="5823186"/>
            <a:ext cx="2236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dirty="0">
                <a:solidFill>
                  <a:srgbClr val="0070C0"/>
                </a:solidFill>
              </a:rPr>
              <a:t>mediator_problem.py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247" y="2285146"/>
            <a:ext cx="6563586" cy="2545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1892" y="2288910"/>
            <a:ext cx="46828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Let’s examine how we may implement the following log in screen. </a:t>
            </a:r>
          </a:p>
          <a:p>
            <a:endParaRPr lang="en-CA" dirty="0"/>
          </a:p>
          <a:p>
            <a:r>
              <a:rPr lang="en-CA" dirty="0"/>
              <a:t>Notice there are many components: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 err="1"/>
              <a:t>TextLabels</a:t>
            </a:r>
            <a:endParaRPr lang="en-CA" dirty="0"/>
          </a:p>
          <a:p>
            <a:pPr marL="342900" indent="-342900">
              <a:buFont typeface="+mj-lt"/>
              <a:buAutoNum type="arabicPeriod"/>
            </a:pPr>
            <a:r>
              <a:rPr lang="en-CA" dirty="0" err="1"/>
              <a:t>Inputfields</a:t>
            </a:r>
            <a:endParaRPr lang="en-CA" dirty="0"/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User ID field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User password field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Screens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 err="1"/>
              <a:t>LogInButton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1375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EA2F-C18E-4693-A7D6-03084732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 – 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3D46-BFB8-4270-B98A-C0344BEAF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27420" cy="4023360"/>
          </a:xfrm>
        </p:spPr>
        <p:txBody>
          <a:bodyPr>
            <a:normAutofit lnSpcReduction="10000"/>
          </a:bodyPr>
          <a:lstStyle/>
          <a:p>
            <a:pPr lvl="0"/>
            <a:r>
              <a:rPr lang="en-CA" dirty="0"/>
              <a:t>The Mediator pattern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reduces the dependencies </a:t>
            </a:r>
            <a:r>
              <a:rPr lang="en-CA" dirty="0"/>
              <a:t>between a large number of components of a system.</a:t>
            </a:r>
          </a:p>
          <a:p>
            <a:pPr lvl="0"/>
            <a:r>
              <a:rPr lang="en-CA" dirty="0"/>
              <a:t>It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restricts communications </a:t>
            </a:r>
            <a:r>
              <a:rPr lang="en-CA" dirty="0"/>
              <a:t>between the different components by introducing a middleperson who ‘</a:t>
            </a:r>
            <a:r>
              <a:rPr lang="en-CA" b="1" i="1" dirty="0">
                <a:solidFill>
                  <a:schemeClr val="accent2">
                    <a:lumMod val="75000"/>
                  </a:schemeClr>
                </a:solidFill>
              </a:rPr>
              <a:t>Mediates’</a:t>
            </a:r>
            <a:r>
              <a:rPr lang="en-CA" dirty="0"/>
              <a:t> the communication between them.</a:t>
            </a:r>
          </a:p>
          <a:p>
            <a:pPr lvl="0"/>
            <a:r>
              <a:rPr lang="en-CA" dirty="0"/>
              <a:t>This is very similar to the concept of </a:t>
            </a:r>
            <a:r>
              <a:rPr lang="en-CA" b="1" dirty="0"/>
              <a:t>Controller classes </a:t>
            </a:r>
            <a:r>
              <a:rPr lang="en-CA" dirty="0"/>
              <a:t>that you often come across in code. </a:t>
            </a:r>
          </a:p>
          <a:p>
            <a:pPr lvl="0"/>
            <a:r>
              <a:rPr lang="en-CA" dirty="0"/>
              <a:t>The Mediator class/entity can be thought of as a formalized structured controller.</a:t>
            </a:r>
          </a:p>
          <a:p>
            <a:pPr lvl="0"/>
            <a:r>
              <a:rPr lang="en-CA" dirty="0"/>
              <a:t>The components of a system are now unaware of each other and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only depend on a Mediator</a:t>
            </a:r>
            <a:r>
              <a:rPr lang="en-CA" dirty="0"/>
              <a:t>. </a:t>
            </a:r>
          </a:p>
          <a:p>
            <a:pPr lvl="0"/>
            <a:r>
              <a:rPr lang="en-CA" dirty="0"/>
              <a:t>This relationship is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bidirectional</a:t>
            </a:r>
            <a:r>
              <a:rPr lang="en-CA" dirty="0"/>
              <a:t>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DCBBC-00D8-49E4-B444-276E2EBE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5" name="Picture 4" descr="Image result for mediator pattern examples">
            <a:extLst>
              <a:ext uri="{FF2B5EF4-FFF2-40B4-BE49-F238E27FC236}">
                <a16:creationId xmlns:a16="http://schemas.microsoft.com/office/drawing/2014/main" id="{C1E577F9-C4E7-452C-92A5-B78447AE02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3"/>
          <a:stretch/>
        </p:blipFill>
        <p:spPr bwMode="auto">
          <a:xfrm>
            <a:off x="7656985" y="3732871"/>
            <a:ext cx="395097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Traffic Road Traffic Controller. Control Transportation On Street, Cop  Pointsman, Vector Illustration Royalty Free Cliparts, Vectors, And Stock  Illustration. Image 59304312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985" y="122600"/>
            <a:ext cx="3995799" cy="344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0363" y="6488458"/>
            <a:ext cx="106048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https://www.123rf.com/photo_59304312_traffic-road-traffic-controller-control-transportation-on-street-cop-pointsman-vector-illustration.html</a:t>
            </a:r>
          </a:p>
        </p:txBody>
      </p:sp>
    </p:spTree>
    <p:extLst>
      <p:ext uri="{BB962C8B-B14F-4D97-AF65-F5344CB8AC3E}">
        <p14:creationId xmlns:p14="http://schemas.microsoft.com/office/powerpoint/2010/main" val="3953418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0F85-D05B-47F7-8A25-E69126C9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 UML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45209-F5E0-4473-9C4C-2C051BC93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924300" cy="4023360"/>
          </a:xfrm>
        </p:spPr>
        <p:txBody>
          <a:bodyPr/>
          <a:lstStyle/>
          <a:p>
            <a:r>
              <a:rPr lang="en-CA" dirty="0"/>
              <a:t>All Mediators in a system can implement a common interface.</a:t>
            </a:r>
          </a:p>
          <a:p>
            <a:r>
              <a:rPr lang="en-CA" dirty="0"/>
              <a:t>Each context or subsystem would have its own concrete mediator</a:t>
            </a:r>
          </a:p>
          <a:p>
            <a:r>
              <a:rPr lang="en-CA" dirty="0"/>
              <a:t>By having a common mediator, we could re-use the components across contexts.</a:t>
            </a:r>
          </a:p>
          <a:p>
            <a:r>
              <a:rPr lang="en-CA" dirty="0"/>
              <a:t>For example, a button can be used with a </a:t>
            </a:r>
            <a:r>
              <a:rPr lang="en-CA" dirty="0" err="1"/>
              <a:t>LogInMediator</a:t>
            </a:r>
            <a:r>
              <a:rPr lang="en-CA" dirty="0"/>
              <a:t> and a </a:t>
            </a:r>
            <a:r>
              <a:rPr lang="en-CA" dirty="0" err="1"/>
              <a:t>RegisterUserMediator</a:t>
            </a:r>
            <a:r>
              <a:rPr lang="en-CA" dirty="0"/>
              <a:t>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4BE5F-53A8-4810-9AD9-6350E0E6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122" name="Picture 2" descr="Structure of the Mediator design pattern">
            <a:extLst>
              <a:ext uri="{FF2B5EF4-FFF2-40B4-BE49-F238E27FC236}">
                <a16:creationId xmlns:a16="http://schemas.microsoft.com/office/drawing/2014/main" id="{3E75E3C9-D1D5-4746-855B-B2ECCB4A9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756" y="1737360"/>
            <a:ext cx="5600968" cy="463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59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6428-E76E-4629-86A5-70AA74D8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B429-3BEB-4E17-B5C1-A0AEAC7E9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057" y="4849090"/>
            <a:ext cx="9975110" cy="116627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dirty="0"/>
              <a:t>Let’s check out some code that simulates a Log In screen and implements the Mediator Pattern</a:t>
            </a:r>
          </a:p>
          <a:p>
            <a:pPr marL="0" indent="0" algn="ctr">
              <a:buNone/>
            </a:pPr>
            <a:r>
              <a:rPr lang="en-CA" dirty="0">
                <a:solidFill>
                  <a:srgbClr val="0070C0"/>
                </a:solidFill>
              </a:rPr>
              <a:t>mediator_sample_code.py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F4AD8-AFE2-4E09-A09F-9049393A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19" y="1976370"/>
            <a:ext cx="6563586" cy="254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85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0403-2AA9-4ECB-B994-515C5D04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Some important tidbits.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139EC-752F-453D-8940-45780A6FC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4920" y="1845734"/>
            <a:ext cx="6080760" cy="4364566"/>
          </a:xfrm>
        </p:spPr>
        <p:txBody>
          <a:bodyPr>
            <a:normAutofit/>
          </a:bodyPr>
          <a:lstStyle/>
          <a:p>
            <a:r>
              <a:rPr lang="en-CA" dirty="0"/>
              <a:t>Mediators don’t necessarily have to only be for UI systems</a:t>
            </a:r>
          </a:p>
          <a:p>
            <a:r>
              <a:rPr lang="en-CA" dirty="0"/>
              <a:t>They can be used in other systems where we need </a:t>
            </a:r>
            <a:r>
              <a:rPr lang="en-CA" b="1" dirty="0"/>
              <a:t>objects or subsystems to talk to each other while being decoupled and unaware of each other</a:t>
            </a:r>
            <a:r>
              <a:rPr lang="en-CA" dirty="0"/>
              <a:t>.</a:t>
            </a:r>
          </a:p>
          <a:p>
            <a:r>
              <a:rPr lang="en-CA" dirty="0"/>
              <a:t>Similar to the Observer Pattern, </a:t>
            </a:r>
            <a:r>
              <a:rPr lang="en-CA" b="1" dirty="0"/>
              <a:t>Mediators</a:t>
            </a:r>
            <a:r>
              <a:rPr lang="en-CA" dirty="0"/>
              <a:t> can </a:t>
            </a:r>
            <a:r>
              <a:rPr lang="en-CA" b="1" dirty="0"/>
              <a:t>cause different parts of a system to react to a component</a:t>
            </a:r>
            <a:r>
              <a:rPr lang="en-CA" dirty="0"/>
              <a:t>.</a:t>
            </a:r>
          </a:p>
          <a:p>
            <a:r>
              <a:rPr lang="en-CA" dirty="0"/>
              <a:t>That being said, it is different from an Observer pattern.</a:t>
            </a:r>
          </a:p>
          <a:p>
            <a:pPr lvl="1"/>
            <a:r>
              <a:rPr lang="en-CA" b="1" dirty="0"/>
              <a:t>Mediators</a:t>
            </a:r>
            <a:r>
              <a:rPr lang="en-CA" dirty="0"/>
              <a:t> facilitate </a:t>
            </a:r>
            <a:r>
              <a:rPr lang="en-CA" b="1" dirty="0"/>
              <a:t>bidirectional communication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An </a:t>
            </a:r>
            <a:r>
              <a:rPr lang="en-CA" b="1" dirty="0"/>
              <a:t>Observer</a:t>
            </a:r>
            <a:r>
              <a:rPr lang="en-CA" dirty="0"/>
              <a:t> is more of a </a:t>
            </a:r>
            <a:r>
              <a:rPr lang="en-CA" b="1" dirty="0"/>
              <a:t>broadcast system</a:t>
            </a:r>
            <a:r>
              <a:rPr lang="en-CA" dirty="0"/>
              <a:t> that gets triggered when the state of the observed object changes.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47FF4-8950-4D52-9474-A5B627C5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6146" name="Picture 2" descr="Image result for important">
            <a:extLst>
              <a:ext uri="{FF2B5EF4-FFF2-40B4-BE49-F238E27FC236}">
                <a16:creationId xmlns:a16="http://schemas.microsoft.com/office/drawing/2014/main" id="{8EFD98F2-4A86-448C-9505-90156CC39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57167">
            <a:off x="78532" y="2817935"/>
            <a:ext cx="4887376" cy="230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867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6291-1F41-4920-AFF6-E7F03B6D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Mediator: Why and When do we use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55CF-6D80-42A3-BED1-AEB9807D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827520" cy="444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 Mediator should be introduced when the </a:t>
            </a:r>
            <a:r>
              <a:rPr lang="en-CA" b="1" dirty="0"/>
              <a:t>communication</a:t>
            </a:r>
            <a:r>
              <a:rPr lang="en-CA" dirty="0"/>
              <a:t> patterns between different objects </a:t>
            </a:r>
            <a:r>
              <a:rPr lang="en-CA" b="1" dirty="0"/>
              <a:t>becomes chaotic and highly coupled</a:t>
            </a:r>
            <a:r>
              <a:rPr lang="en-CA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Use this pattern when you want a component to be </a:t>
            </a:r>
            <a:r>
              <a:rPr lang="en-CA" b="1" dirty="0"/>
              <a:t>unaware of other components </a:t>
            </a:r>
            <a:r>
              <a:rPr lang="en-CA" dirty="0"/>
              <a:t>but </a:t>
            </a:r>
            <a:r>
              <a:rPr lang="en-CA" b="1" dirty="0"/>
              <a:t>still be able to communicate </a:t>
            </a:r>
            <a:r>
              <a:rPr lang="en-CA" dirty="0"/>
              <a:t>with them.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 Mediator may be the right choice if you are considering inheritance just to reuse some basic behaviour across contexts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Implements the Single Responsibility principle. The </a:t>
            </a:r>
            <a:r>
              <a:rPr lang="en-CA" b="1" dirty="0"/>
              <a:t>responsibility to facilitate communication between objects is extracted into one class</a:t>
            </a:r>
            <a:r>
              <a:rPr lang="en-CA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Implements the Open/Closed Principle. We can introduce </a:t>
            </a:r>
            <a:r>
              <a:rPr lang="en-CA" b="1" dirty="0"/>
              <a:t>new mediators for new contexts without changing the components</a:t>
            </a:r>
            <a:r>
              <a:rPr lang="en-CA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3C96B-9D12-4AC2-8A70-0B28D8AF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69261D06-0803-4114-9BF2-22B795EB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908" y="2504864"/>
            <a:ext cx="28575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281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D6A3-EC0E-4CD5-9C94-A7DA4216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Mediator –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73D0-B777-4765-B27E-01083BEEB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33607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The Mediator itself becomes a complex object and an </a:t>
            </a:r>
            <a:r>
              <a:rPr lang="en-CA" b="1" dirty="0"/>
              <a:t>epicentre for coupling</a:t>
            </a:r>
            <a:r>
              <a:rPr lang="en-CA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endParaRPr lang="en-CA" dirty="0"/>
          </a:p>
          <a:p>
            <a:pPr marL="0" indent="0">
              <a:buNone/>
            </a:pPr>
            <a:r>
              <a:rPr lang="en-CA" dirty="0"/>
              <a:t>Check out God Objects, this is what is known as an </a:t>
            </a:r>
            <a:br>
              <a:rPr lang="en-CA" dirty="0"/>
            </a:br>
            <a:r>
              <a:rPr lang="en-CA" i="1" dirty="0"/>
              <a:t>Anti-Pattern.</a:t>
            </a:r>
          </a:p>
          <a:p>
            <a:r>
              <a:rPr lang="en-CA" dirty="0"/>
              <a:t>a </a:t>
            </a:r>
            <a:r>
              <a:rPr lang="en-CA" b="1" dirty="0"/>
              <a:t>God object</a:t>
            </a:r>
            <a:r>
              <a:rPr lang="en-CA" dirty="0"/>
              <a:t> is an </a:t>
            </a:r>
            <a:r>
              <a:rPr lang="en-CA" dirty="0">
                <a:hlinkClick r:id="rId2" tooltip="Object (computer science)"/>
              </a:rPr>
              <a:t>object</a:t>
            </a:r>
            <a:r>
              <a:rPr lang="en-CA" dirty="0"/>
              <a:t> that </a:t>
            </a:r>
            <a:r>
              <a:rPr lang="en-CA" i="1" dirty="0"/>
              <a:t>knows too much</a:t>
            </a:r>
            <a:r>
              <a:rPr lang="en-CA" dirty="0"/>
              <a:t> or </a:t>
            </a:r>
            <a:r>
              <a:rPr lang="en-CA" i="1" dirty="0"/>
              <a:t>does too much</a:t>
            </a:r>
          </a:p>
          <a:p>
            <a:pPr marL="0" indent="0">
              <a:buNone/>
            </a:pPr>
            <a:endParaRPr lang="en-CA" i="1" dirty="0"/>
          </a:p>
          <a:p>
            <a:pPr marL="0" indent="0">
              <a:buNone/>
            </a:pPr>
            <a:r>
              <a:rPr lang="en-CA" dirty="0">
                <a:hlinkClick r:id="rId3"/>
              </a:rPr>
              <a:t>https://en.wikipedia.org/wiki/God_object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43D81-FAA8-4C11-BD23-55827454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5" name="Picture 4" descr="Related image">
            <a:extLst>
              <a:ext uri="{FF2B5EF4-FFF2-40B4-BE49-F238E27FC236}">
                <a16:creationId xmlns:a16="http://schemas.microsoft.com/office/drawing/2014/main" id="{8FB8C510-DC60-4615-97A5-4D2E27906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0" y="2536372"/>
            <a:ext cx="3062514" cy="298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557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82117E-C229-48E0-95C7-9923BDE7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Dependency Injection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2C05D4-E4D1-4842-AC39-61107F30A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When you want dependencies but you </a:t>
            </a:r>
            <a:r>
              <a:rPr lang="en-CA" b="1" dirty="0"/>
              <a:t>don’t want to hardcode</a:t>
            </a:r>
            <a:r>
              <a:rPr lang="en-CA" dirty="0"/>
              <a:t> the type of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944F-43E9-4DD7-8C9E-1CB47335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762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9CD5F8-8699-4D36-8BFB-E06DD3BD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Dependency Injection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53F29-527C-44B6-99C7-11DFDF19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are going to talk about some general design</a:t>
            </a:r>
          </a:p>
          <a:p>
            <a:r>
              <a:rPr lang="en-CA" dirty="0"/>
              <a:t>Dependency Injection is a:</a:t>
            </a:r>
          </a:p>
          <a:p>
            <a:pPr lvl="1"/>
            <a:r>
              <a:rPr lang="en-CA" dirty="0"/>
              <a:t>Concept</a:t>
            </a:r>
          </a:p>
          <a:p>
            <a:pPr lvl="1"/>
            <a:r>
              <a:rPr lang="en-CA" dirty="0"/>
              <a:t>Technique</a:t>
            </a:r>
          </a:p>
          <a:p>
            <a:pPr lvl="1"/>
            <a:r>
              <a:rPr lang="en-CA" dirty="0"/>
              <a:t>Framework</a:t>
            </a:r>
          </a:p>
          <a:p>
            <a:pPr lvl="1"/>
            <a:r>
              <a:rPr lang="en-CA" dirty="0"/>
              <a:t>A phrase that you may hear often, especially when working with complex systems.</a:t>
            </a:r>
          </a:p>
          <a:p>
            <a:r>
              <a:rPr lang="en-CA" dirty="0"/>
              <a:t>This sounds scary but once you understand the concept it feels obvious.</a:t>
            </a:r>
          </a:p>
          <a:p>
            <a:r>
              <a:rPr lang="en-CA" dirty="0"/>
              <a:t>In fact. You have all written a fairly complex system that implements Dependency Injection already.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042BD-2395-4337-859F-921E3BA5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098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99C1-84B5-44E1-9276-E7ACAAEDA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Dependency Injection –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E776D-38EE-4E69-8F8D-95AB97CB1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554980" cy="4023360"/>
          </a:xfrm>
        </p:spPr>
        <p:txBody>
          <a:bodyPr>
            <a:normAutofit/>
          </a:bodyPr>
          <a:lstStyle/>
          <a:p>
            <a:r>
              <a:rPr lang="en-CA" b="1" dirty="0"/>
              <a:t>Class A</a:t>
            </a:r>
            <a:r>
              <a:rPr lang="en-CA" dirty="0"/>
              <a:t> is </a:t>
            </a:r>
            <a:r>
              <a:rPr lang="en-CA" b="1" dirty="0"/>
              <a:t>dependent</a:t>
            </a:r>
            <a:r>
              <a:rPr lang="en-CA" dirty="0"/>
              <a:t> on an </a:t>
            </a:r>
            <a:r>
              <a:rPr lang="en-CA" b="1" dirty="0"/>
              <a:t>entity B</a:t>
            </a:r>
            <a:r>
              <a:rPr lang="en-CA" dirty="0"/>
              <a:t> (a class, a system, an external package, etc.)</a:t>
            </a:r>
          </a:p>
          <a:p>
            <a:r>
              <a:rPr lang="en-CA" dirty="0"/>
              <a:t>Our goal through many design patterns is to control and manage these dependencies. </a:t>
            </a:r>
          </a:p>
          <a:p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How can we provide a dependency to a dependent class in a way that </a:t>
            </a:r>
            <a:r>
              <a:rPr lang="en-CA" b="1" i="1" dirty="0">
                <a:solidFill>
                  <a:schemeClr val="accent2">
                    <a:lumMod val="75000"/>
                  </a:schemeClr>
                </a:solidFill>
              </a:rPr>
              <a:t>reduces coupling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r>
              <a:rPr lang="en-CA" dirty="0"/>
              <a:t>Dependency Injection is a concept and a set of </a:t>
            </a:r>
            <a:br>
              <a:rPr lang="en-CA" dirty="0"/>
            </a:br>
            <a:r>
              <a:rPr lang="en-CA" dirty="0"/>
              <a:t>software design principles that enable us to write </a:t>
            </a:r>
            <a:br>
              <a:rPr lang="en-CA" dirty="0"/>
            </a:br>
            <a:r>
              <a:rPr lang="en-CA" dirty="0"/>
              <a:t>code that can answer this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A5FEC-D2A2-43E3-986D-D94E69A2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11268" name="Picture 4" descr="Image result for dependency injection">
            <a:extLst>
              <a:ext uri="{FF2B5EF4-FFF2-40B4-BE49-F238E27FC236}">
                <a16:creationId xmlns:a16="http://schemas.microsoft.com/office/drawing/2014/main" id="{C386002F-B3A1-4F23-800D-00FB82746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260" y="2518737"/>
            <a:ext cx="5539740" cy="383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393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BB830-7F15-4F14-BFBE-04FE35CF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F577-31FC-4A8E-BA9C-2C3EDFBC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5" y="1845734"/>
            <a:ext cx="11336694" cy="1583266"/>
          </a:xfrm>
        </p:spPr>
        <p:txBody>
          <a:bodyPr>
            <a:normAutofit/>
          </a:bodyPr>
          <a:lstStyle/>
          <a:p>
            <a:r>
              <a:rPr lang="en-CA" dirty="0"/>
              <a:t>Dependency Injection involves having an external entity (</a:t>
            </a:r>
            <a:r>
              <a:rPr lang="en-CA" b="1" dirty="0">
                <a:solidFill>
                  <a:srgbClr val="FFC000"/>
                </a:solidFill>
              </a:rPr>
              <a:t>the Injector</a:t>
            </a:r>
            <a:r>
              <a:rPr lang="en-CA" dirty="0"/>
              <a:t>) be responsible for creating (or retrieving) the right dependency for the use case and providing it to the client class.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B599-3DD6-4E38-810A-49F7A84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2" descr="Image result for dependency injection">
            <a:extLst>
              <a:ext uri="{FF2B5EF4-FFF2-40B4-BE49-F238E27FC236}">
                <a16:creationId xmlns:a16="http://schemas.microsoft.com/office/drawing/2014/main" id="{384DE761-507A-441E-A912-B28D361F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808" y="2637367"/>
            <a:ext cx="6272384" cy="3422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7C8908-3825-4F19-BCDC-1129E941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576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B599-3DD6-4E38-810A-49F7A84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5" name="Picture 2" descr="Image result for dependency injection">
            <a:extLst>
              <a:ext uri="{FF2B5EF4-FFF2-40B4-BE49-F238E27FC236}">
                <a16:creationId xmlns:a16="http://schemas.microsoft.com/office/drawing/2014/main" id="{384DE761-507A-441E-A912-B28D361F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909" y="25865"/>
            <a:ext cx="5152382" cy="281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7C8908-3825-4F19-BCDC-1129E941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B9AF4F-6F72-47BF-A25A-BC515FD66137}"/>
              </a:ext>
            </a:extLst>
          </p:cNvPr>
          <p:cNvSpPr/>
          <p:nvPr/>
        </p:nvSpPr>
        <p:spPr>
          <a:xfrm>
            <a:off x="184731" y="1779038"/>
            <a:ext cx="6387115" cy="833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E75E2D-A415-494B-B035-AE67B4AC2CE9}"/>
              </a:ext>
            </a:extLst>
          </p:cNvPr>
          <p:cNvSpPr/>
          <p:nvPr/>
        </p:nvSpPr>
        <p:spPr>
          <a:xfrm>
            <a:off x="2509935" y="3023717"/>
            <a:ext cx="5143791" cy="923330"/>
          </a:xfrm>
          <a:prstGeom prst="rect">
            <a:avLst/>
          </a:prstGeom>
          <a:ln w="508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ClassA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	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class_b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A5255F-F35E-4C7C-9A0B-A8DF84149A34}"/>
              </a:ext>
            </a:extLst>
          </p:cNvPr>
          <p:cNvSpPr/>
          <p:nvPr/>
        </p:nvSpPr>
        <p:spPr>
          <a:xfrm>
            <a:off x="8300337" y="5322375"/>
            <a:ext cx="3508631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pic>
        <p:nvPicPr>
          <p:cNvPr id="14" name="Graphic 13" descr="Close">
            <a:extLst>
              <a:ext uri="{FF2B5EF4-FFF2-40B4-BE49-F238E27FC236}">
                <a16:creationId xmlns:a16="http://schemas.microsoft.com/office/drawing/2014/main" id="{1B0CB0C0-E4EB-4BC6-AB8D-A9DBF0C51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9326" y="2837381"/>
            <a:ext cx="914400" cy="914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FAA32E-030D-45BA-B76F-F63C31018EBA}"/>
              </a:ext>
            </a:extLst>
          </p:cNvPr>
          <p:cNvCxnSpPr>
            <a:cxnSpLocks/>
            <a:stCxn id="23" idx="3"/>
            <a:endCxn id="19" idx="1"/>
          </p:cNvCxnSpPr>
          <p:nvPr/>
        </p:nvCxnSpPr>
        <p:spPr>
          <a:xfrm>
            <a:off x="7820752" y="3618579"/>
            <a:ext cx="479585" cy="2026962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302396A-DD07-4B36-93E3-289E34309F3A}"/>
              </a:ext>
            </a:extLst>
          </p:cNvPr>
          <p:cNvSpPr/>
          <p:nvPr/>
        </p:nvSpPr>
        <p:spPr>
          <a:xfrm rot="2700000">
            <a:off x="7686340" y="3484167"/>
            <a:ext cx="157474" cy="15747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7D59E6E-0F01-4176-A3C1-3D5A7EA4C725}"/>
              </a:ext>
            </a:extLst>
          </p:cNvPr>
          <p:cNvSpPr txBox="1">
            <a:spLocks/>
          </p:cNvSpPr>
          <p:nvPr/>
        </p:nvSpPr>
        <p:spPr>
          <a:xfrm>
            <a:off x="184731" y="119571"/>
            <a:ext cx="6499064" cy="2904146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Dependency Injection involves having an external entity (</a:t>
            </a:r>
            <a:r>
              <a:rPr lang="en-CA" b="1" dirty="0">
                <a:solidFill>
                  <a:srgbClr val="FFC000"/>
                </a:solidFill>
              </a:rPr>
              <a:t>the Injector</a:t>
            </a:r>
            <a:r>
              <a:rPr lang="en-CA" dirty="0"/>
              <a:t>) be responsible for creating (or retrieving) the right dependency for the use case and providing it to the client class.</a:t>
            </a:r>
          </a:p>
          <a:p>
            <a:r>
              <a:rPr lang="en-CA" dirty="0"/>
              <a:t>To decouple </a:t>
            </a:r>
            <a:r>
              <a:rPr lang="en-CA" b="1" dirty="0">
                <a:solidFill>
                  <a:srgbClr val="00B0F0"/>
                </a:solidFill>
              </a:rPr>
              <a:t>Class A</a:t>
            </a:r>
            <a:r>
              <a:rPr lang="en-CA" dirty="0"/>
              <a:t> from </a:t>
            </a:r>
            <a:r>
              <a:rPr lang="en-CA" b="1" dirty="0">
                <a:solidFill>
                  <a:srgbClr val="00B050"/>
                </a:solidFill>
              </a:rPr>
              <a:t>Class B</a:t>
            </a:r>
            <a:r>
              <a:rPr lang="en-CA" dirty="0"/>
              <a:t> and achieve dependency injection:</a:t>
            </a:r>
          </a:p>
          <a:p>
            <a:pPr marL="457200" indent="-457200">
              <a:buFont typeface="+mj-lt"/>
              <a:buAutoNum type="arabicPeriod"/>
            </a:pPr>
            <a:r>
              <a:rPr lang="en-CA" b="1" dirty="0">
                <a:solidFill>
                  <a:srgbClr val="00B0F0"/>
                </a:solidFill>
              </a:rPr>
              <a:t>Class A </a:t>
            </a:r>
            <a:r>
              <a:rPr lang="en-CA" dirty="0">
                <a:solidFill>
                  <a:schemeClr val="tx1"/>
                </a:solidFill>
              </a:rPr>
              <a:t>should </a:t>
            </a:r>
            <a:r>
              <a:rPr lang="en-CA" b="1" dirty="0">
                <a:solidFill>
                  <a:schemeClr val="tx1"/>
                </a:solidFill>
              </a:rPr>
              <a:t>not</a:t>
            </a:r>
            <a:r>
              <a:rPr lang="en-CA" dirty="0">
                <a:solidFill>
                  <a:schemeClr val="tx1"/>
                </a:solidFill>
              </a:rPr>
              <a:t> explicitly refer to </a:t>
            </a:r>
            <a:r>
              <a:rPr lang="en-CA" b="1" dirty="0">
                <a:solidFill>
                  <a:srgbClr val="00B050"/>
                </a:solidFill>
              </a:rPr>
              <a:t>Class B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lvl="1"/>
            <a:r>
              <a:rPr lang="en-CA" dirty="0"/>
              <a:t>Not mention its type (For languages with static typing)</a:t>
            </a:r>
          </a:p>
          <a:p>
            <a:pPr lvl="1"/>
            <a:r>
              <a:rPr lang="en-CA" dirty="0"/>
              <a:t>Refer to an abstraction instead. Usually a common interface of some sort.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FC3A87-315B-43E9-8B67-AED0CB64B008}"/>
              </a:ext>
            </a:extLst>
          </p:cNvPr>
          <p:cNvSpPr/>
          <p:nvPr/>
        </p:nvSpPr>
        <p:spPr>
          <a:xfrm>
            <a:off x="184731" y="2146041"/>
            <a:ext cx="6499064" cy="833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1033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F577-31FC-4A8E-BA9C-2C3EDFBC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1" y="119571"/>
            <a:ext cx="6499064" cy="2904146"/>
          </a:xfrm>
        </p:spPr>
        <p:txBody>
          <a:bodyPr>
            <a:normAutofit fontScale="92500"/>
          </a:bodyPr>
          <a:lstStyle/>
          <a:p>
            <a:r>
              <a:rPr lang="en-CA" dirty="0"/>
              <a:t>Dependency Injection involves having an external entity (</a:t>
            </a:r>
            <a:r>
              <a:rPr lang="en-CA" b="1" dirty="0">
                <a:solidFill>
                  <a:srgbClr val="FFC000"/>
                </a:solidFill>
              </a:rPr>
              <a:t>the Injector</a:t>
            </a:r>
            <a:r>
              <a:rPr lang="en-CA" dirty="0"/>
              <a:t>) be responsible for creating (or retrieving) the right dependency for the use case and providing it to the client class.</a:t>
            </a:r>
          </a:p>
          <a:p>
            <a:r>
              <a:rPr lang="en-CA" dirty="0"/>
              <a:t>To decouple </a:t>
            </a:r>
            <a:r>
              <a:rPr lang="en-CA" b="1" dirty="0">
                <a:solidFill>
                  <a:srgbClr val="00B0F0"/>
                </a:solidFill>
              </a:rPr>
              <a:t>Class A</a:t>
            </a:r>
            <a:r>
              <a:rPr lang="en-CA" dirty="0"/>
              <a:t> from </a:t>
            </a:r>
            <a:r>
              <a:rPr lang="en-CA" b="1" dirty="0">
                <a:solidFill>
                  <a:srgbClr val="00B050"/>
                </a:solidFill>
              </a:rPr>
              <a:t>Class B</a:t>
            </a:r>
            <a:r>
              <a:rPr lang="en-CA" dirty="0"/>
              <a:t> and achieve dependency injection:</a:t>
            </a:r>
          </a:p>
          <a:p>
            <a:pPr marL="457200" indent="-457200">
              <a:buFont typeface="+mj-lt"/>
              <a:buAutoNum type="arabicPeriod"/>
            </a:pPr>
            <a:r>
              <a:rPr lang="en-CA" b="1" dirty="0">
                <a:solidFill>
                  <a:srgbClr val="00B0F0"/>
                </a:solidFill>
              </a:rPr>
              <a:t>Class A </a:t>
            </a:r>
            <a:r>
              <a:rPr lang="en-CA" dirty="0">
                <a:solidFill>
                  <a:schemeClr val="tx1"/>
                </a:solidFill>
              </a:rPr>
              <a:t>should </a:t>
            </a:r>
            <a:r>
              <a:rPr lang="en-CA" b="1" dirty="0">
                <a:solidFill>
                  <a:schemeClr val="tx1"/>
                </a:solidFill>
              </a:rPr>
              <a:t>not</a:t>
            </a:r>
            <a:r>
              <a:rPr lang="en-CA" dirty="0">
                <a:solidFill>
                  <a:schemeClr val="tx1"/>
                </a:solidFill>
              </a:rPr>
              <a:t> explicitly refer to </a:t>
            </a:r>
            <a:r>
              <a:rPr lang="en-CA" b="1" dirty="0">
                <a:solidFill>
                  <a:srgbClr val="00B050"/>
                </a:solidFill>
              </a:rPr>
              <a:t>Class B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lvl="1"/>
            <a:r>
              <a:rPr lang="en-CA" dirty="0"/>
              <a:t>Not mention its type (For languages with static typing)</a:t>
            </a:r>
          </a:p>
          <a:p>
            <a:pPr lvl="1"/>
            <a:r>
              <a:rPr lang="en-CA" b="1" dirty="0"/>
              <a:t>Refer to an abstraction </a:t>
            </a:r>
            <a:r>
              <a:rPr lang="en-CA" dirty="0"/>
              <a:t>instead. Usually a common interface of some sort.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B599-3DD6-4E38-810A-49F7A84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2" descr="Image result for dependency injection">
            <a:extLst>
              <a:ext uri="{FF2B5EF4-FFF2-40B4-BE49-F238E27FC236}">
                <a16:creationId xmlns:a16="http://schemas.microsoft.com/office/drawing/2014/main" id="{384DE761-507A-441E-A912-B28D361F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909" y="25865"/>
            <a:ext cx="5152382" cy="281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7C8908-3825-4F19-BCDC-1129E941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9D831A-B7B0-4EC5-8308-A5DA8DBB3B9C}"/>
              </a:ext>
            </a:extLst>
          </p:cNvPr>
          <p:cNvSpPr/>
          <p:nvPr/>
        </p:nvSpPr>
        <p:spPr>
          <a:xfrm>
            <a:off x="2501345" y="3023717"/>
            <a:ext cx="5152382" cy="923330"/>
          </a:xfrm>
          <a:prstGeom prst="rect">
            <a:avLst/>
          </a:prstGeom>
          <a:ln w="508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ClassA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	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abstract_class_b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=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FA6D6-39BA-45B0-9746-B20E73D554A6}"/>
              </a:ext>
            </a:extLst>
          </p:cNvPr>
          <p:cNvSpPr/>
          <p:nvPr/>
        </p:nvSpPr>
        <p:spPr>
          <a:xfrm>
            <a:off x="8300337" y="5322375"/>
            <a:ext cx="3508631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4AF51-85DC-4B8A-B8E5-7F5D19718C5E}"/>
              </a:ext>
            </a:extLst>
          </p:cNvPr>
          <p:cNvSpPr/>
          <p:nvPr/>
        </p:nvSpPr>
        <p:spPr>
          <a:xfrm>
            <a:off x="8300337" y="3922262"/>
            <a:ext cx="3502090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CA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7CD582-A466-4FD8-9F27-5C0E4704988B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H="1" flipV="1">
            <a:off x="10051382" y="4568593"/>
            <a:ext cx="3271" cy="75378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BE631B-FD74-47B0-8CC5-787ED27A3054}"/>
              </a:ext>
            </a:extLst>
          </p:cNvPr>
          <p:cNvSpPr/>
          <p:nvPr/>
        </p:nvSpPr>
        <p:spPr>
          <a:xfrm>
            <a:off x="9915280" y="4568593"/>
            <a:ext cx="265663" cy="22902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05E90F-4159-43B3-9DE9-FB3E765487A8}"/>
              </a:ext>
            </a:extLst>
          </p:cNvPr>
          <p:cNvSpPr/>
          <p:nvPr/>
        </p:nvSpPr>
        <p:spPr>
          <a:xfrm>
            <a:off x="5867340" y="3023717"/>
            <a:ext cx="17863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000" b="1" dirty="0">
                <a:solidFill>
                  <a:srgbClr val="00B050"/>
                </a:solidFill>
              </a:rPr>
              <a:t>A little better…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21AE22-5355-450C-A9D0-E4B3F31D7CD6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>
            <a:off x="7820752" y="3618579"/>
            <a:ext cx="479585" cy="626849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8326EA6-41EC-4485-BB34-7D325CA4FE6D}"/>
              </a:ext>
            </a:extLst>
          </p:cNvPr>
          <p:cNvSpPr/>
          <p:nvPr/>
        </p:nvSpPr>
        <p:spPr>
          <a:xfrm rot="2700000">
            <a:off x="7686340" y="3484167"/>
            <a:ext cx="157474" cy="15747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443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F577-31FC-4A8E-BA9C-2C3EDFBC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1" y="119570"/>
            <a:ext cx="6499064" cy="2380927"/>
          </a:xfrm>
        </p:spPr>
        <p:txBody>
          <a:bodyPr>
            <a:normAutofit fontScale="92500"/>
          </a:bodyPr>
          <a:lstStyle/>
          <a:p>
            <a:r>
              <a:rPr lang="en-CA" dirty="0"/>
              <a:t>Dependency Injection involves having an external entity (</a:t>
            </a:r>
            <a:r>
              <a:rPr lang="en-CA" b="1" dirty="0">
                <a:solidFill>
                  <a:srgbClr val="FFC000"/>
                </a:solidFill>
              </a:rPr>
              <a:t>the Injector</a:t>
            </a:r>
            <a:r>
              <a:rPr lang="en-CA" dirty="0"/>
              <a:t>) be responsible for creating (or retrieving) the right dependency for the use case and providing it to the client class.</a:t>
            </a:r>
          </a:p>
          <a:p>
            <a:r>
              <a:rPr lang="en-CA" dirty="0"/>
              <a:t>To decouple </a:t>
            </a:r>
            <a:r>
              <a:rPr lang="en-CA" b="1" dirty="0">
                <a:solidFill>
                  <a:srgbClr val="00B0F0"/>
                </a:solidFill>
              </a:rPr>
              <a:t>Class A</a:t>
            </a:r>
            <a:r>
              <a:rPr lang="en-CA" dirty="0"/>
              <a:t> from </a:t>
            </a:r>
            <a:r>
              <a:rPr lang="en-CA" b="1" dirty="0">
                <a:solidFill>
                  <a:srgbClr val="00B050"/>
                </a:solidFill>
              </a:rPr>
              <a:t>Class B</a:t>
            </a:r>
            <a:r>
              <a:rPr lang="en-CA" dirty="0"/>
              <a:t> and achieve dependency injection: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CA" b="1" dirty="0">
                <a:solidFill>
                  <a:srgbClr val="00B0F0"/>
                </a:solidFill>
              </a:rPr>
              <a:t>Class A </a:t>
            </a:r>
            <a:r>
              <a:rPr lang="en-CA" dirty="0">
                <a:solidFill>
                  <a:schemeClr val="tx1"/>
                </a:solidFill>
              </a:rPr>
              <a:t>should </a:t>
            </a:r>
            <a:r>
              <a:rPr lang="en-CA" b="1" dirty="0">
                <a:solidFill>
                  <a:schemeClr val="tx1"/>
                </a:solidFill>
              </a:rPr>
              <a:t>NOT</a:t>
            </a:r>
            <a:r>
              <a:rPr lang="en-CA" dirty="0">
                <a:solidFill>
                  <a:schemeClr val="tx1"/>
                </a:solidFill>
              </a:rPr>
              <a:t> be responsible for </a:t>
            </a:r>
            <a:r>
              <a:rPr lang="en-CA" b="1" dirty="0">
                <a:solidFill>
                  <a:schemeClr val="tx1"/>
                </a:solidFill>
              </a:rPr>
              <a:t>constructing or importing/retrieving the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B599-3DD6-4E38-810A-49F7A84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5" name="Picture 2" descr="Image result for dependency injection">
            <a:extLst>
              <a:ext uri="{FF2B5EF4-FFF2-40B4-BE49-F238E27FC236}">
                <a16:creationId xmlns:a16="http://schemas.microsoft.com/office/drawing/2014/main" id="{384DE761-507A-441E-A912-B28D361F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909" y="25865"/>
            <a:ext cx="5152382" cy="281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7C8908-3825-4F19-BCDC-1129E941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9D831A-B7B0-4EC5-8308-A5DA8DBB3B9C}"/>
              </a:ext>
            </a:extLst>
          </p:cNvPr>
          <p:cNvSpPr/>
          <p:nvPr/>
        </p:nvSpPr>
        <p:spPr>
          <a:xfrm>
            <a:off x="2501345" y="3023717"/>
            <a:ext cx="5152382" cy="923330"/>
          </a:xfrm>
          <a:prstGeom prst="rect">
            <a:avLst/>
          </a:prstGeom>
          <a:ln w="508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ClassA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.abstract_class_b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ClassB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()</a:t>
            </a:r>
            <a:endParaRPr lang="en-CA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FA6D6-39BA-45B0-9746-B20E73D554A6}"/>
              </a:ext>
            </a:extLst>
          </p:cNvPr>
          <p:cNvSpPr/>
          <p:nvPr/>
        </p:nvSpPr>
        <p:spPr>
          <a:xfrm>
            <a:off x="8300337" y="5322375"/>
            <a:ext cx="3508631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4AF51-85DC-4B8A-B8E5-7F5D19718C5E}"/>
              </a:ext>
            </a:extLst>
          </p:cNvPr>
          <p:cNvSpPr/>
          <p:nvPr/>
        </p:nvSpPr>
        <p:spPr>
          <a:xfrm>
            <a:off x="8300337" y="3922262"/>
            <a:ext cx="3502090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CA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7CD582-A466-4FD8-9F27-5C0E4704988B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H="1" flipV="1">
            <a:off x="10051382" y="4568593"/>
            <a:ext cx="3271" cy="75378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BE631B-FD74-47B0-8CC5-787ED27A3054}"/>
              </a:ext>
            </a:extLst>
          </p:cNvPr>
          <p:cNvSpPr/>
          <p:nvPr/>
        </p:nvSpPr>
        <p:spPr>
          <a:xfrm>
            <a:off x="9915280" y="4568593"/>
            <a:ext cx="265663" cy="22902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Graphic 12" descr="Close">
            <a:extLst>
              <a:ext uri="{FF2B5EF4-FFF2-40B4-BE49-F238E27FC236}">
                <a16:creationId xmlns:a16="http://schemas.microsoft.com/office/drawing/2014/main" id="{980F6DE2-236E-4D04-9E85-25C587465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5432" y="3331027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9B48DA-18FC-4008-A6EE-94A8E4A9B7AE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820752" y="3618579"/>
            <a:ext cx="479585" cy="626849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91BDEA8-E10A-488F-A522-FB4A70DD506E}"/>
              </a:ext>
            </a:extLst>
          </p:cNvPr>
          <p:cNvSpPr/>
          <p:nvPr/>
        </p:nvSpPr>
        <p:spPr>
          <a:xfrm rot="2700000">
            <a:off x="7686340" y="3484167"/>
            <a:ext cx="157474" cy="15747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8885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F577-31FC-4A8E-BA9C-2C3EDFBC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1" y="119570"/>
            <a:ext cx="6499064" cy="2380927"/>
          </a:xfrm>
        </p:spPr>
        <p:txBody>
          <a:bodyPr>
            <a:normAutofit fontScale="92500"/>
          </a:bodyPr>
          <a:lstStyle/>
          <a:p>
            <a:r>
              <a:rPr lang="en-CA" dirty="0"/>
              <a:t>Dependency Injection involves having an external entity (</a:t>
            </a:r>
            <a:r>
              <a:rPr lang="en-CA" b="1" dirty="0">
                <a:solidFill>
                  <a:srgbClr val="FFC000"/>
                </a:solidFill>
              </a:rPr>
              <a:t>the Injector</a:t>
            </a:r>
            <a:r>
              <a:rPr lang="en-CA" dirty="0"/>
              <a:t>) be responsible for creating (or retrieving) the right dependency for the use case and providing it to the client class.</a:t>
            </a:r>
          </a:p>
          <a:p>
            <a:r>
              <a:rPr lang="en-CA" dirty="0"/>
              <a:t>To decouple </a:t>
            </a:r>
            <a:r>
              <a:rPr lang="en-CA" b="1" dirty="0">
                <a:solidFill>
                  <a:srgbClr val="00B0F0"/>
                </a:solidFill>
              </a:rPr>
              <a:t>Class A</a:t>
            </a:r>
            <a:r>
              <a:rPr lang="en-CA" dirty="0"/>
              <a:t> from </a:t>
            </a:r>
            <a:r>
              <a:rPr lang="en-CA" b="1" dirty="0">
                <a:solidFill>
                  <a:srgbClr val="00B050"/>
                </a:solidFill>
              </a:rPr>
              <a:t>Class B</a:t>
            </a:r>
            <a:r>
              <a:rPr lang="en-CA" dirty="0"/>
              <a:t> and achieve dependency injection: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CA" b="1" dirty="0">
                <a:solidFill>
                  <a:srgbClr val="00B0F0"/>
                </a:solidFill>
              </a:rPr>
              <a:t>Class A </a:t>
            </a:r>
            <a:r>
              <a:rPr lang="en-CA" dirty="0">
                <a:solidFill>
                  <a:schemeClr val="tx1"/>
                </a:solidFill>
              </a:rPr>
              <a:t>should </a:t>
            </a:r>
            <a:r>
              <a:rPr lang="en-CA" b="1" dirty="0">
                <a:solidFill>
                  <a:schemeClr val="tx1"/>
                </a:solidFill>
              </a:rPr>
              <a:t>NOT</a:t>
            </a:r>
            <a:r>
              <a:rPr lang="en-CA" dirty="0">
                <a:solidFill>
                  <a:schemeClr val="tx1"/>
                </a:solidFill>
              </a:rPr>
              <a:t> be responsible for </a:t>
            </a:r>
            <a:r>
              <a:rPr lang="en-CA" b="1" dirty="0">
                <a:solidFill>
                  <a:schemeClr val="tx1"/>
                </a:solidFill>
              </a:rPr>
              <a:t>constructing or importing/retrieving the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B599-3DD6-4E38-810A-49F7A84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2" descr="Image result for dependency injection">
            <a:extLst>
              <a:ext uri="{FF2B5EF4-FFF2-40B4-BE49-F238E27FC236}">
                <a16:creationId xmlns:a16="http://schemas.microsoft.com/office/drawing/2014/main" id="{384DE761-507A-441E-A912-B28D361F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909" y="25865"/>
            <a:ext cx="5152382" cy="281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7C8908-3825-4F19-BCDC-1129E941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9D831A-B7B0-4EC5-8308-A5DA8DBB3B9C}"/>
              </a:ext>
            </a:extLst>
          </p:cNvPr>
          <p:cNvSpPr/>
          <p:nvPr/>
        </p:nvSpPr>
        <p:spPr>
          <a:xfrm>
            <a:off x="2501345" y="3023717"/>
            <a:ext cx="5152381" cy="923330"/>
          </a:xfrm>
          <a:prstGeom prst="rect">
            <a:avLst/>
          </a:prstGeom>
          <a:ln w="508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ClassA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.abstract_class_b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None</a:t>
            </a:r>
            <a:endParaRPr lang="en-CA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FA6D6-39BA-45B0-9746-B20E73D554A6}"/>
              </a:ext>
            </a:extLst>
          </p:cNvPr>
          <p:cNvSpPr/>
          <p:nvPr/>
        </p:nvSpPr>
        <p:spPr>
          <a:xfrm>
            <a:off x="8300337" y="5322375"/>
            <a:ext cx="3508631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4AF51-85DC-4B8A-B8E5-7F5D19718C5E}"/>
              </a:ext>
            </a:extLst>
          </p:cNvPr>
          <p:cNvSpPr/>
          <p:nvPr/>
        </p:nvSpPr>
        <p:spPr>
          <a:xfrm>
            <a:off x="8300337" y="3922262"/>
            <a:ext cx="3502090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CA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7CD582-A466-4FD8-9F27-5C0E4704988B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H="1" flipV="1">
            <a:off x="10051382" y="4568593"/>
            <a:ext cx="3271" cy="75378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BE631B-FD74-47B0-8CC5-787ED27A3054}"/>
              </a:ext>
            </a:extLst>
          </p:cNvPr>
          <p:cNvSpPr/>
          <p:nvPr/>
        </p:nvSpPr>
        <p:spPr>
          <a:xfrm>
            <a:off x="9915280" y="4568593"/>
            <a:ext cx="265663" cy="22902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805CB4-8EBA-446E-9DD4-A00304745255}"/>
              </a:ext>
            </a:extLst>
          </p:cNvPr>
          <p:cNvSpPr/>
          <p:nvPr/>
        </p:nvSpPr>
        <p:spPr>
          <a:xfrm>
            <a:off x="5867340" y="3023717"/>
            <a:ext cx="17863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000" b="1" dirty="0">
                <a:solidFill>
                  <a:srgbClr val="00B050"/>
                </a:solidFill>
              </a:rPr>
              <a:t>A little better…</a:t>
            </a:r>
          </a:p>
        </p:txBody>
      </p:sp>
    </p:spTree>
    <p:extLst>
      <p:ext uri="{BB962C8B-B14F-4D97-AF65-F5344CB8AC3E}">
        <p14:creationId xmlns:p14="http://schemas.microsoft.com/office/powerpoint/2010/main" val="883052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F577-31FC-4A8E-BA9C-2C3EDFBC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1" y="119570"/>
            <a:ext cx="6499064" cy="2380927"/>
          </a:xfrm>
        </p:spPr>
        <p:txBody>
          <a:bodyPr>
            <a:normAutofit fontScale="92500"/>
          </a:bodyPr>
          <a:lstStyle/>
          <a:p>
            <a:r>
              <a:rPr lang="en-CA" dirty="0"/>
              <a:t>Dependency Injection involves having an external entity (</a:t>
            </a:r>
            <a:r>
              <a:rPr lang="en-CA" b="1" dirty="0">
                <a:solidFill>
                  <a:srgbClr val="FFC000"/>
                </a:solidFill>
              </a:rPr>
              <a:t>the Injector</a:t>
            </a:r>
            <a:r>
              <a:rPr lang="en-CA" dirty="0"/>
              <a:t>) be responsible for creating (or retrieving) the right dependency for the use case and providing it to the client class.</a:t>
            </a:r>
          </a:p>
          <a:p>
            <a:r>
              <a:rPr lang="en-CA" dirty="0"/>
              <a:t>To decouple </a:t>
            </a:r>
            <a:r>
              <a:rPr lang="en-CA" b="1" dirty="0">
                <a:solidFill>
                  <a:srgbClr val="00B0F0"/>
                </a:solidFill>
              </a:rPr>
              <a:t>Class A</a:t>
            </a:r>
            <a:r>
              <a:rPr lang="en-CA" dirty="0"/>
              <a:t> from </a:t>
            </a:r>
            <a:r>
              <a:rPr lang="en-CA" b="1" dirty="0">
                <a:solidFill>
                  <a:srgbClr val="00B050"/>
                </a:solidFill>
              </a:rPr>
              <a:t>Class B</a:t>
            </a:r>
            <a:r>
              <a:rPr lang="en-CA" dirty="0"/>
              <a:t> and achieve dependency injection: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CA" b="1" dirty="0">
                <a:solidFill>
                  <a:srgbClr val="00B050"/>
                </a:solidFill>
              </a:rPr>
              <a:t>Class B </a:t>
            </a:r>
            <a:r>
              <a:rPr lang="en-CA" dirty="0">
                <a:solidFill>
                  <a:schemeClr val="tx1"/>
                </a:solidFill>
              </a:rPr>
              <a:t>should be </a:t>
            </a:r>
            <a:r>
              <a:rPr lang="en-CA" b="1" dirty="0">
                <a:solidFill>
                  <a:schemeClr val="tx1"/>
                </a:solidFill>
              </a:rPr>
              <a:t>constructed (or imported/retrieved) by an external entity</a:t>
            </a:r>
            <a:r>
              <a:rPr lang="en-CA" dirty="0">
                <a:solidFill>
                  <a:schemeClr val="tx1"/>
                </a:solidFill>
              </a:rPr>
              <a:t>. (</a:t>
            </a:r>
            <a:r>
              <a:rPr lang="en-CA" b="1" dirty="0">
                <a:solidFill>
                  <a:srgbClr val="F29A0E"/>
                </a:solidFill>
              </a:rPr>
              <a:t>The Injector</a:t>
            </a:r>
            <a:r>
              <a:rPr lang="en-CA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B599-3DD6-4E38-810A-49F7A84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5" name="Picture 2" descr="Image result for dependency injection">
            <a:extLst>
              <a:ext uri="{FF2B5EF4-FFF2-40B4-BE49-F238E27FC236}">
                <a16:creationId xmlns:a16="http://schemas.microsoft.com/office/drawing/2014/main" id="{384DE761-507A-441E-A912-B28D361F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909" y="25865"/>
            <a:ext cx="5152382" cy="281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7C8908-3825-4F19-BCDC-1129E941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9D831A-B7B0-4EC5-8308-A5DA8DBB3B9C}"/>
              </a:ext>
            </a:extLst>
          </p:cNvPr>
          <p:cNvSpPr/>
          <p:nvPr/>
        </p:nvSpPr>
        <p:spPr>
          <a:xfrm>
            <a:off x="2451047" y="3023717"/>
            <a:ext cx="5202680" cy="1046440"/>
          </a:xfrm>
          <a:prstGeom prst="rect">
            <a:avLst/>
          </a:prstGeom>
          <a:ln w="508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ClassA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self, </a:t>
            </a:r>
            <a:r>
              <a:rPr lang="en-US" altLang="en-US" sz="2200" b="1" dirty="0" err="1">
                <a:solidFill>
                  <a:srgbClr val="15A996"/>
                </a:solidFill>
                <a:latin typeface="Arial Unicode MS"/>
              </a:rPr>
              <a:t>class_b</a:t>
            </a:r>
            <a:r>
              <a:rPr lang="en-US" altLang="en-US" sz="2200" b="1" dirty="0">
                <a:solidFill>
                  <a:srgbClr val="15A996"/>
                </a:solidFill>
                <a:latin typeface="Arial Unicode MS"/>
              </a:rPr>
              <a:t> : </a:t>
            </a:r>
            <a:r>
              <a:rPr lang="en-US" altLang="en-US" dirty="0" err="1">
                <a:solidFill>
                  <a:srgbClr val="15A996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.abstract_class_b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= </a:t>
            </a:r>
            <a:r>
              <a:rPr lang="en-US" altLang="en-US" sz="2200" b="1" dirty="0" err="1">
                <a:solidFill>
                  <a:srgbClr val="15A996"/>
                </a:solidFill>
                <a:latin typeface="Arial Unicode MS"/>
              </a:rPr>
              <a:t>class_b</a:t>
            </a:r>
            <a:endParaRPr lang="en-CA" sz="2200" b="1" dirty="0">
              <a:solidFill>
                <a:srgbClr val="15A99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FA6D6-39BA-45B0-9746-B20E73D554A6}"/>
              </a:ext>
            </a:extLst>
          </p:cNvPr>
          <p:cNvSpPr/>
          <p:nvPr/>
        </p:nvSpPr>
        <p:spPr>
          <a:xfrm>
            <a:off x="8300337" y="5322375"/>
            <a:ext cx="3508631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4AF51-85DC-4B8A-B8E5-7F5D19718C5E}"/>
              </a:ext>
            </a:extLst>
          </p:cNvPr>
          <p:cNvSpPr/>
          <p:nvPr/>
        </p:nvSpPr>
        <p:spPr>
          <a:xfrm>
            <a:off x="8300337" y="3922262"/>
            <a:ext cx="3502090" cy="646331"/>
          </a:xfrm>
          <a:prstGeom prst="rect">
            <a:avLst/>
          </a:prstGeom>
          <a:ln w="50800">
            <a:solidFill>
              <a:srgbClr val="15A996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AbstractClassB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CA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7CD582-A466-4FD8-9F27-5C0E4704988B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H="1" flipV="1">
            <a:off x="10051382" y="4568593"/>
            <a:ext cx="3271" cy="75378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BE631B-FD74-47B0-8CC5-787ED27A3054}"/>
              </a:ext>
            </a:extLst>
          </p:cNvPr>
          <p:cNvSpPr/>
          <p:nvPr/>
        </p:nvSpPr>
        <p:spPr>
          <a:xfrm>
            <a:off x="9915280" y="4568593"/>
            <a:ext cx="265663" cy="22902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805CB4-8EBA-446E-9DD4-A00304745255}"/>
              </a:ext>
            </a:extLst>
          </p:cNvPr>
          <p:cNvSpPr/>
          <p:nvPr/>
        </p:nvSpPr>
        <p:spPr>
          <a:xfrm>
            <a:off x="6863057" y="3023717"/>
            <a:ext cx="7807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000" b="1" dirty="0">
                <a:solidFill>
                  <a:srgbClr val="00B050"/>
                </a:solidFill>
              </a:rPr>
              <a:t>BEST!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5C6C27-3BF2-4764-9786-3B3011237855}"/>
              </a:ext>
            </a:extLst>
          </p:cNvPr>
          <p:cNvSpPr/>
          <p:nvPr/>
        </p:nvSpPr>
        <p:spPr>
          <a:xfrm>
            <a:off x="187680" y="5142439"/>
            <a:ext cx="4759845" cy="1015663"/>
          </a:xfrm>
          <a:prstGeom prst="rect">
            <a:avLst/>
          </a:prstGeom>
          <a:ln w="762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00627A"/>
                </a:solidFill>
                <a:latin typeface="Arial Unicode MS"/>
              </a:rPr>
              <a:t>main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15A996"/>
                </a:solidFill>
                <a:latin typeface="Arial Unicode MS"/>
              </a:rPr>
              <a:t>    </a:t>
            </a:r>
            <a:r>
              <a:rPr lang="en-US" altLang="en-US" dirty="0" err="1">
                <a:solidFill>
                  <a:srgbClr val="15A996"/>
                </a:solidFill>
                <a:latin typeface="Arial Unicode MS"/>
              </a:rPr>
              <a:t>abstract_class_b</a:t>
            </a:r>
            <a:r>
              <a:rPr lang="en-US" altLang="en-US" dirty="0">
                <a:solidFill>
                  <a:srgbClr val="15A996"/>
                </a:solidFill>
                <a:latin typeface="Arial Unicode MS"/>
              </a:rPr>
              <a:t> 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= </a:t>
            </a:r>
            <a:r>
              <a:rPr lang="en-US" altLang="en-US" dirty="0" err="1">
                <a:solidFill>
                  <a:srgbClr val="15A996"/>
                </a:solidFill>
                <a:latin typeface="Arial Unicode MS"/>
              </a:rPr>
              <a:t>ClassB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 err="1">
                <a:solidFill>
                  <a:srgbClr val="00B0F0"/>
                </a:solidFill>
                <a:latin typeface="Arial Unicode MS"/>
              </a:rPr>
              <a:t>class_a</a:t>
            </a:r>
            <a:r>
              <a:rPr lang="en-US" altLang="en-US" dirty="0">
                <a:solidFill>
                  <a:srgbClr val="808080"/>
                </a:solidFill>
                <a:latin typeface="Arial Unicode MS"/>
              </a:rPr>
              <a:t> 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= </a:t>
            </a:r>
            <a:r>
              <a:rPr lang="en-US" altLang="en-US" dirty="0" err="1">
                <a:solidFill>
                  <a:srgbClr val="00B0F0"/>
                </a:solidFill>
                <a:latin typeface="Arial Unicode MS"/>
              </a:rPr>
              <a:t>ClassA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2400" dirty="0" err="1">
                <a:solidFill>
                  <a:srgbClr val="15A996"/>
                </a:solidFill>
                <a:latin typeface="Arial Unicode MS"/>
              </a:rPr>
              <a:t>abstract_class_b</a:t>
            </a:r>
            <a:r>
              <a:rPr lang="en-US" altLang="en-US" sz="2400" dirty="0">
                <a:solidFill>
                  <a:srgbClr val="080808"/>
                </a:solidFill>
                <a:latin typeface="Arial Unicode MS"/>
              </a:rPr>
              <a:t> 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413017-9260-4DFF-97E3-EA65228DD9BF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7887635" y="3640874"/>
            <a:ext cx="412702" cy="604554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37076D4-ACC1-487E-942E-6EFB464ECD39}"/>
              </a:ext>
            </a:extLst>
          </p:cNvPr>
          <p:cNvSpPr/>
          <p:nvPr/>
        </p:nvSpPr>
        <p:spPr>
          <a:xfrm rot="2700000">
            <a:off x="7699399" y="3452637"/>
            <a:ext cx="220533" cy="22053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FAD450-24F1-4E7A-978A-0E4B3BC35108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856792" y="3546937"/>
            <a:ext cx="594255" cy="159550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4A66A-857A-40FD-A763-9272DFD3D8C7}"/>
              </a:ext>
            </a:extLst>
          </p:cNvPr>
          <p:cNvSpPr/>
          <p:nvPr/>
        </p:nvSpPr>
        <p:spPr>
          <a:xfrm>
            <a:off x="1127241" y="4090828"/>
            <a:ext cx="1024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400" b="1" dirty="0"/>
              <a:t>Injects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4D4B48-6F9A-47FF-9E15-CC1EA7F08077}"/>
              </a:ext>
            </a:extLst>
          </p:cNvPr>
          <p:cNvSpPr/>
          <p:nvPr/>
        </p:nvSpPr>
        <p:spPr>
          <a:xfrm>
            <a:off x="7939246" y="3406963"/>
            <a:ext cx="7873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400" b="1" dirty="0"/>
              <a:t>Uses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4281298-C990-49D6-A698-13FE5F4CEA8C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 flipV="1">
            <a:off x="4947525" y="5645541"/>
            <a:ext cx="3352812" cy="473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2678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EC6C-5C3E-493D-AC90-15C6DE3D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High Level &amp; Low Level Modules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515BE-C358-4E09-813F-747F3F1CEB04}"/>
              </a:ext>
            </a:extLst>
          </p:cNvPr>
          <p:cNvSpPr/>
          <p:nvPr/>
        </p:nvSpPr>
        <p:spPr>
          <a:xfrm>
            <a:off x="336005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D529-0C8F-4C40-9575-A475D148F160}"/>
              </a:ext>
            </a:extLst>
          </p:cNvPr>
          <p:cNvSpPr/>
          <p:nvPr/>
        </p:nvSpPr>
        <p:spPr>
          <a:xfrm>
            <a:off x="666713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8BF8DA2-A359-4306-A309-6819FC27ADE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283201" y="3060794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89DC5B7-CE24-425A-A7BD-8DFD3FACB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209" y="4876804"/>
            <a:ext cx="9934133" cy="1306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Remember this slide from way back in Week 3 when we were talking about SOLID principles?</a:t>
            </a:r>
          </a:p>
          <a:p>
            <a:pPr marL="0" indent="0">
              <a:buNone/>
            </a:pPr>
            <a:r>
              <a:rPr lang="en-CA" dirty="0"/>
              <a:t>Let’s go back to this example. Here we can say that the UI is dependent on a Text File.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5BA8FC-83A1-4BBC-91B8-242D551BF0E3}"/>
              </a:ext>
            </a:extLst>
          </p:cNvPr>
          <p:cNvCxnSpPr>
            <a:cxnSpLocks/>
          </p:cNvCxnSpPr>
          <p:nvPr/>
        </p:nvCxnSpPr>
        <p:spPr>
          <a:xfrm>
            <a:off x="6667138" y="2794000"/>
            <a:ext cx="1947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490274-FD7F-41CB-9123-B527DB8023A7}"/>
              </a:ext>
            </a:extLst>
          </p:cNvPr>
          <p:cNvSpPr txBox="1"/>
          <p:nvPr/>
        </p:nvSpPr>
        <p:spPr>
          <a:xfrm>
            <a:off x="6667138" y="2382251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9ED84-A606-477E-9386-9201140EC0E0}"/>
              </a:ext>
            </a:extLst>
          </p:cNvPr>
          <p:cNvSpPr txBox="1"/>
          <p:nvPr/>
        </p:nvSpPr>
        <p:spPr>
          <a:xfrm>
            <a:off x="6691086" y="2827008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759D9F-E96F-48C1-99A9-8719A4D784AB}"/>
              </a:ext>
            </a:extLst>
          </p:cNvPr>
          <p:cNvSpPr txBox="1">
            <a:spLocks/>
          </p:cNvSpPr>
          <p:nvPr/>
        </p:nvSpPr>
        <p:spPr>
          <a:xfrm>
            <a:off x="3248019" y="4006129"/>
            <a:ext cx="2147220" cy="60311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CA" b="1" dirty="0"/>
              <a:t>High Level Module</a:t>
            </a:r>
            <a:endParaRPr lang="en-CA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4B92021-4CBB-4271-B36B-FFB97D267AB0}"/>
              </a:ext>
            </a:extLst>
          </p:cNvPr>
          <p:cNvSpPr txBox="1">
            <a:spLocks/>
          </p:cNvSpPr>
          <p:nvPr/>
        </p:nvSpPr>
        <p:spPr>
          <a:xfrm>
            <a:off x="6579047" y="3964476"/>
            <a:ext cx="2147220" cy="60311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CA" b="1" dirty="0"/>
              <a:t>Low Level Module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2673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6A81-2940-4A75-80EA-2F07EE6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 Revisited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D248-FDDB-47A1-9E28-2521191F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5238206" cy="4424437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400" dirty="0"/>
              <a:t>High-level modules should not depend on low-level modules. </a:t>
            </a:r>
            <a:r>
              <a:rPr lang="en-US" sz="3400" b="1" dirty="0"/>
              <a:t>Both should depend on abstractions</a:t>
            </a:r>
            <a:r>
              <a:rPr lang="en-US" sz="3400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400" dirty="0"/>
              <a:t>Abstractions should not depend on details. </a:t>
            </a:r>
            <a:r>
              <a:rPr lang="en-US" sz="3400" b="1" dirty="0"/>
              <a:t>Details should depend on abstractions</a:t>
            </a:r>
            <a:r>
              <a:rPr lang="en-US" sz="3400" dirty="0"/>
              <a:t>.</a:t>
            </a:r>
          </a:p>
          <a:p>
            <a:r>
              <a:rPr lang="en-US" dirty="0"/>
              <a:t>We call classes that implement details ‘Concrete Classes’. The Text File class is a concrete class. </a:t>
            </a:r>
          </a:p>
          <a:p>
            <a:r>
              <a:rPr lang="en-US" dirty="0"/>
              <a:t>Abstract classes declare an interface.</a:t>
            </a:r>
          </a:p>
          <a:p>
            <a:r>
              <a:rPr lang="en-US" dirty="0"/>
              <a:t>Concrete classes actually contain the code that implements the details of the interface.</a:t>
            </a:r>
          </a:p>
        </p:txBody>
      </p:sp>
      <p:pic>
        <p:nvPicPr>
          <p:cNvPr id="1026" name="Picture 2" descr="Image result for dependency inversion principle">
            <a:extLst>
              <a:ext uri="{FF2B5EF4-FFF2-40B4-BE49-F238E27FC236}">
                <a16:creationId xmlns:a16="http://schemas.microsoft.com/office/drawing/2014/main" id="{435ACFD8-E26F-4D86-9A30-AED25F998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" t="4048" r="4459" b="8098"/>
          <a:stretch/>
        </p:blipFill>
        <p:spPr bwMode="auto">
          <a:xfrm>
            <a:off x="6810083" y="2308634"/>
            <a:ext cx="4553156" cy="349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540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A384-4063-4C8F-9FA9-E8970736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Dependency Inversion Principle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7404-574D-4B2A-8129-FE540CDA0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19600" cy="4023360"/>
          </a:xfrm>
        </p:spPr>
        <p:txBody>
          <a:bodyPr>
            <a:normAutofit/>
          </a:bodyPr>
          <a:lstStyle/>
          <a:p>
            <a:r>
              <a:rPr lang="en-CA" dirty="0"/>
              <a:t>The </a:t>
            </a:r>
            <a:r>
              <a:rPr lang="en-CA" b="1" dirty="0"/>
              <a:t>UI class avoids direct references to the </a:t>
            </a:r>
            <a:r>
              <a:rPr lang="en-CA" b="1" dirty="0" err="1"/>
              <a:t>SQLiteDB</a:t>
            </a:r>
            <a:r>
              <a:rPr lang="en-CA" b="1" dirty="0"/>
              <a:t>, </a:t>
            </a:r>
            <a:r>
              <a:rPr lang="en-CA" b="1" dirty="0" err="1"/>
              <a:t>TextFile</a:t>
            </a:r>
            <a:r>
              <a:rPr lang="en-CA" b="1" dirty="0"/>
              <a:t> or </a:t>
            </a:r>
            <a:r>
              <a:rPr lang="en-CA" b="1" dirty="0" err="1"/>
              <a:t>JsonFile</a:t>
            </a:r>
            <a:r>
              <a:rPr lang="en-CA" b="1" dirty="0"/>
              <a:t> classes</a:t>
            </a:r>
            <a:r>
              <a:rPr lang="en-CA" dirty="0"/>
              <a:t>.</a:t>
            </a:r>
          </a:p>
          <a:p>
            <a:r>
              <a:rPr lang="en-CA" dirty="0"/>
              <a:t>It is now dependent on a </a:t>
            </a:r>
            <a:r>
              <a:rPr lang="en-CA" dirty="0" err="1"/>
              <a:t>DataSource</a:t>
            </a:r>
            <a:r>
              <a:rPr lang="en-CA" dirty="0"/>
              <a:t> Abstraction.</a:t>
            </a:r>
          </a:p>
          <a:p>
            <a:r>
              <a:rPr lang="en-CA" dirty="0"/>
              <a:t>So we met one of the requirements of Dependency Injection. In the UI class we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no longer have a hardcoded reference to any of the 3 low level modules.</a:t>
            </a:r>
          </a:p>
          <a:p>
            <a:r>
              <a:rPr lang="en-CA" dirty="0"/>
              <a:t>But if the UI class can’t instantiate an instance of the low level modules,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then how does it have access to 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01476-A3D6-426D-917F-4FBC888D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2A361-8AA9-40A6-8814-D4DCA0C2D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26776" y="2196002"/>
            <a:ext cx="5855528" cy="332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62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91EB-3242-4A5A-9BAC-CC8B8F27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Constructor 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D5445-A710-4603-BE7A-80BC032B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43" y="1845733"/>
            <a:ext cx="5059680" cy="4023360"/>
          </a:xfrm>
        </p:spPr>
        <p:txBody>
          <a:bodyPr/>
          <a:lstStyle/>
          <a:p>
            <a:r>
              <a:rPr lang="en-CA" dirty="0"/>
              <a:t>We can do this via the initializer</a:t>
            </a:r>
          </a:p>
          <a:p>
            <a:r>
              <a:rPr lang="en-CA" dirty="0"/>
              <a:t>By providing the UI class with a reference to a concrete </a:t>
            </a:r>
            <a:r>
              <a:rPr lang="en-CA" dirty="0" err="1"/>
              <a:t>DataSource</a:t>
            </a:r>
            <a:r>
              <a:rPr lang="en-CA" dirty="0"/>
              <a:t> the main method has </a:t>
            </a:r>
            <a:r>
              <a:rPr lang="en-CA" b="1" dirty="0">
                <a:solidFill>
                  <a:srgbClr val="FFC000"/>
                </a:solidFill>
              </a:rPr>
              <a:t>injected the dependency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The UI class was not responsible for importing the concrete class. It was done by an external entity.</a:t>
            </a:r>
          </a:p>
          <a:p>
            <a:r>
              <a:rPr lang="en-CA" dirty="0"/>
              <a:t>This is an example of </a:t>
            </a:r>
            <a:r>
              <a:rPr lang="en-CA" b="1" dirty="0"/>
              <a:t>Constructor Dependency Injection</a:t>
            </a:r>
            <a:r>
              <a:rPr lang="en-CA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644D2-4DE5-4809-8D7F-01612C72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21920" y="2210808"/>
            <a:ext cx="6170023" cy="32932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UI: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data_source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DataSource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data_source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data_source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data source 				</a:t>
            </a:r>
            <a:r>
              <a:rPr kumimoji="0" lang="en-US" altLang="en-US" sz="1600" b="0" i="1" u="none" strike="noStrike" cap="none" normalizeH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injected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json_file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data.json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UI(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json_file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91943" y="5579874"/>
            <a:ext cx="291503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no_dependency_injection.py</a:t>
            </a:r>
          </a:p>
          <a:p>
            <a:r>
              <a:rPr lang="en-CA" dirty="0">
                <a:solidFill>
                  <a:srgbClr val="0070C0"/>
                </a:solidFill>
              </a:rPr>
              <a:t>dependency_injection.py</a:t>
            </a:r>
          </a:p>
          <a:p>
            <a:endParaRPr lang="en-C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753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643C-7187-40D5-9CAA-91239C8C1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Factory Patterns as 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C4F40-4004-4693-BC4F-A93FB16C2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05" y="1845734"/>
            <a:ext cx="4961360" cy="4425526"/>
          </a:xfrm>
        </p:spPr>
        <p:txBody>
          <a:bodyPr anchor="t">
            <a:normAutofit/>
          </a:bodyPr>
          <a:lstStyle/>
          <a:p>
            <a:r>
              <a:rPr lang="en-CA" sz="1800" dirty="0"/>
              <a:t>The Factory Pattern is a way of implementing Dependency Injection.</a:t>
            </a:r>
          </a:p>
          <a:p>
            <a:r>
              <a:rPr lang="en-CA" sz="1800" dirty="0"/>
              <a:t>The client is dependent on a low level module. We implement the Dependency Inversion Principle by making the </a:t>
            </a:r>
            <a:r>
              <a:rPr lang="en-CA" sz="1800" dirty="0">
                <a:solidFill>
                  <a:srgbClr val="00B050"/>
                </a:solidFill>
              </a:rPr>
              <a:t>client depend on an abstract product Interface</a:t>
            </a:r>
            <a:r>
              <a:rPr lang="en-CA" sz="1800" dirty="0"/>
              <a:t> (User).</a:t>
            </a:r>
          </a:p>
          <a:p>
            <a:r>
              <a:rPr lang="en-CA" sz="1800" dirty="0"/>
              <a:t>The client then needs a way of having access to the User, so we create Factory Classes.</a:t>
            </a:r>
          </a:p>
          <a:p>
            <a:r>
              <a:rPr lang="en-CA" sz="1800" dirty="0"/>
              <a:t>The Factory classes “Inject” the client with the required dependency. </a:t>
            </a:r>
            <a:r>
              <a:rPr lang="en-CA" sz="1800" b="1" dirty="0">
                <a:solidFill>
                  <a:srgbClr val="FFC000"/>
                </a:solidFill>
              </a:rPr>
              <a:t>The Factory class is the Injector.</a:t>
            </a:r>
          </a:p>
          <a:p>
            <a:r>
              <a:rPr lang="en-CA" sz="1800" dirty="0"/>
              <a:t>In this example, the Forum Website is dependent on concrete users. The </a:t>
            </a:r>
            <a:r>
              <a:rPr lang="en-CA" sz="1800" b="1" dirty="0" err="1"/>
              <a:t>UserFactory</a:t>
            </a:r>
            <a:r>
              <a:rPr lang="en-CA" sz="1800" b="1" dirty="0"/>
              <a:t> injects the </a:t>
            </a:r>
            <a:r>
              <a:rPr lang="en-CA" sz="1800" b="1" dirty="0" err="1"/>
              <a:t>ForumWebsite</a:t>
            </a:r>
            <a:r>
              <a:rPr lang="en-CA" sz="1800" b="1" dirty="0"/>
              <a:t> with the right kind of user</a:t>
            </a:r>
            <a:r>
              <a:rPr lang="en-CA" sz="18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2DDCE-6F22-4541-AF89-3DB2E21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B9C27-6126-45C7-BDD7-3A178FA4C1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68472" y="2009880"/>
            <a:ext cx="6255888" cy="4354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38D1D3-17C0-487E-8320-8599F84B75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10519410" y="5232824"/>
            <a:ext cx="620036" cy="538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FB5B6-5E2A-473C-A196-0F25A4C0F8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9524367" y="5217314"/>
            <a:ext cx="620036" cy="538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12C022-298B-49A1-95D4-4320C7C349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3111"/>
          <a:stretch/>
        </p:blipFill>
        <p:spPr>
          <a:xfrm>
            <a:off x="11139860" y="3288150"/>
            <a:ext cx="620036" cy="538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B6D1F9-78CA-4A91-8D64-1B0D9C51AB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6159"/>
          <a:stretch/>
        </p:blipFill>
        <p:spPr>
          <a:xfrm>
            <a:off x="8058787" y="2009880"/>
            <a:ext cx="824228" cy="691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94D0B4-4CF7-455B-B8A8-34A25D37463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6173014" y="3598531"/>
            <a:ext cx="771247" cy="651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C3A5CA-0685-418B-AEBD-02005AF9D5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5277309" y="5160794"/>
            <a:ext cx="771247" cy="6517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DF17C3-F484-4C2B-8186-4C8BD3729DE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5490"/>
          <a:stretch/>
        </p:blipFill>
        <p:spPr>
          <a:xfrm>
            <a:off x="6815687" y="5217313"/>
            <a:ext cx="771247" cy="65178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34385" y="1777705"/>
            <a:ext cx="2320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forum_user_factory.py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7989455" y="2613891"/>
            <a:ext cx="1644072" cy="378691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8427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6291-1F41-4920-AFF6-E7F03B6D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 Pattern:</a:t>
            </a:r>
            <a:br>
              <a:rPr lang="en-CA" dirty="0"/>
            </a:br>
            <a:r>
              <a:rPr lang="en-CA" dirty="0"/>
              <a:t>Why and When do we use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55CF-6D80-42A3-BED1-AEB9807D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82752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When you want to get rid of ugly </a:t>
            </a:r>
            <a:r>
              <a:rPr lang="en-CA" dirty="0" err="1"/>
              <a:t>init</a:t>
            </a:r>
            <a:r>
              <a:rPr lang="en-CA" dirty="0"/>
              <a:t> methods in Python or the numerous constructors you may need in other languages </a:t>
            </a:r>
            <a:br>
              <a:rPr lang="en-CA" dirty="0"/>
            </a:br>
            <a:endParaRPr lang="en-CA" dirty="0"/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When a product is built out of many parts that can be mixed and matched. This allows you to build variations while (possibly) avoiding inheritance hierarchies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Single Responsibility Principle comes to life as we separate construction logic from the product logic. That is, we decouple complex construction logic from the product.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3C96B-9D12-4AC2-8A70-0B28D8AF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69261D06-0803-4114-9BF2-22B795EB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908" y="2504864"/>
            <a:ext cx="28575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1450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D6A3-EC0E-4CD5-9C94-A7DA4216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Builder Pattern –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73D0-B777-4765-B27E-01083BEEB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33607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Code complexity increases as we introduce more classes.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Does not work well for products that cannot be broken down into independent parts.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43D81-FAA8-4C11-BD23-55827454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5" name="Picture 4" descr="Related image">
            <a:extLst>
              <a:ext uri="{FF2B5EF4-FFF2-40B4-BE49-F238E27FC236}">
                <a16:creationId xmlns:a16="http://schemas.microsoft.com/office/drawing/2014/main" id="{8FB8C510-DC60-4615-97A5-4D2E27906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0" y="2536372"/>
            <a:ext cx="3062514" cy="298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3957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20229</TotalTime>
  <Words>3154</Words>
  <Application>Microsoft Office PowerPoint</Application>
  <PresentationFormat>Widescreen</PresentationFormat>
  <Paragraphs>310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Unicode MS</vt:lpstr>
      <vt:lpstr>Calibri</vt:lpstr>
      <vt:lpstr>Calibri Light</vt:lpstr>
      <vt:lpstr>Consolas</vt:lpstr>
      <vt:lpstr>Courier New</vt:lpstr>
      <vt:lpstr>Wingdings</vt:lpstr>
      <vt:lpstr>Retrospect</vt:lpstr>
      <vt:lpstr>Creational Pattern:Builder Behavioral Pattern: Mediator  and Dependency Injection</vt:lpstr>
      <vt:lpstr>Builder</vt:lpstr>
      <vt:lpstr>Builder</vt:lpstr>
      <vt:lpstr>Builder</vt:lpstr>
      <vt:lpstr>Builder</vt:lpstr>
      <vt:lpstr>Builders and Variations</vt:lpstr>
      <vt:lpstr>Builder and Director</vt:lpstr>
      <vt:lpstr>Builder Pattern: UML</vt:lpstr>
      <vt:lpstr>Builder Pattern</vt:lpstr>
      <vt:lpstr>Mediator and Dependency Injection</vt:lpstr>
      <vt:lpstr>Last Class</vt:lpstr>
      <vt:lpstr>Categorizing Design Patterns</vt:lpstr>
      <vt:lpstr>Mediator</vt:lpstr>
      <vt:lpstr>Mediator – The Problem.</vt:lpstr>
      <vt:lpstr>Mediator – An Example</vt:lpstr>
      <vt:lpstr>Mediator – An Example Person finder</vt:lpstr>
      <vt:lpstr>Mediator – An Example Person finder</vt:lpstr>
      <vt:lpstr>Mediator – An Example Person finder</vt:lpstr>
      <vt:lpstr>Mediator – An Example Person finder</vt:lpstr>
      <vt:lpstr>Mediator – An Example</vt:lpstr>
      <vt:lpstr>Mediator – An Example</vt:lpstr>
      <vt:lpstr>Mediator – The solution</vt:lpstr>
      <vt:lpstr>Mediator UML</vt:lpstr>
      <vt:lpstr>Mediator</vt:lpstr>
      <vt:lpstr>Some important tidbits.</vt:lpstr>
      <vt:lpstr>Mediator: Why and When do we use it</vt:lpstr>
      <vt:lpstr>Mediator – Disadvantages</vt:lpstr>
      <vt:lpstr>Dependency Injection</vt:lpstr>
      <vt:lpstr>Dependency Injection</vt:lpstr>
      <vt:lpstr>Dependency Injection – Concept</vt:lpstr>
      <vt:lpstr>Dependency Injection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RECAP: High Level &amp; Low Level Modules</vt:lpstr>
      <vt:lpstr>Dependency Inversion Principle Revisited</vt:lpstr>
      <vt:lpstr>Dependency Inversion Principle Revisited</vt:lpstr>
      <vt:lpstr>Constructor Dependency Injection</vt:lpstr>
      <vt:lpstr>Factory Patterns as Dependency Injection</vt:lpstr>
      <vt:lpstr>Builder Pattern: Why and When do we use it</vt:lpstr>
      <vt:lpstr>Builder Pattern – Disadvantages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Generators</dc:title>
  <dc:creator>Rahul Kukreja</dc:creator>
  <cp:lastModifiedBy>Nabil Al-Rousan</cp:lastModifiedBy>
  <cp:revision>312</cp:revision>
  <cp:lastPrinted>2019-10-07T18:15:39Z</cp:lastPrinted>
  <dcterms:created xsi:type="dcterms:W3CDTF">2019-10-07T17:34:24Z</dcterms:created>
  <dcterms:modified xsi:type="dcterms:W3CDTF">2025-11-20T20:38:29Z</dcterms:modified>
</cp:coreProperties>
</file>