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2"/>
  </p:notesMasterIdLst>
  <p:sldIdLst>
    <p:sldId id="256" r:id="rId2"/>
    <p:sldId id="1441" r:id="rId3"/>
    <p:sldId id="1472" r:id="rId4"/>
    <p:sldId id="1532" r:id="rId5"/>
    <p:sldId id="1503" r:id="rId6"/>
    <p:sldId id="1507" r:id="rId7"/>
    <p:sldId id="1356" r:id="rId8"/>
    <p:sldId id="1357" r:id="rId9"/>
    <p:sldId id="1508" r:id="rId10"/>
    <p:sldId id="1522" r:id="rId11"/>
    <p:sldId id="1521" r:id="rId12"/>
    <p:sldId id="1526" r:id="rId13"/>
    <p:sldId id="1525" r:id="rId14"/>
    <p:sldId id="1527" r:id="rId15"/>
    <p:sldId id="1523" r:id="rId16"/>
    <p:sldId id="1509" r:id="rId17"/>
    <p:sldId id="1510" r:id="rId18"/>
    <p:sldId id="1545" r:id="rId19"/>
    <p:sldId id="1511" r:id="rId20"/>
    <p:sldId id="1512" r:id="rId21"/>
    <p:sldId id="1548" r:id="rId22"/>
    <p:sldId id="1514" r:id="rId23"/>
    <p:sldId id="1515" r:id="rId24"/>
    <p:sldId id="1517" r:id="rId25"/>
    <p:sldId id="1528" r:id="rId26"/>
    <p:sldId id="1518" r:id="rId27"/>
    <p:sldId id="1533" r:id="rId28"/>
    <p:sldId id="1534" r:id="rId29"/>
    <p:sldId id="1535" r:id="rId30"/>
    <p:sldId id="1538" r:id="rId31"/>
    <p:sldId id="1513" r:id="rId32"/>
    <p:sldId id="1536" r:id="rId33"/>
    <p:sldId id="1539" r:id="rId34"/>
    <p:sldId id="1531" r:id="rId35"/>
    <p:sldId id="1540" r:id="rId36"/>
    <p:sldId id="1541" r:id="rId37"/>
    <p:sldId id="1542" r:id="rId38"/>
    <p:sldId id="1543" r:id="rId39"/>
    <p:sldId id="1549" r:id="rId40"/>
    <p:sldId id="1550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C52B1B-8552-4EA8-9F30-F71A1F646BFC}">
          <p14:sldIdLst>
            <p14:sldId id="256"/>
            <p14:sldId id="1441"/>
            <p14:sldId id="1472"/>
            <p14:sldId id="1532"/>
            <p14:sldId id="1503"/>
            <p14:sldId id="1507"/>
            <p14:sldId id="1356"/>
            <p14:sldId id="1357"/>
            <p14:sldId id="1508"/>
            <p14:sldId id="1522"/>
            <p14:sldId id="1521"/>
            <p14:sldId id="1526"/>
            <p14:sldId id="1525"/>
            <p14:sldId id="1527"/>
            <p14:sldId id="1523"/>
            <p14:sldId id="1509"/>
            <p14:sldId id="1510"/>
            <p14:sldId id="1545"/>
            <p14:sldId id="1511"/>
            <p14:sldId id="1512"/>
            <p14:sldId id="1548"/>
            <p14:sldId id="1514"/>
            <p14:sldId id="1515"/>
            <p14:sldId id="1517"/>
            <p14:sldId id="1528"/>
            <p14:sldId id="1518"/>
            <p14:sldId id="1533"/>
            <p14:sldId id="1534"/>
            <p14:sldId id="1535"/>
            <p14:sldId id="1538"/>
            <p14:sldId id="1513"/>
            <p14:sldId id="1536"/>
            <p14:sldId id="1539"/>
            <p14:sldId id="1531"/>
            <p14:sldId id="1540"/>
            <p14:sldId id="1541"/>
            <p14:sldId id="1542"/>
            <p14:sldId id="1543"/>
            <p14:sldId id="1549"/>
            <p14:sldId id="15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3611"/>
    <a:srgbClr val="D34817"/>
    <a:srgbClr val="9933FF"/>
    <a:srgbClr val="F7F7F7"/>
    <a:srgbClr val="FF66CC"/>
    <a:srgbClr val="CB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5" autoAdjust="0"/>
    <p:restoredTop sz="95332" autoAdjust="0"/>
  </p:normalViewPr>
  <p:slideViewPr>
    <p:cSldViewPr snapToGrid="0">
      <p:cViewPr varScale="1">
        <p:scale>
          <a:sx n="86" d="100"/>
          <a:sy n="86" d="100"/>
        </p:scale>
        <p:origin x="6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C08F4E-E8FF-4845-B4BB-71CB877BB14A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B9B4E7D5-4AC6-4408-90B1-092B9291AF86}">
      <dgm:prSet/>
      <dgm:spPr/>
      <dgm:t>
        <a:bodyPr/>
        <a:lstStyle/>
        <a:p>
          <a:r>
            <a:rPr lang="en-CA" dirty="0"/>
            <a:t>Factory (Also known as Factory Method)</a:t>
          </a:r>
        </a:p>
      </dgm:t>
    </dgm:pt>
    <dgm:pt modelId="{AD37A8EA-139C-482D-BDE2-64137CF2E32D}" type="parTrans" cxnId="{754807BE-8405-4C3C-9CF6-D43D0768CFE1}">
      <dgm:prSet/>
      <dgm:spPr/>
      <dgm:t>
        <a:bodyPr/>
        <a:lstStyle/>
        <a:p>
          <a:endParaRPr lang="en-CA"/>
        </a:p>
      </dgm:t>
    </dgm:pt>
    <dgm:pt modelId="{E3831EA2-AE51-414B-9F3C-E18CC525398E}" type="sibTrans" cxnId="{754807BE-8405-4C3C-9CF6-D43D0768CFE1}">
      <dgm:prSet/>
      <dgm:spPr/>
      <dgm:t>
        <a:bodyPr/>
        <a:lstStyle/>
        <a:p>
          <a:endParaRPr lang="en-CA"/>
        </a:p>
      </dgm:t>
    </dgm:pt>
    <dgm:pt modelId="{AE3BC04E-47A9-4369-91B1-6D705093DE36}">
      <dgm:prSet/>
      <dgm:spPr/>
      <dgm:t>
        <a:bodyPr/>
        <a:lstStyle/>
        <a:p>
          <a:r>
            <a:rPr lang="en-CA" dirty="0"/>
            <a:t>When you want to separate creation code from client code.</a:t>
          </a:r>
        </a:p>
      </dgm:t>
    </dgm:pt>
    <dgm:pt modelId="{B9EAB1DA-F3B1-465D-B3A5-8F3B5ABE3DE3}" type="parTrans" cxnId="{591E9176-0AF6-447C-A5F0-45576364A82B}">
      <dgm:prSet/>
      <dgm:spPr/>
      <dgm:t>
        <a:bodyPr/>
        <a:lstStyle/>
        <a:p>
          <a:endParaRPr lang="en-CA"/>
        </a:p>
      </dgm:t>
    </dgm:pt>
    <dgm:pt modelId="{AE0030A5-2623-4417-A51D-5DDEDE3BA303}" type="sibTrans" cxnId="{591E9176-0AF6-447C-A5F0-45576364A82B}">
      <dgm:prSet/>
      <dgm:spPr/>
      <dgm:t>
        <a:bodyPr/>
        <a:lstStyle/>
        <a:p>
          <a:endParaRPr lang="en-CA"/>
        </a:p>
      </dgm:t>
    </dgm:pt>
    <dgm:pt modelId="{C520BA9A-AA7A-4AD5-8FEF-93E4C6B633F4}">
      <dgm:prSet/>
      <dgm:spPr/>
      <dgm:t>
        <a:bodyPr/>
        <a:lstStyle/>
        <a:p>
          <a:r>
            <a:rPr lang="en-CA" dirty="0"/>
            <a:t>Abstract Factory</a:t>
          </a:r>
        </a:p>
      </dgm:t>
    </dgm:pt>
    <dgm:pt modelId="{DD548081-1294-4EE6-BBA2-65F8D6B43E00}" type="parTrans" cxnId="{EC2CAD81-0504-4451-BDDE-DC54F05D0ACA}">
      <dgm:prSet/>
      <dgm:spPr/>
      <dgm:t>
        <a:bodyPr/>
        <a:lstStyle/>
        <a:p>
          <a:endParaRPr lang="en-CA"/>
        </a:p>
      </dgm:t>
    </dgm:pt>
    <dgm:pt modelId="{864E4729-7B5F-4BAB-BD6B-B01CE6B639DC}" type="sibTrans" cxnId="{EC2CAD81-0504-4451-BDDE-DC54F05D0ACA}">
      <dgm:prSet/>
      <dgm:spPr/>
      <dgm:t>
        <a:bodyPr/>
        <a:lstStyle/>
        <a:p>
          <a:endParaRPr lang="en-CA"/>
        </a:p>
      </dgm:t>
    </dgm:pt>
    <dgm:pt modelId="{123BAC00-0224-475F-BCA6-60B7F289E378}">
      <dgm:prSet/>
      <dgm:spPr/>
      <dgm:t>
        <a:bodyPr/>
        <a:lstStyle/>
        <a:p>
          <a:r>
            <a:rPr lang="en-CA" dirty="0"/>
            <a:t>A more evolved form of the Factory Pattern</a:t>
          </a:r>
        </a:p>
      </dgm:t>
    </dgm:pt>
    <dgm:pt modelId="{A58881DB-B806-4685-9D5A-DBF09F1BBE47}" type="parTrans" cxnId="{65DA8A9C-40C4-4437-9547-1853C58A8489}">
      <dgm:prSet/>
      <dgm:spPr/>
      <dgm:t>
        <a:bodyPr/>
        <a:lstStyle/>
        <a:p>
          <a:endParaRPr lang="en-CA"/>
        </a:p>
      </dgm:t>
    </dgm:pt>
    <dgm:pt modelId="{240551CC-D46B-4876-A76A-41E62C37D06A}" type="sibTrans" cxnId="{65DA8A9C-40C4-4437-9547-1853C58A8489}">
      <dgm:prSet/>
      <dgm:spPr/>
      <dgm:t>
        <a:bodyPr/>
        <a:lstStyle/>
        <a:p>
          <a:endParaRPr lang="en-CA"/>
        </a:p>
      </dgm:t>
    </dgm:pt>
    <dgm:pt modelId="{8F0AC79D-CACD-4DD5-B046-C70D2473287A}">
      <dgm:prSet/>
      <dgm:spPr/>
      <dgm:t>
        <a:bodyPr/>
        <a:lstStyle/>
        <a:p>
          <a:r>
            <a:rPr lang="en-CA" dirty="0"/>
            <a:t>When you want a client or service to only depend on a base class for object creation and not each concrete class.</a:t>
          </a:r>
        </a:p>
      </dgm:t>
    </dgm:pt>
    <dgm:pt modelId="{AF2FEDE7-29EA-4BEC-B017-DDBE430DA886}" type="parTrans" cxnId="{940EEF4A-9BE9-4F10-956E-5FB90620B778}">
      <dgm:prSet/>
      <dgm:spPr/>
      <dgm:t>
        <a:bodyPr/>
        <a:lstStyle/>
        <a:p>
          <a:endParaRPr lang="en-CA"/>
        </a:p>
      </dgm:t>
    </dgm:pt>
    <dgm:pt modelId="{F34BD9A0-82F2-4EBC-8023-DE7BB0A8D6DF}" type="sibTrans" cxnId="{940EEF4A-9BE9-4F10-956E-5FB90620B778}">
      <dgm:prSet/>
      <dgm:spPr/>
      <dgm:t>
        <a:bodyPr/>
        <a:lstStyle/>
        <a:p>
          <a:endParaRPr lang="en-CA"/>
        </a:p>
      </dgm:t>
    </dgm:pt>
    <dgm:pt modelId="{421B0C3A-D640-4422-92A0-33F52E92D6C5}">
      <dgm:prSet/>
      <dgm:spPr/>
      <dgm:t>
        <a:bodyPr/>
        <a:lstStyle/>
        <a:p>
          <a:r>
            <a:rPr lang="en-CA" dirty="0"/>
            <a:t>Allows for the creation of a group of related objects .</a:t>
          </a:r>
        </a:p>
      </dgm:t>
    </dgm:pt>
    <dgm:pt modelId="{99533042-02FF-47A9-923C-56007A155ADF}" type="parTrans" cxnId="{64894785-4B62-4E89-A76A-15017DCACF1D}">
      <dgm:prSet/>
      <dgm:spPr/>
      <dgm:t>
        <a:bodyPr/>
        <a:lstStyle/>
        <a:p>
          <a:endParaRPr lang="en-CA"/>
        </a:p>
      </dgm:t>
    </dgm:pt>
    <dgm:pt modelId="{517337B8-10DA-4C5C-9449-F6076E2B4FA0}" type="sibTrans" cxnId="{64894785-4B62-4E89-A76A-15017DCACF1D}">
      <dgm:prSet/>
      <dgm:spPr/>
      <dgm:t>
        <a:bodyPr/>
        <a:lstStyle/>
        <a:p>
          <a:endParaRPr lang="en-CA"/>
        </a:p>
      </dgm:t>
    </dgm:pt>
    <dgm:pt modelId="{42B37143-EAF0-4D92-8590-06189B5D67F1}">
      <dgm:prSet/>
      <dgm:spPr/>
      <dgm:t>
        <a:bodyPr/>
        <a:lstStyle/>
        <a:p>
          <a:r>
            <a:rPr lang="en-CA" dirty="0"/>
            <a:t>When you want to create different variants of families of objects.</a:t>
          </a:r>
        </a:p>
      </dgm:t>
    </dgm:pt>
    <dgm:pt modelId="{4D49D5E9-96FE-4188-9D64-490788E7926D}" type="parTrans" cxnId="{3437F510-7929-463E-9DAA-719704888BB3}">
      <dgm:prSet/>
      <dgm:spPr/>
      <dgm:t>
        <a:bodyPr/>
        <a:lstStyle/>
        <a:p>
          <a:endParaRPr lang="en-CA"/>
        </a:p>
      </dgm:t>
    </dgm:pt>
    <dgm:pt modelId="{BAC97F6F-F564-4792-A801-9B2A7310526B}" type="sibTrans" cxnId="{3437F510-7929-463E-9DAA-719704888BB3}">
      <dgm:prSet/>
      <dgm:spPr/>
      <dgm:t>
        <a:bodyPr/>
        <a:lstStyle/>
        <a:p>
          <a:endParaRPr lang="en-CA"/>
        </a:p>
      </dgm:t>
    </dgm:pt>
    <dgm:pt modelId="{B62C9AC6-C4B0-4A9E-8316-AC206E90005A}" type="pres">
      <dgm:prSet presAssocID="{06C08F4E-E8FF-4845-B4BB-71CB877BB14A}" presName="linear" presStyleCnt="0">
        <dgm:presLayoutVars>
          <dgm:animLvl val="lvl"/>
          <dgm:resizeHandles val="exact"/>
        </dgm:presLayoutVars>
      </dgm:prSet>
      <dgm:spPr/>
    </dgm:pt>
    <dgm:pt modelId="{6F42681B-42AF-40FC-9C90-224D034701F2}" type="pres">
      <dgm:prSet presAssocID="{B9B4E7D5-4AC6-4408-90B1-092B9291AF8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726A87D-758E-4269-BD09-5133F2C7ED63}" type="pres">
      <dgm:prSet presAssocID="{B9B4E7D5-4AC6-4408-90B1-092B9291AF86}" presName="childText" presStyleLbl="revTx" presStyleIdx="0" presStyleCnt="2">
        <dgm:presLayoutVars>
          <dgm:bulletEnabled val="1"/>
        </dgm:presLayoutVars>
      </dgm:prSet>
      <dgm:spPr/>
    </dgm:pt>
    <dgm:pt modelId="{8F87EE7B-3D2D-468C-8631-22206C4AC68B}" type="pres">
      <dgm:prSet presAssocID="{C520BA9A-AA7A-4AD5-8FEF-93E4C6B633F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ACC086D-78D3-448E-A298-4DB718723E3F}" type="pres">
      <dgm:prSet presAssocID="{C520BA9A-AA7A-4AD5-8FEF-93E4C6B633F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437F510-7929-463E-9DAA-719704888BB3}" srcId="{C520BA9A-AA7A-4AD5-8FEF-93E4C6B633F4}" destId="{42B37143-EAF0-4D92-8590-06189B5D67F1}" srcOrd="2" destOrd="0" parTransId="{4D49D5E9-96FE-4188-9D64-490788E7926D}" sibTransId="{BAC97F6F-F564-4792-A801-9B2A7310526B}"/>
    <dgm:cxn modelId="{693B8012-84C5-4822-8D10-534E46ACBE39}" type="presOf" srcId="{123BAC00-0224-475F-BCA6-60B7F289E378}" destId="{8ACC086D-78D3-448E-A298-4DB718723E3F}" srcOrd="0" destOrd="0" presId="urn:microsoft.com/office/officeart/2005/8/layout/vList2"/>
    <dgm:cxn modelId="{9F2FD01A-0327-498C-8F89-4F50477F3AB6}" type="presOf" srcId="{421B0C3A-D640-4422-92A0-33F52E92D6C5}" destId="{8ACC086D-78D3-448E-A298-4DB718723E3F}" srcOrd="0" destOrd="1" presId="urn:microsoft.com/office/officeart/2005/8/layout/vList2"/>
    <dgm:cxn modelId="{98C6ED2C-B036-4391-8FDF-8D347A208E02}" type="presOf" srcId="{AE3BC04E-47A9-4369-91B1-6D705093DE36}" destId="{3726A87D-758E-4269-BD09-5133F2C7ED63}" srcOrd="0" destOrd="0" presId="urn:microsoft.com/office/officeart/2005/8/layout/vList2"/>
    <dgm:cxn modelId="{46BAAA3F-EB67-4E3E-AEF2-A42B98562276}" type="presOf" srcId="{8F0AC79D-CACD-4DD5-B046-C70D2473287A}" destId="{3726A87D-758E-4269-BD09-5133F2C7ED63}" srcOrd="0" destOrd="1" presId="urn:microsoft.com/office/officeart/2005/8/layout/vList2"/>
    <dgm:cxn modelId="{940EEF4A-9BE9-4F10-956E-5FB90620B778}" srcId="{B9B4E7D5-4AC6-4408-90B1-092B9291AF86}" destId="{8F0AC79D-CACD-4DD5-B046-C70D2473287A}" srcOrd="1" destOrd="0" parTransId="{AF2FEDE7-29EA-4BEC-B017-DDBE430DA886}" sibTransId="{F34BD9A0-82F2-4EBC-8023-DE7BB0A8D6DF}"/>
    <dgm:cxn modelId="{591E9176-0AF6-447C-A5F0-45576364A82B}" srcId="{B9B4E7D5-4AC6-4408-90B1-092B9291AF86}" destId="{AE3BC04E-47A9-4369-91B1-6D705093DE36}" srcOrd="0" destOrd="0" parTransId="{B9EAB1DA-F3B1-465D-B3A5-8F3B5ABE3DE3}" sibTransId="{AE0030A5-2623-4417-A51D-5DDEDE3BA303}"/>
    <dgm:cxn modelId="{EC2CAD81-0504-4451-BDDE-DC54F05D0ACA}" srcId="{06C08F4E-E8FF-4845-B4BB-71CB877BB14A}" destId="{C520BA9A-AA7A-4AD5-8FEF-93E4C6B633F4}" srcOrd="1" destOrd="0" parTransId="{DD548081-1294-4EE6-BBA2-65F8D6B43E00}" sibTransId="{864E4729-7B5F-4BAB-BD6B-B01CE6B639DC}"/>
    <dgm:cxn modelId="{64894785-4B62-4E89-A76A-15017DCACF1D}" srcId="{C520BA9A-AA7A-4AD5-8FEF-93E4C6B633F4}" destId="{421B0C3A-D640-4422-92A0-33F52E92D6C5}" srcOrd="1" destOrd="0" parTransId="{99533042-02FF-47A9-923C-56007A155ADF}" sibTransId="{517337B8-10DA-4C5C-9449-F6076E2B4FA0}"/>
    <dgm:cxn modelId="{4996D88B-5713-4CA2-AA53-EF8928110453}" type="presOf" srcId="{42B37143-EAF0-4D92-8590-06189B5D67F1}" destId="{8ACC086D-78D3-448E-A298-4DB718723E3F}" srcOrd="0" destOrd="2" presId="urn:microsoft.com/office/officeart/2005/8/layout/vList2"/>
    <dgm:cxn modelId="{65DA8A9C-40C4-4437-9547-1853C58A8489}" srcId="{C520BA9A-AA7A-4AD5-8FEF-93E4C6B633F4}" destId="{123BAC00-0224-475F-BCA6-60B7F289E378}" srcOrd="0" destOrd="0" parTransId="{A58881DB-B806-4685-9D5A-DBF09F1BBE47}" sibTransId="{240551CC-D46B-4876-A76A-41E62C37D06A}"/>
    <dgm:cxn modelId="{7B983CB4-E679-4CB1-B579-70D912029204}" type="presOf" srcId="{B9B4E7D5-4AC6-4408-90B1-092B9291AF86}" destId="{6F42681B-42AF-40FC-9C90-224D034701F2}" srcOrd="0" destOrd="0" presId="urn:microsoft.com/office/officeart/2005/8/layout/vList2"/>
    <dgm:cxn modelId="{754807BE-8405-4C3C-9CF6-D43D0768CFE1}" srcId="{06C08F4E-E8FF-4845-B4BB-71CB877BB14A}" destId="{B9B4E7D5-4AC6-4408-90B1-092B9291AF86}" srcOrd="0" destOrd="0" parTransId="{AD37A8EA-139C-482D-BDE2-64137CF2E32D}" sibTransId="{E3831EA2-AE51-414B-9F3C-E18CC525398E}"/>
    <dgm:cxn modelId="{2C7610E6-D40C-4E98-B576-820BDB4146CD}" type="presOf" srcId="{06C08F4E-E8FF-4845-B4BB-71CB877BB14A}" destId="{B62C9AC6-C4B0-4A9E-8316-AC206E90005A}" srcOrd="0" destOrd="0" presId="urn:microsoft.com/office/officeart/2005/8/layout/vList2"/>
    <dgm:cxn modelId="{E13516FD-2811-4FB5-93EB-EE086B02B43E}" type="presOf" srcId="{C520BA9A-AA7A-4AD5-8FEF-93E4C6B633F4}" destId="{8F87EE7B-3D2D-468C-8631-22206C4AC68B}" srcOrd="0" destOrd="0" presId="urn:microsoft.com/office/officeart/2005/8/layout/vList2"/>
    <dgm:cxn modelId="{2575C45E-BBC3-4F99-8A02-5ABB8EAB264C}" type="presParOf" srcId="{B62C9AC6-C4B0-4A9E-8316-AC206E90005A}" destId="{6F42681B-42AF-40FC-9C90-224D034701F2}" srcOrd="0" destOrd="0" presId="urn:microsoft.com/office/officeart/2005/8/layout/vList2"/>
    <dgm:cxn modelId="{1EC545AA-942A-49CA-AD67-C9D23C026D83}" type="presParOf" srcId="{B62C9AC6-C4B0-4A9E-8316-AC206E90005A}" destId="{3726A87D-758E-4269-BD09-5133F2C7ED63}" srcOrd="1" destOrd="0" presId="urn:microsoft.com/office/officeart/2005/8/layout/vList2"/>
    <dgm:cxn modelId="{59FAE143-E216-4435-8903-CD1DFC07E14F}" type="presParOf" srcId="{B62C9AC6-C4B0-4A9E-8316-AC206E90005A}" destId="{8F87EE7B-3D2D-468C-8631-22206C4AC68B}" srcOrd="2" destOrd="0" presId="urn:microsoft.com/office/officeart/2005/8/layout/vList2"/>
    <dgm:cxn modelId="{F5C78A86-03FB-4069-ABEC-8703B8A57A7A}" type="presParOf" srcId="{B62C9AC6-C4B0-4A9E-8316-AC206E90005A}" destId="{8ACC086D-78D3-448E-A298-4DB718723E3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42681B-42AF-40FC-9C90-224D034701F2}">
      <dsp:nvSpPr>
        <dsp:cNvPr id="0" name=""/>
        <dsp:cNvSpPr/>
      </dsp:nvSpPr>
      <dsp:spPr>
        <a:xfrm>
          <a:off x="0" y="48915"/>
          <a:ext cx="10058399" cy="74353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 dirty="0"/>
            <a:t>Factory (Also known as Factory Method)</a:t>
          </a:r>
        </a:p>
      </dsp:txBody>
      <dsp:txXfrm>
        <a:off x="36296" y="85211"/>
        <a:ext cx="9985807" cy="670943"/>
      </dsp:txXfrm>
    </dsp:sp>
    <dsp:sp modelId="{3726A87D-758E-4269-BD09-5133F2C7ED63}">
      <dsp:nvSpPr>
        <dsp:cNvPr id="0" name=""/>
        <dsp:cNvSpPr/>
      </dsp:nvSpPr>
      <dsp:spPr>
        <a:xfrm>
          <a:off x="0" y="792450"/>
          <a:ext cx="10058399" cy="118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 dirty="0"/>
            <a:t>When you want to separate creation code from client code.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 dirty="0"/>
            <a:t>When you want a client or service to only depend on a base class for object creation and not each concrete class.</a:t>
          </a:r>
        </a:p>
      </dsp:txBody>
      <dsp:txXfrm>
        <a:off x="0" y="792450"/>
        <a:ext cx="10058399" cy="1187145"/>
      </dsp:txXfrm>
    </dsp:sp>
    <dsp:sp modelId="{8F87EE7B-3D2D-468C-8631-22206C4AC68B}">
      <dsp:nvSpPr>
        <dsp:cNvPr id="0" name=""/>
        <dsp:cNvSpPr/>
      </dsp:nvSpPr>
      <dsp:spPr>
        <a:xfrm>
          <a:off x="0" y="1979595"/>
          <a:ext cx="10058399" cy="74353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 dirty="0"/>
            <a:t>Abstract Factory</a:t>
          </a:r>
        </a:p>
      </dsp:txBody>
      <dsp:txXfrm>
        <a:off x="36296" y="2015891"/>
        <a:ext cx="9985807" cy="670943"/>
      </dsp:txXfrm>
    </dsp:sp>
    <dsp:sp modelId="{8ACC086D-78D3-448E-A298-4DB718723E3F}">
      <dsp:nvSpPr>
        <dsp:cNvPr id="0" name=""/>
        <dsp:cNvSpPr/>
      </dsp:nvSpPr>
      <dsp:spPr>
        <a:xfrm>
          <a:off x="0" y="2723130"/>
          <a:ext cx="10058399" cy="12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 dirty="0"/>
            <a:t>A more evolved form of the Factory Pattern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 dirty="0"/>
            <a:t>Allows for the creation of a group of related objects 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 dirty="0"/>
            <a:t>When you want to create different variants of families of objects.</a:t>
          </a:r>
        </a:p>
      </dsp:txBody>
      <dsp:txXfrm>
        <a:off x="0" y="2723130"/>
        <a:ext cx="10058399" cy="12513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7FE11-279C-4A31-AF18-49445EF40DF0}" type="datetimeFigureOut">
              <a:rPr lang="en-CA" smtClean="0"/>
              <a:t>2023-02-27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69246-A70B-4C9F-A67E-C2E21AFF71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205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6611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4061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Creation method</a:t>
            </a:r>
            <a:r>
              <a:rPr lang="en-CA" baseline="0" dirty="0"/>
              <a:t> is a method/function that creates an object</a:t>
            </a:r>
          </a:p>
          <a:p>
            <a:r>
              <a:rPr lang="en-CA" baseline="0" dirty="0"/>
              <a:t>Though it’s different from a constructor</a:t>
            </a:r>
          </a:p>
          <a:p>
            <a:r>
              <a:rPr lang="en-CA" baseline="0" dirty="0"/>
              <a:t>See in the code below that </a:t>
            </a:r>
            <a:r>
              <a:rPr lang="en-CA" baseline="0" dirty="0" err="1"/>
              <a:t>generate_ranom_asteroid</a:t>
            </a:r>
            <a:r>
              <a:rPr lang="en-CA" baseline="0" dirty="0"/>
              <a:t> is a static creation method that wraps around a construction call</a:t>
            </a:r>
          </a:p>
          <a:p>
            <a:r>
              <a:rPr lang="en-CA" baseline="0" dirty="0"/>
              <a:t>In fact creation methods don’t have to create at all, they must just return a cached or re-used object from a collection</a:t>
            </a:r>
          </a:p>
          <a:p>
            <a:r>
              <a:rPr lang="en-CA" baseline="0" dirty="0"/>
              <a:t>Resist the urge to call creation methods factory methods just because it can be confused with the factory pattern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9392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3037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9332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9294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2207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baseline="0" dirty="0"/>
              <a:t>Object creation is separated from object use</a:t>
            </a:r>
            <a:endParaRPr lang="en-CA" dirty="0"/>
          </a:p>
          <a:p>
            <a:r>
              <a:rPr lang="en-CA" dirty="0"/>
              <a:t>Every</a:t>
            </a:r>
            <a:r>
              <a:rPr lang="en-CA" baseline="0" dirty="0"/>
              <a:t> separate object has its own unique subclass </a:t>
            </a:r>
          </a:p>
          <a:p>
            <a:r>
              <a:rPr lang="en-CA" baseline="0" dirty="0"/>
              <a:t>Adheres to many of the SOLID principles</a:t>
            </a:r>
          </a:p>
          <a:p>
            <a:r>
              <a:rPr lang="en-CA" baseline="0" dirty="0"/>
              <a:t>Great if you don’t know ahead of time all the different types of objects you want to create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0000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3E980-16BC-4644-BEFC-E1F1E32D46E4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1C4D-C11F-42A5-9385-8E3CDA59C6F3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62943-8485-41C8-96A1-321D9F672C6E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79639-DE4C-42CE-9324-06D8D1EFA4A9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15DEF-612C-478A-AC87-55C7AFB1BA68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E28-9126-4DA4-9862-0D89A7B1F0D3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39ED7-4828-424F-9C93-8AB632496B54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97D65A3-FF3A-4E0A-83C0-83015C4214D5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5D56-D6DA-410F-B395-1EDE68165CC8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8F394-87B7-4503-9EE9-D78BA22E6395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E2686-2051-4A33-B8FC-36EC6D603659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A8C22CE-FB72-4EFA-B6BE-AD7ACB670FB9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79" y="758952"/>
            <a:ext cx="10006149" cy="3566160"/>
          </a:xfrm>
        </p:spPr>
        <p:txBody>
          <a:bodyPr/>
          <a:lstStyle/>
          <a:p>
            <a:r>
              <a:rPr lang="en-CA" dirty="0"/>
              <a:t>Creational Patterns:</a:t>
            </a:r>
            <a:br>
              <a:rPr lang="en-CA" dirty="0"/>
            </a:br>
            <a:r>
              <a:rPr lang="en-CA" dirty="0"/>
              <a:t>Factory &amp; Abstract Factory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9531663" cy="1143000"/>
          </a:xfrm>
        </p:spPr>
        <p:txBody>
          <a:bodyPr>
            <a:normAutofit/>
          </a:bodyPr>
          <a:lstStyle/>
          <a:p>
            <a:r>
              <a:rPr lang="en-CA" dirty="0"/>
              <a:t>COMP3522 Object Oriented Programming 2</a:t>
            </a:r>
          </a:p>
          <a:p>
            <a:r>
              <a:rPr lang="en-CA"/>
              <a:t>Week 9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1298B-EC1B-4432-BFFE-30C12ADE3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29122" y="6414255"/>
            <a:ext cx="6608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Reference: https://refactoring.guru/design-patterns/abstract-factory</a:t>
            </a:r>
          </a:p>
        </p:txBody>
      </p:sp>
    </p:spTree>
    <p:extLst>
      <p:ext uri="{BB962C8B-B14F-4D97-AF65-F5344CB8AC3E}">
        <p14:creationId xmlns:p14="http://schemas.microsoft.com/office/powerpoint/2010/main" val="113230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434D-FFFE-405E-8DA6-A9FB815C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Categorizing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A27F5-9C07-45E8-9B1B-45A5F9B89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701085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CA" b="1" u="sng" dirty="0">
                <a:solidFill>
                  <a:schemeClr val="bg1">
                    <a:lumMod val="50000"/>
                  </a:schemeClr>
                </a:solidFill>
              </a:rPr>
              <a:t>Behavioural</a:t>
            </a:r>
          </a:p>
          <a:p>
            <a:pPr marL="0" indent="0">
              <a:buNone/>
            </a:pP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Focused on communication and interaction between objects. How do we get objects talking to each other while minimizing coupling?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CA" b="1" u="sng" dirty="0">
                <a:solidFill>
                  <a:schemeClr val="bg1">
                    <a:lumMod val="50000"/>
                  </a:schemeClr>
                </a:solidFill>
              </a:rPr>
              <a:t>Structural</a:t>
            </a:r>
            <a:r>
              <a:rPr lang="en-CA" b="1" dirty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How do classes and objects combine to form structures in our programs? Focus on architecting to allow for maximum flexibility and maintainability.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CA" b="1" u="sng" dirty="0">
                <a:solidFill>
                  <a:schemeClr val="tx1"/>
                </a:solidFill>
              </a:rPr>
              <a:t>Creational </a:t>
            </a:r>
            <a:r>
              <a:rPr lang="en-CA" b="1" u="sng" dirty="0">
                <a:solidFill>
                  <a:schemeClr val="accent1">
                    <a:lumMod val="75000"/>
                  </a:schemeClr>
                </a:solidFill>
              </a:rPr>
              <a:t>(We are looking at these!)</a:t>
            </a:r>
            <a:endParaRPr lang="en-CA" b="1" u="sng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CA" dirty="0">
                <a:solidFill>
                  <a:schemeClr val="tx1"/>
                </a:solidFill>
              </a:rPr>
              <a:t>All about class instantiation. Different strategies and techniques to instantiate an object, or group of objects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77A44-18E1-4F2A-921A-B3348FB4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  <p:pic>
        <p:nvPicPr>
          <p:cNvPr id="2050" name="Picture 2" descr="Image result for structural creational behavioral design patterns">
            <a:extLst>
              <a:ext uri="{FF2B5EF4-FFF2-40B4-BE49-F238E27FC236}">
                <a16:creationId xmlns:a16="http://schemas.microsoft.com/office/drawing/2014/main" id="{E9F4A6E0-CF52-4048-80B9-8B17E7557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060" y="2487844"/>
            <a:ext cx="4932827" cy="2739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15A74A3-B164-4418-B9A8-D432EA5E23CD}"/>
              </a:ext>
            </a:extLst>
          </p:cNvPr>
          <p:cNvSpPr/>
          <p:nvPr/>
        </p:nvSpPr>
        <p:spPr>
          <a:xfrm>
            <a:off x="905346" y="4500577"/>
            <a:ext cx="6010713" cy="136851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505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2F6B-7CEC-4E5A-8883-2B711EFBF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Today we will be looking at 2 patterns…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741BE7-672D-4A9C-9A2F-5FEC96ECC6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730710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FF052-6333-4384-A8D4-A66FADA3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666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CBF083-AEF0-4878-ABBB-38C3DE8E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Factory Pattern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915A-AEF0-4D10-ADC6-7C25E67A7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62B3C-5F2F-4719-9AD9-046D4A1E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90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C46D-809E-494C-848C-9EDABE592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First let’s clarify the word Factory…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51DF4-AC81-4163-9187-B075D6D3F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899" y="1845733"/>
            <a:ext cx="7108781" cy="44011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Something that is responsible for making things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In this case objects.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The word factory is thrown around a lot, don’t mix it up with the Factory Pattern or the Abstract Factory Pattern. They are also responsible for making objects but are different.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A Factory could refer to: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The pattern(s)</a:t>
            </a:r>
            <a:br>
              <a:rPr lang="en-CA" dirty="0"/>
            </a:br>
            <a:endParaRPr lang="en-CA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A class that creates objects</a:t>
            </a:r>
            <a:br>
              <a:rPr lang="en-CA" dirty="0"/>
            </a:br>
            <a:endParaRPr lang="en-CA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A static/class method that generates objects.</a:t>
            </a:r>
            <a:br>
              <a:rPr lang="en-CA" dirty="0"/>
            </a:br>
            <a:br>
              <a:rPr lang="en-CA" dirty="0"/>
            </a:br>
            <a:endParaRPr lang="en-CA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701D2-DA46-4DC0-81D3-5F9D80F97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2050" name="Picture 2" descr="Image result for factory cartoon">
            <a:extLst>
              <a:ext uri="{FF2B5EF4-FFF2-40B4-BE49-F238E27FC236}">
                <a16:creationId xmlns:a16="http://schemas.microsoft.com/office/drawing/2014/main" id="{972B1C35-00B3-4BB2-9B14-4BF0863B7F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82"/>
          <a:stretch/>
        </p:blipFill>
        <p:spPr bwMode="auto">
          <a:xfrm>
            <a:off x="531138" y="1981292"/>
            <a:ext cx="3334692" cy="417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016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6428-E76E-4629-86A5-70AA74D8A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Some more lingo – Creation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9B429-3BEB-4E17-B5C1-A0AEAC7E9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529" y="1902479"/>
            <a:ext cx="9975110" cy="266943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A method or function that is responsible for creating an object. It is a factory.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Different from the constructor, although you can argue that a constructor is a creation method too. A creation method can be a wrapper around a constructor call. (Check the example below)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A creation method doesn’t have to make a new instances of a class, it can return a cached object or even re-use objects from a collection.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Resist the urge to call it a Factory Method. The Factory Pattern is also known as the Factory Method Pattern and it can cause all sorts of confusion.</a:t>
            </a:r>
          </a:p>
          <a:p>
            <a:pPr>
              <a:buFont typeface="Wingdings" panose="05000000000000000000" pitchFamily="2" charset="2"/>
              <a:buChar char="§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F4AD8-AFE2-4E09-A09F-9049393A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61DCB5-4D8B-46AF-A6DE-D94E4AA6B365}"/>
              </a:ext>
            </a:extLst>
          </p:cNvPr>
          <p:cNvSpPr/>
          <p:nvPr/>
        </p:nvSpPr>
        <p:spPr>
          <a:xfrm>
            <a:off x="3071030" y="4493003"/>
            <a:ext cx="5211684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endParaRPr lang="en-CA" sz="12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CA" sz="12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classmethod</a:t>
            </a:r>
            <a:b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CA" sz="12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generate_random_asteroid</a:t>
            </a: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2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cls</a:t>
            </a: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12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min_speed</a:t>
            </a: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12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max_speed</a:t>
            </a: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speed = </a:t>
            </a:r>
            <a:r>
              <a:rPr lang="en-CA" sz="12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random.randomint</a:t>
            </a: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2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min_speed</a:t>
            </a: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12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max_speed</a:t>
            </a: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asteroid = </a:t>
            </a:r>
            <a:r>
              <a:rPr lang="en-CA" sz="12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cls</a:t>
            </a: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2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asteroid.speed</a:t>
            </a: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speed</a:t>
            </a:r>
            <a:b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asteroid</a:t>
            </a:r>
          </a:p>
          <a:p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1741785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C4A8-495D-4C5C-8BC9-E5F3D928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 the dependency inversion principle?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220217-9774-441A-B913-BB82955BD3C7}"/>
              </a:ext>
            </a:extLst>
          </p:cNvPr>
          <p:cNvSpPr/>
          <p:nvPr/>
        </p:nvSpPr>
        <p:spPr>
          <a:xfrm>
            <a:off x="3360058" y="2382251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UI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17EA4F-D7B3-416C-8036-A7C584424372}"/>
              </a:ext>
            </a:extLst>
          </p:cNvPr>
          <p:cNvSpPr/>
          <p:nvPr/>
        </p:nvSpPr>
        <p:spPr>
          <a:xfrm>
            <a:off x="6667138" y="2382251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BEDEA0-E52C-44CE-9AC0-2FBDE720DC0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283201" y="3060794"/>
            <a:ext cx="13839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EE92C31-4456-4956-9FCE-34084096F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209" y="4285118"/>
            <a:ext cx="9934133" cy="16710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Say we were developing an app with a UI that was populated with some data from a text file.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After a few releases and years of development, for some reason we decide to switch out to a more secure source of data , perhaps an encrypted JSON file or even perhaps a SQLite Database. We would have to edit all the modules/classes that dealt with our app’s UI!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E3177B-6D4D-4CD9-A3FF-AB015DE64C57}"/>
              </a:ext>
            </a:extLst>
          </p:cNvPr>
          <p:cNvCxnSpPr>
            <a:cxnSpLocks/>
          </p:cNvCxnSpPr>
          <p:nvPr/>
        </p:nvCxnSpPr>
        <p:spPr>
          <a:xfrm>
            <a:off x="6667138" y="2794000"/>
            <a:ext cx="1947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68DD71E-D146-4EE8-A7F4-9B225C11707F}"/>
              </a:ext>
            </a:extLst>
          </p:cNvPr>
          <p:cNvSpPr txBox="1"/>
          <p:nvPr/>
        </p:nvSpPr>
        <p:spPr>
          <a:xfrm>
            <a:off x="6667138" y="2382251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Text 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D34CA1-3DD6-4AD4-8152-9F87BF6671C3}"/>
              </a:ext>
            </a:extLst>
          </p:cNvPr>
          <p:cNvSpPr txBox="1"/>
          <p:nvPr/>
        </p:nvSpPr>
        <p:spPr>
          <a:xfrm>
            <a:off x="6691086" y="2827008"/>
            <a:ext cx="192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4AB03-F0D8-3B47-A986-6155B16E8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677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C4A8-495D-4C5C-8BC9-E5F3D928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 the dependency inversion principle?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220217-9774-441A-B913-BB82955BD3C7}"/>
              </a:ext>
            </a:extLst>
          </p:cNvPr>
          <p:cNvSpPr/>
          <p:nvPr/>
        </p:nvSpPr>
        <p:spPr>
          <a:xfrm>
            <a:off x="4463144" y="1803620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UI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BEDEA0-E52C-44CE-9AC0-2FBDE720DC0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386287" y="2482163"/>
            <a:ext cx="13839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EE92C31-4456-4956-9FCE-34084096F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37003"/>
            <a:ext cx="2719977" cy="37775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We can decouple our system to instead depend on a data source which is an </a:t>
            </a:r>
            <a:r>
              <a:rPr lang="en-CA" b="1" dirty="0"/>
              <a:t>abstraction </a:t>
            </a:r>
            <a:r>
              <a:rPr lang="en-CA" dirty="0"/>
              <a:t>that </a:t>
            </a:r>
            <a:r>
              <a:rPr lang="en-CA" b="1" dirty="0"/>
              <a:t>hides</a:t>
            </a:r>
            <a:r>
              <a:rPr lang="en-CA" dirty="0"/>
              <a:t> different data sources.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Our UI would just have to be </a:t>
            </a:r>
            <a:r>
              <a:rPr lang="en-CA" b="1" u="sng" dirty="0"/>
              <a:t>dependent on a common interface</a:t>
            </a:r>
            <a:r>
              <a:rPr lang="en-CA" dirty="0"/>
              <a:t> provided by the Data Source and not be concerned with how that data source is implemented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EA861-6C4E-4D05-ACB1-17F9021305B6}"/>
              </a:ext>
            </a:extLst>
          </p:cNvPr>
          <p:cNvSpPr/>
          <p:nvPr/>
        </p:nvSpPr>
        <p:spPr>
          <a:xfrm>
            <a:off x="5556795" y="4375837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C7F48B-28C5-4731-827F-1072E9C25870}"/>
              </a:ext>
            </a:extLst>
          </p:cNvPr>
          <p:cNvSpPr txBox="1"/>
          <p:nvPr/>
        </p:nvSpPr>
        <p:spPr>
          <a:xfrm>
            <a:off x="5556795" y="4375837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Text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A894D-B72A-4119-9D29-69966F5B065E}"/>
              </a:ext>
            </a:extLst>
          </p:cNvPr>
          <p:cNvSpPr txBox="1"/>
          <p:nvPr/>
        </p:nvSpPr>
        <p:spPr>
          <a:xfrm>
            <a:off x="5580743" y="4820594"/>
            <a:ext cx="192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F1BB5E-3D91-4079-AC07-8605D7A3DD9A}"/>
              </a:ext>
            </a:extLst>
          </p:cNvPr>
          <p:cNvSpPr/>
          <p:nvPr/>
        </p:nvSpPr>
        <p:spPr>
          <a:xfrm>
            <a:off x="7794172" y="1812785"/>
            <a:ext cx="1923143" cy="16450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599F9-A83A-4CBD-B5D3-8D441652D1B8}"/>
              </a:ext>
            </a:extLst>
          </p:cNvPr>
          <p:cNvSpPr txBox="1"/>
          <p:nvPr/>
        </p:nvSpPr>
        <p:spPr>
          <a:xfrm>
            <a:off x="7794172" y="1812785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Data Source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672BAC-3A3C-4386-8315-CA561F29D3D4}"/>
              </a:ext>
            </a:extLst>
          </p:cNvPr>
          <p:cNvSpPr txBox="1"/>
          <p:nvPr/>
        </p:nvSpPr>
        <p:spPr>
          <a:xfrm>
            <a:off x="7818120" y="2257542"/>
            <a:ext cx="1923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read()</a:t>
            </a:r>
          </a:p>
          <a:p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  <a:p>
            <a:r>
              <a:rPr lang="en-CA" dirty="0"/>
              <a:t>delete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415862-692C-410E-972F-4D96E83681DD}"/>
              </a:ext>
            </a:extLst>
          </p:cNvPr>
          <p:cNvCxnSpPr>
            <a:cxnSpLocks/>
          </p:cNvCxnSpPr>
          <p:nvPr/>
        </p:nvCxnSpPr>
        <p:spPr>
          <a:xfrm>
            <a:off x="7794172" y="2257542"/>
            <a:ext cx="1923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DBEA46-5D1E-480C-A6D1-A8F1FA497635}"/>
              </a:ext>
            </a:extLst>
          </p:cNvPr>
          <p:cNvCxnSpPr>
            <a:cxnSpLocks/>
          </p:cNvCxnSpPr>
          <p:nvPr/>
        </p:nvCxnSpPr>
        <p:spPr>
          <a:xfrm>
            <a:off x="5556795" y="4745169"/>
            <a:ext cx="1923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0ECFBBC-3945-4CE7-AA05-C95D4DB62216}"/>
              </a:ext>
            </a:extLst>
          </p:cNvPr>
          <p:cNvSpPr/>
          <p:nvPr/>
        </p:nvSpPr>
        <p:spPr>
          <a:xfrm>
            <a:off x="7842795" y="4375837"/>
            <a:ext cx="1923143" cy="16450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DAFF8C-61A8-4F73-9386-A93BCD58F0A7}"/>
              </a:ext>
            </a:extLst>
          </p:cNvPr>
          <p:cNvSpPr txBox="1"/>
          <p:nvPr/>
        </p:nvSpPr>
        <p:spPr>
          <a:xfrm>
            <a:off x="7842795" y="4375837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SQLite DB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E5432B-DDDD-4C02-A5A1-74F2A09CCF38}"/>
              </a:ext>
            </a:extLst>
          </p:cNvPr>
          <p:cNvSpPr txBox="1"/>
          <p:nvPr/>
        </p:nvSpPr>
        <p:spPr>
          <a:xfrm>
            <a:off x="7866743" y="4820594"/>
            <a:ext cx="1923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connect()</a:t>
            </a:r>
          </a:p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419F2C-A54E-4B57-8FBC-C188BC2FA396}"/>
              </a:ext>
            </a:extLst>
          </p:cNvPr>
          <p:cNvCxnSpPr>
            <a:cxnSpLocks/>
          </p:cNvCxnSpPr>
          <p:nvPr/>
        </p:nvCxnSpPr>
        <p:spPr>
          <a:xfrm>
            <a:off x="7842795" y="4745169"/>
            <a:ext cx="1923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7F54F62-B95D-449F-9E92-64B3CE1D1FCD}"/>
              </a:ext>
            </a:extLst>
          </p:cNvPr>
          <p:cNvSpPr/>
          <p:nvPr/>
        </p:nvSpPr>
        <p:spPr>
          <a:xfrm>
            <a:off x="9978571" y="4375837"/>
            <a:ext cx="1923143" cy="18559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D8E0DF-B80F-42D4-A732-EDFE5FE3F198}"/>
              </a:ext>
            </a:extLst>
          </p:cNvPr>
          <p:cNvSpPr txBox="1"/>
          <p:nvPr/>
        </p:nvSpPr>
        <p:spPr>
          <a:xfrm>
            <a:off x="9978571" y="4375837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JSON File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E3C641-65D5-4D2A-9305-FD0EDE139577}"/>
              </a:ext>
            </a:extLst>
          </p:cNvPr>
          <p:cNvSpPr txBox="1"/>
          <p:nvPr/>
        </p:nvSpPr>
        <p:spPr>
          <a:xfrm>
            <a:off x="10046791" y="4777052"/>
            <a:ext cx="18208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  <a:p>
            <a:r>
              <a:rPr lang="en-CA" dirty="0"/>
              <a:t>serialize()</a:t>
            </a:r>
          </a:p>
          <a:p>
            <a:r>
              <a:rPr lang="en-CA" dirty="0"/>
              <a:t>deserialize()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74B8C54-E6E9-4930-B1EB-BDDFF8ACA666}"/>
              </a:ext>
            </a:extLst>
          </p:cNvPr>
          <p:cNvCxnSpPr>
            <a:cxnSpLocks/>
          </p:cNvCxnSpPr>
          <p:nvPr/>
        </p:nvCxnSpPr>
        <p:spPr>
          <a:xfrm>
            <a:off x="9978571" y="4745169"/>
            <a:ext cx="1923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25BD78-3931-45BA-9C3E-3B41045466D3}"/>
              </a:ext>
            </a:extLst>
          </p:cNvPr>
          <p:cNvCxnSpPr>
            <a:cxnSpLocks/>
          </p:cNvCxnSpPr>
          <p:nvPr/>
        </p:nvCxnSpPr>
        <p:spPr>
          <a:xfrm>
            <a:off x="6600006" y="3962006"/>
            <a:ext cx="40077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E0F268E-590B-4357-B707-4F4ABD5C3B49}"/>
              </a:ext>
            </a:extLst>
          </p:cNvPr>
          <p:cNvCxnSpPr/>
          <p:nvPr/>
        </p:nvCxnSpPr>
        <p:spPr>
          <a:xfrm flipV="1">
            <a:off x="8750664" y="3500843"/>
            <a:ext cx="0" cy="4611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AE7F0AA-FDEB-4579-8505-45888B9A7A46}"/>
              </a:ext>
            </a:extLst>
          </p:cNvPr>
          <p:cNvCxnSpPr>
            <a:cxnSpLocks/>
          </p:cNvCxnSpPr>
          <p:nvPr/>
        </p:nvCxnSpPr>
        <p:spPr>
          <a:xfrm>
            <a:off x="6600006" y="3962006"/>
            <a:ext cx="0" cy="4138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0E8FA1F-D69D-4D88-B3B1-203D94D726AD}"/>
              </a:ext>
            </a:extLst>
          </p:cNvPr>
          <p:cNvCxnSpPr>
            <a:cxnSpLocks/>
          </p:cNvCxnSpPr>
          <p:nvPr/>
        </p:nvCxnSpPr>
        <p:spPr>
          <a:xfrm flipV="1">
            <a:off x="8754123" y="3962006"/>
            <a:ext cx="0" cy="4252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5A8EC2-6FFF-4DB9-AEFD-EA9479E4F2CA}"/>
              </a:ext>
            </a:extLst>
          </p:cNvPr>
          <p:cNvCxnSpPr>
            <a:cxnSpLocks/>
          </p:cNvCxnSpPr>
          <p:nvPr/>
        </p:nvCxnSpPr>
        <p:spPr>
          <a:xfrm flipV="1">
            <a:off x="10607766" y="3962006"/>
            <a:ext cx="0" cy="4180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B58E-5EFE-CC45-814E-28CFB715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60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2C62-2059-4BBE-8955-20819C07B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 dirty="0"/>
              <a:t>Factory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A36C6-1315-437E-ABFB-0E882215B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852876"/>
            <a:ext cx="5176771" cy="44641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A way to decouple client code that </a:t>
            </a:r>
            <a:r>
              <a:rPr lang="en-CA" b="1" dirty="0"/>
              <a:t>uses</a:t>
            </a:r>
            <a:r>
              <a:rPr lang="en-CA" dirty="0"/>
              <a:t> an object or a service, from the code that </a:t>
            </a:r>
            <a:r>
              <a:rPr lang="en-CA" b="1" dirty="0"/>
              <a:t>creates</a:t>
            </a:r>
            <a:r>
              <a:rPr lang="en-CA" dirty="0"/>
              <a:t> an object or a service.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Consider a scenario where a system is managing the logistics of delivering goods.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If inheritance is done correctly, a Logistics System should only care about depending on the Transport Interface, not the concrete transports (Truck or Ship). This follows </a:t>
            </a: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the Dependency Inversion Principle</a:t>
            </a:r>
            <a:r>
              <a:rPr lang="en-CA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BB3DE-770B-4043-AB74-54146377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3076" name="Picture 4" descr="The structure of the products hierarchy">
            <a:extLst>
              <a:ext uri="{FF2B5EF4-FFF2-40B4-BE49-F238E27FC236}">
                <a16:creationId xmlns:a16="http://schemas.microsoft.com/office/drawing/2014/main" id="{FE0911C0-7AEE-455D-B99E-709218A8F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915" y="3076575"/>
            <a:ext cx="4667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688640A-903A-4945-94F8-348140059C41}"/>
              </a:ext>
            </a:extLst>
          </p:cNvPr>
          <p:cNvSpPr/>
          <p:nvPr/>
        </p:nvSpPr>
        <p:spPr>
          <a:xfrm>
            <a:off x="7320915" y="2156460"/>
            <a:ext cx="1693545" cy="822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>
                <a:solidFill>
                  <a:schemeClr val="tx1"/>
                </a:solidFill>
              </a:rPr>
              <a:t>LogisticsSystem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12BC76E-2755-4384-9031-CE8089E545DD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9014460" y="2567940"/>
            <a:ext cx="655320" cy="65532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59FCC2AB-A234-4797-B188-31C9A854EB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702"/>
          <a:stretch/>
        </p:blipFill>
        <p:spPr>
          <a:xfrm>
            <a:off x="9048156" y="1852875"/>
            <a:ext cx="763471" cy="66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7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2C62-2059-4BBE-8955-20819C07B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 dirty="0"/>
              <a:t>Factory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A36C6-1315-437E-ABFB-0E882215B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852876"/>
            <a:ext cx="5176771" cy="44641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But at some point we need to </a:t>
            </a: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create the concrete class</a:t>
            </a:r>
            <a:r>
              <a:rPr lang="en-CA" dirty="0"/>
              <a:t>. If the Logistics System did that, then it would need to call the Truck() or Ship() constructors.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This would make it dependent on the concrete classes and break the Dependency Inversion Principles. A high level module is now dependent on a low level module.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BB3DE-770B-4043-AB74-54146377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3076" name="Picture 4" descr="The structure of the products hierarchy">
            <a:extLst>
              <a:ext uri="{FF2B5EF4-FFF2-40B4-BE49-F238E27FC236}">
                <a16:creationId xmlns:a16="http://schemas.microsoft.com/office/drawing/2014/main" id="{FE0911C0-7AEE-455D-B99E-709218A8F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915" y="3076575"/>
            <a:ext cx="4667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688640A-903A-4945-94F8-348140059C41}"/>
              </a:ext>
            </a:extLst>
          </p:cNvPr>
          <p:cNvSpPr/>
          <p:nvPr/>
        </p:nvSpPr>
        <p:spPr>
          <a:xfrm>
            <a:off x="7320915" y="2156460"/>
            <a:ext cx="1693545" cy="822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>
                <a:solidFill>
                  <a:schemeClr val="tx1"/>
                </a:solidFill>
              </a:rPr>
              <a:t>LogisticsSystem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12BC76E-2755-4384-9031-CE8089E545DD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9014460" y="2567940"/>
            <a:ext cx="655320" cy="65532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59FCC2AB-A234-4797-B188-31C9A854EB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702"/>
          <a:stretch/>
        </p:blipFill>
        <p:spPr>
          <a:xfrm>
            <a:off x="9048156" y="1852875"/>
            <a:ext cx="763471" cy="666487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4204B27D-4D13-42C5-8ED0-C2F5F6761288}"/>
              </a:ext>
            </a:extLst>
          </p:cNvPr>
          <p:cNvCxnSpPr>
            <a:cxnSpLocks/>
            <a:stCxn id="14" idx="2"/>
          </p:cNvCxnSpPr>
          <p:nvPr/>
        </p:nvCxnSpPr>
        <p:spPr>
          <a:xfrm rot="16200000" flipH="1">
            <a:off x="7733824" y="3413284"/>
            <a:ext cx="1531620" cy="6638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1078A0B-5B25-4218-A5FB-D4F88808204C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36380" y="3101340"/>
            <a:ext cx="1943100" cy="876300"/>
          </a:xfrm>
          <a:prstGeom prst="bentConnector3">
            <a:avLst>
              <a:gd name="adj1" fmla="val 19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Image result for red cross">
            <a:extLst>
              <a:ext uri="{FF2B5EF4-FFF2-40B4-BE49-F238E27FC236}">
                <a16:creationId xmlns:a16="http://schemas.microsoft.com/office/drawing/2014/main" id="{903F3E23-158D-4A7C-A531-8752DFA69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47" y="2074615"/>
            <a:ext cx="916298" cy="91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7830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DE25-2213-4A9C-A188-5175130E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Factory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ADDB0-3D88-4E2A-AA52-590465F0D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442567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So when it comes to creating these objects we need another entity to handle the responsibility of creating a specific type of Transport.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We need a </a:t>
            </a:r>
            <a:r>
              <a:rPr lang="en-CA" b="1" dirty="0">
                <a:solidFill>
                  <a:srgbClr val="0070C0"/>
                </a:solidFill>
              </a:rPr>
              <a:t>factory</a:t>
            </a:r>
            <a:r>
              <a:rPr lang="en-CA" dirty="0"/>
              <a:t> which will create a concrete transport and return it to the Logistics System.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As far as the Logistics System is concerned. It doesn’t necessarily know that it is receiving a Truck, or Ship. All it needs to know is that it is receiving a Transport.</a:t>
            </a:r>
          </a:p>
          <a:p>
            <a:pPr>
              <a:buFont typeface="Wingdings" panose="05000000000000000000" pitchFamily="2" charset="2"/>
              <a:buChar char="§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6F2A7-76FC-434C-93C5-68F01E56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07B66-4823-4F36-9479-41FC88C23A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76178" y="2126962"/>
            <a:ext cx="4037630" cy="3232118"/>
          </a:xfrm>
          <a:prstGeom prst="rect">
            <a:avLst/>
          </a:prstGeom>
        </p:spPr>
      </p:pic>
      <p:pic>
        <p:nvPicPr>
          <p:cNvPr id="6" name="Picture 2" descr="The structure of the products hierarchy">
            <a:extLst>
              <a:ext uri="{FF2B5EF4-FFF2-40B4-BE49-F238E27FC236}">
                <a16:creationId xmlns:a16="http://schemas.microsoft.com/office/drawing/2014/main" id="{3A313101-8238-42ED-97FE-912DAEA59F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27" r="78176" b="26511"/>
          <a:stretch/>
        </p:blipFill>
        <p:spPr bwMode="auto">
          <a:xfrm>
            <a:off x="7264153" y="4768392"/>
            <a:ext cx="1232568" cy="93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he structure of the products hierarchy">
            <a:extLst>
              <a:ext uri="{FF2B5EF4-FFF2-40B4-BE49-F238E27FC236}">
                <a16:creationId xmlns:a16="http://schemas.microsoft.com/office/drawing/2014/main" id="{E9038DA9-7953-4EEC-B56E-3691FC84CC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69" t="44007" b="26193"/>
          <a:stretch/>
        </p:blipFill>
        <p:spPr bwMode="auto">
          <a:xfrm>
            <a:off x="10732548" y="4940069"/>
            <a:ext cx="1162520" cy="76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DF91E6-59F4-4283-BEF3-982D8AD6E5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490"/>
          <a:stretch/>
        </p:blipFill>
        <p:spPr>
          <a:xfrm>
            <a:off x="10270315" y="1920090"/>
            <a:ext cx="1062274" cy="8977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131A39-22C9-4D60-A478-6BD545E7C9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2702"/>
          <a:stretch/>
        </p:blipFill>
        <p:spPr>
          <a:xfrm>
            <a:off x="7802880" y="2684966"/>
            <a:ext cx="852302" cy="744034"/>
          </a:xfrm>
          <a:prstGeom prst="rect">
            <a:avLst/>
          </a:prstGeom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735FFDD-24F8-41E1-BA9A-32E9E885F48E}"/>
              </a:ext>
            </a:extLst>
          </p:cNvPr>
          <p:cNvCxnSpPr>
            <a:cxnSpLocks/>
          </p:cNvCxnSpPr>
          <p:nvPr/>
        </p:nvCxnSpPr>
        <p:spPr>
          <a:xfrm>
            <a:off x="7802880" y="2644140"/>
            <a:ext cx="1387682" cy="1213274"/>
          </a:xfrm>
          <a:prstGeom prst="bentConnector3">
            <a:avLst>
              <a:gd name="adj1" fmla="val 5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2A15741-D1CC-43AF-AF82-E1A062B0C4EF}"/>
              </a:ext>
            </a:extLst>
          </p:cNvPr>
          <p:cNvSpPr txBox="1"/>
          <p:nvPr/>
        </p:nvSpPr>
        <p:spPr>
          <a:xfrm>
            <a:off x="8150737" y="1845734"/>
            <a:ext cx="1123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400" dirty="0"/>
              <a:t>For Creation </a:t>
            </a:r>
            <a:br>
              <a:rPr lang="en-CA" sz="1400" dirty="0"/>
            </a:br>
            <a:r>
              <a:rPr lang="en-CA" sz="1400" dirty="0"/>
              <a:t>only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AC03C9-4F92-449F-BB71-615C70C74551}"/>
              </a:ext>
            </a:extLst>
          </p:cNvPr>
          <p:cNvSpPr/>
          <p:nvPr/>
        </p:nvSpPr>
        <p:spPr>
          <a:xfrm>
            <a:off x="9190562" y="2126962"/>
            <a:ext cx="1123962" cy="51717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0610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9F888-866D-4F0B-BCAF-09A794FB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Factory Pattern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CF7B6-7BF6-4975-8281-703722ECC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9" y="1845734"/>
            <a:ext cx="6165144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This still isn’t enough. All we have done is move the call to our Truck() or Ship() initializer to the </a:t>
            </a:r>
            <a:r>
              <a:rPr lang="en-CA" dirty="0" err="1"/>
              <a:t>TransportFactory</a:t>
            </a:r>
            <a:r>
              <a:rPr lang="en-CA" dirty="0"/>
              <a:t>. This isn’t that useful.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Say our </a:t>
            </a:r>
            <a:r>
              <a:rPr lang="en-CA" dirty="0" err="1"/>
              <a:t>TransportFactory</a:t>
            </a:r>
            <a:r>
              <a:rPr lang="en-CA" dirty="0"/>
              <a:t> has a </a:t>
            </a:r>
            <a:r>
              <a:rPr lang="en-CA" dirty="0" err="1">
                <a:solidFill>
                  <a:srgbClr val="7030A0"/>
                </a:solidFill>
              </a:rPr>
              <a:t>create_transport</a:t>
            </a:r>
            <a:r>
              <a:rPr lang="en-CA" dirty="0">
                <a:solidFill>
                  <a:srgbClr val="7030A0"/>
                </a:solidFill>
              </a:rPr>
              <a:t>() </a:t>
            </a:r>
            <a:r>
              <a:rPr lang="en-CA" dirty="0"/>
              <a:t>method. Now this method will have a massive if-else or switch statement block where it will be dependent on  the concrete Truck and ship Classes</a:t>
            </a:r>
          </a:p>
          <a:p>
            <a:pPr marL="0" indent="0">
              <a:buNone/>
            </a:pPr>
            <a:r>
              <a:rPr lang="en-CA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CA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create_transport</a:t>
            </a:r>
            <a:r>
              <a:rPr lang="en-CA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 -&gt; Transport:</a:t>
            </a:r>
            <a:br>
              <a:rPr lang="en-CA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CA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self.current_type</a:t>
            </a:r>
            <a:r>
              <a:rPr lang="en-CA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Ship:</a:t>
            </a:r>
            <a:br>
              <a:rPr lang="en-CA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Ship()</a:t>
            </a:r>
            <a:br>
              <a:rPr lang="en-CA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else:</a:t>
            </a:r>
            <a:br>
              <a:rPr lang="en-CA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Truck()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E29BB-9A91-41BA-8939-BD00832E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6891337" y="1598518"/>
            <a:ext cx="5235609" cy="4552591"/>
            <a:chOff x="6891337" y="1598518"/>
            <a:chExt cx="5235609" cy="455259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9A21C2B-0127-44C9-80B5-B7AAC26B2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1337" y="2284431"/>
              <a:ext cx="4962525" cy="3400425"/>
            </a:xfrm>
            <a:prstGeom prst="rect">
              <a:avLst/>
            </a:prstGeom>
          </p:spPr>
        </p:pic>
        <p:pic>
          <p:nvPicPr>
            <p:cNvPr id="8" name="Picture 2" descr="The structure of the products hierarchy">
              <a:extLst>
                <a:ext uri="{FF2B5EF4-FFF2-40B4-BE49-F238E27FC236}">
                  <a16:creationId xmlns:a16="http://schemas.microsoft.com/office/drawing/2014/main" id="{658ECEF0-F3BC-4C8A-91F8-8578737FCB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127" r="78176" b="26511"/>
            <a:stretch/>
          </p:blipFill>
          <p:spPr bwMode="auto">
            <a:xfrm>
              <a:off x="8010913" y="5218602"/>
              <a:ext cx="1232568" cy="9325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The structure of the products hierarchy">
              <a:extLst>
                <a:ext uri="{FF2B5EF4-FFF2-40B4-BE49-F238E27FC236}">
                  <a16:creationId xmlns:a16="http://schemas.microsoft.com/office/drawing/2014/main" id="{F37BF474-78B7-4C0D-A42E-03F209A0DF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69" t="44007" b="26193"/>
            <a:stretch/>
          </p:blipFill>
          <p:spPr bwMode="auto">
            <a:xfrm>
              <a:off x="10964426" y="5390279"/>
              <a:ext cx="1162520" cy="760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BAC300F-B45D-4C67-B5C0-22EA809105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15490"/>
            <a:stretch/>
          </p:blipFill>
          <p:spPr>
            <a:xfrm>
              <a:off x="11014549" y="1598518"/>
              <a:ext cx="1062274" cy="89772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6DCBF29-3626-4EDD-B9D0-9A64825799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12702"/>
            <a:stretch/>
          </p:blipFill>
          <p:spPr>
            <a:xfrm>
              <a:off x="7690560" y="1624920"/>
              <a:ext cx="852302" cy="74403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117972C-5CA6-469B-B364-A037B35F6F31}"/>
                </a:ext>
              </a:extLst>
            </p:cNvPr>
            <p:cNvSpPr/>
            <p:nvPr/>
          </p:nvSpPr>
          <p:spPr>
            <a:xfrm>
              <a:off x="9474926" y="2321719"/>
              <a:ext cx="1680754" cy="190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500" dirty="0" err="1">
                  <a:solidFill>
                    <a:schemeClr val="tx1"/>
                  </a:solidFill>
                </a:rPr>
                <a:t>TransportFactory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433093" y="2855670"/>
              <a:ext cx="1903599" cy="2094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297950" y="2811634"/>
              <a:ext cx="2449289" cy="284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50" b="1" dirty="0">
                  <a:solidFill>
                    <a:srgbClr val="7030A0"/>
                  </a:solidFill>
                </a:rPr>
                <a:t>+</a:t>
              </a:r>
              <a:r>
                <a:rPr lang="en-CA" sz="1250" b="1" dirty="0" err="1">
                  <a:solidFill>
                    <a:srgbClr val="7030A0"/>
                  </a:solidFill>
                </a:rPr>
                <a:t>create_transport</a:t>
              </a:r>
              <a:r>
                <a:rPr lang="en-CA" sz="1250" b="1" dirty="0">
                  <a:solidFill>
                    <a:srgbClr val="7030A0"/>
                  </a:solidFill>
                </a:rPr>
                <a:t>(): Transport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926509" y="3023450"/>
            <a:ext cx="1927297" cy="1051506"/>
            <a:chOff x="6788110" y="4429685"/>
            <a:chExt cx="1927297" cy="105150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A746E71-071E-49A6-ADA6-78E32B8E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8110" y="4429685"/>
              <a:ext cx="0" cy="1051506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A746E71-071E-49A6-ADA6-78E32B8EEDB5}"/>
                </a:ext>
              </a:extLst>
            </p:cNvPr>
            <p:cNvCxnSpPr>
              <a:cxnSpLocks/>
            </p:cNvCxnSpPr>
            <p:nvPr/>
          </p:nvCxnSpPr>
          <p:spPr>
            <a:xfrm>
              <a:off x="6788110" y="5481191"/>
              <a:ext cx="192729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170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DE25-2213-4A9C-A188-5175130E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Factory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ADDB0-3D88-4E2A-AA52-590465F0D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1399"/>
            <a:ext cx="4674875" cy="44483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That’s better.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We can simply inherit from </a:t>
            </a:r>
            <a:r>
              <a:rPr lang="en-CA" dirty="0" err="1"/>
              <a:t>TransportFactory</a:t>
            </a:r>
            <a:r>
              <a:rPr lang="en-CA" dirty="0"/>
              <a:t> and override the </a:t>
            </a:r>
            <a:r>
              <a:rPr lang="en-CA" dirty="0" err="1"/>
              <a:t>create_transport</a:t>
            </a:r>
            <a:r>
              <a:rPr lang="en-CA" dirty="0"/>
              <a:t>() method.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All we need to do is supply the Logistics System with the right factory. (Which can be done by a controller).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As far as the Logistics System is concerned it needs an object with the </a:t>
            </a:r>
            <a:r>
              <a:rPr lang="en-CA" dirty="0" err="1"/>
              <a:t>TransportFactory</a:t>
            </a:r>
            <a:r>
              <a:rPr lang="en-CA" dirty="0"/>
              <a:t> interface.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6F2A7-76FC-434C-93C5-68F01E56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07B66-4823-4F36-9479-41FC88C23A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99127" y="1812898"/>
            <a:ext cx="6166334" cy="2675214"/>
          </a:xfrm>
          <a:prstGeom prst="rect">
            <a:avLst/>
          </a:prstGeom>
        </p:spPr>
      </p:pic>
      <p:pic>
        <p:nvPicPr>
          <p:cNvPr id="6" name="Picture 2" descr="The structure of the products hierarchy">
            <a:extLst>
              <a:ext uri="{FF2B5EF4-FFF2-40B4-BE49-F238E27FC236}">
                <a16:creationId xmlns:a16="http://schemas.microsoft.com/office/drawing/2014/main" id="{3A313101-8238-42ED-97FE-912DAEA59F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27" r="78176" b="26511"/>
          <a:stretch/>
        </p:blipFill>
        <p:spPr bwMode="auto">
          <a:xfrm>
            <a:off x="9488993" y="4390507"/>
            <a:ext cx="965076" cy="73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he structure of the products hierarchy">
            <a:extLst>
              <a:ext uri="{FF2B5EF4-FFF2-40B4-BE49-F238E27FC236}">
                <a16:creationId xmlns:a16="http://schemas.microsoft.com/office/drawing/2014/main" id="{E9038DA9-7953-4EEC-B56E-3691FC84CC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69" t="44007" b="26193"/>
          <a:stretch/>
        </p:blipFill>
        <p:spPr bwMode="auto">
          <a:xfrm>
            <a:off x="11226923" y="4468983"/>
            <a:ext cx="965077" cy="63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DF91E6-59F4-4283-BEF3-982D8AD6E5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5490"/>
          <a:stretch/>
        </p:blipFill>
        <p:spPr>
          <a:xfrm>
            <a:off x="6059261" y="2694004"/>
            <a:ext cx="771247" cy="651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131A39-22C9-4D60-A478-6BD545E7C90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2702"/>
          <a:stretch/>
        </p:blipFill>
        <p:spPr>
          <a:xfrm>
            <a:off x="6051917" y="1797786"/>
            <a:ext cx="677478" cy="5914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A1E91D-CD2C-4219-9175-298605286B5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5490"/>
          <a:stretch/>
        </p:blipFill>
        <p:spPr>
          <a:xfrm>
            <a:off x="6253091" y="4458898"/>
            <a:ext cx="771247" cy="6517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98E795-91BE-4126-B073-05F0DF344FA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5490"/>
          <a:stretch/>
        </p:blipFill>
        <p:spPr>
          <a:xfrm>
            <a:off x="8112311" y="4429684"/>
            <a:ext cx="771247" cy="65178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8A05C2E-6A10-4250-83A2-CC69B58FA575}"/>
              </a:ext>
            </a:extLst>
          </p:cNvPr>
          <p:cNvSpPr/>
          <p:nvPr/>
        </p:nvSpPr>
        <p:spPr>
          <a:xfrm>
            <a:off x="3880226" y="5680004"/>
            <a:ext cx="43580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CA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create_transport</a:t>
            </a:r>
            <a:r>
              <a:rPr lang="en-CA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(self)-&gt; Transport:</a:t>
            </a:r>
            <a:br>
              <a:rPr lang="en-CA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Truck()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A746E71-071E-49A6-ADA6-78E32B8EEDB5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6059261" y="4362552"/>
            <a:ext cx="247730" cy="1317452"/>
          </a:xfrm>
          <a:prstGeom prst="straightConnector1">
            <a:avLst/>
          </a:prstGeom>
          <a:ln w="19050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6648145" y="4429684"/>
            <a:ext cx="3252313" cy="939537"/>
            <a:chOff x="6648145" y="4429684"/>
            <a:chExt cx="3252313" cy="93953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746E71-071E-49A6-ADA6-78E32B8E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145" y="4429684"/>
              <a:ext cx="0" cy="939535"/>
            </a:xfrm>
            <a:prstGeom prst="straightConnector1">
              <a:avLst/>
            </a:prstGeom>
            <a:ln w="19050">
              <a:solidFill>
                <a:srgbClr val="0070C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A746E71-071E-49A6-ADA6-78E32B8E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1127" y="4468984"/>
              <a:ext cx="0" cy="900235"/>
            </a:xfrm>
            <a:prstGeom prst="straightConnector1">
              <a:avLst/>
            </a:prstGeom>
            <a:ln w="19050">
              <a:solidFill>
                <a:srgbClr val="0070C0"/>
              </a:solidFill>
              <a:prstDash val="sysDash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A746E71-071E-49A6-ADA6-78E32B8E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04" y="5369220"/>
              <a:ext cx="3244454" cy="1"/>
            </a:xfrm>
            <a:prstGeom prst="straightConnector1">
              <a:avLst/>
            </a:prstGeom>
            <a:ln w="19050">
              <a:solidFill>
                <a:srgbClr val="0070C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746E71-071E-49A6-ADA6-78E32B8EEDB5}"/>
              </a:ext>
            </a:extLst>
          </p:cNvPr>
          <p:cNvCxnSpPr>
            <a:cxnSpLocks/>
          </p:cNvCxnSpPr>
          <p:nvPr/>
        </p:nvCxnSpPr>
        <p:spPr>
          <a:xfrm flipV="1">
            <a:off x="8419319" y="4439250"/>
            <a:ext cx="0" cy="116347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A746E71-071E-49A6-ADA6-78E32B8EEDB5}"/>
              </a:ext>
            </a:extLst>
          </p:cNvPr>
          <p:cNvCxnSpPr>
            <a:cxnSpLocks/>
          </p:cNvCxnSpPr>
          <p:nvPr/>
        </p:nvCxnSpPr>
        <p:spPr>
          <a:xfrm flipV="1">
            <a:off x="11662301" y="4478549"/>
            <a:ext cx="0" cy="1124171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746E71-071E-49A6-ADA6-78E32B8EEDB5}"/>
              </a:ext>
            </a:extLst>
          </p:cNvPr>
          <p:cNvCxnSpPr>
            <a:cxnSpLocks/>
          </p:cNvCxnSpPr>
          <p:nvPr/>
        </p:nvCxnSpPr>
        <p:spPr>
          <a:xfrm flipV="1">
            <a:off x="8427178" y="5602720"/>
            <a:ext cx="3244454" cy="1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8500187" y="2127379"/>
            <a:ext cx="2379306" cy="62515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894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3544E-8907-4F37-90F8-7A6A30690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Factory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DE3FD-E2E1-4B16-A6F4-2C9E691C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485525E-2CD9-4C91-8458-73497BB04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554779" y="1867248"/>
            <a:ext cx="6960867" cy="400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111973" y="2623693"/>
            <a:ext cx="1270925" cy="292388"/>
          </a:xfrm>
          <a:prstGeom prst="rect">
            <a:avLst/>
          </a:prstGeom>
          <a:solidFill>
            <a:srgbClr val="F7F7F7"/>
          </a:solidFill>
        </p:spPr>
        <p:txBody>
          <a:bodyPr wrap="none" rtlCol="0">
            <a:spAutoFit/>
          </a:bodyPr>
          <a:lstStyle/>
          <a:p>
            <a:r>
              <a:rPr lang="en-CA" sz="1300" b="1" dirty="0" err="1"/>
              <a:t>AbstractFactory</a:t>
            </a:r>
            <a:endParaRPr lang="en-CA" sz="13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958083" y="4315644"/>
            <a:ext cx="1411669" cy="292388"/>
          </a:xfrm>
          <a:prstGeom prst="rect">
            <a:avLst/>
          </a:prstGeom>
          <a:solidFill>
            <a:srgbClr val="F7F7F7"/>
          </a:solidFill>
        </p:spPr>
        <p:txBody>
          <a:bodyPr wrap="none" rtlCol="0">
            <a:spAutoFit/>
          </a:bodyPr>
          <a:lstStyle/>
          <a:p>
            <a:r>
              <a:rPr lang="en-CA" sz="1300" b="1" dirty="0" err="1"/>
              <a:t>ConcreteFactoryA</a:t>
            </a:r>
            <a:endParaRPr lang="en-CA" sz="13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191210" y="4315644"/>
            <a:ext cx="1403654" cy="292388"/>
          </a:xfrm>
          <a:prstGeom prst="rect">
            <a:avLst/>
          </a:prstGeom>
          <a:solidFill>
            <a:srgbClr val="F7F7F7"/>
          </a:solidFill>
        </p:spPr>
        <p:txBody>
          <a:bodyPr wrap="none" rtlCol="0">
            <a:spAutoFit/>
          </a:bodyPr>
          <a:lstStyle/>
          <a:p>
            <a:r>
              <a:rPr lang="en-CA" sz="1300" b="1" dirty="0" err="1"/>
              <a:t>ConcreteFactoryB</a:t>
            </a:r>
            <a:endParaRPr lang="en-CA" sz="1300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5893037" y="4846322"/>
            <a:ext cx="3000386" cy="1319736"/>
            <a:chOff x="6648145" y="3946848"/>
            <a:chExt cx="3000386" cy="131973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A746E71-071E-49A6-ADA6-78E32B8E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145" y="4429685"/>
              <a:ext cx="0" cy="836898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A746E71-071E-49A6-ADA6-78E32B8E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48531" y="3946848"/>
              <a:ext cx="0" cy="1319735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ysDash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A746E71-071E-49A6-ADA6-78E32B8E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04" y="5266583"/>
              <a:ext cx="2981847" cy="1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3709833" y="4842836"/>
            <a:ext cx="3906194" cy="1105141"/>
            <a:chOff x="6228264" y="4422710"/>
            <a:chExt cx="3906194" cy="1105141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A746E71-071E-49A6-ADA6-78E32B8E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8264" y="4905546"/>
              <a:ext cx="0" cy="622301"/>
            </a:xfrm>
            <a:prstGeom prst="straightConnector1">
              <a:avLst/>
            </a:prstGeom>
            <a:ln w="19050">
              <a:solidFill>
                <a:srgbClr val="0070C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A746E71-071E-49A6-ADA6-78E32B8E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3719" y="4422710"/>
              <a:ext cx="0" cy="1105137"/>
            </a:xfrm>
            <a:prstGeom prst="straightConnector1">
              <a:avLst/>
            </a:prstGeom>
            <a:ln w="19050">
              <a:solidFill>
                <a:srgbClr val="0070C0"/>
              </a:solidFill>
              <a:prstDash val="sysDash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A746E71-071E-49A6-ADA6-78E32B8E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6123" y="5527847"/>
              <a:ext cx="3898335" cy="4"/>
            </a:xfrm>
            <a:prstGeom prst="straightConnector1">
              <a:avLst/>
            </a:prstGeom>
            <a:ln w="19050">
              <a:solidFill>
                <a:srgbClr val="0070C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2786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287A9-8BAD-4291-9218-A4C40C56A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Let’s Build a Factory Pattern Together.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7E23B-9888-4056-8DD0-06ADBFA8D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568287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Let’s say we need to implement a Factory Pattern for a website hosting a forum messaging board. This website creates a new user object when a user: </a:t>
            </a:r>
          </a:p>
          <a:p>
            <a:pPr lvl="1"/>
            <a:r>
              <a:rPr lang="en-CA" dirty="0"/>
              <a:t>Signs up to be a member or </a:t>
            </a:r>
          </a:p>
          <a:p>
            <a:pPr lvl="1"/>
            <a:r>
              <a:rPr lang="en-CA" dirty="0"/>
              <a:t>Views the forum as a guest.</a:t>
            </a:r>
          </a:p>
          <a:p>
            <a:r>
              <a:rPr lang="en-CA" dirty="0"/>
              <a:t>Our system can deal with two kinds of users. A </a:t>
            </a:r>
            <a:r>
              <a:rPr lang="en-CA" b="1" dirty="0">
                <a:solidFill>
                  <a:srgbClr val="0070C0"/>
                </a:solidFill>
              </a:rPr>
              <a:t>Guest</a:t>
            </a:r>
            <a:r>
              <a:rPr lang="en-CA" dirty="0"/>
              <a:t> and a </a:t>
            </a:r>
            <a:r>
              <a:rPr lang="en-CA" b="1" dirty="0">
                <a:solidFill>
                  <a:srgbClr val="00B050"/>
                </a:solidFill>
              </a:rPr>
              <a:t>Member</a:t>
            </a:r>
            <a:r>
              <a:rPr lang="en-CA" dirty="0"/>
              <a:t>.</a:t>
            </a:r>
          </a:p>
          <a:p>
            <a:r>
              <a:rPr lang="en-CA" dirty="0"/>
              <a:t>A </a:t>
            </a:r>
            <a:r>
              <a:rPr lang="en-CA" b="1" dirty="0">
                <a:solidFill>
                  <a:srgbClr val="0070C0"/>
                </a:solidFill>
              </a:rPr>
              <a:t>Guest</a:t>
            </a:r>
            <a:r>
              <a:rPr lang="en-CA" dirty="0"/>
              <a:t> has the following </a:t>
            </a:r>
            <a:r>
              <a:rPr lang="en-CA" b="1" dirty="0">
                <a:solidFill>
                  <a:schemeClr val="tx1"/>
                </a:solidFill>
              </a:rPr>
              <a:t>permissions</a:t>
            </a:r>
            <a:r>
              <a:rPr lang="en-CA" dirty="0"/>
              <a:t> (this is our attribute, it is a tuple):</a:t>
            </a:r>
          </a:p>
          <a:p>
            <a:pPr lvl="1"/>
            <a:r>
              <a:rPr lang="en-CA" dirty="0"/>
              <a:t>Read Posts</a:t>
            </a:r>
          </a:p>
          <a:p>
            <a:pPr lvl="1"/>
            <a:r>
              <a:rPr lang="en-CA" dirty="0"/>
              <a:t>Like</a:t>
            </a:r>
          </a:p>
          <a:p>
            <a:pPr lvl="1"/>
            <a:r>
              <a:rPr lang="en-CA" dirty="0"/>
              <a:t>Share Posts</a:t>
            </a:r>
          </a:p>
          <a:p>
            <a:pPr lvl="1"/>
            <a:r>
              <a:rPr lang="en-CA" dirty="0"/>
              <a:t>Flag Posts</a:t>
            </a:r>
          </a:p>
          <a:p>
            <a:r>
              <a:rPr lang="en-CA" dirty="0"/>
              <a:t>A </a:t>
            </a:r>
            <a:r>
              <a:rPr lang="en-CA" b="1" dirty="0">
                <a:solidFill>
                  <a:srgbClr val="00B050"/>
                </a:solidFill>
              </a:rPr>
              <a:t>Member</a:t>
            </a:r>
            <a:r>
              <a:rPr lang="en-CA" dirty="0"/>
              <a:t> can do everything a </a:t>
            </a:r>
            <a:r>
              <a:rPr lang="en-CA" b="1" dirty="0">
                <a:solidFill>
                  <a:srgbClr val="0070C0"/>
                </a:solidFill>
              </a:rPr>
              <a:t>Guest</a:t>
            </a:r>
            <a:r>
              <a:rPr lang="en-CA" dirty="0"/>
              <a:t> can, but they can also </a:t>
            </a:r>
            <a:r>
              <a:rPr lang="en-CA" b="1" dirty="0">
                <a:solidFill>
                  <a:schemeClr val="tx1"/>
                </a:solidFill>
              </a:rPr>
              <a:t>write</a:t>
            </a:r>
            <a:r>
              <a:rPr lang="en-CA" dirty="0"/>
              <a:t> posts.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BD81C-E8F5-4D51-9510-114D3FB8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86809" y="5522395"/>
            <a:ext cx="1116418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000" b="1" dirty="0">
                <a:solidFill>
                  <a:schemeClr val="accent1">
                    <a:lumMod val="75000"/>
                  </a:schemeClr>
                </a:solidFill>
              </a:rPr>
              <a:t>Step 1</a:t>
            </a:r>
            <a:r>
              <a:rPr lang="en-CA" sz="3000" b="1" dirty="0"/>
              <a:t>: </a:t>
            </a:r>
            <a:r>
              <a:rPr lang="en-CA" sz="3000" dirty="0"/>
              <a:t>Let’s create a UML Class diagram depicting </a:t>
            </a:r>
            <a:r>
              <a:rPr lang="en-CA" sz="3000" b="1" dirty="0"/>
              <a:t>the User hierarchy.</a:t>
            </a:r>
          </a:p>
        </p:txBody>
      </p:sp>
    </p:spTree>
    <p:extLst>
      <p:ext uri="{BB962C8B-B14F-4D97-AF65-F5344CB8AC3E}">
        <p14:creationId xmlns:p14="http://schemas.microsoft.com/office/powerpoint/2010/main" val="1820836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5CD34-0A79-444D-80F2-07927BBA1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1: Define a product hierarchy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ECF61A-BED1-40F0-8B23-2415DFF6C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9201" y="1987303"/>
            <a:ext cx="7178674" cy="35493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46C3D-A0ED-4E25-BBB6-BE8D1567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8728A8-869F-4668-9892-C73330AE0E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6159"/>
          <a:stretch/>
        </p:blipFill>
        <p:spPr>
          <a:xfrm>
            <a:off x="-153513" y="2207904"/>
            <a:ext cx="1342388" cy="11254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9AB49C-5517-488E-BB04-59935183A37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3111"/>
          <a:stretch/>
        </p:blipFill>
        <p:spPr>
          <a:xfrm>
            <a:off x="7335513" y="2188094"/>
            <a:ext cx="1046230" cy="9090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BC1510-251B-44B2-8165-A10553B147A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3111"/>
          <a:stretch/>
        </p:blipFill>
        <p:spPr>
          <a:xfrm>
            <a:off x="8745730" y="4885574"/>
            <a:ext cx="1046230" cy="9090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37F9F3-7721-433C-A563-F99BBA5C9D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3111"/>
          <a:stretch/>
        </p:blipFill>
        <p:spPr>
          <a:xfrm>
            <a:off x="2131570" y="5082164"/>
            <a:ext cx="1046230" cy="9090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24F9612-232F-42B9-BE3B-82644D57EC97}"/>
              </a:ext>
            </a:extLst>
          </p:cNvPr>
          <p:cNvSpPr/>
          <p:nvPr/>
        </p:nvSpPr>
        <p:spPr>
          <a:xfrm>
            <a:off x="-524145" y="1768683"/>
            <a:ext cx="5332520" cy="1926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351C44-EEA4-436A-B89A-55A5034A4046}"/>
              </a:ext>
            </a:extLst>
          </p:cNvPr>
          <p:cNvSpPr/>
          <p:nvPr/>
        </p:nvSpPr>
        <p:spPr>
          <a:xfrm>
            <a:off x="6596743" y="4618653"/>
            <a:ext cx="1831132" cy="90905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B7DCE7-D357-479D-AAC5-B4B1E3FDAD08}"/>
              </a:ext>
            </a:extLst>
          </p:cNvPr>
          <p:cNvSpPr/>
          <p:nvPr/>
        </p:nvSpPr>
        <p:spPr>
          <a:xfrm>
            <a:off x="3238126" y="4612432"/>
            <a:ext cx="1831132" cy="90905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8242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838D-8FA9-49FA-8FDB-7A75B6D11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2: Define a factory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DCF2C-F428-409F-981E-48ED96B6F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391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Let’s create a </a:t>
            </a:r>
            <a:r>
              <a:rPr lang="en-CA" dirty="0" err="1"/>
              <a:t>UserFactory</a:t>
            </a:r>
            <a:r>
              <a:rPr lang="en-CA" dirty="0"/>
              <a:t> class.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Add it to the UML diagram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Specify the creation method.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BBC90-47E1-44F3-A0C6-9E616771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855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838D-8FA9-49FA-8FDB-7A75B6D11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2: Define  a factory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DCF2C-F428-409F-981E-48ED96B6F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391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In the Factory Pattern, a Factory class doesn’t need to solely be responsible for creating objects. It can be a larger class with a creation method.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</a:t>
            </a:r>
            <a:r>
              <a:rPr lang="en-CA" b="1" dirty="0">
                <a:solidFill>
                  <a:schemeClr val="accent2"/>
                </a:solidFill>
              </a:rPr>
              <a:t>The base factory doesn’t need to be abstract</a:t>
            </a:r>
            <a:r>
              <a:rPr lang="en-CA" dirty="0"/>
              <a:t>. It can create a default product. In our case, let’s make it abstract though.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For example a </a:t>
            </a:r>
            <a:r>
              <a:rPr lang="en-CA" dirty="0" err="1"/>
              <a:t>UserFactoryClass</a:t>
            </a:r>
            <a:r>
              <a:rPr lang="en-CA" dirty="0"/>
              <a:t> might also keep track of how many user accounts are currently active.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BBC90-47E1-44F3-A0C6-9E616771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22843F-CC8B-4DA3-A2DC-AE3A91017F8E}"/>
              </a:ext>
            </a:extLst>
          </p:cNvPr>
          <p:cNvSpPr/>
          <p:nvPr/>
        </p:nvSpPr>
        <p:spPr>
          <a:xfrm>
            <a:off x="9113520" y="2727960"/>
            <a:ext cx="2362200" cy="2522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&lt;&lt;Abstract&gt;&gt;</a:t>
            </a:r>
            <a:br>
              <a:rPr lang="en-CA" dirty="0">
                <a:solidFill>
                  <a:schemeClr val="tx1"/>
                </a:solidFill>
              </a:rPr>
            </a:br>
            <a:r>
              <a:rPr lang="en-CA" i="1" dirty="0" err="1">
                <a:solidFill>
                  <a:schemeClr val="tx1"/>
                </a:solidFill>
              </a:rPr>
              <a:t>UserFactory</a:t>
            </a:r>
            <a:endParaRPr lang="en-CA" i="1" dirty="0">
              <a:solidFill>
                <a:schemeClr val="tx1"/>
              </a:solidFill>
            </a:endParaRPr>
          </a:p>
          <a:p>
            <a:pPr algn="ctr"/>
            <a:endParaRPr lang="en-CA" dirty="0">
              <a:solidFill>
                <a:schemeClr val="tx1"/>
              </a:solidFill>
            </a:endParaRPr>
          </a:p>
          <a:p>
            <a:pPr algn="ctr"/>
            <a:endParaRPr lang="en-CA" dirty="0">
              <a:solidFill>
                <a:schemeClr val="tx1"/>
              </a:solidFill>
            </a:endParaRPr>
          </a:p>
          <a:p>
            <a:pPr algn="ctr"/>
            <a:endParaRPr lang="en-CA" dirty="0">
              <a:solidFill>
                <a:schemeClr val="tx1"/>
              </a:solidFill>
            </a:endParaRPr>
          </a:p>
          <a:p>
            <a:pPr algn="ctr"/>
            <a:endParaRPr lang="en-CA" dirty="0">
              <a:solidFill>
                <a:schemeClr val="tx1"/>
              </a:solidFill>
            </a:endParaRPr>
          </a:p>
          <a:p>
            <a:pPr algn="ctr"/>
            <a:r>
              <a:rPr lang="en-CA" dirty="0">
                <a:solidFill>
                  <a:schemeClr val="tx1"/>
                </a:solidFill>
              </a:rPr>
              <a:t>+ </a:t>
            </a:r>
            <a:r>
              <a:rPr lang="en-CA" i="1" dirty="0" err="1">
                <a:solidFill>
                  <a:schemeClr val="tx1"/>
                </a:solidFill>
              </a:rPr>
              <a:t>create_user</a:t>
            </a:r>
            <a:r>
              <a:rPr lang="en-CA" i="1" dirty="0">
                <a:solidFill>
                  <a:schemeClr val="tx1"/>
                </a:solidFill>
              </a:rPr>
              <a:t>()</a:t>
            </a:r>
            <a:r>
              <a:rPr lang="en-CA" dirty="0">
                <a:solidFill>
                  <a:schemeClr val="tx1"/>
                </a:solidFill>
              </a:rPr>
              <a:t> : User</a:t>
            </a:r>
            <a:br>
              <a:rPr lang="en-CA" dirty="0">
                <a:solidFill>
                  <a:schemeClr val="tx1"/>
                </a:solidFill>
              </a:rPr>
            </a:br>
            <a:br>
              <a:rPr lang="en-CA" dirty="0">
                <a:solidFill>
                  <a:schemeClr val="tx1"/>
                </a:solidFill>
              </a:rPr>
            </a:b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9432D8-FD88-4271-A629-D35ED9255B3A}"/>
              </a:ext>
            </a:extLst>
          </p:cNvPr>
          <p:cNvCxnSpPr/>
          <p:nvPr/>
        </p:nvCxnSpPr>
        <p:spPr>
          <a:xfrm>
            <a:off x="9113520" y="3505200"/>
            <a:ext cx="2362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5B6151-B996-4B83-AB36-E5097391BF7A}"/>
              </a:ext>
            </a:extLst>
          </p:cNvPr>
          <p:cNvCxnSpPr/>
          <p:nvPr/>
        </p:nvCxnSpPr>
        <p:spPr>
          <a:xfrm>
            <a:off x="9113520" y="4130040"/>
            <a:ext cx="2362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290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266F-D5CD-42CB-9488-D63DE604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3: Create a Factory hierarchy and override the creation method.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E3EE8-8D1C-4C85-B5F5-8DAF19A66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615940" cy="4023360"/>
          </a:xfrm>
        </p:spPr>
        <p:txBody>
          <a:bodyPr/>
          <a:lstStyle/>
          <a:p>
            <a:r>
              <a:rPr lang="en-CA" dirty="0"/>
              <a:t>The title says it all.</a:t>
            </a:r>
          </a:p>
          <a:p>
            <a:r>
              <a:rPr lang="en-CA" dirty="0"/>
              <a:t>We want to create our concrete factories in this step.</a:t>
            </a:r>
          </a:p>
          <a:p>
            <a:r>
              <a:rPr lang="en-CA" dirty="0"/>
              <a:t>Each concrete factory will create a new object of its corresponding user type and return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2394C-47DB-4AA8-A833-F15F6A4C8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8BFF1E-8CA8-45F1-BE70-757C734A9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736" y="2199072"/>
            <a:ext cx="3979984" cy="3309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29F80E-93BB-4827-AFB4-5ACFF2DA33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5490"/>
          <a:stretch/>
        </p:blipFill>
        <p:spPr>
          <a:xfrm>
            <a:off x="7959421" y="2834649"/>
            <a:ext cx="998811" cy="8440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9CF7A2-2280-48B5-A996-1D6109FD83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5490"/>
          <a:stretch/>
        </p:blipFill>
        <p:spPr>
          <a:xfrm>
            <a:off x="9763069" y="5508272"/>
            <a:ext cx="1063393" cy="8986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E01676-8479-4E14-83BB-3D77478341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5490"/>
          <a:stretch/>
        </p:blipFill>
        <p:spPr>
          <a:xfrm>
            <a:off x="7427725" y="5508272"/>
            <a:ext cx="1063393" cy="89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808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45EC-F79F-4846-9728-FC0D1E2EE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4: </a:t>
            </a:r>
            <a:br>
              <a:rPr lang="en-CA" dirty="0"/>
            </a:br>
            <a:r>
              <a:rPr lang="en-CA" dirty="0"/>
              <a:t>Integrate it into our Forum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59101-8C2B-49B0-88FF-4608BBF38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4197125" cy="4023360"/>
          </a:xfrm>
        </p:spPr>
        <p:txBody>
          <a:bodyPr>
            <a:normAutofit/>
          </a:bodyPr>
          <a:lstStyle/>
          <a:p>
            <a:r>
              <a:rPr lang="en-CA" dirty="0"/>
              <a:t>Bring it all together.</a:t>
            </a:r>
          </a:p>
          <a:p>
            <a:endParaRPr lang="en-CA" dirty="0"/>
          </a:p>
          <a:p>
            <a:r>
              <a:rPr lang="en-CA" dirty="0"/>
              <a:t>Add a client class, and mark the associations between Client, Factories and Users.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34C36-9D91-4020-9FD4-F7904CCE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AF6146-1143-4D2C-BD9C-10CE6D6D07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3111"/>
          <a:stretch/>
        </p:blipFill>
        <p:spPr>
          <a:xfrm>
            <a:off x="9788973" y="4106961"/>
            <a:ext cx="1974832" cy="1715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D24D97-A482-4159-934F-CC56F9389F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6159"/>
          <a:stretch/>
        </p:blipFill>
        <p:spPr>
          <a:xfrm>
            <a:off x="7366951" y="2142337"/>
            <a:ext cx="2422022" cy="20306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238DAD-4930-4129-A7E9-798531FEB1A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5490"/>
          <a:stretch/>
        </p:blipFill>
        <p:spPr>
          <a:xfrm>
            <a:off x="5405117" y="3923427"/>
            <a:ext cx="2489939" cy="210424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199536" y="1743661"/>
            <a:ext cx="86010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200" b="1" dirty="0"/>
              <a:t>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37816" y="5850539"/>
            <a:ext cx="104746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200" b="1" dirty="0"/>
              <a:t>Factory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78857" y="5812225"/>
            <a:ext cx="8336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200" b="1" dirty="0"/>
              <a:t>Users</a:t>
            </a:r>
          </a:p>
        </p:txBody>
      </p:sp>
    </p:spTree>
    <p:extLst>
      <p:ext uri="{BB962C8B-B14F-4D97-AF65-F5344CB8AC3E}">
        <p14:creationId xmlns:p14="http://schemas.microsoft.com/office/powerpoint/2010/main" val="515420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45EC-F79F-4846-9728-FC0D1E2EE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4: </a:t>
            </a:r>
            <a:br>
              <a:rPr lang="en-CA" dirty="0"/>
            </a:br>
            <a:r>
              <a:rPr lang="en-CA" dirty="0"/>
              <a:t>Integrate it into our Forum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59101-8C2B-49B0-88FF-4608BBF38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4197125" cy="2513202"/>
          </a:xfrm>
        </p:spPr>
        <p:txBody>
          <a:bodyPr>
            <a:normAutofit/>
          </a:bodyPr>
          <a:lstStyle/>
          <a:p>
            <a:r>
              <a:rPr lang="en-CA" dirty="0"/>
              <a:t>We can have a </a:t>
            </a:r>
            <a:r>
              <a:rPr lang="en-CA" dirty="0" err="1"/>
              <a:t>ForumController</a:t>
            </a:r>
            <a:r>
              <a:rPr lang="en-CA" dirty="0"/>
              <a:t> that prompts the user for the type of user to create</a:t>
            </a:r>
          </a:p>
          <a:p>
            <a:r>
              <a:rPr lang="en-CA" dirty="0"/>
              <a:t>And that’s it! We have a working Factory Pattern. </a:t>
            </a:r>
          </a:p>
          <a:p>
            <a:r>
              <a:rPr lang="en-CA" dirty="0"/>
              <a:t>It’s pretty straight forward if you break it down right?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34C36-9D91-4020-9FD4-F7904CCE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15EB1D-C272-410A-9EB4-11A66D6D5B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412" y="2009880"/>
            <a:ext cx="6255888" cy="43548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D8C59A-16C0-4A48-B0FC-90CD9CE208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3111"/>
          <a:stretch/>
        </p:blipFill>
        <p:spPr>
          <a:xfrm>
            <a:off x="10420350" y="5278467"/>
            <a:ext cx="620036" cy="538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EFA7FA-DA5A-4377-B0A4-1BC15CCEC7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3111"/>
          <a:stretch/>
        </p:blipFill>
        <p:spPr>
          <a:xfrm>
            <a:off x="9425307" y="5262957"/>
            <a:ext cx="620036" cy="5387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AF6146-1143-4D2C-BD9C-10CE6D6D07F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3111"/>
          <a:stretch/>
        </p:blipFill>
        <p:spPr>
          <a:xfrm>
            <a:off x="11040800" y="3333793"/>
            <a:ext cx="620036" cy="538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D24D97-A482-4159-934F-CC56F9389F9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6159"/>
          <a:stretch/>
        </p:blipFill>
        <p:spPr>
          <a:xfrm>
            <a:off x="7959727" y="2009880"/>
            <a:ext cx="824228" cy="691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83A022-A75C-43A8-9874-0D46574BBD9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5490"/>
          <a:stretch/>
        </p:blipFill>
        <p:spPr>
          <a:xfrm>
            <a:off x="6073954" y="3644174"/>
            <a:ext cx="771247" cy="6517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40242C-9ED6-4CF0-9B8B-16945B8DC5F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5490"/>
          <a:stretch/>
        </p:blipFill>
        <p:spPr>
          <a:xfrm>
            <a:off x="5178249" y="5206437"/>
            <a:ext cx="771247" cy="6517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238DAD-4930-4129-A7E9-798531FEB1A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5490"/>
          <a:stretch/>
        </p:blipFill>
        <p:spPr>
          <a:xfrm>
            <a:off x="6716627" y="5262956"/>
            <a:ext cx="771247" cy="65178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0F2AE04-6E1E-46FD-88BA-4DD6F9E911D3}"/>
              </a:ext>
            </a:extLst>
          </p:cNvPr>
          <p:cNvSpPr/>
          <p:nvPr/>
        </p:nvSpPr>
        <p:spPr>
          <a:xfrm>
            <a:off x="1097279" y="4431909"/>
            <a:ext cx="2320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forum_user_factory.py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7893698" y="2338956"/>
            <a:ext cx="2379306" cy="62515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D9EEC90-3D3B-4437-AFC8-D1E89F17209D}"/>
              </a:ext>
            </a:extLst>
          </p:cNvPr>
          <p:cNvSpPr/>
          <p:nvPr/>
        </p:nvSpPr>
        <p:spPr>
          <a:xfrm>
            <a:off x="10692882" y="4730910"/>
            <a:ext cx="1232419" cy="62515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8263B8-0FB9-4E08-9B39-CDA12B0BCC9A}"/>
              </a:ext>
            </a:extLst>
          </p:cNvPr>
          <p:cNvSpPr/>
          <p:nvPr/>
        </p:nvSpPr>
        <p:spPr>
          <a:xfrm>
            <a:off x="8467141" y="4724979"/>
            <a:ext cx="1232419" cy="62515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462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46291-1F41-4920-AFF6-E7F03B6D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Factory Pattern:</a:t>
            </a:r>
            <a:br>
              <a:rPr lang="en-CA" dirty="0"/>
            </a:br>
            <a:r>
              <a:rPr lang="en-CA" dirty="0"/>
              <a:t>Why and When do we use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655CF-6D80-42A3-BED1-AEB9807DC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82752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Use this pattern when you want to separate and encapsulate the creation process.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When we want to provide a separate interface for object creation where each subclass can alter the type of object created.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Adheres to the Single Responsibility, Open Closed, </a:t>
            </a:r>
            <a:r>
              <a:rPr lang="en-CA" dirty="0" err="1"/>
              <a:t>Liskov</a:t>
            </a:r>
            <a:r>
              <a:rPr lang="en-CA" dirty="0"/>
              <a:t> Substitution and Dependency Inversion Principle.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Use the Factory Pattern when the exact type and dependencies of the objects you need are unknown or susceptible to change. If we want to add a new product, all we need to do is create a new Factory and override the creation method in it.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3C96B-9D12-4AC2-8A70-0B28D8AF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69261D06-0803-4114-9BF2-22B795EBA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908" y="2504864"/>
            <a:ext cx="28575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660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D6A3-EC0E-4CD5-9C94-A7DA4216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Factory Pattern –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73D0-B777-4765-B27E-01083BEEB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833607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There are a lot of classes in play. This can make the code complex and hard to debug.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Sometimes the classes can get artificial. You may decide to create a whole new subclass for a very minor change in the object creation process.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43D81-FAA8-4C11-BD23-55827454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Picture 4" descr="Related image">
            <a:extLst>
              <a:ext uri="{FF2B5EF4-FFF2-40B4-BE49-F238E27FC236}">
                <a16:creationId xmlns:a16="http://schemas.microsoft.com/office/drawing/2014/main" id="{8FB8C510-DC60-4615-97A5-4D2E27906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600" y="2536372"/>
            <a:ext cx="3062514" cy="298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075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82117E-C229-48E0-95C7-9923BDE7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Abstract Factory Pattern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2C05D4-E4D1-4842-AC39-61107F30A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When You need to create families of objects instead of a single object.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1944F-43E9-4DD7-8C9E-1CB47335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207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AE760-8F12-4A04-91AA-1F287B16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Create Families of Products.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57FBE-0463-414D-9D8E-312736E37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3200" b="1" dirty="0"/>
              <a:t>Abstract Factory</a:t>
            </a:r>
            <a:r>
              <a:rPr lang="en-US" sz="3200" dirty="0"/>
              <a:t> is a creational design pattern that lets you produce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families of related objects without specifying their concrete classes</a:t>
            </a:r>
            <a:r>
              <a:rPr lang="en-US" sz="32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9C3FF-D8CE-4D90-B5E4-620016A9D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5E54F8C-ACE9-4493-B7C5-84F707D7C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23120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7F52B6-AD9F-448C-B2EE-637C9AFB6BD4}"/>
              </a:ext>
            </a:extLst>
          </p:cNvPr>
          <p:cNvSpPr txBox="1">
            <a:spLocks/>
          </p:cNvSpPr>
          <p:nvPr/>
        </p:nvSpPr>
        <p:spPr>
          <a:xfrm>
            <a:off x="750917" y="3611739"/>
            <a:ext cx="4948843" cy="2365729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a Factory pattern, each factory creates a </a:t>
            </a:r>
            <a:r>
              <a:rPr lang="en-US" b="1" dirty="0">
                <a:solidFill>
                  <a:srgbClr val="9E3611"/>
                </a:solidFill>
              </a:rPr>
              <a:t>single product</a:t>
            </a:r>
            <a:r>
              <a:rPr lang="en-US" dirty="0"/>
              <a:t>.</a:t>
            </a:r>
          </a:p>
          <a:p>
            <a:r>
              <a:rPr lang="en-US" dirty="0"/>
              <a:t>In a Abstract Factory pattern, each factory creates a </a:t>
            </a:r>
            <a:r>
              <a:rPr lang="en-US" b="1" dirty="0">
                <a:solidFill>
                  <a:srgbClr val="9E3611"/>
                </a:solidFill>
              </a:rPr>
              <a:t>group of related products</a:t>
            </a:r>
          </a:p>
          <a:p>
            <a:r>
              <a:rPr lang="en-US" dirty="0"/>
              <a:t>This is useful if our code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requires objects in specific groups</a:t>
            </a:r>
            <a:r>
              <a:rPr lang="en-US" dirty="0"/>
              <a:t> that are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compatible</a:t>
            </a:r>
            <a:r>
              <a:rPr lang="en-US" dirty="0"/>
              <a:t> with each other. </a:t>
            </a:r>
            <a:br>
              <a:rPr lang="en-US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12761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2C62-2059-4BBE-8955-20819C07B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Create Families of Products.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A36C6-1315-437E-ABFB-0E882215B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547360" cy="4023360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The Abstract Factory builds upon the Factory Pattern.</a:t>
            </a:r>
          </a:p>
          <a:p>
            <a:r>
              <a:rPr lang="en-CA" dirty="0"/>
              <a:t>No, making the base factory abstract is not enough to make an Abstract Factory Pattern.</a:t>
            </a:r>
          </a:p>
          <a:p>
            <a:endParaRPr lang="en-CA" dirty="0"/>
          </a:p>
          <a:p>
            <a:r>
              <a:rPr lang="en-CA" dirty="0"/>
              <a:t>So here’s a new scenario. </a:t>
            </a:r>
          </a:p>
          <a:p>
            <a:r>
              <a:rPr lang="en-CA" dirty="0"/>
              <a:t>Say we have a bunch of objects </a:t>
            </a:r>
            <a:r>
              <a:rPr lang="en-CA" b="1" dirty="0">
                <a:solidFill>
                  <a:schemeClr val="accent2"/>
                </a:solidFill>
              </a:rPr>
              <a:t>that are related to each other </a:t>
            </a:r>
            <a:r>
              <a:rPr lang="en-CA" dirty="0"/>
              <a:t>somehow, they make sense together. Let’s call this a </a:t>
            </a:r>
            <a:r>
              <a:rPr lang="en-CA" b="1" dirty="0">
                <a:solidFill>
                  <a:schemeClr val="accent2"/>
                </a:solidFill>
              </a:rPr>
              <a:t>“product family”</a:t>
            </a:r>
            <a:r>
              <a:rPr lang="en-CA" b="1" dirty="0">
                <a:solidFill>
                  <a:schemeClr val="tx1"/>
                </a:solidFill>
              </a:rPr>
              <a:t>.</a:t>
            </a:r>
          </a:p>
          <a:p>
            <a:r>
              <a:rPr lang="en-CA" dirty="0"/>
              <a:t>Now say there are </a:t>
            </a: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different variations</a:t>
            </a:r>
            <a:r>
              <a:rPr lang="en-CA" dirty="0"/>
              <a:t> of these product families.</a:t>
            </a:r>
          </a:p>
          <a:p>
            <a:r>
              <a:rPr lang="en-CA" dirty="0"/>
              <a:t>The Abstract Factory Pattern modifies the Factory Pattern to accommodate this type of complexity.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BB3DE-770B-4043-AB74-54146377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9218" name="Picture 2" descr="Product families and their variants.">
            <a:extLst>
              <a:ext uri="{FF2B5EF4-FFF2-40B4-BE49-F238E27FC236}">
                <a16:creationId xmlns:a16="http://schemas.microsoft.com/office/drawing/2014/main" id="{E01DC013-9830-420C-A540-200873D25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543" y="1737360"/>
            <a:ext cx="4000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385751-7EB2-42CC-9201-B04DFFF2F786}"/>
              </a:ext>
            </a:extLst>
          </p:cNvPr>
          <p:cNvSpPr txBox="1">
            <a:spLocks/>
          </p:cNvSpPr>
          <p:nvPr/>
        </p:nvSpPr>
        <p:spPr>
          <a:xfrm>
            <a:off x="7688580" y="4709161"/>
            <a:ext cx="3626426" cy="14229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600" b="1" dirty="0">
                <a:solidFill>
                  <a:schemeClr val="accent1">
                    <a:lumMod val="75000"/>
                  </a:schemeClr>
                </a:solidFill>
              </a:rPr>
              <a:t>Product Family (related products):</a:t>
            </a:r>
          </a:p>
          <a:p>
            <a:r>
              <a:rPr lang="en-CA" sz="1600" dirty="0"/>
              <a:t>Chair + Sofa + </a:t>
            </a:r>
            <a:r>
              <a:rPr lang="en-CA" sz="1600" dirty="0" err="1"/>
              <a:t>CoffeeTable</a:t>
            </a:r>
            <a:endParaRPr lang="en-CA" sz="1600" dirty="0"/>
          </a:p>
          <a:p>
            <a:r>
              <a:rPr lang="en-CA" sz="1600" b="1" dirty="0">
                <a:solidFill>
                  <a:schemeClr val="accent1">
                    <a:lumMod val="75000"/>
                  </a:schemeClr>
                </a:solidFill>
              </a:rPr>
              <a:t>Product Family Variations:</a:t>
            </a:r>
          </a:p>
          <a:p>
            <a:r>
              <a:rPr lang="en-CA" sz="1600" dirty="0"/>
              <a:t>Art Deco, or Victorian, or Modern</a:t>
            </a:r>
          </a:p>
        </p:txBody>
      </p:sp>
    </p:spTree>
    <p:extLst>
      <p:ext uri="{BB962C8B-B14F-4D97-AF65-F5344CB8AC3E}">
        <p14:creationId xmlns:p14="http://schemas.microsoft.com/office/powerpoint/2010/main" val="3481234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A87F-669C-4E98-BA3D-27526424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Abstract Factory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6AEDC-A05F-480B-87CF-1BA8927D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543" y="1845734"/>
            <a:ext cx="4716780" cy="4023360"/>
          </a:xfrm>
        </p:spPr>
        <p:txBody>
          <a:bodyPr/>
          <a:lstStyle/>
          <a:p>
            <a:r>
              <a:rPr lang="en-CA" dirty="0"/>
              <a:t>In the abstract factory pattern, instead of one product hierarchy, you would have a </a:t>
            </a: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different hierarchy for each distinct product in the product family</a:t>
            </a:r>
            <a:r>
              <a:rPr lang="en-CA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1C335-4A87-4CB3-ADBD-E2616EF1E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E47974-0771-4426-A105-7A5B9E8DE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923" y="3563904"/>
            <a:ext cx="5156834" cy="27457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180AE3-2094-4746-970F-8B4FBF5C6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6" y="3558364"/>
            <a:ext cx="5156834" cy="27457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A45461-D756-4B06-AC93-507F35AFF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249" y="683264"/>
            <a:ext cx="5156834" cy="274573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85965BF-4EFF-4F3A-99A8-AD03850F443F}"/>
              </a:ext>
            </a:extLst>
          </p:cNvPr>
          <p:cNvSpPr txBox="1">
            <a:spLocks/>
          </p:cNvSpPr>
          <p:nvPr/>
        </p:nvSpPr>
        <p:spPr>
          <a:xfrm>
            <a:off x="9339958" y="922003"/>
            <a:ext cx="2707262" cy="1062296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txBody>
          <a:bodyPr vert="horz" lIns="0" tIns="45720" rIns="0" bIns="45720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600" b="1" u="sng" dirty="0">
                <a:solidFill>
                  <a:schemeClr val="accent1">
                    <a:lumMod val="75000"/>
                  </a:schemeClr>
                </a:solidFill>
              </a:rPr>
              <a:t>Product Family (related products):</a:t>
            </a:r>
            <a:br>
              <a:rPr lang="en-CA" sz="1600" b="1" u="sng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CA" sz="1600" b="1" u="sng" dirty="0"/>
              <a:t>Chair + Sofa + </a:t>
            </a:r>
            <a:r>
              <a:rPr lang="en-CA" sz="1600" b="1" u="sng" dirty="0" err="1"/>
              <a:t>CoffeeTable</a:t>
            </a:r>
            <a:endParaRPr lang="en-CA" sz="1600" b="1" u="sng" dirty="0"/>
          </a:p>
          <a:p>
            <a:r>
              <a:rPr lang="en-CA" sz="1600" b="1" dirty="0">
                <a:solidFill>
                  <a:schemeClr val="accent1">
                    <a:lumMod val="75000"/>
                  </a:schemeClr>
                </a:solidFill>
              </a:rPr>
              <a:t>Product Family Variations:</a:t>
            </a:r>
            <a:br>
              <a:rPr lang="en-CA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CA" sz="1600" dirty="0"/>
              <a:t>Art Deco, or Victorian, or Modern</a:t>
            </a:r>
          </a:p>
        </p:txBody>
      </p:sp>
      <p:sp>
        <p:nvSpPr>
          <p:cNvPr id="5" name="TextBox 4"/>
          <p:cNvSpPr txBox="1"/>
          <p:nvPr/>
        </p:nvSpPr>
        <p:spPr>
          <a:xfrm rot="20196096">
            <a:off x="1044807" y="4325778"/>
            <a:ext cx="13590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000" b="1" dirty="0">
                <a:solidFill>
                  <a:srgbClr val="FF0000"/>
                </a:solidFill>
              </a:rPr>
              <a:t>CHAIRS</a:t>
            </a:r>
          </a:p>
        </p:txBody>
      </p:sp>
      <p:sp>
        <p:nvSpPr>
          <p:cNvPr id="12" name="TextBox 11"/>
          <p:cNvSpPr txBox="1"/>
          <p:nvPr/>
        </p:nvSpPr>
        <p:spPr>
          <a:xfrm rot="20196096">
            <a:off x="6817493" y="4356252"/>
            <a:ext cx="11935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000" b="1" dirty="0">
                <a:solidFill>
                  <a:srgbClr val="FFC000"/>
                </a:solidFill>
              </a:rPr>
              <a:t>SOFAS</a:t>
            </a:r>
          </a:p>
        </p:txBody>
      </p:sp>
      <p:sp>
        <p:nvSpPr>
          <p:cNvPr id="13" name="TextBox 12"/>
          <p:cNvSpPr txBox="1"/>
          <p:nvPr/>
        </p:nvSpPr>
        <p:spPr>
          <a:xfrm rot="20196096">
            <a:off x="5692539" y="1035774"/>
            <a:ext cx="14594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000" b="1" dirty="0">
                <a:solidFill>
                  <a:srgbClr val="00B0F0"/>
                </a:solidFill>
              </a:rPr>
              <a:t>COFFEE </a:t>
            </a:r>
          </a:p>
          <a:p>
            <a:pPr algn="ctr"/>
            <a:r>
              <a:rPr lang="en-CA" sz="3000" b="1" dirty="0">
                <a:solidFill>
                  <a:srgbClr val="00B0F0"/>
                </a:solidFill>
              </a:rPr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64465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1E29-670E-40B1-9AF6-E93E81C4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Abstract Factory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83CC1-782A-4178-8D10-43B32D15B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541520" cy="4023360"/>
          </a:xfrm>
        </p:spPr>
        <p:txBody>
          <a:bodyPr/>
          <a:lstStyle/>
          <a:p>
            <a:r>
              <a:rPr lang="en-CA" dirty="0"/>
              <a:t>Instead of having a factory that creates one item, we would have </a:t>
            </a: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a factory that creates a product family</a:t>
            </a:r>
            <a:r>
              <a:rPr lang="en-CA" dirty="0"/>
              <a:t>.</a:t>
            </a:r>
          </a:p>
          <a:p>
            <a:r>
              <a:rPr lang="en-CA" dirty="0"/>
              <a:t>A factory creates an instance of each object in the family and those objects are guaranteed to be compatible.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15E52-6A13-4DB5-BF72-33BCED4D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A572CE-CF10-476C-B0AB-D37CD72E719E}"/>
              </a:ext>
            </a:extLst>
          </p:cNvPr>
          <p:cNvSpPr txBox="1">
            <a:spLocks/>
          </p:cNvSpPr>
          <p:nvPr/>
        </p:nvSpPr>
        <p:spPr>
          <a:xfrm>
            <a:off x="9339958" y="922003"/>
            <a:ext cx="2707262" cy="1062296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txBody>
          <a:bodyPr vert="horz" lIns="0" tIns="45720" rIns="0" bIns="45720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600" b="1" dirty="0">
                <a:solidFill>
                  <a:schemeClr val="accent1">
                    <a:lumMod val="75000"/>
                  </a:schemeClr>
                </a:solidFill>
              </a:rPr>
              <a:t>Product Family (related products):</a:t>
            </a:r>
            <a:br>
              <a:rPr lang="en-CA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CA" sz="1600" dirty="0"/>
              <a:t>Chair + Sofa + </a:t>
            </a:r>
            <a:r>
              <a:rPr lang="en-CA" sz="1600" dirty="0" err="1"/>
              <a:t>CoffeeTable</a:t>
            </a:r>
            <a:endParaRPr lang="en-CA" sz="1600" dirty="0"/>
          </a:p>
          <a:p>
            <a:r>
              <a:rPr lang="en-CA" sz="1600" b="1" u="sng" dirty="0">
                <a:solidFill>
                  <a:schemeClr val="accent1">
                    <a:lumMod val="75000"/>
                  </a:schemeClr>
                </a:solidFill>
              </a:rPr>
              <a:t>Product Family Variations:</a:t>
            </a:r>
            <a:br>
              <a:rPr lang="en-CA" sz="1600" b="1" u="sng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CA" sz="1600" b="1" u="sng" dirty="0"/>
              <a:t>Art Deco, or Victorian, or Modern</a:t>
            </a:r>
          </a:p>
        </p:txBody>
      </p:sp>
      <p:pic>
        <p:nvPicPr>
          <p:cNvPr id="13314" name="Picture 2" descr="The _Factories_ class hierarchy">
            <a:extLst>
              <a:ext uri="{FF2B5EF4-FFF2-40B4-BE49-F238E27FC236}">
                <a16:creationId xmlns:a16="http://schemas.microsoft.com/office/drawing/2014/main" id="{A3DBA1D3-CD45-4B92-B6E7-F1B002AF6A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5" r="29035" b="58018"/>
          <a:stretch/>
        </p:blipFill>
        <p:spPr bwMode="auto">
          <a:xfrm>
            <a:off x="5494016" y="3719089"/>
            <a:ext cx="3718564" cy="186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The _Factories_ class hierarchy">
            <a:extLst>
              <a:ext uri="{FF2B5EF4-FFF2-40B4-BE49-F238E27FC236}">
                <a16:creationId xmlns:a16="http://schemas.microsoft.com/office/drawing/2014/main" id="{BECA9021-431E-45F5-8B3F-3991D695D9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" t="49294" r="84900" b="-1935"/>
          <a:stretch/>
        </p:blipFill>
        <p:spPr bwMode="auto">
          <a:xfrm>
            <a:off x="4450072" y="3579116"/>
            <a:ext cx="1158248" cy="2289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573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1E29-670E-40B1-9AF6-E93E81C4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Abstract Factory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83CC1-782A-4178-8D10-43B32D15B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929554"/>
            <a:ext cx="4541520" cy="4023360"/>
          </a:xfrm>
        </p:spPr>
        <p:txBody>
          <a:bodyPr/>
          <a:lstStyle/>
          <a:p>
            <a:r>
              <a:rPr lang="en-CA" dirty="0"/>
              <a:t>Just like the factory pattern, we have to extend our Base Factory class (Furniture Factory) and create a </a:t>
            </a: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Concrete Factory.</a:t>
            </a:r>
          </a:p>
          <a:p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Each Concrete Factory now represents a theme/variety. </a:t>
            </a:r>
            <a:r>
              <a:rPr lang="en-CA" dirty="0"/>
              <a:t>This is what determines the </a:t>
            </a: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compatibility</a:t>
            </a:r>
            <a:r>
              <a:rPr lang="en-CA" dirty="0"/>
              <a:t>.</a:t>
            </a:r>
          </a:p>
          <a:p>
            <a:r>
              <a:rPr lang="en-CA" dirty="0"/>
              <a:t>Each Concrete Factory </a:t>
            </a: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overrides the creation methods</a:t>
            </a:r>
            <a:r>
              <a:rPr lang="en-CA" dirty="0"/>
              <a:t> to return</a:t>
            </a:r>
            <a:br>
              <a:rPr lang="en-CA" dirty="0"/>
            </a:br>
            <a:r>
              <a:rPr lang="en-CA" dirty="0"/>
              <a:t>objects from the </a:t>
            </a: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same </a:t>
            </a:r>
            <a:br>
              <a:rPr lang="en-CA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Product Family.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15E52-6A13-4DB5-BF72-33BCED4D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A572CE-CF10-476C-B0AB-D37CD72E719E}"/>
              </a:ext>
            </a:extLst>
          </p:cNvPr>
          <p:cNvSpPr txBox="1">
            <a:spLocks/>
          </p:cNvSpPr>
          <p:nvPr/>
        </p:nvSpPr>
        <p:spPr>
          <a:xfrm>
            <a:off x="9339958" y="922003"/>
            <a:ext cx="2707262" cy="1062296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txBody>
          <a:bodyPr vert="horz" lIns="0" tIns="45720" rIns="0" bIns="45720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600" b="1" dirty="0">
                <a:solidFill>
                  <a:schemeClr val="accent1">
                    <a:lumMod val="75000"/>
                  </a:schemeClr>
                </a:solidFill>
              </a:rPr>
              <a:t>Product Family (related products):</a:t>
            </a:r>
            <a:br>
              <a:rPr lang="en-CA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CA" sz="1600" dirty="0"/>
              <a:t>Chair + Sofa + </a:t>
            </a:r>
            <a:r>
              <a:rPr lang="en-CA" sz="1600" dirty="0" err="1"/>
              <a:t>CoffeeTable</a:t>
            </a:r>
            <a:endParaRPr lang="en-CA" sz="1600" dirty="0"/>
          </a:p>
          <a:p>
            <a:r>
              <a:rPr lang="en-CA" sz="1600" b="1" u="sng" dirty="0">
                <a:solidFill>
                  <a:schemeClr val="accent1">
                    <a:lumMod val="75000"/>
                  </a:schemeClr>
                </a:solidFill>
              </a:rPr>
              <a:t>Product Family Variations:</a:t>
            </a:r>
            <a:br>
              <a:rPr lang="en-CA" sz="1600" b="1" u="sng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CA" sz="1600" b="1" u="sng" dirty="0"/>
              <a:t>Art Deco, or Victorian, or Modern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3300284" y="3157147"/>
            <a:ext cx="8734682" cy="3048000"/>
            <a:chOff x="3243958" y="2698042"/>
            <a:chExt cx="8734682" cy="3048000"/>
          </a:xfrm>
        </p:grpSpPr>
        <p:pic>
          <p:nvPicPr>
            <p:cNvPr id="25" name="Picture 2" descr="The _Factories_ class hierarchy">
              <a:extLst>
                <a:ext uri="{FF2B5EF4-FFF2-40B4-BE49-F238E27FC236}">
                  <a16:creationId xmlns:a16="http://schemas.microsoft.com/office/drawing/2014/main" id="{A3DBA1D3-CD45-4B92-B6E7-F1B002AF6A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3958" y="2698042"/>
              <a:ext cx="6096000" cy="30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593510E-3AE7-4C4F-8B02-1338EB845BF1}"/>
                </a:ext>
              </a:extLst>
            </p:cNvPr>
            <p:cNvSpPr/>
            <p:nvPr/>
          </p:nvSpPr>
          <p:spPr>
            <a:xfrm>
              <a:off x="9525000" y="4396740"/>
              <a:ext cx="2453640" cy="12268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600" dirty="0" err="1">
                  <a:solidFill>
                    <a:schemeClr val="tx1"/>
                  </a:solidFill>
                </a:rPr>
                <a:t>ArtDecoFurnitureFactory</a:t>
              </a:r>
              <a:endParaRPr lang="en-CA" sz="1600" dirty="0">
                <a:solidFill>
                  <a:schemeClr val="tx1"/>
                </a:solidFill>
              </a:endParaRPr>
            </a:p>
            <a:p>
              <a:pPr algn="ctr"/>
              <a:endParaRPr lang="en-CA" sz="1600" dirty="0">
                <a:solidFill>
                  <a:schemeClr val="tx1"/>
                </a:solidFill>
              </a:endParaRPr>
            </a:p>
            <a:p>
              <a:r>
                <a:rPr lang="en-CA" sz="1200" dirty="0">
                  <a:solidFill>
                    <a:schemeClr val="tx1"/>
                  </a:solidFill>
                </a:rPr>
                <a:t>+ </a:t>
              </a:r>
              <a:r>
                <a:rPr lang="en-CA" sz="1200" dirty="0" err="1">
                  <a:solidFill>
                    <a:schemeClr val="tx1"/>
                  </a:solidFill>
                </a:rPr>
                <a:t>createChair</a:t>
              </a:r>
              <a:r>
                <a:rPr lang="en-CA" sz="1200" dirty="0">
                  <a:solidFill>
                    <a:schemeClr val="tx1"/>
                  </a:solidFill>
                </a:rPr>
                <a:t>() : Chair</a:t>
              </a:r>
              <a:br>
                <a:rPr lang="en-CA" sz="1200" dirty="0">
                  <a:solidFill>
                    <a:schemeClr val="tx1"/>
                  </a:solidFill>
                </a:rPr>
              </a:br>
              <a:r>
                <a:rPr lang="en-CA" sz="1200" dirty="0">
                  <a:solidFill>
                    <a:schemeClr val="tx1"/>
                  </a:solidFill>
                </a:rPr>
                <a:t>+ </a:t>
              </a:r>
              <a:r>
                <a:rPr lang="en-CA" sz="1200" dirty="0" err="1">
                  <a:solidFill>
                    <a:schemeClr val="tx1"/>
                  </a:solidFill>
                </a:rPr>
                <a:t>createCoffeeTable</a:t>
              </a:r>
              <a:r>
                <a:rPr lang="en-CA" sz="1200" dirty="0">
                  <a:solidFill>
                    <a:schemeClr val="tx1"/>
                  </a:solidFill>
                </a:rPr>
                <a:t>() : </a:t>
              </a:r>
              <a:r>
                <a:rPr lang="en-CA" sz="1200" dirty="0" err="1">
                  <a:solidFill>
                    <a:schemeClr val="tx1"/>
                  </a:solidFill>
                </a:rPr>
                <a:t>CoffeeTable</a:t>
              </a:r>
              <a:br>
                <a:rPr lang="en-CA" sz="1200" dirty="0">
                  <a:solidFill>
                    <a:schemeClr val="tx1"/>
                  </a:solidFill>
                </a:rPr>
              </a:br>
              <a:r>
                <a:rPr lang="en-CA" sz="1200" dirty="0">
                  <a:solidFill>
                    <a:schemeClr val="tx1"/>
                  </a:solidFill>
                </a:rPr>
                <a:t>+ </a:t>
              </a:r>
              <a:r>
                <a:rPr lang="en-CA" sz="1200" dirty="0" err="1">
                  <a:solidFill>
                    <a:schemeClr val="tx1"/>
                  </a:solidFill>
                </a:rPr>
                <a:t>createSofa</a:t>
              </a:r>
              <a:r>
                <a:rPr lang="en-CA" sz="1200" dirty="0">
                  <a:solidFill>
                    <a:schemeClr val="tx1"/>
                  </a:solidFill>
                </a:rPr>
                <a:t>() : Sofa</a:t>
              </a:r>
              <a:r>
                <a:rPr lang="en-CA" sz="1600" dirty="0">
                  <a:solidFill>
                    <a:schemeClr val="tx1"/>
                  </a:solidFill>
                </a:rPr>
                <a:t> </a:t>
              </a:r>
            </a:p>
          </p:txBody>
        </p:sp>
        <p:cxnSp>
          <p:nvCxnSpPr>
            <p:cNvPr id="27" name="Connector: Elbow 10">
              <a:extLst>
                <a:ext uri="{FF2B5EF4-FFF2-40B4-BE49-F238E27FC236}">
                  <a16:creationId xmlns:a16="http://schemas.microsoft.com/office/drawing/2014/main" id="{8BD8B795-8CD6-4588-A8EE-452383481D8F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7467600" y="4213860"/>
              <a:ext cx="3284220" cy="182880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3917CD7-3722-4990-8656-29A12239E896}"/>
                </a:ext>
              </a:extLst>
            </p:cNvPr>
            <p:cNvCxnSpPr/>
            <p:nvPr/>
          </p:nvCxnSpPr>
          <p:spPr>
            <a:xfrm>
              <a:off x="9525000" y="4709160"/>
              <a:ext cx="24536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C78B88C-58F4-4A8D-B934-516114BA8108}"/>
                </a:ext>
              </a:extLst>
            </p:cNvPr>
            <p:cNvCxnSpPr/>
            <p:nvPr/>
          </p:nvCxnSpPr>
          <p:spPr>
            <a:xfrm>
              <a:off x="9525000" y="4940348"/>
              <a:ext cx="24536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04460" y="4221952"/>
              <a:ext cx="554736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5204460" y="4213860"/>
              <a:ext cx="0" cy="18288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7439278" y="4217906"/>
              <a:ext cx="0" cy="18288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10761261" y="4209814"/>
              <a:ext cx="0" cy="18288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 flipV="1">
              <a:off x="6332048" y="4131988"/>
              <a:ext cx="2330" cy="8591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5716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1E29-670E-40B1-9AF6-E93E81C4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Abstract Factory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83CC1-782A-4178-8D10-43B32D15B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" y="1821012"/>
            <a:ext cx="8271510" cy="4023360"/>
          </a:xfrm>
        </p:spPr>
        <p:txBody>
          <a:bodyPr>
            <a:normAutofit/>
          </a:bodyPr>
          <a:lstStyle/>
          <a:p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VictorianFurnitureFactory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FurnitureFactory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create_chair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-&gt; Chair:</a:t>
            </a:r>
            <a:b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VictorianChair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create_coffee_table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-&gt; 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CoffeeTable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VictorianCoffeeTable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</a:t>
            </a:r>
            <a:b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b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create_sofa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-&gt; Sofa:</a:t>
            </a:r>
            <a:b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VictorianSofa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A" sz="16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15E52-6A13-4DB5-BF72-33BCED4D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A572CE-CF10-476C-B0AB-D37CD72E719E}"/>
              </a:ext>
            </a:extLst>
          </p:cNvPr>
          <p:cNvSpPr txBox="1">
            <a:spLocks/>
          </p:cNvSpPr>
          <p:nvPr/>
        </p:nvSpPr>
        <p:spPr>
          <a:xfrm>
            <a:off x="9339958" y="922003"/>
            <a:ext cx="2707262" cy="1062296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txBody>
          <a:bodyPr vert="horz" lIns="0" tIns="45720" rIns="0" bIns="45720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600" b="1" dirty="0">
                <a:solidFill>
                  <a:schemeClr val="accent1">
                    <a:lumMod val="75000"/>
                  </a:schemeClr>
                </a:solidFill>
              </a:rPr>
              <a:t>Product Family (related products):</a:t>
            </a:r>
            <a:br>
              <a:rPr lang="en-CA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CA" sz="1600" dirty="0"/>
              <a:t>Chair + Sofa + </a:t>
            </a:r>
            <a:r>
              <a:rPr lang="en-CA" sz="1600" dirty="0" err="1"/>
              <a:t>CoffeeTable</a:t>
            </a:r>
            <a:endParaRPr lang="en-CA" sz="1600" dirty="0"/>
          </a:p>
          <a:p>
            <a:r>
              <a:rPr lang="en-CA" sz="1600" b="1" u="sng" dirty="0">
                <a:solidFill>
                  <a:schemeClr val="accent1">
                    <a:lumMod val="75000"/>
                  </a:schemeClr>
                </a:solidFill>
              </a:rPr>
              <a:t>Product Family Variations:</a:t>
            </a:r>
            <a:br>
              <a:rPr lang="en-CA" sz="1600" b="1" u="sng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CA" sz="1600" b="1" u="sng" dirty="0"/>
              <a:t>Art Deco, or Victorian, or Modern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3300284" y="3157147"/>
            <a:ext cx="8734682" cy="3048000"/>
            <a:chOff x="3243958" y="2698042"/>
            <a:chExt cx="8734682" cy="3048000"/>
          </a:xfrm>
        </p:grpSpPr>
        <p:pic>
          <p:nvPicPr>
            <p:cNvPr id="26" name="Picture 2" descr="The _Factories_ class hierarchy">
              <a:extLst>
                <a:ext uri="{FF2B5EF4-FFF2-40B4-BE49-F238E27FC236}">
                  <a16:creationId xmlns:a16="http://schemas.microsoft.com/office/drawing/2014/main" id="{A3DBA1D3-CD45-4B92-B6E7-F1B002AF6A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3958" y="2698042"/>
              <a:ext cx="6096000" cy="30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593510E-3AE7-4C4F-8B02-1338EB845BF1}"/>
                </a:ext>
              </a:extLst>
            </p:cNvPr>
            <p:cNvSpPr/>
            <p:nvPr/>
          </p:nvSpPr>
          <p:spPr>
            <a:xfrm>
              <a:off x="9525000" y="4396740"/>
              <a:ext cx="2453640" cy="12268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600" dirty="0" err="1">
                  <a:solidFill>
                    <a:schemeClr val="tx1"/>
                  </a:solidFill>
                </a:rPr>
                <a:t>ArtDecoFurnitureFactory</a:t>
              </a:r>
              <a:endParaRPr lang="en-CA" sz="1600" dirty="0">
                <a:solidFill>
                  <a:schemeClr val="tx1"/>
                </a:solidFill>
              </a:endParaRPr>
            </a:p>
            <a:p>
              <a:pPr algn="ctr"/>
              <a:endParaRPr lang="en-CA" sz="1600" dirty="0">
                <a:solidFill>
                  <a:schemeClr val="tx1"/>
                </a:solidFill>
              </a:endParaRPr>
            </a:p>
            <a:p>
              <a:r>
                <a:rPr lang="en-CA" sz="1200" dirty="0">
                  <a:solidFill>
                    <a:schemeClr val="tx1"/>
                  </a:solidFill>
                </a:rPr>
                <a:t>+ </a:t>
              </a:r>
              <a:r>
                <a:rPr lang="en-CA" sz="1200" dirty="0" err="1">
                  <a:solidFill>
                    <a:schemeClr val="tx1"/>
                  </a:solidFill>
                </a:rPr>
                <a:t>createChair</a:t>
              </a:r>
              <a:r>
                <a:rPr lang="en-CA" sz="1200" dirty="0">
                  <a:solidFill>
                    <a:schemeClr val="tx1"/>
                  </a:solidFill>
                </a:rPr>
                <a:t>() : Chair</a:t>
              </a:r>
              <a:br>
                <a:rPr lang="en-CA" sz="1200" dirty="0">
                  <a:solidFill>
                    <a:schemeClr val="tx1"/>
                  </a:solidFill>
                </a:rPr>
              </a:br>
              <a:r>
                <a:rPr lang="en-CA" sz="1200" dirty="0">
                  <a:solidFill>
                    <a:schemeClr val="tx1"/>
                  </a:solidFill>
                </a:rPr>
                <a:t>+</a:t>
              </a:r>
              <a:r>
                <a:rPr lang="en-CA" sz="1200" dirty="0" err="1">
                  <a:solidFill>
                    <a:schemeClr val="tx1"/>
                  </a:solidFill>
                </a:rPr>
                <a:t>createCoffeeTable</a:t>
              </a:r>
              <a:r>
                <a:rPr lang="en-CA" sz="1200" dirty="0">
                  <a:solidFill>
                    <a:schemeClr val="tx1"/>
                  </a:solidFill>
                </a:rPr>
                <a:t>() : </a:t>
              </a:r>
              <a:r>
                <a:rPr lang="en-CA" sz="1200" dirty="0" err="1">
                  <a:solidFill>
                    <a:schemeClr val="tx1"/>
                  </a:solidFill>
                </a:rPr>
                <a:t>CoffeeTable</a:t>
              </a:r>
              <a:br>
                <a:rPr lang="en-CA" sz="1200" dirty="0">
                  <a:solidFill>
                    <a:schemeClr val="tx1"/>
                  </a:solidFill>
                </a:rPr>
              </a:br>
              <a:r>
                <a:rPr lang="en-CA" sz="1200" dirty="0">
                  <a:solidFill>
                    <a:schemeClr val="tx1"/>
                  </a:solidFill>
                </a:rPr>
                <a:t>+</a:t>
              </a:r>
              <a:r>
                <a:rPr lang="en-CA" sz="1200" dirty="0" err="1">
                  <a:solidFill>
                    <a:schemeClr val="tx1"/>
                  </a:solidFill>
                </a:rPr>
                <a:t>createSofa</a:t>
              </a:r>
              <a:r>
                <a:rPr lang="en-CA" sz="1200" dirty="0">
                  <a:solidFill>
                    <a:schemeClr val="tx1"/>
                  </a:solidFill>
                </a:rPr>
                <a:t>() : Sofa</a:t>
              </a:r>
              <a:r>
                <a:rPr lang="en-CA" sz="1600" dirty="0">
                  <a:solidFill>
                    <a:schemeClr val="tx1"/>
                  </a:solidFill>
                </a:rPr>
                <a:t> </a:t>
              </a:r>
            </a:p>
          </p:txBody>
        </p:sp>
        <p:cxnSp>
          <p:nvCxnSpPr>
            <p:cNvPr id="28" name="Connector: Elbow 10">
              <a:extLst>
                <a:ext uri="{FF2B5EF4-FFF2-40B4-BE49-F238E27FC236}">
                  <a16:creationId xmlns:a16="http://schemas.microsoft.com/office/drawing/2014/main" id="{8BD8B795-8CD6-4588-A8EE-452383481D8F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>
              <a:off x="7467600" y="4213860"/>
              <a:ext cx="3284220" cy="182880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3917CD7-3722-4990-8656-29A12239E896}"/>
                </a:ext>
              </a:extLst>
            </p:cNvPr>
            <p:cNvCxnSpPr/>
            <p:nvPr/>
          </p:nvCxnSpPr>
          <p:spPr>
            <a:xfrm>
              <a:off x="9525000" y="4709160"/>
              <a:ext cx="24536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C78B88C-58F4-4A8D-B934-516114BA8108}"/>
                </a:ext>
              </a:extLst>
            </p:cNvPr>
            <p:cNvCxnSpPr/>
            <p:nvPr/>
          </p:nvCxnSpPr>
          <p:spPr>
            <a:xfrm>
              <a:off x="9525000" y="4975860"/>
              <a:ext cx="24536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5204460" y="4221952"/>
              <a:ext cx="554736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5204460" y="4213860"/>
              <a:ext cx="0" cy="18288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7439278" y="4217906"/>
              <a:ext cx="0" cy="18288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10761261" y="4209814"/>
              <a:ext cx="0" cy="18288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 flipV="1">
              <a:off x="6332048" y="4131988"/>
              <a:ext cx="2330" cy="8591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873FA2D-477D-4FCC-8C34-48378274796F}"/>
              </a:ext>
            </a:extLst>
          </p:cNvPr>
          <p:cNvSpPr/>
          <p:nvPr/>
        </p:nvSpPr>
        <p:spPr>
          <a:xfrm>
            <a:off x="4208107" y="4851799"/>
            <a:ext cx="2098435" cy="1249045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3125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CF6B0-8D64-4372-B2ED-3AD86C07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Abstract Factory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C57EF-8A8A-4353-A686-5CD27AF60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30" y="1845734"/>
            <a:ext cx="4674870" cy="4023360"/>
          </a:xfrm>
        </p:spPr>
        <p:txBody>
          <a:bodyPr>
            <a:normAutofit/>
          </a:bodyPr>
          <a:lstStyle/>
          <a:p>
            <a:r>
              <a:rPr lang="en-CA" sz="1800" dirty="0"/>
              <a:t>Now we just need to add in the </a:t>
            </a:r>
            <a:r>
              <a:rPr lang="en-CA" sz="1800" b="1" dirty="0">
                <a:solidFill>
                  <a:srgbClr val="0070C0"/>
                </a:solidFill>
              </a:rPr>
              <a:t>client</a:t>
            </a:r>
            <a:r>
              <a:rPr lang="en-CA" sz="1800" dirty="0"/>
              <a:t>.</a:t>
            </a:r>
          </a:p>
          <a:p>
            <a:r>
              <a:rPr lang="en-CA" sz="1800" dirty="0"/>
              <a:t>The client expects an object with </a:t>
            </a:r>
            <a:r>
              <a:rPr lang="en-CA" sz="1800" dirty="0" err="1"/>
              <a:t>FurnitureFactory</a:t>
            </a:r>
            <a:r>
              <a:rPr lang="en-CA" sz="1800" dirty="0"/>
              <a:t> Interface. </a:t>
            </a:r>
          </a:p>
          <a:p>
            <a:r>
              <a:rPr lang="en-CA" sz="1800" dirty="0"/>
              <a:t>We can have a controller initialize the right factory and pass it on to the client. </a:t>
            </a:r>
          </a:p>
          <a:p>
            <a:r>
              <a:rPr lang="en-CA" sz="1800" dirty="0"/>
              <a:t>Once the factory is passed to the client, it shouldn’t matter if it is a Victorian, Modern or </a:t>
            </a:r>
            <a:r>
              <a:rPr lang="en-CA" sz="1800" dirty="0" err="1"/>
              <a:t>ArtDeco</a:t>
            </a:r>
            <a:r>
              <a:rPr lang="en-CA" sz="1800" dirty="0"/>
              <a:t> Furniture Factory. What matters is that it has the right interface.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7BDB7-7C35-4892-84E8-3797A03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FFA275-61D3-4F00-926D-102BA5FA3B70}"/>
              </a:ext>
            </a:extLst>
          </p:cNvPr>
          <p:cNvSpPr/>
          <p:nvPr/>
        </p:nvSpPr>
        <p:spPr>
          <a:xfrm>
            <a:off x="9028619" y="3164767"/>
            <a:ext cx="2453640" cy="1226820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 err="1">
                <a:solidFill>
                  <a:schemeClr val="tx1"/>
                </a:solidFill>
              </a:rPr>
              <a:t>FurnitureStore</a:t>
            </a:r>
            <a:endParaRPr lang="en-CA" sz="24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0DE538-D34A-4786-977D-D864D99ACBC6}"/>
              </a:ext>
            </a:extLst>
          </p:cNvPr>
          <p:cNvCxnSpPr/>
          <p:nvPr/>
        </p:nvCxnSpPr>
        <p:spPr>
          <a:xfrm flipH="1">
            <a:off x="7591425" y="3854377"/>
            <a:ext cx="14371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903644-A6B7-405D-9A16-63819326888C}"/>
              </a:ext>
            </a:extLst>
          </p:cNvPr>
          <p:cNvCxnSpPr>
            <a:cxnSpLocks/>
          </p:cNvCxnSpPr>
          <p:nvPr/>
        </p:nvCxnSpPr>
        <p:spPr>
          <a:xfrm flipH="1" flipV="1">
            <a:off x="7591425" y="3854377"/>
            <a:ext cx="152400" cy="1597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D5D4D01-9EE0-4A85-AA89-20FD12DB2B8E}"/>
              </a:ext>
            </a:extLst>
          </p:cNvPr>
          <p:cNvCxnSpPr>
            <a:cxnSpLocks/>
          </p:cNvCxnSpPr>
          <p:nvPr/>
        </p:nvCxnSpPr>
        <p:spPr>
          <a:xfrm flipH="1">
            <a:off x="7591425" y="3694638"/>
            <a:ext cx="152400" cy="15973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3300284" y="3157147"/>
            <a:ext cx="8734682" cy="3048000"/>
            <a:chOff x="3243958" y="2698042"/>
            <a:chExt cx="8734682" cy="3048000"/>
          </a:xfrm>
        </p:grpSpPr>
        <p:pic>
          <p:nvPicPr>
            <p:cNvPr id="14" name="Picture 2" descr="The _Factories_ class hierarchy">
              <a:extLst>
                <a:ext uri="{FF2B5EF4-FFF2-40B4-BE49-F238E27FC236}">
                  <a16:creationId xmlns:a16="http://schemas.microsoft.com/office/drawing/2014/main" id="{A3DBA1D3-CD45-4B92-B6E7-F1B002AF6A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3958" y="2698042"/>
              <a:ext cx="6096000" cy="30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593510E-3AE7-4C4F-8B02-1338EB845BF1}"/>
                </a:ext>
              </a:extLst>
            </p:cNvPr>
            <p:cNvSpPr/>
            <p:nvPr/>
          </p:nvSpPr>
          <p:spPr>
            <a:xfrm>
              <a:off x="9525000" y="4396740"/>
              <a:ext cx="2453640" cy="12268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600" dirty="0" err="1">
                  <a:solidFill>
                    <a:schemeClr val="tx1"/>
                  </a:solidFill>
                </a:rPr>
                <a:t>ArtDecoFurnitureFactory</a:t>
              </a:r>
              <a:endParaRPr lang="en-CA" sz="1600" dirty="0">
                <a:solidFill>
                  <a:schemeClr val="tx1"/>
                </a:solidFill>
              </a:endParaRPr>
            </a:p>
            <a:p>
              <a:pPr algn="ctr"/>
              <a:endParaRPr lang="en-CA" sz="1600" dirty="0">
                <a:solidFill>
                  <a:schemeClr val="tx1"/>
                </a:solidFill>
              </a:endParaRPr>
            </a:p>
            <a:p>
              <a:r>
                <a:rPr lang="en-CA" sz="1200" dirty="0">
                  <a:solidFill>
                    <a:schemeClr val="tx1"/>
                  </a:solidFill>
                </a:rPr>
                <a:t>+ </a:t>
              </a:r>
              <a:r>
                <a:rPr lang="en-CA" sz="1200" dirty="0" err="1">
                  <a:solidFill>
                    <a:schemeClr val="tx1"/>
                  </a:solidFill>
                </a:rPr>
                <a:t>createChair</a:t>
              </a:r>
              <a:r>
                <a:rPr lang="en-CA" sz="1200" dirty="0">
                  <a:solidFill>
                    <a:schemeClr val="tx1"/>
                  </a:solidFill>
                </a:rPr>
                <a:t>() : Chair</a:t>
              </a:r>
              <a:br>
                <a:rPr lang="en-CA" sz="1200" dirty="0">
                  <a:solidFill>
                    <a:schemeClr val="tx1"/>
                  </a:solidFill>
                </a:rPr>
              </a:br>
              <a:r>
                <a:rPr lang="en-CA" sz="1200" dirty="0">
                  <a:solidFill>
                    <a:schemeClr val="tx1"/>
                  </a:solidFill>
                </a:rPr>
                <a:t>+</a:t>
              </a:r>
              <a:r>
                <a:rPr lang="en-CA" sz="1200" dirty="0" err="1">
                  <a:solidFill>
                    <a:schemeClr val="tx1"/>
                  </a:solidFill>
                </a:rPr>
                <a:t>createCoffeeTable</a:t>
              </a:r>
              <a:r>
                <a:rPr lang="en-CA" sz="1200" dirty="0">
                  <a:solidFill>
                    <a:schemeClr val="tx1"/>
                  </a:solidFill>
                </a:rPr>
                <a:t>() : </a:t>
              </a:r>
              <a:r>
                <a:rPr lang="en-CA" sz="1200" dirty="0" err="1">
                  <a:solidFill>
                    <a:schemeClr val="tx1"/>
                  </a:solidFill>
                </a:rPr>
                <a:t>CoffeeTable</a:t>
              </a:r>
              <a:br>
                <a:rPr lang="en-CA" sz="1200" dirty="0">
                  <a:solidFill>
                    <a:schemeClr val="tx1"/>
                  </a:solidFill>
                </a:rPr>
              </a:br>
              <a:r>
                <a:rPr lang="en-CA" sz="1200" dirty="0">
                  <a:solidFill>
                    <a:schemeClr val="tx1"/>
                  </a:solidFill>
                </a:rPr>
                <a:t>+</a:t>
              </a:r>
              <a:r>
                <a:rPr lang="en-CA" sz="1200" dirty="0" err="1">
                  <a:solidFill>
                    <a:schemeClr val="tx1"/>
                  </a:solidFill>
                </a:rPr>
                <a:t>createSofa</a:t>
              </a:r>
              <a:r>
                <a:rPr lang="en-CA" sz="1200" dirty="0">
                  <a:solidFill>
                    <a:schemeClr val="tx1"/>
                  </a:solidFill>
                </a:rPr>
                <a:t>() : Sofa</a:t>
              </a:r>
              <a:r>
                <a:rPr lang="en-CA" sz="1600" dirty="0">
                  <a:solidFill>
                    <a:schemeClr val="tx1"/>
                  </a:solidFill>
                </a:rPr>
                <a:t> </a:t>
              </a:r>
            </a:p>
          </p:txBody>
        </p:sp>
        <p:cxnSp>
          <p:nvCxnSpPr>
            <p:cNvPr id="17" name="Connector: Elbow 10">
              <a:extLst>
                <a:ext uri="{FF2B5EF4-FFF2-40B4-BE49-F238E27FC236}">
                  <a16:creationId xmlns:a16="http://schemas.microsoft.com/office/drawing/2014/main" id="{8BD8B795-8CD6-4588-A8EE-452383481D8F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7467600" y="4213860"/>
              <a:ext cx="3284220" cy="182880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3917CD7-3722-4990-8656-29A12239E896}"/>
                </a:ext>
              </a:extLst>
            </p:cNvPr>
            <p:cNvCxnSpPr/>
            <p:nvPr/>
          </p:nvCxnSpPr>
          <p:spPr>
            <a:xfrm>
              <a:off x="9525000" y="4709160"/>
              <a:ext cx="24536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C78B88C-58F4-4A8D-B934-516114BA8108}"/>
                </a:ext>
              </a:extLst>
            </p:cNvPr>
            <p:cNvCxnSpPr/>
            <p:nvPr/>
          </p:nvCxnSpPr>
          <p:spPr>
            <a:xfrm>
              <a:off x="9525000" y="4975860"/>
              <a:ext cx="24536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204460" y="4221952"/>
              <a:ext cx="554736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5204460" y="4213860"/>
              <a:ext cx="0" cy="18288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7439278" y="4217906"/>
              <a:ext cx="0" cy="18288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10761261" y="4209814"/>
              <a:ext cx="0" cy="18288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 flipV="1">
              <a:off x="6332048" y="4131988"/>
              <a:ext cx="2330" cy="8591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72502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ADCF96A-B45F-4EDB-9F48-CB52FEBEA26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/>
          <a:stretch/>
        </p:blipFill>
        <p:spPr>
          <a:xfrm>
            <a:off x="2398048" y="171730"/>
            <a:ext cx="8862060" cy="553296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8CECD-3B0F-4DDD-A7C8-496DD6DD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5A0FDB-FD4C-4A12-83CA-08F556B2435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540" y="4980279"/>
            <a:ext cx="10058400" cy="1449387"/>
          </a:xfrm>
        </p:spPr>
        <p:txBody>
          <a:bodyPr/>
          <a:lstStyle/>
          <a:p>
            <a:r>
              <a:rPr lang="en-CA" dirty="0"/>
              <a:t>Abstract Factory – Putting it all together</a:t>
            </a:r>
          </a:p>
        </p:txBody>
      </p:sp>
    </p:spTree>
    <p:extLst>
      <p:ext uri="{BB962C8B-B14F-4D97-AF65-F5344CB8AC3E}">
        <p14:creationId xmlns:p14="http://schemas.microsoft.com/office/powerpoint/2010/main" val="1150783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8D1E6-FDE2-494D-808C-C9417E90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Abstract Factory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9BD63-78CF-4802-9F66-7FC521D62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284220" cy="4023360"/>
          </a:xfrm>
        </p:spPr>
        <p:txBody>
          <a:bodyPr/>
          <a:lstStyle/>
          <a:p>
            <a:r>
              <a:rPr lang="en-CA" dirty="0"/>
              <a:t>It’s essentially very similar to the Factory Pattern. </a:t>
            </a:r>
            <a:br>
              <a:rPr lang="en-CA" dirty="0"/>
            </a:br>
            <a:br>
              <a:rPr lang="en-CA" dirty="0"/>
            </a:br>
            <a:r>
              <a:rPr lang="en-CA" dirty="0"/>
              <a:t>It just looks complicated since we are dealing with more classes due to the large number of products.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4B142-CD88-4691-9CCE-3D1DBF37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AB5F4CA9-5E86-49CB-AAFE-FA51C0556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4381500" y="1346426"/>
            <a:ext cx="7610476" cy="489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15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171F-CCC4-46D9-A0E8-8648E4E3C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Abstract Factory – Let’s Make one!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DE859-8961-4EFD-A180-9475E4871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Say we were working on a game that wanted to spawn groups of characters (Friendlies, Enemy and Animals) in different worlds.</a:t>
            </a:r>
          </a:p>
          <a:p>
            <a:r>
              <a:rPr lang="en-CA" dirty="0"/>
              <a:t>Each world would have characters following various themes.</a:t>
            </a:r>
          </a:p>
          <a:p>
            <a:r>
              <a:rPr lang="en-CA" dirty="0"/>
              <a:t>The first step is to create a matrix identifying our </a:t>
            </a: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Product Families</a:t>
            </a:r>
            <a:r>
              <a:rPr lang="en-CA" dirty="0"/>
              <a:t> (groups of related objects) in one dimension, and </a:t>
            </a: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varieties</a:t>
            </a:r>
            <a:r>
              <a:rPr lang="en-CA" dirty="0"/>
              <a:t> (themes) in another dimension.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06A07-A2BD-4B47-93CA-1ADC7571E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1B4307F-C4F6-4625-9B97-214F196D9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131309"/>
              </p:ext>
            </p:extLst>
          </p:nvPr>
        </p:nvGraphicFramePr>
        <p:xfrm>
          <a:off x="2062480" y="4110566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704440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72522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194958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011637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Theme/Product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Friendlies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Enemies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Animals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852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u="sng" dirty="0"/>
                        <a:t>Aquatica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err="1"/>
                        <a:t>MerPerson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Kraken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Jellyfish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650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u="sng" dirty="0"/>
                        <a:t>Firelands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err="1"/>
                        <a:t>FireSprite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Firefly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65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623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2778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1FB8-5947-4164-87B0-9CB6C9AA4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Step 1: Define the inheritance hierarchy for each product in the product family.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63999-AA78-4E69-BDF6-1F83DC12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DBD724-A861-4E76-8E1D-18D66BA60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63" y="2433636"/>
            <a:ext cx="2962275" cy="29622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72F2A1-633E-451B-9547-B680B1EC62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62473" y="2433637"/>
            <a:ext cx="2962275" cy="29622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1B6DB1-FEA6-487F-9E55-59136230A7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2962" y="2481260"/>
            <a:ext cx="2962275" cy="2867025"/>
          </a:xfrm>
          <a:prstGeom prst="rect">
            <a:avLst/>
          </a:prstGeom>
        </p:spPr>
      </p:pic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CBD9FA90-7B57-4553-BC66-C95CBFED6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84568"/>
              </p:ext>
            </p:extLst>
          </p:nvPr>
        </p:nvGraphicFramePr>
        <p:xfrm>
          <a:off x="3178588" y="5697655"/>
          <a:ext cx="5730044" cy="1050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11">
                  <a:extLst>
                    <a:ext uri="{9D8B030D-6E8A-4147-A177-3AD203B41FA5}">
                      <a16:colId xmlns:a16="http://schemas.microsoft.com/office/drawing/2014/main" val="2070444005"/>
                    </a:ext>
                  </a:extLst>
                </a:gridCol>
                <a:gridCol w="1432511">
                  <a:extLst>
                    <a:ext uri="{9D8B030D-6E8A-4147-A177-3AD203B41FA5}">
                      <a16:colId xmlns:a16="http://schemas.microsoft.com/office/drawing/2014/main" val="3367252228"/>
                    </a:ext>
                  </a:extLst>
                </a:gridCol>
                <a:gridCol w="1432511">
                  <a:extLst>
                    <a:ext uri="{9D8B030D-6E8A-4147-A177-3AD203B41FA5}">
                      <a16:colId xmlns:a16="http://schemas.microsoft.com/office/drawing/2014/main" val="3919495895"/>
                    </a:ext>
                  </a:extLst>
                </a:gridCol>
                <a:gridCol w="1432511">
                  <a:extLst>
                    <a:ext uri="{9D8B030D-6E8A-4147-A177-3AD203B41FA5}">
                      <a16:colId xmlns:a16="http://schemas.microsoft.com/office/drawing/2014/main" val="3801163718"/>
                    </a:ext>
                  </a:extLst>
                </a:gridCol>
              </a:tblGrid>
              <a:tr h="261433">
                <a:tc>
                  <a:txBody>
                    <a:bodyPr/>
                    <a:lstStyle/>
                    <a:p>
                      <a:r>
                        <a:rPr lang="en-CA" sz="1300" dirty="0"/>
                        <a:t>Theme/Product</a:t>
                      </a:r>
                    </a:p>
                  </a:txBody>
                  <a:tcPr marL="64463" marR="64463" marT="32231" marB="32231"/>
                </a:tc>
                <a:tc>
                  <a:txBody>
                    <a:bodyPr/>
                    <a:lstStyle/>
                    <a:p>
                      <a:r>
                        <a:rPr lang="en-CA" sz="1300" dirty="0"/>
                        <a:t>Friendlies</a:t>
                      </a:r>
                    </a:p>
                  </a:txBody>
                  <a:tcPr marL="64463" marR="64463" marT="32231" marB="32231"/>
                </a:tc>
                <a:tc>
                  <a:txBody>
                    <a:bodyPr/>
                    <a:lstStyle/>
                    <a:p>
                      <a:r>
                        <a:rPr lang="en-CA" sz="1300" dirty="0"/>
                        <a:t>Enemies</a:t>
                      </a:r>
                    </a:p>
                  </a:txBody>
                  <a:tcPr marL="64463" marR="64463" marT="32231" marB="32231"/>
                </a:tc>
                <a:tc>
                  <a:txBody>
                    <a:bodyPr/>
                    <a:lstStyle/>
                    <a:p>
                      <a:r>
                        <a:rPr lang="en-CA" sz="1300" dirty="0"/>
                        <a:t>Animals</a:t>
                      </a:r>
                    </a:p>
                  </a:txBody>
                  <a:tcPr marL="64463" marR="64463" marT="32231" marB="32231"/>
                </a:tc>
                <a:extLst>
                  <a:ext uri="{0D108BD9-81ED-4DB2-BD59-A6C34878D82A}">
                    <a16:rowId xmlns:a16="http://schemas.microsoft.com/office/drawing/2014/main" val="1243852972"/>
                  </a:ext>
                </a:extLst>
              </a:tr>
              <a:tr h="261433">
                <a:tc>
                  <a:txBody>
                    <a:bodyPr/>
                    <a:lstStyle/>
                    <a:p>
                      <a:r>
                        <a:rPr lang="en-CA" sz="1300" b="1" u="sng" dirty="0"/>
                        <a:t>Aquatica</a:t>
                      </a:r>
                    </a:p>
                  </a:txBody>
                  <a:tcPr marL="64463" marR="64463" marT="32231" marB="32231"/>
                </a:tc>
                <a:tc>
                  <a:txBody>
                    <a:bodyPr/>
                    <a:lstStyle/>
                    <a:p>
                      <a:r>
                        <a:rPr lang="en-CA" sz="1300" dirty="0" err="1"/>
                        <a:t>MerPerson</a:t>
                      </a:r>
                      <a:endParaRPr lang="en-CA" sz="1300" dirty="0"/>
                    </a:p>
                  </a:txBody>
                  <a:tcPr marL="64463" marR="64463" marT="32231" marB="32231"/>
                </a:tc>
                <a:tc>
                  <a:txBody>
                    <a:bodyPr/>
                    <a:lstStyle/>
                    <a:p>
                      <a:r>
                        <a:rPr lang="en-CA" sz="1300" dirty="0"/>
                        <a:t>Kraken</a:t>
                      </a:r>
                    </a:p>
                  </a:txBody>
                  <a:tcPr marL="64463" marR="64463" marT="32231" marB="32231"/>
                </a:tc>
                <a:tc>
                  <a:txBody>
                    <a:bodyPr/>
                    <a:lstStyle/>
                    <a:p>
                      <a:r>
                        <a:rPr lang="en-CA" sz="1300" dirty="0"/>
                        <a:t>Jellyfish</a:t>
                      </a:r>
                    </a:p>
                  </a:txBody>
                  <a:tcPr marL="64463" marR="64463" marT="32231" marB="32231"/>
                </a:tc>
                <a:extLst>
                  <a:ext uri="{0D108BD9-81ED-4DB2-BD59-A6C34878D82A}">
                    <a16:rowId xmlns:a16="http://schemas.microsoft.com/office/drawing/2014/main" val="3369650628"/>
                  </a:ext>
                </a:extLst>
              </a:tr>
              <a:tr h="261433">
                <a:tc>
                  <a:txBody>
                    <a:bodyPr/>
                    <a:lstStyle/>
                    <a:p>
                      <a:r>
                        <a:rPr lang="en-CA" sz="1300" b="1" u="sng" dirty="0"/>
                        <a:t>Firelands</a:t>
                      </a:r>
                    </a:p>
                  </a:txBody>
                  <a:tcPr marL="64463" marR="64463" marT="32231" marB="32231"/>
                </a:tc>
                <a:tc>
                  <a:txBody>
                    <a:bodyPr/>
                    <a:lstStyle/>
                    <a:p>
                      <a:r>
                        <a:rPr lang="en-CA" sz="1300" dirty="0" err="1"/>
                        <a:t>FireSprite</a:t>
                      </a:r>
                      <a:endParaRPr lang="en-CA" sz="1300" dirty="0"/>
                    </a:p>
                  </a:txBody>
                  <a:tcPr marL="64463" marR="64463" marT="32231" marB="32231"/>
                </a:tc>
                <a:tc>
                  <a:txBody>
                    <a:bodyPr/>
                    <a:lstStyle/>
                    <a:p>
                      <a:r>
                        <a:rPr lang="en-CA" sz="1300" dirty="0"/>
                        <a:t>Imp</a:t>
                      </a:r>
                    </a:p>
                  </a:txBody>
                  <a:tcPr marL="64463" marR="64463" marT="32231" marB="32231"/>
                </a:tc>
                <a:tc>
                  <a:txBody>
                    <a:bodyPr/>
                    <a:lstStyle/>
                    <a:p>
                      <a:r>
                        <a:rPr lang="en-CA" sz="1300" dirty="0"/>
                        <a:t>Firefly</a:t>
                      </a:r>
                    </a:p>
                  </a:txBody>
                  <a:tcPr marL="64463" marR="64463" marT="32231" marB="32231"/>
                </a:tc>
                <a:extLst>
                  <a:ext uri="{0D108BD9-81ED-4DB2-BD59-A6C34878D82A}">
                    <a16:rowId xmlns:a16="http://schemas.microsoft.com/office/drawing/2014/main" val="1950657213"/>
                  </a:ext>
                </a:extLst>
              </a:tr>
              <a:tr h="261433">
                <a:tc>
                  <a:txBody>
                    <a:bodyPr/>
                    <a:lstStyle/>
                    <a:p>
                      <a:endParaRPr lang="en-CA" sz="1300" b="1" u="sng" dirty="0"/>
                    </a:p>
                  </a:txBody>
                  <a:tcPr marL="64463" marR="64463" marT="32231" marB="32231"/>
                </a:tc>
                <a:tc>
                  <a:txBody>
                    <a:bodyPr/>
                    <a:lstStyle/>
                    <a:p>
                      <a:endParaRPr lang="en-CA" sz="1300" dirty="0"/>
                    </a:p>
                  </a:txBody>
                  <a:tcPr marL="64463" marR="64463" marT="32231" marB="3223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300" dirty="0"/>
                    </a:p>
                  </a:txBody>
                  <a:tcPr marL="64463" marR="64463" marT="32231" marB="32231"/>
                </a:tc>
                <a:tc>
                  <a:txBody>
                    <a:bodyPr/>
                    <a:lstStyle/>
                    <a:p>
                      <a:endParaRPr lang="en-CA" sz="1300" dirty="0"/>
                    </a:p>
                  </a:txBody>
                  <a:tcPr marL="64463" marR="64463" marT="32231" marB="32231"/>
                </a:tc>
                <a:extLst>
                  <a:ext uri="{0D108BD9-81ED-4DB2-BD59-A6C34878D82A}">
                    <a16:rowId xmlns:a16="http://schemas.microsoft.com/office/drawing/2014/main" val="2509623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26787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5CD34-0A79-444D-80F2-07927BBA1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2: Define a Factory base class that can create a Product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AEC58-4C05-45CD-9271-E5F663924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46C3D-A0ED-4E25-BBB6-BE8D1567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05E50B-13E7-44CA-A24F-3AB743764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354" y="2303242"/>
            <a:ext cx="3524252" cy="310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9858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A9D4-347A-44B9-8E09-116CB5A0F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Step 3: Extend the Factory base class with Concrete Factories that can create Varieties.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6DF52-6874-4864-9743-7897EDF57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9E55E-2BC8-47DF-B969-2A237828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F85669-9A43-41E2-A0C5-1F6F2A07F6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26092" y="2097109"/>
            <a:ext cx="6200775" cy="371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5006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8BE56-64DB-498C-B0F0-52EFE98E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6C4DFC-D384-4EDF-B792-AAD68BE026E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295775" y="463550"/>
            <a:ext cx="7248525" cy="563562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A5310F-83C6-4A54-BE4C-264C317DECD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6277" y="151029"/>
            <a:ext cx="3856330" cy="1449387"/>
          </a:xfrm>
        </p:spPr>
        <p:txBody>
          <a:bodyPr/>
          <a:lstStyle/>
          <a:p>
            <a:r>
              <a:rPr lang="en-CA" dirty="0"/>
              <a:t>Step 4: Put it all together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047CB1-5D88-4D6B-BAC7-8A4C68077ECD}"/>
              </a:ext>
            </a:extLst>
          </p:cNvPr>
          <p:cNvSpPr/>
          <p:nvPr/>
        </p:nvSpPr>
        <p:spPr>
          <a:xfrm>
            <a:off x="138622" y="5914509"/>
            <a:ext cx="2610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game_abstract_factory.py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8730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46291-1F41-4920-AFF6-E7F03B6D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Abstract Factory Pattern:</a:t>
            </a:r>
            <a:br>
              <a:rPr lang="en-CA" dirty="0"/>
            </a:br>
            <a:r>
              <a:rPr lang="en-CA" dirty="0"/>
              <a:t>Why and When do we use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655CF-6D80-42A3-BED1-AEB9807DC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82752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Use this pattern if the code needs to work with families of related objects.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If the exact number of Product Families are unknown and you will have to add in new ones in the future.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Single Responsibility, Open/Closed Principle, </a:t>
            </a:r>
            <a:r>
              <a:rPr lang="en-CA" dirty="0" err="1"/>
              <a:t>Liskov</a:t>
            </a:r>
            <a:r>
              <a:rPr lang="en-CA" dirty="0"/>
              <a:t> Substitution and Dependency Inversion Principle.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3C96B-9D12-4AC2-8A70-0B28D8AF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69261D06-0803-4114-9BF2-22B795EBA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908" y="2504864"/>
            <a:ext cx="28575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145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D6A3-EC0E-4CD5-9C94-A7DA4216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Abstract Factory Pattern –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73D0-B777-4765-B27E-01083BEEB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833607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There are a lot of classes and interfaces in play. This can make the code complex and hard to debug.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Sometimes the classes can get artificial. You may decide to create a whole new subclass for a very minor change in the object creation process.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43D81-FAA8-4C11-BD23-55827454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5" name="Picture 4" descr="Related image">
            <a:extLst>
              <a:ext uri="{FF2B5EF4-FFF2-40B4-BE49-F238E27FC236}">
                <a16:creationId xmlns:a16="http://schemas.microsoft.com/office/drawing/2014/main" id="{8FB8C510-DC60-4615-97A5-4D2E27906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600" y="2536372"/>
            <a:ext cx="3062514" cy="298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3957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9666</TotalTime>
  <Words>2735</Words>
  <Application>Microsoft Office PowerPoint</Application>
  <PresentationFormat>Widescreen</PresentationFormat>
  <Paragraphs>302</Paragraphs>
  <Slides>40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Calibri</vt:lpstr>
      <vt:lpstr>Calibri Light</vt:lpstr>
      <vt:lpstr>Courier New</vt:lpstr>
      <vt:lpstr>Wingdings</vt:lpstr>
      <vt:lpstr>Retrospect</vt:lpstr>
      <vt:lpstr>Creational Patterns: Factory &amp; Abstract Factory</vt:lpstr>
      <vt:lpstr>Categorizing Design Patterns</vt:lpstr>
      <vt:lpstr>Today we will be looking at 2 patterns…</vt:lpstr>
      <vt:lpstr>Factory Pattern</vt:lpstr>
      <vt:lpstr>First let’s clarify the word Factory…</vt:lpstr>
      <vt:lpstr>Some more lingo – Creation Method</vt:lpstr>
      <vt:lpstr>Remember the dependency inversion principle?</vt:lpstr>
      <vt:lpstr>Remember the dependency inversion principle?</vt:lpstr>
      <vt:lpstr>Factory Pattern</vt:lpstr>
      <vt:lpstr>Factory Pattern</vt:lpstr>
      <vt:lpstr>Factory Pattern</vt:lpstr>
      <vt:lpstr>Factory Pattern </vt:lpstr>
      <vt:lpstr>Factory Pattern</vt:lpstr>
      <vt:lpstr>Factory Pattern</vt:lpstr>
      <vt:lpstr>Let’s Build a Factory Pattern Together.</vt:lpstr>
      <vt:lpstr>Step 1: Define a product hierarchy</vt:lpstr>
      <vt:lpstr>Step 2: Define a factory class</vt:lpstr>
      <vt:lpstr>Step 2: Define  a factory class</vt:lpstr>
      <vt:lpstr>Step 3: Create a Factory hierarchy and override the creation method.</vt:lpstr>
      <vt:lpstr>Step 4:  Integrate it into our Forum Website</vt:lpstr>
      <vt:lpstr>Step 4:  Integrate it into our Forum Website</vt:lpstr>
      <vt:lpstr>Factory Pattern: Why and When do we use it</vt:lpstr>
      <vt:lpstr>Factory Pattern – Disadvantages</vt:lpstr>
      <vt:lpstr>Abstract Factory Pattern</vt:lpstr>
      <vt:lpstr>Create Families of Products.</vt:lpstr>
      <vt:lpstr>Create Families of Products.</vt:lpstr>
      <vt:lpstr>Abstract Factory</vt:lpstr>
      <vt:lpstr>Abstract Factory</vt:lpstr>
      <vt:lpstr>Abstract Factory</vt:lpstr>
      <vt:lpstr>Abstract Factory</vt:lpstr>
      <vt:lpstr>Abstract Factory</vt:lpstr>
      <vt:lpstr>Abstract Factory – Putting it all together</vt:lpstr>
      <vt:lpstr>Abstract Factory</vt:lpstr>
      <vt:lpstr>Abstract Factory – Let’s Make one!</vt:lpstr>
      <vt:lpstr>Step 1: Define the inheritance hierarchy for each product in the product family.</vt:lpstr>
      <vt:lpstr>Step 2: Define a Factory base class that can create a Product Family</vt:lpstr>
      <vt:lpstr>Step 3: Extend the Factory base class with Concrete Factories that can create Varieties.</vt:lpstr>
      <vt:lpstr>Step 4: Put it all together</vt:lpstr>
      <vt:lpstr>Abstract Factory Pattern: Why and When do we use it</vt:lpstr>
      <vt:lpstr>Abstract Factory Pattern – Disadvantages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Generators</dc:title>
  <dc:creator>Rahul Kukreja</dc:creator>
  <cp:lastModifiedBy>Jeffrey Yim</cp:lastModifiedBy>
  <cp:revision>222</cp:revision>
  <cp:lastPrinted>2019-10-07T18:15:39Z</cp:lastPrinted>
  <dcterms:created xsi:type="dcterms:W3CDTF">2019-10-07T17:34:24Z</dcterms:created>
  <dcterms:modified xsi:type="dcterms:W3CDTF">2023-02-28T08:00:34Z</dcterms:modified>
</cp:coreProperties>
</file>